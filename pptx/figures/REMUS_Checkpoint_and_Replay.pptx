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ee4bf69b1e14458" /><Relationship Type="http://schemas.openxmlformats.org/package/2006/relationships/metadata/core-properties" Target="/docProps/core.xml" Id="Rbc8207b11ebc48fe" /><Relationship Type="http://schemas.openxmlformats.org/officeDocument/2006/relationships/extended-properties" Target="/docProps/app.xml" Id="R331274d58c314bfa" /><Relationship Type="http://schemas.openxmlformats.org/officeDocument/2006/relationships/custom-properties" Target="/docProps/custom.xml" Id="Rbfb635dbf11e4ae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fffad1effc4479b"/>
  </p:notesMasterIdLst>
  <p:sldIdLst>
    <p:sldId id="256" r:id="Rc319a83fa40e4d9a"/>
  </p:sldIdLst>
  <p:sldSz cx="14630400" cy="73152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319a83fa40e4d9a" /><Relationship Type="http://schemas.openxmlformats.org/officeDocument/2006/relationships/notesMaster" Target="/ppt/notesMasters/notesMaster1.xml" Id="Rbfffad1effc447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b0f1f46cdac4e59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286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200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a20f1aee5f74c68" /><Relationship Type="http://schemas.openxmlformats.org/officeDocument/2006/relationships/slide" Target="/ppt/slides/slide1.xml" Id="R13e72dfe0c5e4b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Standalone thesis figure rebuilt from figure/ckpt-and-replay.png. Dashed partition boundaries include registers and SRAM, not combinational logic. Host collects all partition data for the same DUT cycle. Only illustrative cycle 0 is expanded; cycles 20 and 100 are compact overlapping cards. Input Traces are supporting records for hardware/software restoration and replay; their dependencies are described in the report rather than drawn as extra arrows. State mapping metadata is used to decode partition state for software RTL replay. The three-chip stack indicates multiple FPGA targets, not a measured platform size. File labels are conceptual, not a complete on-disk schema.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6d55b9af245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7cad32c2441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44e9280fe64a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2f443167a47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9c4ca8c493411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9b491aa365a454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a6e79ebeb422a" /><Relationship Type="http://schemas.openxmlformats.org/officeDocument/2006/relationships/notesSlide" Target="/ppt/notesSlides/notesSlide1.xml" Id="R7b696346770342ee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Distributed.Panel"/>
          <p:cNvSpPr/>
          <p:nvPr/>
        </p:nvSpPr>
        <p:spPr>
          <a:xfrm>
            <a:off x="182880" y="182880"/>
            <a:ext cx="4498848" cy="6949440"/>
          </a:xfrm>
          <a:prstGeom prst="roundRect">
            <a:avLst>
              <a:gd name="adj" fmla="val 4500"/>
            </a:avLst>
          </a:prstGeom>
          <a:solidFill>
            <a:srgbClr val="F1F8FB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01" name="Distributed.Title"/>
          <p:cNvSpPr txBox="1"/>
          <p:nvPr/>
        </p:nvSpPr>
        <p:spPr>
          <a:xfrm>
            <a:off x="270662" y="380390"/>
            <a:ext cx="4323283" cy="42428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300" b="1">
                <a:solidFill>
                  <a:srgbClr val="183B56"/>
                </a:solidFill>
                <a:latin typeface="Arial"/>
                <a:ea typeface="Arial"/>
              </a:rPr>
              <a:t>Distributed FPGA State</a:t>
            </a:r>
          </a:p>
        </p:txBody>
      </p:sp>
      <p:sp>
        <p:nvSpPr>
          <p:cNvPr id="100002" name="Host.Panel"/>
          <p:cNvSpPr/>
          <p:nvPr/>
        </p:nvSpPr>
        <p:spPr>
          <a:xfrm>
            <a:off x="5376672" y="182880"/>
            <a:ext cx="4389120" cy="6949440"/>
          </a:xfrm>
          <a:prstGeom prst="roundRect">
            <a:avLst>
              <a:gd name="adj" fmla="val 4500"/>
            </a:avLst>
          </a:prstGeom>
          <a:solidFill>
            <a:srgbClr val="FFFAF0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03" name="Host.Title"/>
          <p:cNvSpPr txBox="1"/>
          <p:nvPr/>
        </p:nvSpPr>
        <p:spPr>
          <a:xfrm>
            <a:off x="5464454" y="380390"/>
            <a:ext cx="4213555" cy="42428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300" b="1">
                <a:solidFill>
                  <a:srgbClr val="183B56"/>
                </a:solidFill>
                <a:latin typeface="Arial"/>
                <a:ea typeface="Arial"/>
              </a:rPr>
              <a:t>Global Snapshot on Host</a:t>
            </a:r>
          </a:p>
        </p:txBody>
      </p:sp>
      <p:sp>
        <p:nvSpPr>
          <p:cNvPr id="100004" name="Paths.Panel"/>
          <p:cNvSpPr/>
          <p:nvPr/>
        </p:nvSpPr>
        <p:spPr>
          <a:xfrm>
            <a:off x="10460736" y="182880"/>
            <a:ext cx="3986784" cy="6949440"/>
          </a:xfrm>
          <a:prstGeom prst="roundRect">
            <a:avLst>
              <a:gd name="adj" fmla="val 4500"/>
            </a:avLst>
          </a:prstGeom>
          <a:solidFill>
            <a:srgbClr val="F1F8FB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05" name="Paths.Title"/>
          <p:cNvSpPr txBox="1"/>
          <p:nvPr/>
        </p:nvSpPr>
        <p:spPr>
          <a:xfrm>
            <a:off x="10548518" y="380390"/>
            <a:ext cx="3811219" cy="42428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300" b="1">
                <a:solidFill>
                  <a:srgbClr val="183B56"/>
                </a:solidFill>
                <a:latin typeface="Arial"/>
                <a:ea typeface="Arial"/>
              </a:rPr>
              <a:t>Restore / Replay Paths</a:t>
            </a:r>
          </a:p>
        </p:txBody>
      </p:sp>
      <p:sp>
        <p:nvSpPr>
          <p:cNvPr id="100006" name="FPGA0.Panel"/>
          <p:cNvSpPr/>
          <p:nvPr/>
        </p:nvSpPr>
        <p:spPr>
          <a:xfrm>
            <a:off x="365760" y="1097280"/>
            <a:ext cx="4133088" cy="25968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07" name="FPGA0.Title"/>
          <p:cNvSpPr txBox="1"/>
          <p:nvPr/>
        </p:nvSpPr>
        <p:spPr>
          <a:xfrm>
            <a:off x="512064" y="118506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FPGA 0</a:t>
            </a:r>
          </a:p>
        </p:txBody>
      </p:sp>
      <p:sp>
        <p:nvSpPr>
          <p:cNvPr id="100008" name="FPGA0.Partition"/>
          <p:cNvSpPr/>
          <p:nvPr/>
        </p:nvSpPr>
        <p:spPr>
          <a:xfrm>
            <a:off x="526694" y="1572768"/>
            <a:ext cx="1938528" cy="1953158"/>
          </a:xfrm>
          <a:prstGeom prst="roundRect">
            <a:avLst>
              <a:gd name="adj" fmla="val 4500"/>
            </a:avLst>
          </a:prstGeom>
          <a:solidFill>
            <a:srgbClr val="EEF6FB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09" name="FPGA0.PartTitle"/>
          <p:cNvSpPr txBox="1"/>
          <p:nvPr/>
        </p:nvSpPr>
        <p:spPr>
          <a:xfrm>
            <a:off x="599846" y="1609344"/>
            <a:ext cx="1792224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900" b="1">
                <a:solidFill>
                  <a:srgbClr val="183B56"/>
                </a:solidFill>
                <a:latin typeface="Arial"/>
                <a:ea typeface="Arial"/>
              </a:rPr>
              <a:t>Partition 0</a:t>
            </a:r>
          </a:p>
        </p:txBody>
      </p:sp>
      <p:sp>
        <p:nvSpPr>
          <p:cNvPr id="100010" name="FPGA0.PartRTL"/>
          <p:cNvSpPr txBox="1"/>
          <p:nvPr/>
        </p:nvSpPr>
        <p:spPr>
          <a:xfrm>
            <a:off x="599846" y="1901952"/>
            <a:ext cx="1792224" cy="26334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183B56"/>
                </a:solidFill>
                <a:latin typeface="Arial"/>
                <a:ea typeface="Arial"/>
              </a:rPr>
              <a:t>Partial DUT RTL</a:t>
            </a:r>
          </a:p>
        </p:txBody>
      </p:sp>
      <p:sp>
        <p:nvSpPr>
          <p:cNvPr id="100011" name="FPGA0.ScanBoundary"/>
          <p:cNvSpPr/>
          <p:nvPr/>
        </p:nvSpPr>
        <p:spPr>
          <a:xfrm>
            <a:off x="636422" y="2209190"/>
            <a:ext cx="1719072" cy="731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6510">
            <a:solidFill>
              <a:srgbClr val="008C95"/>
            </a:solidFill>
            <a:prstDash val="dash"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12" name="FPGA0.Registers"/>
          <p:cNvSpPr txBox="1"/>
          <p:nvPr/>
        </p:nvSpPr>
        <p:spPr>
          <a:xfrm>
            <a:off x="716890" y="2282342"/>
            <a:ext cx="1558138" cy="263347"/>
          </a:xfrm>
          <a:prstGeom prst="rect">
            <a:avLst/>
          </a:prstGeom>
          <a:solidFill>
            <a:srgbClr val="EAF4F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>
                <a:solidFill>
                  <a:srgbClr val="183B56"/>
                </a:solidFill>
                <a:latin typeface="Arial"/>
                <a:ea typeface="Arial"/>
              </a:rPr>
              <a:t>Registers</a:t>
            </a:r>
          </a:p>
        </p:txBody>
      </p:sp>
      <p:sp>
        <p:nvSpPr>
          <p:cNvPr id="100013" name="FPGA0.SRAM"/>
          <p:cNvSpPr txBox="1"/>
          <p:nvPr/>
        </p:nvSpPr>
        <p:spPr>
          <a:xfrm>
            <a:off x="716890" y="2589581"/>
            <a:ext cx="1558138" cy="263347"/>
          </a:xfrm>
          <a:prstGeom prst="rect">
            <a:avLst/>
          </a:prstGeom>
          <a:solidFill>
            <a:srgbClr val="EAF4F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>
                <a:solidFill>
                  <a:srgbClr val="183B56"/>
                </a:solidFill>
                <a:latin typeface="Arial"/>
                <a:ea typeface="Arial"/>
              </a:rPr>
              <a:t>SRAM</a:t>
            </a:r>
          </a:p>
        </p:txBody>
      </p:sp>
      <p:sp>
        <p:nvSpPr>
          <p:cNvPr id="100014" name="FPGA0.Combinational"/>
          <p:cNvSpPr txBox="1"/>
          <p:nvPr/>
        </p:nvSpPr>
        <p:spPr>
          <a:xfrm>
            <a:off x="716890" y="2977286"/>
            <a:ext cx="1558138" cy="497434"/>
          </a:xfrm>
          <a:prstGeom prst="rect">
            <a:avLst/>
          </a:prstGeom>
          <a:solidFill>
            <a:srgbClr val="EDF0F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>
                <a:solidFill>
                  <a:srgbClr val="183B56"/>
                </a:solidFill>
                <a:latin typeface="Arial"/>
                <a:ea typeface="Arial"/>
              </a:rPr>
              <a:t>Combinational Logic</a:t>
            </a:r>
          </a:p>
        </p:txBody>
      </p:sp>
      <p:sp>
        <p:nvSpPr>
          <p:cNvPr id="100015" name="FPGA0.DDR"/>
          <p:cNvSpPr/>
          <p:nvPr/>
        </p:nvSpPr>
        <p:spPr>
          <a:xfrm>
            <a:off x="2706624" y="1572768"/>
            <a:ext cx="1631290" cy="1953158"/>
          </a:xfrm>
          <a:prstGeom prst="roundRect">
            <a:avLst>
              <a:gd name="adj" fmla="val 4500"/>
            </a:avLst>
          </a:prstGeom>
          <a:solidFill>
            <a:srgbClr val="FFF6E5"/>
          </a:solidFill>
          <a:ln w="15240">
            <a:solidFill>
              <a:srgbClr val="DF973E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16" name="FPGA0.DDRTitle"/>
          <p:cNvSpPr txBox="1"/>
          <p:nvPr/>
        </p:nvSpPr>
        <p:spPr>
          <a:xfrm>
            <a:off x="2787091" y="1645920"/>
            <a:ext cx="1470355" cy="3072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DDR 0</a:t>
            </a:r>
          </a:p>
        </p:txBody>
      </p:sp>
      <p:sp>
        <p:nvSpPr>
          <p:cNvPr id="100017" name="FPGA0.ScanData"/>
          <p:cNvSpPr/>
          <p:nvPr/>
        </p:nvSpPr>
        <p:spPr>
          <a:xfrm>
            <a:off x="2823667" y="2011680"/>
            <a:ext cx="1397203" cy="870509"/>
          </a:xfrm>
          <a:prstGeom prst="roundRect">
            <a:avLst>
              <a:gd name="adj" fmla="val 4500"/>
            </a:avLst>
          </a:prstGeom>
          <a:solidFill>
            <a:srgbClr val="DCEEF9"/>
          </a:solidFill>
          <a:ln w="15240">
            <a:solidFill>
              <a:srgbClr val="2584B8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18" name="FPGA0.ScanText"/>
          <p:cNvSpPr txBox="1"/>
          <p:nvPr/>
        </p:nvSpPr>
        <p:spPr>
          <a:xfrm>
            <a:off x="2852928" y="2033626"/>
            <a:ext cx="1338682" cy="8266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Scan Chain</a:t>
            </a:r>
          </a:p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Data</a:t>
            </a:r>
          </a:p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(part 0)</a:t>
            </a:r>
          </a:p>
        </p:txBody>
      </p:sp>
      <p:cxnSp>
        <p:nvCxnSpPr>
          <p:cNvPr id="100019" name="FPGA0.ScanOut"/>
          <p:cNvCxnSpPr/>
          <p:nvPr/>
        </p:nvCxnSpPr>
        <p:spPr>
          <a:xfrm>
            <a:off x="2355494" y="2428646"/>
            <a:ext cx="468173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triangle"/>
          </a:ln>
        </p:spPr>
      </p:cxnSp>
      <p:sp>
        <p:nvSpPr>
          <p:cNvPr id="100020" name="FPGA0.Memory"/>
          <p:cNvSpPr/>
          <p:nvPr/>
        </p:nvSpPr>
        <p:spPr>
          <a:xfrm>
            <a:off x="2823667" y="2940710"/>
            <a:ext cx="1397203" cy="512064"/>
          </a:xfrm>
          <a:prstGeom prst="roundRect">
            <a:avLst>
              <a:gd name="adj" fmla="val 4500"/>
            </a:avLst>
          </a:prstGeom>
          <a:solidFill>
            <a:srgbClr val="EAF4F3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21" name="FPGA0.MemoryText"/>
          <p:cNvSpPr txBox="1"/>
          <p:nvPr/>
        </p:nvSpPr>
        <p:spPr>
          <a:xfrm>
            <a:off x="2852928" y="2948026"/>
            <a:ext cx="1338682" cy="497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RAM Model</a:t>
            </a:r>
          </a:p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Data</a:t>
            </a:r>
          </a:p>
        </p:txBody>
      </p:sp>
      <p:cxnSp>
        <p:nvCxnSpPr>
          <p:cNvPr id="100022" name="FPGA0.Collect"/>
          <p:cNvCxnSpPr/>
          <p:nvPr/>
        </p:nvCxnSpPr>
        <p:spPr>
          <a:xfrm>
            <a:off x="4337914" y="2428646"/>
            <a:ext cx="694944" cy="0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none"/>
          </a:ln>
        </p:spPr>
      </p:cxnSp>
      <p:sp>
        <p:nvSpPr>
          <p:cNvPr id="100023" name="FPGA1.Panel"/>
          <p:cNvSpPr/>
          <p:nvPr/>
        </p:nvSpPr>
        <p:spPr>
          <a:xfrm>
            <a:off x="365760" y="4096512"/>
            <a:ext cx="4133088" cy="25968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24" name="FPGA1.Title"/>
          <p:cNvSpPr txBox="1"/>
          <p:nvPr/>
        </p:nvSpPr>
        <p:spPr>
          <a:xfrm>
            <a:off x="512064" y="4184294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FPGA 1</a:t>
            </a:r>
          </a:p>
        </p:txBody>
      </p:sp>
      <p:sp>
        <p:nvSpPr>
          <p:cNvPr id="100025" name="FPGA1.Partition"/>
          <p:cNvSpPr/>
          <p:nvPr/>
        </p:nvSpPr>
        <p:spPr>
          <a:xfrm>
            <a:off x="526694" y="4572000"/>
            <a:ext cx="1938528" cy="1953158"/>
          </a:xfrm>
          <a:prstGeom prst="roundRect">
            <a:avLst>
              <a:gd name="adj" fmla="val 4500"/>
            </a:avLst>
          </a:prstGeom>
          <a:solidFill>
            <a:srgbClr val="EEF6FB"/>
          </a:solidFill>
          <a:ln w="15240">
            <a:solidFill>
              <a:srgbClr val="8EB5C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26" name="FPGA1.PartTitle"/>
          <p:cNvSpPr txBox="1"/>
          <p:nvPr/>
        </p:nvSpPr>
        <p:spPr>
          <a:xfrm>
            <a:off x="599846" y="4608576"/>
            <a:ext cx="1792224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900" b="1">
                <a:solidFill>
                  <a:srgbClr val="183B56"/>
                </a:solidFill>
                <a:latin typeface="Arial"/>
                <a:ea typeface="Arial"/>
              </a:rPr>
              <a:t>Partition 1</a:t>
            </a:r>
          </a:p>
        </p:txBody>
      </p:sp>
      <p:sp>
        <p:nvSpPr>
          <p:cNvPr id="100027" name="FPGA1.PartRTL"/>
          <p:cNvSpPr txBox="1"/>
          <p:nvPr/>
        </p:nvSpPr>
        <p:spPr>
          <a:xfrm>
            <a:off x="599846" y="4901184"/>
            <a:ext cx="1792224" cy="26334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183B56"/>
                </a:solidFill>
                <a:latin typeface="Arial"/>
                <a:ea typeface="Arial"/>
              </a:rPr>
              <a:t>Partial DUT RTL</a:t>
            </a:r>
          </a:p>
        </p:txBody>
      </p:sp>
      <p:sp>
        <p:nvSpPr>
          <p:cNvPr id="100028" name="FPGA1.ScanBoundary"/>
          <p:cNvSpPr/>
          <p:nvPr/>
        </p:nvSpPr>
        <p:spPr>
          <a:xfrm>
            <a:off x="636422" y="5208422"/>
            <a:ext cx="1719072" cy="731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6510">
            <a:solidFill>
              <a:srgbClr val="008C95"/>
            </a:solidFill>
            <a:prstDash val="dash"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29" name="FPGA1.Registers"/>
          <p:cNvSpPr txBox="1"/>
          <p:nvPr/>
        </p:nvSpPr>
        <p:spPr>
          <a:xfrm>
            <a:off x="716890" y="5281574"/>
            <a:ext cx="1558138" cy="263347"/>
          </a:xfrm>
          <a:prstGeom prst="rect">
            <a:avLst/>
          </a:prstGeom>
          <a:solidFill>
            <a:srgbClr val="EAF4F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>
                <a:solidFill>
                  <a:srgbClr val="183B56"/>
                </a:solidFill>
                <a:latin typeface="Arial"/>
                <a:ea typeface="Arial"/>
              </a:rPr>
              <a:t>Registers</a:t>
            </a:r>
          </a:p>
        </p:txBody>
      </p:sp>
      <p:sp>
        <p:nvSpPr>
          <p:cNvPr id="100030" name="FPGA1.SRAM"/>
          <p:cNvSpPr txBox="1"/>
          <p:nvPr/>
        </p:nvSpPr>
        <p:spPr>
          <a:xfrm>
            <a:off x="716890" y="5588813"/>
            <a:ext cx="1558138" cy="263347"/>
          </a:xfrm>
          <a:prstGeom prst="rect">
            <a:avLst/>
          </a:prstGeom>
          <a:solidFill>
            <a:srgbClr val="EAF4F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>
                <a:solidFill>
                  <a:srgbClr val="183B56"/>
                </a:solidFill>
                <a:latin typeface="Arial"/>
                <a:ea typeface="Arial"/>
              </a:rPr>
              <a:t>SRAM</a:t>
            </a:r>
          </a:p>
        </p:txBody>
      </p:sp>
      <p:sp>
        <p:nvSpPr>
          <p:cNvPr id="100031" name="FPGA1.Combinational"/>
          <p:cNvSpPr txBox="1"/>
          <p:nvPr/>
        </p:nvSpPr>
        <p:spPr>
          <a:xfrm>
            <a:off x="716890" y="5976518"/>
            <a:ext cx="1558138" cy="497434"/>
          </a:xfrm>
          <a:prstGeom prst="rect">
            <a:avLst/>
          </a:prstGeom>
          <a:solidFill>
            <a:srgbClr val="EDF0F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>
                <a:solidFill>
                  <a:srgbClr val="183B56"/>
                </a:solidFill>
                <a:latin typeface="Arial"/>
                <a:ea typeface="Arial"/>
              </a:rPr>
              <a:t>Combinational Logic</a:t>
            </a:r>
          </a:p>
        </p:txBody>
      </p:sp>
      <p:sp>
        <p:nvSpPr>
          <p:cNvPr id="100032" name="FPGA1.DDR"/>
          <p:cNvSpPr/>
          <p:nvPr/>
        </p:nvSpPr>
        <p:spPr>
          <a:xfrm>
            <a:off x="2706624" y="4572000"/>
            <a:ext cx="1631290" cy="1953158"/>
          </a:xfrm>
          <a:prstGeom prst="roundRect">
            <a:avLst>
              <a:gd name="adj" fmla="val 4500"/>
            </a:avLst>
          </a:prstGeom>
          <a:solidFill>
            <a:srgbClr val="FFF6E5"/>
          </a:solidFill>
          <a:ln w="15240">
            <a:solidFill>
              <a:srgbClr val="DF973E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33" name="FPGA1.DDRTitle"/>
          <p:cNvSpPr txBox="1"/>
          <p:nvPr/>
        </p:nvSpPr>
        <p:spPr>
          <a:xfrm>
            <a:off x="2787091" y="4645152"/>
            <a:ext cx="1470355" cy="30723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DDR 1</a:t>
            </a:r>
          </a:p>
        </p:txBody>
      </p:sp>
      <p:sp>
        <p:nvSpPr>
          <p:cNvPr id="100034" name="FPGA1.ScanData"/>
          <p:cNvSpPr/>
          <p:nvPr/>
        </p:nvSpPr>
        <p:spPr>
          <a:xfrm>
            <a:off x="2823667" y="5010912"/>
            <a:ext cx="1397203" cy="870509"/>
          </a:xfrm>
          <a:prstGeom prst="roundRect">
            <a:avLst>
              <a:gd name="adj" fmla="val 4500"/>
            </a:avLst>
          </a:prstGeom>
          <a:solidFill>
            <a:srgbClr val="DCEEF9"/>
          </a:solidFill>
          <a:ln w="15240">
            <a:solidFill>
              <a:srgbClr val="2584B8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35" name="FPGA1.ScanText"/>
          <p:cNvSpPr txBox="1"/>
          <p:nvPr/>
        </p:nvSpPr>
        <p:spPr>
          <a:xfrm>
            <a:off x="2852928" y="5032858"/>
            <a:ext cx="1338682" cy="8266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Scan Chain</a:t>
            </a:r>
          </a:p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Data</a:t>
            </a:r>
          </a:p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(part 1)</a:t>
            </a:r>
          </a:p>
        </p:txBody>
      </p:sp>
      <p:cxnSp>
        <p:nvCxnSpPr>
          <p:cNvPr id="100036" name="FPGA1.ScanOut"/>
          <p:cNvCxnSpPr/>
          <p:nvPr/>
        </p:nvCxnSpPr>
        <p:spPr>
          <a:xfrm>
            <a:off x="2355494" y="5427878"/>
            <a:ext cx="468173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triangle"/>
          </a:ln>
        </p:spPr>
      </p:cxnSp>
      <p:cxnSp>
        <p:nvCxnSpPr>
          <p:cNvPr id="100037" name="FPGA1.Collect"/>
          <p:cNvCxnSpPr/>
          <p:nvPr/>
        </p:nvCxnSpPr>
        <p:spPr>
          <a:xfrm>
            <a:off x="4337914" y="5427878"/>
            <a:ext cx="694944" cy="0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none"/>
          </a:ln>
        </p:spPr>
      </p:cxnSp>
      <p:sp>
        <p:nvSpPr>
          <p:cNvPr id="100038" name="Distributed.More"/>
          <p:cNvSpPr txBox="1"/>
          <p:nvPr/>
        </p:nvSpPr>
        <p:spPr>
          <a:xfrm>
            <a:off x="2084832" y="3708806"/>
            <a:ext cx="731520" cy="3364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...</a:t>
            </a:r>
          </a:p>
        </p:txBody>
      </p:sp>
      <p:sp>
        <p:nvSpPr>
          <p:cNvPr id="100039" name="Distributed.ScanLegend"/>
          <p:cNvSpPr txBox="1"/>
          <p:nvPr/>
        </p:nvSpPr>
        <p:spPr>
          <a:xfrm>
            <a:off x="475488" y="6751930"/>
            <a:ext cx="3913632" cy="24871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>
                <a:solidFill>
                  <a:srgbClr val="008C95"/>
                </a:solidFill>
                <a:latin typeface="Arial"/>
                <a:ea typeface="Arial"/>
              </a:rPr>
              <a:t>Dashed boundary: scanned state</a:t>
            </a:r>
          </a:p>
        </p:txBody>
      </p:sp>
      <p:cxnSp>
        <p:nvCxnSpPr>
          <p:cNvPr id="100040" name="Host.CollectBus"/>
          <p:cNvCxnSpPr/>
          <p:nvPr/>
        </p:nvCxnSpPr>
        <p:spPr>
          <a:xfrm>
            <a:off x="5032858" y="2428646"/>
            <a:ext cx="0" cy="2999232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none"/>
          </a:ln>
        </p:spPr>
      </p:cxnSp>
      <p:cxnSp>
        <p:nvCxnSpPr>
          <p:cNvPr id="100041" name="Host.CollectArrow"/>
          <p:cNvCxnSpPr/>
          <p:nvPr/>
        </p:nvCxnSpPr>
        <p:spPr>
          <a:xfrm>
            <a:off x="5032858" y="3913632"/>
            <a:ext cx="585216" cy="0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triangle"/>
          </a:ln>
        </p:spPr>
      </p:cxnSp>
      <p:sp>
        <p:nvSpPr>
          <p:cNvPr id="100042" name="Host.CollectLabel"/>
          <p:cNvSpPr txBox="1"/>
          <p:nvPr/>
        </p:nvSpPr>
        <p:spPr>
          <a:xfrm>
            <a:off x="4615891" y="3160166"/>
            <a:ext cx="833933" cy="5705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183B56"/>
                </a:solidFill>
                <a:latin typeface="Arial"/>
                <a:ea typeface="Arial"/>
              </a:rPr>
              <a:t>Host</a:t>
            </a:r>
          </a:p>
          <a:p>
            <a:pPr algn="ctr"/>
            <a:r>
              <a:rPr lang="en-US" sz="1200">
                <a:solidFill>
                  <a:srgbClr val="183B56"/>
                </a:solidFill>
                <a:latin typeface="Arial"/>
                <a:ea typeface="Arial"/>
              </a:rPr>
              <a:t>collection</a:t>
            </a:r>
          </a:p>
        </p:txBody>
      </p:sp>
      <p:grpSp>
        <p:nvGrpSpPr>
          <p:cNvPr id="100045" name="Host.RootFolder"/>
          <p:cNvGrpSpPr/>
          <p:nvPr/>
        </p:nvGrpSpPr>
        <p:grpSpPr>
          <a:xfrm>
            <a:off x="5647334" y="980237"/>
            <a:ext cx="351130" cy="280904"/>
            <a:chOff x="5647334" y="980237"/>
            <a:chExt cx="351130" cy="280904"/>
          </a:xfrm>
        </p:grpSpPr>
        <p:sp>
          <p:nvSpPr>
            <p:cNvPr id="100043" name="Host.RootFolder.Tab"/>
            <p:cNvSpPr/>
            <p:nvPr/>
          </p:nvSpPr>
          <p:spPr>
            <a:xfrm>
              <a:off x="5669280" y="980237"/>
              <a:ext cx="158008" cy="94805"/>
            </a:xfrm>
            <a:prstGeom prst="roundRect">
              <a:avLst/>
            </a:prstGeom>
            <a:solidFill>
              <a:srgbClr val="A9D3EC"/>
            </a:solidFill>
            <a:ln w="1397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44" name="Host.RootFolder.Body"/>
            <p:cNvSpPr/>
            <p:nvPr/>
          </p:nvSpPr>
          <p:spPr>
            <a:xfrm>
              <a:off x="5647334" y="1036418"/>
              <a:ext cx="351130" cy="224723"/>
            </a:xfrm>
            <a:prstGeom prst="roundRect">
              <a:avLst>
                <a:gd name="adj" fmla="val 7000"/>
              </a:avLst>
            </a:prstGeom>
            <a:solidFill>
              <a:srgbClr val="A9D3EC"/>
            </a:solidFill>
            <a:ln w="1397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00046" name="Host.RootLabel"/>
          <p:cNvSpPr txBox="1"/>
          <p:nvPr/>
        </p:nvSpPr>
        <p:spPr>
          <a:xfrm>
            <a:off x="6086246" y="943661"/>
            <a:ext cx="2706624" cy="35113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ckpt/</a:t>
            </a:r>
          </a:p>
        </p:txBody>
      </p:sp>
      <p:sp>
        <p:nvSpPr>
          <p:cNvPr id="100047" name="Checkpoint.Cycle100"/>
          <p:cNvSpPr/>
          <p:nvPr/>
        </p:nvSpPr>
        <p:spPr>
          <a:xfrm>
            <a:off x="5998464" y="1463040"/>
            <a:ext cx="3547872" cy="2867558"/>
          </a:xfrm>
          <a:prstGeom prst="roundRect">
            <a:avLst>
              <a:gd name="adj" fmla="val 4500"/>
            </a:avLst>
          </a:prstGeom>
          <a:solidFill>
            <a:srgbClr val="E7EEF3"/>
          </a:solidFill>
          <a:ln w="15240">
            <a:solidFill>
              <a:srgbClr val="8CA4B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48" name="Checkpoint.Cycle100Label"/>
          <p:cNvSpPr txBox="1"/>
          <p:nvPr/>
        </p:nvSpPr>
        <p:spPr>
          <a:xfrm>
            <a:off x="6174029" y="1492301"/>
            <a:ext cx="3182112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DUT Cycle 100   ...</a:t>
            </a:r>
          </a:p>
        </p:txBody>
      </p:sp>
      <p:sp>
        <p:nvSpPr>
          <p:cNvPr id="100049" name="Checkpoint.Cycle20"/>
          <p:cNvSpPr/>
          <p:nvPr/>
        </p:nvSpPr>
        <p:spPr>
          <a:xfrm>
            <a:off x="5808269" y="1865376"/>
            <a:ext cx="3547872" cy="2706624"/>
          </a:xfrm>
          <a:prstGeom prst="roundRect">
            <a:avLst>
              <a:gd name="adj" fmla="val 4500"/>
            </a:avLst>
          </a:prstGeom>
          <a:solidFill>
            <a:srgbClr val="E3F0F6"/>
          </a:solidFill>
          <a:ln w="15240">
            <a:solidFill>
              <a:srgbClr val="6B9DBB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50" name="Checkpoint.Cycle20Label"/>
          <p:cNvSpPr txBox="1"/>
          <p:nvPr/>
        </p:nvSpPr>
        <p:spPr>
          <a:xfrm>
            <a:off x="5983834" y="1894637"/>
            <a:ext cx="3182112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DUT Cycle 20</a:t>
            </a:r>
          </a:p>
        </p:txBody>
      </p:sp>
      <p:sp>
        <p:nvSpPr>
          <p:cNvPr id="100051" name="Checkpoint.Cycle0"/>
          <p:cNvSpPr/>
          <p:nvPr/>
        </p:nvSpPr>
        <p:spPr>
          <a:xfrm>
            <a:off x="5618074" y="2267712"/>
            <a:ext cx="3803904" cy="254569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2584B8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grpSp>
        <p:nvGrpSpPr>
          <p:cNvPr id="100054" name="Checkpoint.Cycle0Folder"/>
          <p:cNvGrpSpPr/>
          <p:nvPr/>
        </p:nvGrpSpPr>
        <p:grpSpPr>
          <a:xfrm>
            <a:off x="5793638" y="2428646"/>
            <a:ext cx="307238" cy="245792"/>
            <a:chOff x="5793638" y="2428646"/>
            <a:chExt cx="307238" cy="245792"/>
          </a:xfrm>
        </p:grpSpPr>
        <p:sp>
          <p:nvSpPr>
            <p:cNvPr id="100052" name="Checkpoint.Cycle0Folder.Tab"/>
            <p:cNvSpPr/>
            <p:nvPr/>
          </p:nvSpPr>
          <p:spPr>
            <a:xfrm>
              <a:off x="5815584" y="2428646"/>
              <a:ext cx="138257" cy="82954"/>
            </a:xfrm>
            <a:prstGeom prst="roundRect">
              <a:avLst/>
            </a:prstGeom>
            <a:solidFill>
              <a:srgbClr val="A9D3EC"/>
            </a:solidFill>
            <a:ln w="1397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53" name="Checkpoint.Cycle0Folder.Body"/>
            <p:cNvSpPr/>
            <p:nvPr/>
          </p:nvSpPr>
          <p:spPr>
            <a:xfrm>
              <a:off x="5793638" y="2477805"/>
              <a:ext cx="307238" cy="196633"/>
            </a:xfrm>
            <a:prstGeom prst="roundRect">
              <a:avLst>
                <a:gd name="adj" fmla="val 7000"/>
              </a:avLst>
            </a:prstGeom>
            <a:solidFill>
              <a:srgbClr val="A9D3EC"/>
            </a:solidFill>
            <a:ln w="1397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00055" name="Checkpoint.Cycle0Label"/>
          <p:cNvSpPr txBox="1"/>
          <p:nvPr/>
        </p:nvSpPr>
        <p:spPr>
          <a:xfrm>
            <a:off x="6195974" y="2370125"/>
            <a:ext cx="2779776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0/  ·  DUT Cycle 0</a:t>
            </a:r>
          </a:p>
        </p:txBody>
      </p:sp>
      <p:grpSp>
        <p:nvGrpSpPr>
          <p:cNvPr id="100058" name="Checkpoint.Part0"/>
          <p:cNvGrpSpPr/>
          <p:nvPr/>
        </p:nvGrpSpPr>
        <p:grpSpPr>
          <a:xfrm>
            <a:off x="5779008" y="2948026"/>
            <a:ext cx="1046074" cy="1302106"/>
            <a:chOff x="5779008" y="2948026"/>
            <a:chExt cx="1046074" cy="1302106"/>
          </a:xfrm>
        </p:grpSpPr>
        <p:sp>
          <p:nvSpPr>
            <p:cNvPr id="100056" name="Checkpoint.Part0.Page"/>
            <p:cNvSpPr/>
            <p:nvPr/>
          </p:nvSpPr>
          <p:spPr>
            <a:xfrm>
              <a:off x="5779008" y="2948026"/>
              <a:ext cx="1046074" cy="1302106"/>
            </a:xfrm>
            <a:prstGeom prst="foldedCorner">
              <a:avLst/>
            </a:prstGeom>
            <a:solidFill>
              <a:srgbClr val="DCEEF9"/>
            </a:solidFill>
            <a:ln w="1524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57" name="Checkpoint.Part0.Text"/>
            <p:cNvSpPr txBox="1"/>
            <p:nvPr/>
          </p:nvSpPr>
          <p:spPr>
            <a:xfrm>
              <a:off x="5822899" y="3123590"/>
              <a:ext cx="958291" cy="108265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r>
                <a:rPr lang="en-US" sz="1500" b="1">
                  <a:solidFill>
                    <a:srgbClr val="183B56"/>
                  </a:solidFill>
                  <a:latin typeface="Arial"/>
                  <a:ea typeface="Arial"/>
                </a:rPr>
                <a:t>scanchain</a:t>
              </a:r>
            </a:p>
            <a:p>
              <a:pPr algn="ctr"/>
              <a:r>
                <a:rPr lang="en-US" sz="1500" b="1">
                  <a:solidFill>
                    <a:srgbClr val="183B56"/>
                  </a:solidFill>
                  <a:latin typeface="Arial"/>
                  <a:ea typeface="Arial"/>
                </a:rPr>
                <a:t>part_0</a:t>
              </a:r>
            </a:p>
          </p:txBody>
        </p:sp>
      </p:grpSp>
      <p:grpSp>
        <p:nvGrpSpPr>
          <p:cNvPr id="100061" name="Checkpoint.Part1"/>
          <p:cNvGrpSpPr/>
          <p:nvPr/>
        </p:nvGrpSpPr>
        <p:grpSpPr>
          <a:xfrm>
            <a:off x="7000646" y="2948026"/>
            <a:ext cx="1046074" cy="1302106"/>
            <a:chOff x="7000646" y="2948026"/>
            <a:chExt cx="1046074" cy="1302106"/>
          </a:xfrm>
        </p:grpSpPr>
        <p:sp>
          <p:nvSpPr>
            <p:cNvPr id="100059" name="Checkpoint.Part1.Page"/>
            <p:cNvSpPr/>
            <p:nvPr/>
          </p:nvSpPr>
          <p:spPr>
            <a:xfrm>
              <a:off x="7000646" y="2948026"/>
              <a:ext cx="1046074" cy="1302106"/>
            </a:xfrm>
            <a:prstGeom prst="foldedCorner">
              <a:avLst/>
            </a:prstGeom>
            <a:solidFill>
              <a:srgbClr val="DCEEF9"/>
            </a:solidFill>
            <a:ln w="1524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60" name="Checkpoint.Part1.Text"/>
            <p:cNvSpPr txBox="1"/>
            <p:nvPr/>
          </p:nvSpPr>
          <p:spPr>
            <a:xfrm>
              <a:off x="7044538" y="3123590"/>
              <a:ext cx="958291" cy="108265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r>
                <a:rPr lang="en-US" sz="1500" b="1">
                  <a:solidFill>
                    <a:srgbClr val="183B56"/>
                  </a:solidFill>
                  <a:latin typeface="Arial"/>
                  <a:ea typeface="Arial"/>
                </a:rPr>
                <a:t>scanchain</a:t>
              </a:r>
            </a:p>
            <a:p>
              <a:pPr algn="ctr"/>
              <a:r>
                <a:rPr lang="en-US" sz="1500" b="1">
                  <a:solidFill>
                    <a:srgbClr val="183B56"/>
                  </a:solidFill>
                  <a:latin typeface="Arial"/>
                  <a:ea typeface="Arial"/>
                </a:rPr>
                <a:t>part_1</a:t>
              </a:r>
            </a:p>
          </p:txBody>
        </p:sp>
      </p:grpSp>
      <p:grpSp>
        <p:nvGrpSpPr>
          <p:cNvPr id="100064" name="Checkpoint.Memory"/>
          <p:cNvGrpSpPr/>
          <p:nvPr/>
        </p:nvGrpSpPr>
        <p:grpSpPr>
          <a:xfrm>
            <a:off x="8222285" y="2948026"/>
            <a:ext cx="1046074" cy="1302106"/>
            <a:chOff x="8222285" y="2948026"/>
            <a:chExt cx="1046074" cy="1302106"/>
          </a:xfrm>
        </p:grpSpPr>
        <p:sp>
          <p:nvSpPr>
            <p:cNvPr id="100062" name="Checkpoint.Memory.Page"/>
            <p:cNvSpPr/>
            <p:nvPr/>
          </p:nvSpPr>
          <p:spPr>
            <a:xfrm>
              <a:off x="8222285" y="2948026"/>
              <a:ext cx="1046074" cy="1302106"/>
            </a:xfrm>
            <a:prstGeom prst="foldedCorner">
              <a:avLst/>
            </a:prstGeom>
            <a:solidFill>
              <a:srgbClr val="EAF4F3"/>
            </a:solidFill>
            <a:ln w="1524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63" name="Checkpoint.Memory.Text"/>
            <p:cNvSpPr txBox="1"/>
            <p:nvPr/>
          </p:nvSpPr>
          <p:spPr>
            <a:xfrm>
              <a:off x="8266176" y="3123590"/>
              <a:ext cx="958291" cy="108265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r>
                <a:rPr lang="en-US" sz="1500" b="1">
                  <a:solidFill>
                    <a:srgbClr val="183B56"/>
                  </a:solidFill>
                  <a:latin typeface="Arial"/>
                  <a:ea typeface="Arial"/>
                </a:rPr>
                <a:t>RAM Model</a:t>
              </a:r>
            </a:p>
            <a:p>
              <a:pPr algn="ctr"/>
              <a:r>
                <a:rPr lang="en-US" sz="1500" b="1">
                  <a:solidFill>
                    <a:srgbClr val="183B56"/>
                  </a:solidFill>
                  <a:latin typeface="Arial"/>
                  <a:ea typeface="Arial"/>
                </a:rPr>
                <a:t>Data</a:t>
              </a:r>
            </a:p>
          </p:txBody>
        </p:sp>
      </p:grpSp>
      <p:sp>
        <p:nvSpPr>
          <p:cNvPr id="100065" name="Checkpoint.SameCycle"/>
          <p:cNvSpPr txBox="1"/>
          <p:nvPr/>
        </p:nvSpPr>
        <p:spPr>
          <a:xfrm>
            <a:off x="5779008" y="4374490"/>
            <a:ext cx="3482035" cy="32186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All partitions · same cycle</a:t>
            </a:r>
          </a:p>
        </p:txBody>
      </p:sp>
      <p:sp>
        <p:nvSpPr>
          <p:cNvPr id="100066" name="Checkpoint.CycleNote"/>
          <p:cNvSpPr txBox="1"/>
          <p:nvPr/>
        </p:nvSpPr>
        <p:spPr>
          <a:xfrm>
            <a:off x="5618074" y="4930445"/>
            <a:ext cx="3891686" cy="27797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>
                <a:solidFill>
                  <a:srgbClr val="607184"/>
                </a:solidFill>
                <a:latin typeface="Arial"/>
                <a:ea typeface="Arial"/>
              </a:rPr>
              <a:t>Illustrative checkpoint cycles</a:t>
            </a:r>
          </a:p>
        </p:txBody>
      </p:sp>
      <p:grpSp>
        <p:nvGrpSpPr>
          <p:cNvPr id="100069" name="Aux.Input"/>
          <p:cNvGrpSpPr/>
          <p:nvPr/>
        </p:nvGrpSpPr>
        <p:grpSpPr>
          <a:xfrm>
            <a:off x="5742432" y="5596128"/>
            <a:ext cx="1550822" cy="1119226"/>
            <a:chOff x="5742432" y="5596128"/>
            <a:chExt cx="1550822" cy="1119226"/>
          </a:xfrm>
        </p:grpSpPr>
        <p:sp>
          <p:nvSpPr>
            <p:cNvPr id="100067" name="Aux.Input.Page"/>
            <p:cNvSpPr/>
            <p:nvPr/>
          </p:nvSpPr>
          <p:spPr>
            <a:xfrm>
              <a:off x="5742432" y="5596128"/>
              <a:ext cx="1550822" cy="1119226"/>
            </a:xfrm>
            <a:prstGeom prst="foldedCorner">
              <a:avLst/>
            </a:prstGeom>
            <a:solidFill>
              <a:srgbClr val="FFF0D9"/>
            </a:solidFill>
            <a:ln w="1524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68" name="Aux.Input.Text"/>
            <p:cNvSpPr txBox="1"/>
            <p:nvPr/>
          </p:nvSpPr>
          <p:spPr>
            <a:xfrm>
              <a:off x="5786323" y="5771693"/>
              <a:ext cx="1463040" cy="89977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r>
                <a:rPr lang="en-US" sz="1800" b="1">
                  <a:solidFill>
                    <a:srgbClr val="183B56"/>
                  </a:solidFill>
                  <a:latin typeface="Arial"/>
                  <a:ea typeface="Arial"/>
                </a:rPr>
                <a:t>Input Traces</a:t>
              </a:r>
            </a:p>
          </p:txBody>
        </p:sp>
      </p:grpSp>
      <p:grpSp>
        <p:nvGrpSpPr>
          <p:cNvPr id="100072" name="Aux.Mapping"/>
          <p:cNvGrpSpPr/>
          <p:nvPr/>
        </p:nvGrpSpPr>
        <p:grpSpPr>
          <a:xfrm>
            <a:off x="7644384" y="5596128"/>
            <a:ext cx="1814170" cy="1119226"/>
            <a:chOff x="7644384" y="5596128"/>
            <a:chExt cx="1814170" cy="1119226"/>
          </a:xfrm>
        </p:grpSpPr>
        <p:sp>
          <p:nvSpPr>
            <p:cNvPr id="100070" name="Aux.Mapping.Page"/>
            <p:cNvSpPr/>
            <p:nvPr/>
          </p:nvSpPr>
          <p:spPr>
            <a:xfrm>
              <a:off x="7644384" y="5596128"/>
              <a:ext cx="1814170" cy="1119226"/>
            </a:xfrm>
            <a:prstGeom prst="foldedCorner">
              <a:avLst/>
            </a:prstGeom>
            <a:solidFill>
              <a:srgbClr val="EDF0F3"/>
            </a:solidFill>
            <a:ln w="15240">
              <a:solidFill>
                <a:srgbClr val="183B56"/>
              </a:solidFill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endParaRPr lang="en-US" sz="1800">
                <a:solidFill>
                  <a:srgbClr val="183B56"/>
                </a:solidFill>
                <a:latin typeface="Arial"/>
                <a:ea typeface="Arial"/>
              </a:endParaRPr>
            </a:p>
          </p:txBody>
        </p:sp>
        <p:sp>
          <p:nvSpPr>
            <p:cNvPr id="100071" name="Aux.Mapping.Text"/>
            <p:cNvSpPr txBox="1"/>
            <p:nvPr/>
          </p:nvSpPr>
          <p:spPr>
            <a:xfrm>
              <a:off x="7688275" y="5771693"/>
              <a:ext cx="1726387" cy="89977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>
              <a:noAutofit/>
            </a:bodyPr>
            <a:lstStyle/>
            <a:p>
              <a:pPr algn="ctr"/>
              <a:r>
                <a:rPr lang="en-US" sz="1800" b="1">
                  <a:solidFill>
                    <a:srgbClr val="183B56"/>
                  </a:solidFill>
                  <a:latin typeface="Arial"/>
                  <a:ea typeface="Arial"/>
                </a:rPr>
                <a:t>State Mapping</a:t>
              </a:r>
            </a:p>
            <a:p>
              <a:pPr algn="ctr"/>
              <a:r>
                <a:rPr lang="en-US" sz="1800" b="1">
                  <a:solidFill>
                    <a:srgbClr val="183B56"/>
                  </a:solidFill>
                  <a:latin typeface="Arial"/>
                  <a:ea typeface="Arial"/>
                </a:rPr>
                <a:t>Metadata</a:t>
              </a:r>
            </a:p>
          </p:txBody>
        </p:sp>
      </p:grpSp>
      <p:sp>
        <p:nvSpPr>
          <p:cNvPr id="100073" name="Aux.Heading"/>
          <p:cNvSpPr txBox="1"/>
          <p:nvPr/>
        </p:nvSpPr>
        <p:spPr>
          <a:xfrm>
            <a:off x="5654650" y="5252314"/>
            <a:ext cx="3767328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l"/>
            <a:r>
              <a:rPr lang="en-US" sz="1700">
                <a:solidFill>
                  <a:srgbClr val="183B56"/>
                </a:solidFill>
                <a:latin typeface="Arial"/>
                <a:ea typeface="Arial"/>
              </a:rPr>
              <a:t>Supporting records and metadata</a:t>
            </a:r>
          </a:p>
        </p:txBody>
      </p:sp>
      <p:cxnSp>
        <p:nvCxnSpPr>
          <p:cNvPr id="100074" name="Restore.SelectedSnapshot"/>
          <p:cNvCxnSpPr/>
          <p:nvPr/>
        </p:nvCxnSpPr>
        <p:spPr>
          <a:xfrm>
            <a:off x="9421978" y="3913632"/>
            <a:ext cx="658368" cy="0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none"/>
          </a:ln>
        </p:spPr>
      </p:cxnSp>
      <p:cxnSp>
        <p:nvCxnSpPr>
          <p:cNvPr id="100075" name="Restore.PathBus"/>
          <p:cNvCxnSpPr/>
          <p:nvPr/>
        </p:nvCxnSpPr>
        <p:spPr>
          <a:xfrm>
            <a:off x="10080346" y="2457907"/>
            <a:ext cx="0" cy="2867558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none"/>
          </a:ln>
        </p:spPr>
      </p:cxnSp>
      <p:cxnSp>
        <p:nvCxnSpPr>
          <p:cNvPr id="100076" name="Restore.HardwareArrow"/>
          <p:cNvCxnSpPr/>
          <p:nvPr/>
        </p:nvCxnSpPr>
        <p:spPr>
          <a:xfrm>
            <a:off x="10080346" y="2457907"/>
            <a:ext cx="599846" cy="0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triangle"/>
          </a:ln>
        </p:spPr>
      </p:cxnSp>
      <p:cxnSp>
        <p:nvCxnSpPr>
          <p:cNvPr id="100077" name="Restore.SoftwareArrow"/>
          <p:cNvCxnSpPr/>
          <p:nvPr/>
        </p:nvCxnSpPr>
        <p:spPr>
          <a:xfrm>
            <a:off x="10080346" y="5325466"/>
            <a:ext cx="599846" cy="0"/>
          </a:xfrm>
          <a:prstGeom prst="straightConnector1">
            <a:avLst/>
          </a:prstGeom>
          <a:ln w="19050">
            <a:solidFill>
              <a:srgbClr val="183B56"/>
            </a:solidFill>
            <a:prstDash val="solid"/>
            <a:headEnd type="none"/>
            <a:tailEnd type="triangle"/>
          </a:ln>
        </p:spPr>
      </p:cxnSp>
      <p:sp>
        <p:nvSpPr>
          <p:cNvPr id="100078" name="Restore.Panel"/>
          <p:cNvSpPr/>
          <p:nvPr/>
        </p:nvSpPr>
        <p:spPr>
          <a:xfrm>
            <a:off x="10680192" y="1119226"/>
            <a:ext cx="3547872" cy="2852928"/>
          </a:xfrm>
          <a:prstGeom prst="roundRect">
            <a:avLst>
              <a:gd name="adj" fmla="val 4500"/>
            </a:avLst>
          </a:prstGeom>
          <a:solidFill>
            <a:srgbClr val="EAF4F3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79" name="Restore.Title"/>
          <p:cNvSpPr txBox="1"/>
          <p:nvPr/>
        </p:nvSpPr>
        <p:spPr>
          <a:xfrm>
            <a:off x="10826496" y="1280160"/>
            <a:ext cx="3255264" cy="3803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300" b="1">
                <a:solidFill>
                  <a:srgbClr val="183B56"/>
                </a:solidFill>
                <a:latin typeface="Arial"/>
                <a:ea typeface="Arial"/>
              </a:rPr>
              <a:t>FPGA Restore</a:t>
            </a:r>
          </a:p>
        </p:txBody>
      </p:sp>
      <p:grpSp>
        <p:nvGrpSpPr>
          <p:cNvPr id="100150" name="Restore.Chips"/>
          <p:cNvGrpSpPr/>
          <p:nvPr/>
        </p:nvGrpSpPr>
        <p:grpSpPr>
          <a:xfrm>
            <a:off x="11638483" y="1631290"/>
            <a:ext cx="1565453" cy="1565452"/>
            <a:chOff x="11638483" y="1631290"/>
            <a:chExt cx="1565453" cy="1565452"/>
          </a:xfrm>
        </p:grpSpPr>
        <p:grpSp>
          <p:nvGrpSpPr>
            <p:cNvPr id="100102" name="Restore.Chips.Chip2"/>
            <p:cNvGrpSpPr/>
            <p:nvPr/>
          </p:nvGrpSpPr>
          <p:grpSpPr>
            <a:xfrm>
              <a:off x="12135917" y="1631290"/>
              <a:ext cx="1068019" cy="1068019"/>
              <a:chOff x="12135917" y="1631290"/>
              <a:chExt cx="1068019" cy="1068019"/>
            </a:xfrm>
          </p:grpSpPr>
          <p:sp>
            <p:nvSpPr>
              <p:cNvPr id="100080" name="Restore.Chips.Chip2.Halo"/>
              <p:cNvSpPr/>
              <p:nvPr/>
            </p:nvSpPr>
            <p:spPr>
              <a:xfrm>
                <a:off x="12135917" y="1631290"/>
                <a:ext cx="1068019" cy="1068019"/>
              </a:xfrm>
              <a:prstGeom prst="roundRect">
                <a:avLst>
                  <a:gd name="adj" fmla="val 4500"/>
                </a:avLst>
              </a:prstGeom>
              <a:solidFill>
                <a:srgbClr val="EAF4F3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1" name="Restore.Chips.Chip2.Top0"/>
              <p:cNvSpPr/>
              <p:nvPr/>
            </p:nvSpPr>
            <p:spPr>
              <a:xfrm>
                <a:off x="12367809" y="166055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2" name="Restore.Chips.Chip2.Bottom0"/>
              <p:cNvSpPr/>
              <p:nvPr/>
            </p:nvSpPr>
            <p:spPr>
              <a:xfrm>
                <a:off x="12367809" y="2596896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3" name="Restore.Chips.Chip2.Left0"/>
              <p:cNvSpPr/>
              <p:nvPr/>
            </p:nvSpPr>
            <p:spPr>
              <a:xfrm>
                <a:off x="12165178" y="1863181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4" name="Restore.Chips.Chip2.Right0"/>
              <p:cNvSpPr/>
              <p:nvPr/>
            </p:nvSpPr>
            <p:spPr>
              <a:xfrm>
                <a:off x="13101523" y="1863181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5" name="Restore.Chips.Chip2.Top1"/>
              <p:cNvSpPr/>
              <p:nvPr/>
            </p:nvSpPr>
            <p:spPr>
              <a:xfrm>
                <a:off x="12501604" y="166055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6" name="Restore.Chips.Chip2.Bottom1"/>
              <p:cNvSpPr/>
              <p:nvPr/>
            </p:nvSpPr>
            <p:spPr>
              <a:xfrm>
                <a:off x="12501604" y="2596896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7" name="Restore.Chips.Chip2.Left1"/>
              <p:cNvSpPr/>
              <p:nvPr/>
            </p:nvSpPr>
            <p:spPr>
              <a:xfrm>
                <a:off x="12165178" y="1996976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8" name="Restore.Chips.Chip2.Right1"/>
              <p:cNvSpPr/>
              <p:nvPr/>
            </p:nvSpPr>
            <p:spPr>
              <a:xfrm>
                <a:off x="13101523" y="1996976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89" name="Restore.Chips.Chip2.Top2"/>
              <p:cNvSpPr/>
              <p:nvPr/>
            </p:nvSpPr>
            <p:spPr>
              <a:xfrm>
                <a:off x="12635399" y="166055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0" name="Restore.Chips.Chip2.Bottom2"/>
              <p:cNvSpPr/>
              <p:nvPr/>
            </p:nvSpPr>
            <p:spPr>
              <a:xfrm>
                <a:off x="12635399" y="2596896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1" name="Restore.Chips.Chip2.Left2"/>
              <p:cNvSpPr/>
              <p:nvPr/>
            </p:nvSpPr>
            <p:spPr>
              <a:xfrm>
                <a:off x="12165178" y="2130771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2" name="Restore.Chips.Chip2.Right2"/>
              <p:cNvSpPr/>
              <p:nvPr/>
            </p:nvSpPr>
            <p:spPr>
              <a:xfrm>
                <a:off x="13101523" y="2130771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3" name="Restore.Chips.Chip2.Top3"/>
              <p:cNvSpPr/>
              <p:nvPr/>
            </p:nvSpPr>
            <p:spPr>
              <a:xfrm>
                <a:off x="12769194" y="166055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4" name="Restore.Chips.Chip2.Bottom3"/>
              <p:cNvSpPr/>
              <p:nvPr/>
            </p:nvSpPr>
            <p:spPr>
              <a:xfrm>
                <a:off x="12769194" y="2596896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5" name="Restore.Chips.Chip2.Left3"/>
              <p:cNvSpPr/>
              <p:nvPr/>
            </p:nvSpPr>
            <p:spPr>
              <a:xfrm>
                <a:off x="12165178" y="2264566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6" name="Restore.Chips.Chip2.Right3"/>
              <p:cNvSpPr/>
              <p:nvPr/>
            </p:nvSpPr>
            <p:spPr>
              <a:xfrm>
                <a:off x="13101523" y="2264566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7" name="Restore.Chips.Chip2.Top4"/>
              <p:cNvSpPr/>
              <p:nvPr/>
            </p:nvSpPr>
            <p:spPr>
              <a:xfrm>
                <a:off x="12902989" y="166055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8" name="Restore.Chips.Chip2.Bottom4"/>
              <p:cNvSpPr/>
              <p:nvPr/>
            </p:nvSpPr>
            <p:spPr>
              <a:xfrm>
                <a:off x="12902989" y="2596896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099" name="Restore.Chips.Chip2.Left4"/>
              <p:cNvSpPr/>
              <p:nvPr/>
            </p:nvSpPr>
            <p:spPr>
              <a:xfrm>
                <a:off x="12165178" y="2398361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0" name="Restore.Chips.Chip2.Right4"/>
              <p:cNvSpPr/>
              <p:nvPr/>
            </p:nvSpPr>
            <p:spPr>
              <a:xfrm>
                <a:off x="13101523" y="2398361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1" name="Restore.Chips.Chip2.Body"/>
              <p:cNvSpPr/>
              <p:nvPr/>
            </p:nvSpPr>
            <p:spPr>
              <a:xfrm>
                <a:off x="12238330" y="1733702"/>
                <a:ext cx="863194" cy="863194"/>
              </a:xfrm>
              <a:prstGeom prst="roundRect">
                <a:avLst>
                  <a:gd name="adj" fmla="val 7000"/>
                </a:avLst>
              </a:prstGeom>
              <a:solidFill>
                <a:srgbClr val="DCEEEA"/>
              </a:solidFill>
              <a:ln w="19050">
                <a:solidFill>
                  <a:srgbClr val="183B56"/>
                </a:solidFill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</p:grpSp>
        <p:grpSp>
          <p:nvGrpSpPr>
            <p:cNvPr id="100125" name="Restore.Chips.Chip1"/>
            <p:cNvGrpSpPr/>
            <p:nvPr/>
          </p:nvGrpSpPr>
          <p:grpSpPr>
            <a:xfrm>
              <a:off x="11887200" y="1880006"/>
              <a:ext cx="1068019" cy="1068019"/>
              <a:chOff x="11887200" y="1880006"/>
              <a:chExt cx="1068019" cy="1068019"/>
            </a:xfrm>
          </p:grpSpPr>
          <p:sp>
            <p:nvSpPr>
              <p:cNvPr id="100103" name="Restore.Chips.Chip1.Halo"/>
              <p:cNvSpPr/>
              <p:nvPr/>
            </p:nvSpPr>
            <p:spPr>
              <a:xfrm>
                <a:off x="11887200" y="1880006"/>
                <a:ext cx="1068019" cy="1068019"/>
              </a:xfrm>
              <a:prstGeom prst="roundRect">
                <a:avLst>
                  <a:gd name="adj" fmla="val 4500"/>
                </a:avLst>
              </a:prstGeom>
              <a:solidFill>
                <a:srgbClr val="EAF4F3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4" name="Restore.Chips.Chip1.Top0"/>
              <p:cNvSpPr/>
              <p:nvPr/>
            </p:nvSpPr>
            <p:spPr>
              <a:xfrm>
                <a:off x="12119092" y="1909267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5" name="Restore.Chips.Chip1.Bottom0"/>
              <p:cNvSpPr/>
              <p:nvPr/>
            </p:nvSpPr>
            <p:spPr>
              <a:xfrm>
                <a:off x="12119092" y="2845613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6" name="Restore.Chips.Chip1.Left0"/>
              <p:cNvSpPr/>
              <p:nvPr/>
            </p:nvSpPr>
            <p:spPr>
              <a:xfrm>
                <a:off x="11916461" y="2111898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7" name="Restore.Chips.Chip1.Right0"/>
              <p:cNvSpPr/>
              <p:nvPr/>
            </p:nvSpPr>
            <p:spPr>
              <a:xfrm>
                <a:off x="12852806" y="2111898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8" name="Restore.Chips.Chip1.Top1"/>
              <p:cNvSpPr/>
              <p:nvPr/>
            </p:nvSpPr>
            <p:spPr>
              <a:xfrm>
                <a:off x="12252887" y="1909267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09" name="Restore.Chips.Chip1.Bottom1"/>
              <p:cNvSpPr/>
              <p:nvPr/>
            </p:nvSpPr>
            <p:spPr>
              <a:xfrm>
                <a:off x="12252887" y="2845613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0" name="Restore.Chips.Chip1.Left1"/>
              <p:cNvSpPr/>
              <p:nvPr/>
            </p:nvSpPr>
            <p:spPr>
              <a:xfrm>
                <a:off x="11916461" y="2245693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1" name="Restore.Chips.Chip1.Right1"/>
              <p:cNvSpPr/>
              <p:nvPr/>
            </p:nvSpPr>
            <p:spPr>
              <a:xfrm>
                <a:off x="12852806" y="2245693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2" name="Restore.Chips.Chip1.Top2"/>
              <p:cNvSpPr/>
              <p:nvPr/>
            </p:nvSpPr>
            <p:spPr>
              <a:xfrm>
                <a:off x="12386682" y="1909267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3" name="Restore.Chips.Chip1.Bottom2"/>
              <p:cNvSpPr/>
              <p:nvPr/>
            </p:nvSpPr>
            <p:spPr>
              <a:xfrm>
                <a:off x="12386682" y="2845613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4" name="Restore.Chips.Chip1.Left2"/>
              <p:cNvSpPr/>
              <p:nvPr/>
            </p:nvSpPr>
            <p:spPr>
              <a:xfrm>
                <a:off x="11916461" y="2379488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5" name="Restore.Chips.Chip1.Right2"/>
              <p:cNvSpPr/>
              <p:nvPr/>
            </p:nvSpPr>
            <p:spPr>
              <a:xfrm>
                <a:off x="12852806" y="2379488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6" name="Restore.Chips.Chip1.Top3"/>
              <p:cNvSpPr/>
              <p:nvPr/>
            </p:nvSpPr>
            <p:spPr>
              <a:xfrm>
                <a:off x="12520477" y="1909267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7" name="Restore.Chips.Chip1.Bottom3"/>
              <p:cNvSpPr/>
              <p:nvPr/>
            </p:nvSpPr>
            <p:spPr>
              <a:xfrm>
                <a:off x="12520477" y="2845613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8" name="Restore.Chips.Chip1.Left3"/>
              <p:cNvSpPr/>
              <p:nvPr/>
            </p:nvSpPr>
            <p:spPr>
              <a:xfrm>
                <a:off x="11916461" y="2513283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19" name="Restore.Chips.Chip1.Right3"/>
              <p:cNvSpPr/>
              <p:nvPr/>
            </p:nvSpPr>
            <p:spPr>
              <a:xfrm>
                <a:off x="12852806" y="2513283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0" name="Restore.Chips.Chip1.Top4"/>
              <p:cNvSpPr/>
              <p:nvPr/>
            </p:nvSpPr>
            <p:spPr>
              <a:xfrm>
                <a:off x="12654272" y="1909267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1" name="Restore.Chips.Chip1.Bottom4"/>
              <p:cNvSpPr/>
              <p:nvPr/>
            </p:nvSpPr>
            <p:spPr>
              <a:xfrm>
                <a:off x="12654272" y="2845613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2" name="Restore.Chips.Chip1.Left4"/>
              <p:cNvSpPr/>
              <p:nvPr/>
            </p:nvSpPr>
            <p:spPr>
              <a:xfrm>
                <a:off x="11916461" y="2647078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3" name="Restore.Chips.Chip1.Right4"/>
              <p:cNvSpPr/>
              <p:nvPr/>
            </p:nvSpPr>
            <p:spPr>
              <a:xfrm>
                <a:off x="12852806" y="2647078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4" name="Restore.Chips.Chip1.Body"/>
              <p:cNvSpPr/>
              <p:nvPr/>
            </p:nvSpPr>
            <p:spPr>
              <a:xfrm>
                <a:off x="11989613" y="1982419"/>
                <a:ext cx="863194" cy="863194"/>
              </a:xfrm>
              <a:prstGeom prst="roundRect">
                <a:avLst>
                  <a:gd name="adj" fmla="val 7000"/>
                </a:avLst>
              </a:prstGeom>
              <a:solidFill>
                <a:srgbClr val="BCDCD5"/>
              </a:solidFill>
              <a:ln w="19050">
                <a:solidFill>
                  <a:srgbClr val="183B56"/>
                </a:solidFill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</p:grpSp>
        <p:grpSp>
          <p:nvGrpSpPr>
            <p:cNvPr id="100149" name="Restore.Chips.Chip0"/>
            <p:cNvGrpSpPr/>
            <p:nvPr/>
          </p:nvGrpSpPr>
          <p:grpSpPr>
            <a:xfrm>
              <a:off x="11638483" y="2128723"/>
              <a:ext cx="1068019" cy="1068019"/>
              <a:chOff x="11638483" y="2128723"/>
              <a:chExt cx="1068019" cy="1068019"/>
            </a:xfrm>
          </p:grpSpPr>
          <p:sp>
            <p:nvSpPr>
              <p:cNvPr id="100126" name="Restore.Chips.Chip0.Halo"/>
              <p:cNvSpPr/>
              <p:nvPr/>
            </p:nvSpPr>
            <p:spPr>
              <a:xfrm>
                <a:off x="11638483" y="2128723"/>
                <a:ext cx="1068019" cy="1068019"/>
              </a:xfrm>
              <a:prstGeom prst="roundRect">
                <a:avLst>
                  <a:gd name="adj" fmla="val 4500"/>
                </a:avLst>
              </a:prstGeom>
              <a:solidFill>
                <a:srgbClr val="EAF4F3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7" name="Restore.Chips.Chip0.Top0"/>
              <p:cNvSpPr/>
              <p:nvPr/>
            </p:nvSpPr>
            <p:spPr>
              <a:xfrm>
                <a:off x="11870375" y="2157984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8" name="Restore.Chips.Chip0.Bottom0"/>
              <p:cNvSpPr/>
              <p:nvPr/>
            </p:nvSpPr>
            <p:spPr>
              <a:xfrm>
                <a:off x="11870375" y="309433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29" name="Restore.Chips.Chip0.Left0"/>
              <p:cNvSpPr/>
              <p:nvPr/>
            </p:nvSpPr>
            <p:spPr>
              <a:xfrm>
                <a:off x="11667744" y="2360615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0" name="Restore.Chips.Chip0.Right0"/>
              <p:cNvSpPr/>
              <p:nvPr/>
            </p:nvSpPr>
            <p:spPr>
              <a:xfrm>
                <a:off x="12604090" y="2360615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1" name="Restore.Chips.Chip0.Top1"/>
              <p:cNvSpPr/>
              <p:nvPr/>
            </p:nvSpPr>
            <p:spPr>
              <a:xfrm>
                <a:off x="12004170" y="2157984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2" name="Restore.Chips.Chip0.Bottom1"/>
              <p:cNvSpPr/>
              <p:nvPr/>
            </p:nvSpPr>
            <p:spPr>
              <a:xfrm>
                <a:off x="12004170" y="309433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3" name="Restore.Chips.Chip0.Left1"/>
              <p:cNvSpPr/>
              <p:nvPr/>
            </p:nvSpPr>
            <p:spPr>
              <a:xfrm>
                <a:off x="11667744" y="2494410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4" name="Restore.Chips.Chip0.Right1"/>
              <p:cNvSpPr/>
              <p:nvPr/>
            </p:nvSpPr>
            <p:spPr>
              <a:xfrm>
                <a:off x="12604090" y="2494410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5" name="Restore.Chips.Chip0.Top2"/>
              <p:cNvSpPr/>
              <p:nvPr/>
            </p:nvSpPr>
            <p:spPr>
              <a:xfrm>
                <a:off x="12137965" y="2157984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6" name="Restore.Chips.Chip0.Bottom2"/>
              <p:cNvSpPr/>
              <p:nvPr/>
            </p:nvSpPr>
            <p:spPr>
              <a:xfrm>
                <a:off x="12137965" y="309433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7" name="Restore.Chips.Chip0.Left2"/>
              <p:cNvSpPr/>
              <p:nvPr/>
            </p:nvSpPr>
            <p:spPr>
              <a:xfrm>
                <a:off x="11667744" y="2628205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8" name="Restore.Chips.Chip0.Right2"/>
              <p:cNvSpPr/>
              <p:nvPr/>
            </p:nvSpPr>
            <p:spPr>
              <a:xfrm>
                <a:off x="12604090" y="2628205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39" name="Restore.Chips.Chip0.Top3"/>
              <p:cNvSpPr/>
              <p:nvPr/>
            </p:nvSpPr>
            <p:spPr>
              <a:xfrm>
                <a:off x="12271760" y="2157984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0" name="Restore.Chips.Chip0.Bottom3"/>
              <p:cNvSpPr/>
              <p:nvPr/>
            </p:nvSpPr>
            <p:spPr>
              <a:xfrm>
                <a:off x="12271760" y="309433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1" name="Restore.Chips.Chip0.Left3"/>
              <p:cNvSpPr/>
              <p:nvPr/>
            </p:nvSpPr>
            <p:spPr>
              <a:xfrm>
                <a:off x="11667744" y="2762000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2" name="Restore.Chips.Chip0.Right3"/>
              <p:cNvSpPr/>
              <p:nvPr/>
            </p:nvSpPr>
            <p:spPr>
              <a:xfrm>
                <a:off x="12604090" y="2762000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3" name="Restore.Chips.Chip0.Top4"/>
              <p:cNvSpPr/>
              <p:nvPr/>
            </p:nvSpPr>
            <p:spPr>
              <a:xfrm>
                <a:off x="12405555" y="2157984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4" name="Restore.Chips.Chip0.Bottom4"/>
              <p:cNvSpPr/>
              <p:nvPr/>
            </p:nvSpPr>
            <p:spPr>
              <a:xfrm>
                <a:off x="12405555" y="3094330"/>
                <a:ext cx="51206" cy="73152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5" name="Restore.Chips.Chip0.Left4"/>
              <p:cNvSpPr/>
              <p:nvPr/>
            </p:nvSpPr>
            <p:spPr>
              <a:xfrm>
                <a:off x="11667744" y="2895795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6" name="Restore.Chips.Chip0.Right4"/>
              <p:cNvSpPr/>
              <p:nvPr/>
            </p:nvSpPr>
            <p:spPr>
              <a:xfrm>
                <a:off x="12604090" y="2895795"/>
                <a:ext cx="73152" cy="51206"/>
              </a:xfrm>
              <a:prstGeom prst="rect">
                <a:avLst/>
              </a:prstGeom>
              <a:solidFill>
                <a:srgbClr val="183B56"/>
              </a:solidFill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7" name="Restore.Chips.Chip0.Body"/>
              <p:cNvSpPr/>
              <p:nvPr/>
            </p:nvSpPr>
            <p:spPr>
              <a:xfrm>
                <a:off x="11740896" y="2231136"/>
                <a:ext cx="863194" cy="863194"/>
              </a:xfrm>
              <a:prstGeom prst="roundRect">
                <a:avLst>
                  <a:gd name="adj" fmla="val 7000"/>
                </a:avLst>
              </a:prstGeom>
              <a:solidFill>
                <a:srgbClr val="ACE0D4"/>
              </a:solidFill>
              <a:ln w="19050">
                <a:solidFill>
                  <a:srgbClr val="183B56"/>
                </a:solidFill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endParaRPr lang="en-US" sz="1800">
                  <a:solidFill>
                    <a:srgbClr val="183B56"/>
                  </a:solidFill>
                  <a:latin typeface="Arial"/>
                  <a:ea typeface="Arial"/>
                </a:endParaRPr>
              </a:p>
            </p:txBody>
          </p:sp>
          <p:sp>
            <p:nvSpPr>
              <p:cNvPr id="100148" name="Restore.Chips.Chip0.Label"/>
              <p:cNvSpPr txBox="1"/>
              <p:nvPr/>
            </p:nvSpPr>
            <p:spPr>
              <a:xfrm>
                <a:off x="11740896" y="2231136"/>
                <a:ext cx="863194" cy="8631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anchor="ctr">
                <a:noAutofit/>
              </a:bodyPr>
              <a:lstStyle/>
              <a:p>
                <a:pPr algn="ctr"/>
                <a:r>
                  <a:rPr lang="en-US" sz="2100" b="1">
                    <a:solidFill>
                      <a:srgbClr val="183B56"/>
                    </a:solidFill>
                    <a:latin typeface="Arial"/>
                    <a:ea typeface="Arial"/>
                  </a:rPr>
                  <a:t>FPGA</a:t>
                </a:r>
              </a:p>
            </p:txBody>
          </p:sp>
        </p:grpSp>
      </p:grpSp>
      <p:sp>
        <p:nvSpPr>
          <p:cNvPr id="100151" name="Restore.Description"/>
          <p:cNvSpPr txBox="1"/>
          <p:nvPr/>
        </p:nvSpPr>
        <p:spPr>
          <a:xfrm>
            <a:off x="10877702" y="3240634"/>
            <a:ext cx="3145536" cy="56327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900">
                <a:solidFill>
                  <a:srgbClr val="183B56"/>
                </a:solidFill>
                <a:latin typeface="Arial"/>
                <a:ea typeface="Arial"/>
              </a:rPr>
              <a:t>Write back by partition</a:t>
            </a:r>
          </a:p>
          <a:p>
            <a:pPr algn="ctr"/>
            <a:r>
              <a:rPr lang="en-US" sz="1900">
                <a:solidFill>
                  <a:srgbClr val="183B56"/>
                </a:solidFill>
                <a:latin typeface="Arial"/>
                <a:ea typeface="Arial"/>
              </a:rPr>
              <a:t>Restore local states</a:t>
            </a:r>
          </a:p>
        </p:txBody>
      </p:sp>
      <p:sp>
        <p:nvSpPr>
          <p:cNvPr id="100152" name="Replay.Panel"/>
          <p:cNvSpPr/>
          <p:nvPr/>
        </p:nvSpPr>
        <p:spPr>
          <a:xfrm>
            <a:off x="10680192" y="4389120"/>
            <a:ext cx="3547872" cy="2421331"/>
          </a:xfrm>
          <a:prstGeom prst="roundRect">
            <a:avLst>
              <a:gd name="adj" fmla="val 4500"/>
            </a:avLst>
          </a:prstGeom>
          <a:solidFill>
            <a:srgbClr val="F1F5F8"/>
          </a:solidFill>
          <a:ln w="15240">
            <a:solidFill>
              <a:srgbClr val="6B8AA0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153" name="Replay.Title"/>
          <p:cNvSpPr txBox="1"/>
          <p:nvPr/>
        </p:nvSpPr>
        <p:spPr>
          <a:xfrm>
            <a:off x="10826496" y="4550054"/>
            <a:ext cx="3255264" cy="3803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300" b="1">
                <a:solidFill>
                  <a:srgbClr val="183B56"/>
                </a:solidFill>
                <a:latin typeface="Arial"/>
                <a:ea typeface="Arial"/>
              </a:rPr>
              <a:t>Software RTL Replay</a:t>
            </a:r>
          </a:p>
        </p:txBody>
      </p:sp>
      <p:sp>
        <p:nvSpPr>
          <p:cNvPr id="100154" name="Replay.Monitor"/>
          <p:cNvSpPr/>
          <p:nvPr/>
        </p:nvSpPr>
        <p:spPr>
          <a:xfrm>
            <a:off x="11638483" y="5113325"/>
            <a:ext cx="1631290" cy="804672"/>
          </a:xfrm>
          <a:prstGeom prst="roundRect">
            <a:avLst>
              <a:gd name="adj" fmla="val 4500"/>
            </a:avLst>
          </a:prstGeom>
          <a:solidFill>
            <a:srgbClr val="A9D3EC"/>
          </a:solidFill>
          <a:ln w="15240">
            <a:solidFill>
              <a:srgbClr val="183B56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155" name="Replay.Screen"/>
          <p:cNvSpPr/>
          <p:nvPr/>
        </p:nvSpPr>
        <p:spPr>
          <a:xfrm>
            <a:off x="11711635" y="5186477"/>
            <a:ext cx="1484986" cy="629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cxnSp>
        <p:nvCxnSpPr>
          <p:cNvPr id="100156" name="Replay.Trace0.0"/>
          <p:cNvCxnSpPr/>
          <p:nvPr/>
        </p:nvCxnSpPr>
        <p:spPr>
          <a:xfrm>
            <a:off x="11821363" y="5435194"/>
            <a:ext cx="105460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57" name="Replay.Trace0.1"/>
          <p:cNvCxnSpPr/>
          <p:nvPr/>
        </p:nvCxnSpPr>
        <p:spPr>
          <a:xfrm>
            <a:off x="11926824" y="5303520"/>
            <a:ext cx="0" cy="131674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58" name="Replay.Trace0.2"/>
          <p:cNvCxnSpPr/>
          <p:nvPr/>
        </p:nvCxnSpPr>
        <p:spPr>
          <a:xfrm>
            <a:off x="11926824" y="5303520"/>
            <a:ext cx="189829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59" name="Replay.Trace0.3"/>
          <p:cNvCxnSpPr/>
          <p:nvPr/>
        </p:nvCxnSpPr>
        <p:spPr>
          <a:xfrm>
            <a:off x="12116653" y="5303520"/>
            <a:ext cx="0" cy="131674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0" name="Replay.Trace0.4"/>
          <p:cNvCxnSpPr/>
          <p:nvPr/>
        </p:nvCxnSpPr>
        <p:spPr>
          <a:xfrm>
            <a:off x="12116653" y="5435194"/>
            <a:ext cx="126553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1" name="Replay.Trace0.5"/>
          <p:cNvCxnSpPr/>
          <p:nvPr/>
        </p:nvCxnSpPr>
        <p:spPr>
          <a:xfrm>
            <a:off x="12243206" y="5435194"/>
            <a:ext cx="105460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2" name="Replay.Trace0.6"/>
          <p:cNvCxnSpPr/>
          <p:nvPr/>
        </p:nvCxnSpPr>
        <p:spPr>
          <a:xfrm>
            <a:off x="12348668" y="5303520"/>
            <a:ext cx="0" cy="131674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3" name="Replay.Trace0.7"/>
          <p:cNvCxnSpPr/>
          <p:nvPr/>
        </p:nvCxnSpPr>
        <p:spPr>
          <a:xfrm>
            <a:off x="12348668" y="5303520"/>
            <a:ext cx="189829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4" name="Replay.Trace0.8"/>
          <p:cNvCxnSpPr/>
          <p:nvPr/>
        </p:nvCxnSpPr>
        <p:spPr>
          <a:xfrm>
            <a:off x="12538497" y="5303520"/>
            <a:ext cx="0" cy="131674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5" name="Replay.Trace0.9"/>
          <p:cNvCxnSpPr/>
          <p:nvPr/>
        </p:nvCxnSpPr>
        <p:spPr>
          <a:xfrm>
            <a:off x="12538497" y="5435194"/>
            <a:ext cx="126553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6" name="Replay.Trace0.10"/>
          <p:cNvCxnSpPr/>
          <p:nvPr/>
        </p:nvCxnSpPr>
        <p:spPr>
          <a:xfrm>
            <a:off x="12665050" y="5435194"/>
            <a:ext cx="105460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7" name="Replay.Trace0.11"/>
          <p:cNvCxnSpPr/>
          <p:nvPr/>
        </p:nvCxnSpPr>
        <p:spPr>
          <a:xfrm>
            <a:off x="12770510" y="5303520"/>
            <a:ext cx="0" cy="131674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8" name="Replay.Trace0.12"/>
          <p:cNvCxnSpPr/>
          <p:nvPr/>
        </p:nvCxnSpPr>
        <p:spPr>
          <a:xfrm>
            <a:off x="12770510" y="5303520"/>
            <a:ext cx="189829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69" name="Replay.Trace0.13"/>
          <p:cNvCxnSpPr/>
          <p:nvPr/>
        </p:nvCxnSpPr>
        <p:spPr>
          <a:xfrm>
            <a:off x="12960340" y="5303520"/>
            <a:ext cx="0" cy="131674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70" name="Replay.Trace0.14"/>
          <p:cNvCxnSpPr/>
          <p:nvPr/>
        </p:nvCxnSpPr>
        <p:spPr>
          <a:xfrm>
            <a:off x="12960340" y="5435194"/>
            <a:ext cx="126553" cy="0"/>
          </a:xfrm>
          <a:prstGeom prst="straightConnector1">
            <a:avLst/>
          </a:prstGeom>
          <a:ln w="19050">
            <a:solidFill>
              <a:srgbClr val="2584B8"/>
            </a:solidFill>
            <a:prstDash val="solid"/>
            <a:headEnd type="none"/>
            <a:tailEnd type="none"/>
          </a:ln>
        </p:spPr>
      </p:cxnSp>
      <p:cxnSp>
        <p:nvCxnSpPr>
          <p:cNvPr id="100171" name="Replay.Trace1.0"/>
          <p:cNvCxnSpPr/>
          <p:nvPr/>
        </p:nvCxnSpPr>
        <p:spPr>
          <a:xfrm>
            <a:off x="11821363" y="5705856"/>
            <a:ext cx="105460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2" name="Replay.Trace1.1"/>
          <p:cNvCxnSpPr/>
          <p:nvPr/>
        </p:nvCxnSpPr>
        <p:spPr>
          <a:xfrm>
            <a:off x="11926824" y="5574182"/>
            <a:ext cx="0" cy="131674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3" name="Replay.Trace1.2"/>
          <p:cNvCxnSpPr/>
          <p:nvPr/>
        </p:nvCxnSpPr>
        <p:spPr>
          <a:xfrm>
            <a:off x="11926824" y="5574182"/>
            <a:ext cx="189829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4" name="Replay.Trace1.3"/>
          <p:cNvCxnSpPr/>
          <p:nvPr/>
        </p:nvCxnSpPr>
        <p:spPr>
          <a:xfrm>
            <a:off x="12116653" y="5574182"/>
            <a:ext cx="0" cy="131674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5" name="Replay.Trace1.4"/>
          <p:cNvCxnSpPr/>
          <p:nvPr/>
        </p:nvCxnSpPr>
        <p:spPr>
          <a:xfrm>
            <a:off x="12116653" y="5705856"/>
            <a:ext cx="126553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6" name="Replay.Trace1.5"/>
          <p:cNvCxnSpPr/>
          <p:nvPr/>
        </p:nvCxnSpPr>
        <p:spPr>
          <a:xfrm>
            <a:off x="12243206" y="5705856"/>
            <a:ext cx="105460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7" name="Replay.Trace1.6"/>
          <p:cNvCxnSpPr/>
          <p:nvPr/>
        </p:nvCxnSpPr>
        <p:spPr>
          <a:xfrm>
            <a:off x="12348668" y="5574182"/>
            <a:ext cx="0" cy="131674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8" name="Replay.Trace1.7"/>
          <p:cNvCxnSpPr/>
          <p:nvPr/>
        </p:nvCxnSpPr>
        <p:spPr>
          <a:xfrm>
            <a:off x="12348668" y="5574182"/>
            <a:ext cx="189829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79" name="Replay.Trace1.8"/>
          <p:cNvCxnSpPr/>
          <p:nvPr/>
        </p:nvCxnSpPr>
        <p:spPr>
          <a:xfrm>
            <a:off x="12538497" y="5574182"/>
            <a:ext cx="0" cy="131674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80" name="Replay.Trace1.9"/>
          <p:cNvCxnSpPr/>
          <p:nvPr/>
        </p:nvCxnSpPr>
        <p:spPr>
          <a:xfrm>
            <a:off x="12538497" y="5705856"/>
            <a:ext cx="126553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81" name="Replay.Trace1.10"/>
          <p:cNvCxnSpPr/>
          <p:nvPr/>
        </p:nvCxnSpPr>
        <p:spPr>
          <a:xfrm>
            <a:off x="12665050" y="5705856"/>
            <a:ext cx="105460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82" name="Replay.Trace1.11"/>
          <p:cNvCxnSpPr/>
          <p:nvPr/>
        </p:nvCxnSpPr>
        <p:spPr>
          <a:xfrm>
            <a:off x="12770510" y="5574182"/>
            <a:ext cx="0" cy="131674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83" name="Replay.Trace1.12"/>
          <p:cNvCxnSpPr/>
          <p:nvPr/>
        </p:nvCxnSpPr>
        <p:spPr>
          <a:xfrm>
            <a:off x="12770510" y="5574182"/>
            <a:ext cx="189829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84" name="Replay.Trace1.13"/>
          <p:cNvCxnSpPr/>
          <p:nvPr/>
        </p:nvCxnSpPr>
        <p:spPr>
          <a:xfrm>
            <a:off x="12960340" y="5574182"/>
            <a:ext cx="0" cy="131674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cxnSp>
        <p:nvCxnSpPr>
          <p:cNvPr id="100185" name="Replay.Trace1.14"/>
          <p:cNvCxnSpPr/>
          <p:nvPr/>
        </p:nvCxnSpPr>
        <p:spPr>
          <a:xfrm>
            <a:off x="12960340" y="5705856"/>
            <a:ext cx="126553" cy="0"/>
          </a:xfrm>
          <a:prstGeom prst="straightConnector1">
            <a:avLst/>
          </a:prstGeom>
          <a:ln w="19050">
            <a:solidFill>
              <a:srgbClr val="008C95"/>
            </a:solidFill>
            <a:prstDash val="solid"/>
            <a:headEnd type="none"/>
            <a:tailEnd type="none"/>
          </a:ln>
        </p:spPr>
      </p:cxnSp>
      <p:sp>
        <p:nvSpPr>
          <p:cNvPr id="100186" name="Replay.Stand"/>
          <p:cNvSpPr/>
          <p:nvPr/>
        </p:nvSpPr>
        <p:spPr>
          <a:xfrm>
            <a:off x="12377318" y="5917997"/>
            <a:ext cx="160934" cy="109728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187" name="Replay.Foot"/>
          <p:cNvSpPr/>
          <p:nvPr/>
        </p:nvSpPr>
        <p:spPr>
          <a:xfrm>
            <a:off x="12099341" y="6027725"/>
            <a:ext cx="716890" cy="32918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180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188" name="Replay.Description"/>
          <p:cNvSpPr txBox="1"/>
          <p:nvPr/>
        </p:nvSpPr>
        <p:spPr>
          <a:xfrm>
            <a:off x="10877702" y="6144768"/>
            <a:ext cx="3145536" cy="5340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900">
                <a:solidFill>
                  <a:srgbClr val="183B56"/>
                </a:solidFill>
                <a:latin typeface="Arial"/>
                <a:ea typeface="Arial"/>
              </a:rPr>
              <a:t>Decode by state mapping</a:t>
            </a:r>
          </a:p>
          <a:p>
            <a:pPr algn="ctr"/>
            <a:r>
              <a:rPr lang="en-US" sz="1900">
                <a:solidFill>
                  <a:srgbClr val="183B56"/>
                </a:solidFill>
                <a:latin typeface="Arial"/>
                <a:ea typeface="Arial"/>
              </a:rPr>
              <a:t>Restore and replay</a:t>
            </a:r>
          </a:p>
        </p:txBody>
      </p:sp>
      <p:cxnSp>
        <p:nvCxnSpPr>
          <p:cNvPr id="100189" name="Mapping.AuxA"/>
          <p:cNvCxnSpPr/>
          <p:nvPr/>
        </p:nvCxnSpPr>
        <p:spPr>
          <a:xfrm>
            <a:off x="9458554" y="6232550"/>
            <a:ext cx="453542" cy="0"/>
          </a:xfrm>
          <a:prstGeom prst="straightConnector1">
            <a:avLst/>
          </a:prstGeom>
          <a:ln w="19050">
            <a:solidFill>
              <a:srgbClr val="607184"/>
            </a:solidFill>
            <a:prstDash val="dash"/>
            <a:headEnd type="none"/>
            <a:tailEnd type="none"/>
          </a:ln>
        </p:spPr>
      </p:cxnSp>
      <p:cxnSp>
        <p:nvCxnSpPr>
          <p:cNvPr id="100190" name="Mapping.AuxB"/>
          <p:cNvCxnSpPr/>
          <p:nvPr/>
        </p:nvCxnSpPr>
        <p:spPr>
          <a:xfrm>
            <a:off x="9912096" y="6232550"/>
            <a:ext cx="0" cy="314554"/>
          </a:xfrm>
          <a:prstGeom prst="straightConnector1">
            <a:avLst/>
          </a:prstGeom>
          <a:ln w="19050">
            <a:solidFill>
              <a:srgbClr val="607184"/>
            </a:solidFill>
            <a:prstDash val="dash"/>
            <a:headEnd type="none"/>
            <a:tailEnd type="none"/>
          </a:ln>
        </p:spPr>
      </p:cxnSp>
      <p:cxnSp>
        <p:nvCxnSpPr>
          <p:cNvPr id="100191" name="Mapping.AuxC"/>
          <p:cNvCxnSpPr/>
          <p:nvPr/>
        </p:nvCxnSpPr>
        <p:spPr>
          <a:xfrm>
            <a:off x="9912096" y="6547104"/>
            <a:ext cx="768096" cy="0"/>
          </a:xfrm>
          <a:prstGeom prst="straightConnector1">
            <a:avLst/>
          </a:prstGeom>
          <a:ln w="19050">
            <a:solidFill>
              <a:srgbClr val="607184"/>
            </a:solidFill>
            <a:prstDash val="dash"/>
            <a:headEnd type="none"/>
            <a:tailEnd type="triangle"/>
          </a:ln>
        </p:spPr>
      </p:cxn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2026-10-26T03:38:07.0000000Z</dcterms:created>
  <lastModifiedBy>OfficeCLI</lastModifiedBy>
  <dcterms:modified xsi:type="dcterms:W3CDTF">2026-10-26T03:38:07.9412125Z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2026-10-26T03:38:10Z</vt:lpwstr>
  </op:property>
</op:Properties>
</file>