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8782013692e4113" /><Relationship Type="http://schemas.openxmlformats.org/package/2006/relationships/metadata/core-properties" Target="/docProps/core.xml" Id="R7c88f11454084508" /><Relationship Type="http://schemas.openxmlformats.org/officeDocument/2006/relationships/extended-properties" Target="/docProps/app.xml" Id="Rc734fd4aca9642c2" /><Relationship Type="http://schemas.openxmlformats.org/officeDocument/2006/relationships/custom-properties" Target="/docProps/custom.xml" Id="R3bac4d1e2736425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819fe59e8254bc0"/>
  </p:notesMasterIdLst>
  <p:sldIdLst>
    <p:sldId id="256" r:id="R214aed1348674d3f"/>
  </p:sldIdLst>
  <p:sldSz cx="14630400" cy="73152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14aed1348674d3f" /><Relationship Type="http://schemas.openxmlformats.org/officeDocument/2006/relationships/notesMaster" Target="/ppt/notesMasters/notesMaster1.xml" Id="R2819fe59e825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b1ca7d9282f41b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286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200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b9d9636659946b2" /><Relationship Type="http://schemas.openxmlformats.org/officeDocument/2006/relationships/slide" Target="/ppt/slides/slide1.xml" Id="Racc490bfaf3a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Standalone thesis figure rebuilt from figure/ckpt-and-replay.png. Dashed partition boundaries include registers and SRAM, not combinational logic. Host collects all partition data for the same DUT cycle. Only illustrative cycle 0 is expanded; cycles 20 and 100 are compact overlapping cards. Input Traces are supporting records for hardware/software restoration and replay; their dependencies are described in the report rather than drawn as extra arrows. State mapping metadata is used to decode partition state for software RTL replay. The three-chip stack indicates multiple FPGA targets, not a measured platform size. File labels are conceptual, not a complete on-disk schema.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2968fe2934d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5d06ac7154b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7fadf821c43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6d85a674041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2423cb114485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bec69cf3fe3491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f39dc9ef54d21" /><Relationship Type="http://schemas.openxmlformats.org/officeDocument/2006/relationships/notesSlide" Target="/ppt/notesSlides/notesSlide1.xml" Id="Rb74b9c3c64c3453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Distributed.Panel"/>
          <p:cNvSpPr/>
          <p:nvPr/>
        </p:nvSpPr>
        <p:spPr>
          <a:xfrm>
            <a:off x="182880" y="182880"/>
            <a:ext cx="4498848" cy="6949440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1" name="Distributed.Title"/>
          <p:cNvSpPr txBox="1"/>
          <p:nvPr/>
        </p:nvSpPr>
        <p:spPr>
          <a:xfrm>
            <a:off x="270662" y="380390"/>
            <a:ext cx="4323283" cy="4242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300" b="1">
                <a:solidFill>
                  <a:srgbClr val="183B56"/>
                </a:solidFill>
                <a:latin typeface="Arial"/>
                <a:ea typeface="Arial"/>
              </a:rPr>
              <a:t>Distributed FPGA State</a:t>
            </a:r>
          </a:p>
        </p:txBody>
      </p:sp>
      <p:sp>
        <p:nvSpPr>
          <p:cNvPr id="100002" name="Host.Panel"/>
          <p:cNvSpPr/>
          <p:nvPr/>
        </p:nvSpPr>
        <p:spPr>
          <a:xfrm>
            <a:off x="5376672" y="182880"/>
            <a:ext cx="4389120" cy="6949440"/>
          </a:xfrm>
          <a:prstGeom prst="roundRect">
            <a:avLst>
              <a:gd name="adj" fmla="val 4500"/>
            </a:avLst>
          </a:prstGeom>
          <a:solidFill>
            <a:srgbClr val="FFFAF0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3" name="Host.Title"/>
          <p:cNvSpPr txBox="1"/>
          <p:nvPr/>
        </p:nvSpPr>
        <p:spPr>
          <a:xfrm>
            <a:off x="5464454" y="380390"/>
            <a:ext cx="4213555" cy="4242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300" b="1">
                <a:solidFill>
                  <a:srgbClr val="183B56"/>
                </a:solidFill>
                <a:latin typeface="Arial"/>
                <a:ea typeface="Arial"/>
              </a:rPr>
              <a:t>Global Snapshot on Host</a:t>
            </a:r>
          </a:p>
        </p:txBody>
      </p:sp>
      <p:sp>
        <p:nvSpPr>
          <p:cNvPr id="100004" name="Paths.Panel"/>
          <p:cNvSpPr/>
          <p:nvPr/>
        </p:nvSpPr>
        <p:spPr>
          <a:xfrm>
            <a:off x="10460736" y="182880"/>
            <a:ext cx="3986784" cy="6949440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5" name="Paths.Title"/>
          <p:cNvSpPr txBox="1"/>
          <p:nvPr/>
        </p:nvSpPr>
        <p:spPr>
          <a:xfrm>
            <a:off x="10548518" y="380390"/>
            <a:ext cx="3811219" cy="4242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300" b="1">
                <a:solidFill>
                  <a:srgbClr val="183B56"/>
                </a:solidFill>
                <a:latin typeface="Arial"/>
                <a:ea typeface="Arial"/>
              </a:rPr>
              <a:t>Restore / Replay Paths</a:t>
            </a:r>
          </a:p>
        </p:txBody>
      </p:sp>
      <p:sp>
        <p:nvSpPr>
          <p:cNvPr id="100006" name="FPGA0.Panel"/>
          <p:cNvSpPr/>
          <p:nvPr/>
        </p:nvSpPr>
        <p:spPr>
          <a:xfrm>
            <a:off x="365760" y="1097280"/>
            <a:ext cx="4133088" cy="25968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7" name="FPGA0.Title"/>
          <p:cNvSpPr txBox="1"/>
          <p:nvPr/>
        </p:nvSpPr>
        <p:spPr>
          <a:xfrm>
            <a:off x="512064" y="118506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FPGA 0</a:t>
            </a:r>
          </a:p>
        </p:txBody>
      </p:sp>
      <p:sp>
        <p:nvSpPr>
          <p:cNvPr id="100008" name="FPGA0.Partition"/>
          <p:cNvSpPr/>
          <p:nvPr/>
        </p:nvSpPr>
        <p:spPr>
          <a:xfrm>
            <a:off x="526694" y="1572768"/>
            <a:ext cx="1938528" cy="1953158"/>
          </a:xfrm>
          <a:prstGeom prst="roundRect">
            <a:avLst>
              <a:gd name="adj" fmla="val 4500"/>
            </a:avLst>
          </a:prstGeom>
          <a:solidFill>
            <a:srgbClr val="EEF6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9" name="FPGA0.PartTitle"/>
          <p:cNvSpPr txBox="1"/>
          <p:nvPr/>
        </p:nvSpPr>
        <p:spPr>
          <a:xfrm>
            <a:off x="599846" y="1609344"/>
            <a:ext cx="1792224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900" b="1">
                <a:solidFill>
                  <a:srgbClr val="183B56"/>
                </a:solidFill>
                <a:latin typeface="Arial"/>
                <a:ea typeface="Arial"/>
              </a:rPr>
              <a:t>Partition 0</a:t>
            </a:r>
          </a:p>
        </p:txBody>
      </p:sp>
      <p:sp>
        <p:nvSpPr>
          <p:cNvPr id="100010" name="FPGA0.PartRTL"/>
          <p:cNvSpPr txBox="1"/>
          <p:nvPr/>
        </p:nvSpPr>
        <p:spPr>
          <a:xfrm>
            <a:off x="599846" y="1901952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>
                <a:solidFill>
                  <a:srgbClr val="183B56"/>
                </a:solidFill>
                <a:latin typeface="Arial"/>
                <a:ea typeface="Arial"/>
              </a:rPr>
              <a:t>Partial DUT RTL</a:t>
            </a:r>
          </a:p>
        </p:txBody>
      </p:sp>
      <p:sp>
        <p:nvSpPr>
          <p:cNvPr id="100011" name="FPGA0.ScanBoundary"/>
          <p:cNvSpPr/>
          <p:nvPr/>
        </p:nvSpPr>
        <p:spPr>
          <a:xfrm>
            <a:off x="636422" y="2209190"/>
            <a:ext cx="1719072" cy="731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6510">
            <a:solidFill>
              <a:srgbClr val="008C95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2" name="FPGA0.Registers"/>
          <p:cNvSpPr txBox="1"/>
          <p:nvPr/>
        </p:nvSpPr>
        <p:spPr>
          <a:xfrm>
            <a:off x="716890" y="2282342"/>
            <a:ext cx="1558138" cy="263347"/>
          </a:xfrm>
          <a:prstGeom prst="rect">
            <a:avLst/>
          </a:prstGeom>
          <a:solidFill>
            <a:srgbClr val="EAF4F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Registers</a:t>
            </a:r>
          </a:p>
        </p:txBody>
      </p:sp>
      <p:sp>
        <p:nvSpPr>
          <p:cNvPr id="100013" name="FPGA0.SRAM"/>
          <p:cNvSpPr txBox="1"/>
          <p:nvPr/>
        </p:nvSpPr>
        <p:spPr>
          <a:xfrm>
            <a:off x="716890" y="2589581"/>
            <a:ext cx="1558138" cy="263347"/>
          </a:xfrm>
          <a:prstGeom prst="rect">
            <a:avLst/>
          </a:prstGeom>
          <a:solidFill>
            <a:srgbClr val="EAF4F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SRAM</a:t>
            </a:r>
          </a:p>
        </p:txBody>
      </p:sp>
      <p:sp>
        <p:nvSpPr>
          <p:cNvPr id="100014" name="FPGA0.Combinational"/>
          <p:cNvSpPr txBox="1"/>
          <p:nvPr/>
        </p:nvSpPr>
        <p:spPr>
          <a:xfrm>
            <a:off x="716890" y="2977286"/>
            <a:ext cx="1558138" cy="497434"/>
          </a:xfrm>
          <a:prstGeom prst="rect">
            <a:avLst/>
          </a:prstGeom>
          <a:solidFill>
            <a:srgbClr val="C5D7E5"/>
          </a:solidFill>
          <a:ln w="12700">
            <a:solidFill>
              <a:srgbClr val="8BA7BC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>
                <a:solidFill>
                  <a:srgbClr val="183B56"/>
                </a:solidFill>
                <a:latin typeface="Arial"/>
                <a:ea typeface="Arial"/>
              </a:rPr>
              <a:t>Combinational Logic</a:t>
            </a:r>
          </a:p>
        </p:txBody>
      </p:sp>
      <p:sp>
        <p:nvSpPr>
          <p:cNvPr id="100015" name="FPGA0.DDR"/>
          <p:cNvSpPr/>
          <p:nvPr/>
        </p:nvSpPr>
        <p:spPr>
          <a:xfrm>
            <a:off x="2706624" y="1572768"/>
            <a:ext cx="1631290" cy="1953158"/>
          </a:xfrm>
          <a:prstGeom prst="roundRect">
            <a:avLst>
              <a:gd name="adj" fmla="val 4500"/>
            </a:avLst>
          </a:prstGeom>
          <a:solidFill>
            <a:srgbClr val="FFF6E5"/>
          </a:solidFill>
          <a:ln w="15240">
            <a:solidFill>
              <a:srgbClr val="DF973E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6" name="FPGA0.DDRTitle"/>
          <p:cNvSpPr txBox="1"/>
          <p:nvPr/>
        </p:nvSpPr>
        <p:spPr>
          <a:xfrm>
            <a:off x="2787091" y="1645920"/>
            <a:ext cx="1470355" cy="307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DDR 0</a:t>
            </a:r>
          </a:p>
        </p:txBody>
      </p:sp>
      <p:sp>
        <p:nvSpPr>
          <p:cNvPr id="100017" name="FPGA0.ScanData"/>
          <p:cNvSpPr/>
          <p:nvPr/>
        </p:nvSpPr>
        <p:spPr>
          <a:xfrm>
            <a:off x="2823667" y="2011680"/>
            <a:ext cx="1397203" cy="870509"/>
          </a:xfrm>
          <a:prstGeom prst="roundRect">
            <a:avLst>
              <a:gd name="adj" fmla="val 4500"/>
            </a:avLst>
          </a:prstGeom>
          <a:solidFill>
            <a:srgbClr val="DCEEF9"/>
          </a:solidFill>
          <a:ln w="15240">
            <a:solidFill>
              <a:srgbClr val="2584B8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8" name="FPGA0.ScanText"/>
          <p:cNvSpPr txBox="1"/>
          <p:nvPr/>
        </p:nvSpPr>
        <p:spPr>
          <a:xfrm>
            <a:off x="2852928" y="2033626"/>
            <a:ext cx="1338682" cy="8266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Scan Chain</a:t>
            </a:r>
          </a:p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Data</a:t>
            </a:r>
          </a:p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(part 0)</a:t>
            </a:r>
          </a:p>
        </p:txBody>
      </p:sp>
      <p:cxnSp>
        <p:nvCxnSpPr>
          <p:cNvPr id="100019" name="FPGA0.ScanOut"/>
          <p:cNvCxnSpPr/>
          <p:nvPr/>
        </p:nvCxnSpPr>
        <p:spPr>
          <a:xfrm>
            <a:off x="2355494" y="2428646"/>
            <a:ext cx="46817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triangle"/>
          </a:ln>
        </p:spPr>
      </p:cxnSp>
      <p:sp>
        <p:nvSpPr>
          <p:cNvPr id="100020" name="FPGA0.Memory"/>
          <p:cNvSpPr/>
          <p:nvPr/>
        </p:nvSpPr>
        <p:spPr>
          <a:xfrm>
            <a:off x="2823667" y="2940710"/>
            <a:ext cx="1397203" cy="512064"/>
          </a:xfrm>
          <a:prstGeom prst="roundRect">
            <a:avLst>
              <a:gd name="adj" fmla="val 4500"/>
            </a:avLst>
          </a:prstGeom>
          <a:solidFill>
            <a:srgbClr val="EAF4F3"/>
          </a:solidFill>
          <a:ln w="15240">
            <a:solidFill>
              <a:srgbClr val="008C95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1" name="FPGA0.MemoryText"/>
          <p:cNvSpPr txBox="1"/>
          <p:nvPr/>
        </p:nvSpPr>
        <p:spPr>
          <a:xfrm>
            <a:off x="2852928" y="2948026"/>
            <a:ext cx="1338682" cy="497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RAM Model</a:t>
            </a:r>
          </a:p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Data</a:t>
            </a:r>
          </a:p>
        </p:txBody>
      </p:sp>
      <p:cxnSp>
        <p:nvCxnSpPr>
          <p:cNvPr id="100022" name="FPGA0.Collect"/>
          <p:cNvCxnSpPr/>
          <p:nvPr/>
        </p:nvCxnSpPr>
        <p:spPr>
          <a:xfrm>
            <a:off x="4337914" y="2428646"/>
            <a:ext cx="694944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sp>
        <p:nvSpPr>
          <p:cNvPr id="100023" name="FPGA1.Panel"/>
          <p:cNvSpPr/>
          <p:nvPr/>
        </p:nvSpPr>
        <p:spPr>
          <a:xfrm>
            <a:off x="365760" y="4096512"/>
            <a:ext cx="4133088" cy="25968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4" name="FPGA1.Title"/>
          <p:cNvSpPr txBox="1"/>
          <p:nvPr/>
        </p:nvSpPr>
        <p:spPr>
          <a:xfrm>
            <a:off x="512064" y="4184294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FPGA 1</a:t>
            </a:r>
          </a:p>
        </p:txBody>
      </p:sp>
      <p:sp>
        <p:nvSpPr>
          <p:cNvPr id="100025" name="FPGA1.Partition"/>
          <p:cNvSpPr/>
          <p:nvPr/>
        </p:nvSpPr>
        <p:spPr>
          <a:xfrm>
            <a:off x="526694" y="4572000"/>
            <a:ext cx="1938528" cy="1953158"/>
          </a:xfrm>
          <a:prstGeom prst="roundRect">
            <a:avLst>
              <a:gd name="adj" fmla="val 4500"/>
            </a:avLst>
          </a:prstGeom>
          <a:solidFill>
            <a:srgbClr val="EEF6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6" name="FPGA1.PartTitle"/>
          <p:cNvSpPr txBox="1"/>
          <p:nvPr/>
        </p:nvSpPr>
        <p:spPr>
          <a:xfrm>
            <a:off x="599846" y="4608576"/>
            <a:ext cx="1792224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900" b="1">
                <a:solidFill>
                  <a:srgbClr val="183B56"/>
                </a:solidFill>
                <a:latin typeface="Arial"/>
                <a:ea typeface="Arial"/>
              </a:rPr>
              <a:t>Partition 1</a:t>
            </a:r>
          </a:p>
        </p:txBody>
      </p:sp>
      <p:sp>
        <p:nvSpPr>
          <p:cNvPr id="100027" name="FPGA1.PartRTL"/>
          <p:cNvSpPr txBox="1"/>
          <p:nvPr/>
        </p:nvSpPr>
        <p:spPr>
          <a:xfrm>
            <a:off x="599846" y="4901184"/>
            <a:ext cx="1792224" cy="2633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>
                <a:solidFill>
                  <a:srgbClr val="183B56"/>
                </a:solidFill>
                <a:latin typeface="Arial"/>
                <a:ea typeface="Arial"/>
              </a:rPr>
              <a:t>Partial DUT RTL</a:t>
            </a:r>
          </a:p>
        </p:txBody>
      </p:sp>
      <p:sp>
        <p:nvSpPr>
          <p:cNvPr id="100028" name="FPGA1.ScanBoundary"/>
          <p:cNvSpPr/>
          <p:nvPr/>
        </p:nvSpPr>
        <p:spPr>
          <a:xfrm>
            <a:off x="636422" y="5208422"/>
            <a:ext cx="1719072" cy="731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6510">
            <a:solidFill>
              <a:srgbClr val="008C95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9" name="FPGA1.Registers"/>
          <p:cNvSpPr txBox="1"/>
          <p:nvPr/>
        </p:nvSpPr>
        <p:spPr>
          <a:xfrm>
            <a:off x="716890" y="5281574"/>
            <a:ext cx="1558138" cy="263347"/>
          </a:xfrm>
          <a:prstGeom prst="rect">
            <a:avLst/>
          </a:prstGeom>
          <a:solidFill>
            <a:srgbClr val="EAF4F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Registers</a:t>
            </a:r>
          </a:p>
        </p:txBody>
      </p:sp>
      <p:sp>
        <p:nvSpPr>
          <p:cNvPr id="100030" name="FPGA1.SRAM"/>
          <p:cNvSpPr txBox="1"/>
          <p:nvPr/>
        </p:nvSpPr>
        <p:spPr>
          <a:xfrm>
            <a:off x="716890" y="5588813"/>
            <a:ext cx="1558138" cy="263347"/>
          </a:xfrm>
          <a:prstGeom prst="rect">
            <a:avLst/>
          </a:prstGeom>
          <a:solidFill>
            <a:srgbClr val="EAF4F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SRAM</a:t>
            </a:r>
          </a:p>
        </p:txBody>
      </p:sp>
      <p:sp>
        <p:nvSpPr>
          <p:cNvPr id="100031" name="FPGA1.Combinational"/>
          <p:cNvSpPr txBox="1"/>
          <p:nvPr/>
        </p:nvSpPr>
        <p:spPr>
          <a:xfrm>
            <a:off x="716890" y="5976518"/>
            <a:ext cx="1558138" cy="497434"/>
          </a:xfrm>
          <a:prstGeom prst="rect">
            <a:avLst/>
          </a:prstGeom>
          <a:solidFill>
            <a:srgbClr val="C5D7E5"/>
          </a:solidFill>
          <a:ln w="12700">
            <a:solidFill>
              <a:srgbClr val="8BA7BC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>
                <a:solidFill>
                  <a:srgbClr val="183B56"/>
                </a:solidFill>
                <a:latin typeface="Arial"/>
                <a:ea typeface="Arial"/>
              </a:rPr>
              <a:t>Combinational Logic</a:t>
            </a:r>
          </a:p>
        </p:txBody>
      </p:sp>
      <p:sp>
        <p:nvSpPr>
          <p:cNvPr id="100032" name="FPGA1.DDR"/>
          <p:cNvSpPr/>
          <p:nvPr/>
        </p:nvSpPr>
        <p:spPr>
          <a:xfrm>
            <a:off x="2706624" y="4572000"/>
            <a:ext cx="1631290" cy="1953158"/>
          </a:xfrm>
          <a:prstGeom prst="roundRect">
            <a:avLst>
              <a:gd name="adj" fmla="val 4500"/>
            </a:avLst>
          </a:prstGeom>
          <a:solidFill>
            <a:srgbClr val="FFF6E5"/>
          </a:solidFill>
          <a:ln w="15240">
            <a:solidFill>
              <a:srgbClr val="DF973E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33" name="FPGA1.DDRTitle"/>
          <p:cNvSpPr txBox="1"/>
          <p:nvPr/>
        </p:nvSpPr>
        <p:spPr>
          <a:xfrm>
            <a:off x="2787091" y="4645152"/>
            <a:ext cx="1470355" cy="307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DDR 1</a:t>
            </a:r>
          </a:p>
        </p:txBody>
      </p:sp>
      <p:sp>
        <p:nvSpPr>
          <p:cNvPr id="100034" name="FPGA1.ScanData"/>
          <p:cNvSpPr/>
          <p:nvPr/>
        </p:nvSpPr>
        <p:spPr>
          <a:xfrm>
            <a:off x="2823667" y="5010912"/>
            <a:ext cx="1397203" cy="870509"/>
          </a:xfrm>
          <a:prstGeom prst="roundRect">
            <a:avLst>
              <a:gd name="adj" fmla="val 4500"/>
            </a:avLst>
          </a:prstGeom>
          <a:solidFill>
            <a:srgbClr val="DCEEF9"/>
          </a:solidFill>
          <a:ln w="15240">
            <a:solidFill>
              <a:srgbClr val="2584B8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35" name="FPGA1.ScanText"/>
          <p:cNvSpPr txBox="1"/>
          <p:nvPr/>
        </p:nvSpPr>
        <p:spPr>
          <a:xfrm>
            <a:off x="2852928" y="5032858"/>
            <a:ext cx="1338682" cy="8266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Scan Chain</a:t>
            </a:r>
          </a:p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Data</a:t>
            </a:r>
          </a:p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(part 1)</a:t>
            </a:r>
          </a:p>
        </p:txBody>
      </p:sp>
      <p:cxnSp>
        <p:nvCxnSpPr>
          <p:cNvPr id="100036" name="FPGA1.ScanOut"/>
          <p:cNvCxnSpPr/>
          <p:nvPr/>
        </p:nvCxnSpPr>
        <p:spPr>
          <a:xfrm>
            <a:off x="2355494" y="5427878"/>
            <a:ext cx="46817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triangle"/>
          </a:ln>
        </p:spPr>
      </p:cxnSp>
      <p:cxnSp>
        <p:nvCxnSpPr>
          <p:cNvPr id="100037" name="FPGA1.Collect"/>
          <p:cNvCxnSpPr/>
          <p:nvPr/>
        </p:nvCxnSpPr>
        <p:spPr>
          <a:xfrm>
            <a:off x="4337914" y="5427878"/>
            <a:ext cx="694944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sp>
        <p:nvSpPr>
          <p:cNvPr id="100038" name="Distributed.More"/>
          <p:cNvSpPr txBox="1"/>
          <p:nvPr/>
        </p:nvSpPr>
        <p:spPr>
          <a:xfrm>
            <a:off x="2084832" y="3708806"/>
            <a:ext cx="731520" cy="336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...</a:t>
            </a:r>
          </a:p>
        </p:txBody>
      </p:sp>
      <p:sp>
        <p:nvSpPr>
          <p:cNvPr id="100039" name="Distributed.ScanLegend"/>
          <p:cNvSpPr txBox="1"/>
          <p:nvPr/>
        </p:nvSpPr>
        <p:spPr>
          <a:xfrm>
            <a:off x="475488" y="6751930"/>
            <a:ext cx="3913632" cy="2487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>
                <a:solidFill>
                  <a:srgbClr val="008C95"/>
                </a:solidFill>
                <a:latin typeface="Arial"/>
                <a:ea typeface="Arial"/>
              </a:rPr>
              <a:t>Dashed boundary: scanned state</a:t>
            </a:r>
          </a:p>
        </p:txBody>
      </p:sp>
      <p:cxnSp>
        <p:nvCxnSpPr>
          <p:cNvPr id="100040" name="Host.CollectBus"/>
          <p:cNvCxnSpPr/>
          <p:nvPr/>
        </p:nvCxnSpPr>
        <p:spPr>
          <a:xfrm>
            <a:off x="5032858" y="2428646"/>
            <a:ext cx="0" cy="2999232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041" name="Host.CollectArrow"/>
          <p:cNvCxnSpPr/>
          <p:nvPr/>
        </p:nvCxnSpPr>
        <p:spPr>
          <a:xfrm>
            <a:off x="5032858" y="3913632"/>
            <a:ext cx="58521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grpSp>
        <p:nvGrpSpPr>
          <p:cNvPr id="100044" name="Host.RootFolder"/>
          <p:cNvGrpSpPr/>
          <p:nvPr/>
        </p:nvGrpSpPr>
        <p:grpSpPr>
          <a:xfrm>
            <a:off x="5647334" y="980237"/>
            <a:ext cx="351130" cy="280904"/>
            <a:chOff x="5647334" y="980237"/>
            <a:chExt cx="351130" cy="280904"/>
          </a:xfrm>
        </p:grpSpPr>
        <p:sp>
          <p:nvSpPr>
            <p:cNvPr id="100042" name="Host.RootFolder.Tab"/>
            <p:cNvSpPr/>
            <p:nvPr/>
          </p:nvSpPr>
          <p:spPr>
            <a:xfrm>
              <a:off x="5669280" y="980237"/>
              <a:ext cx="158008" cy="94805"/>
            </a:xfrm>
            <a:prstGeom prst="roundRect">
              <a:avLst/>
            </a:prstGeom>
            <a:solidFill>
              <a:srgbClr val="A9D3EC"/>
            </a:solidFill>
            <a:ln w="1397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3" name="Host.RootFolder.Body"/>
            <p:cNvSpPr/>
            <p:nvPr/>
          </p:nvSpPr>
          <p:spPr>
            <a:xfrm>
              <a:off x="5647334" y="1036418"/>
              <a:ext cx="351130" cy="224723"/>
            </a:xfrm>
            <a:prstGeom prst="roundRect">
              <a:avLst>
                <a:gd name="adj" fmla="val 7000"/>
              </a:avLst>
            </a:prstGeom>
            <a:solidFill>
              <a:srgbClr val="A9D3EC"/>
            </a:solidFill>
            <a:ln w="1397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00045" name="Host.RootLabel"/>
          <p:cNvSpPr txBox="1"/>
          <p:nvPr/>
        </p:nvSpPr>
        <p:spPr>
          <a:xfrm>
            <a:off x="6086246" y="943661"/>
            <a:ext cx="2706624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ckpt/</a:t>
            </a:r>
          </a:p>
        </p:txBody>
      </p:sp>
      <p:sp>
        <p:nvSpPr>
          <p:cNvPr id="100046" name="Checkpoint.Cycle100"/>
          <p:cNvSpPr/>
          <p:nvPr/>
        </p:nvSpPr>
        <p:spPr>
          <a:xfrm>
            <a:off x="5998464" y="1463040"/>
            <a:ext cx="3547872" cy="2867558"/>
          </a:xfrm>
          <a:prstGeom prst="roundRect">
            <a:avLst>
              <a:gd name="adj" fmla="val 4500"/>
            </a:avLst>
          </a:prstGeom>
          <a:solidFill>
            <a:srgbClr val="E7EEF3"/>
          </a:solidFill>
          <a:ln w="15240">
            <a:solidFill>
              <a:srgbClr val="8CA4B5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47" name="Checkpoint.Cycle100Label"/>
          <p:cNvSpPr txBox="1"/>
          <p:nvPr/>
        </p:nvSpPr>
        <p:spPr>
          <a:xfrm>
            <a:off x="6174029" y="1492301"/>
            <a:ext cx="3182112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DUT Cycle 100   ...</a:t>
            </a:r>
          </a:p>
        </p:txBody>
      </p:sp>
      <p:sp>
        <p:nvSpPr>
          <p:cNvPr id="100048" name="Checkpoint.Cycle20"/>
          <p:cNvSpPr/>
          <p:nvPr/>
        </p:nvSpPr>
        <p:spPr>
          <a:xfrm>
            <a:off x="5808269" y="1865376"/>
            <a:ext cx="3547872" cy="2706624"/>
          </a:xfrm>
          <a:prstGeom prst="roundRect">
            <a:avLst>
              <a:gd name="adj" fmla="val 4500"/>
            </a:avLst>
          </a:prstGeom>
          <a:solidFill>
            <a:srgbClr val="E3F0F6"/>
          </a:solidFill>
          <a:ln w="15240">
            <a:solidFill>
              <a:srgbClr val="6B9DB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49" name="Checkpoint.Cycle20Label"/>
          <p:cNvSpPr txBox="1"/>
          <p:nvPr/>
        </p:nvSpPr>
        <p:spPr>
          <a:xfrm>
            <a:off x="5983834" y="1894637"/>
            <a:ext cx="3182112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DUT Cycle 20</a:t>
            </a:r>
          </a:p>
        </p:txBody>
      </p:sp>
      <p:sp>
        <p:nvSpPr>
          <p:cNvPr id="100050" name="Checkpoint.Cycle0"/>
          <p:cNvSpPr/>
          <p:nvPr/>
        </p:nvSpPr>
        <p:spPr>
          <a:xfrm>
            <a:off x="5618074" y="2267712"/>
            <a:ext cx="3803904" cy="254569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584B8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grpSp>
        <p:nvGrpSpPr>
          <p:cNvPr id="100053" name="Checkpoint.Cycle0Folder"/>
          <p:cNvGrpSpPr/>
          <p:nvPr/>
        </p:nvGrpSpPr>
        <p:grpSpPr>
          <a:xfrm>
            <a:off x="5793638" y="2428646"/>
            <a:ext cx="307238" cy="245792"/>
            <a:chOff x="5793638" y="2428646"/>
            <a:chExt cx="307238" cy="245792"/>
          </a:xfrm>
        </p:grpSpPr>
        <p:sp>
          <p:nvSpPr>
            <p:cNvPr id="100051" name="Checkpoint.Cycle0Folder.Tab"/>
            <p:cNvSpPr/>
            <p:nvPr/>
          </p:nvSpPr>
          <p:spPr>
            <a:xfrm>
              <a:off x="5815584" y="2428646"/>
              <a:ext cx="138257" cy="82954"/>
            </a:xfrm>
            <a:prstGeom prst="roundRect">
              <a:avLst/>
            </a:prstGeom>
            <a:solidFill>
              <a:srgbClr val="A9D3EC"/>
            </a:solidFill>
            <a:ln w="1397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2" name="Checkpoint.Cycle0Folder.Body"/>
            <p:cNvSpPr/>
            <p:nvPr/>
          </p:nvSpPr>
          <p:spPr>
            <a:xfrm>
              <a:off x="5793638" y="2477805"/>
              <a:ext cx="307238" cy="196633"/>
            </a:xfrm>
            <a:prstGeom prst="roundRect">
              <a:avLst>
                <a:gd name="adj" fmla="val 7000"/>
              </a:avLst>
            </a:prstGeom>
            <a:solidFill>
              <a:srgbClr val="A9D3EC"/>
            </a:solidFill>
            <a:ln w="1397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00054" name="Checkpoint.Cycle0Label"/>
          <p:cNvSpPr txBox="1"/>
          <p:nvPr/>
        </p:nvSpPr>
        <p:spPr>
          <a:xfrm>
            <a:off x="6195974" y="2370125"/>
            <a:ext cx="2779776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0/  ·  DUT Cycle 0</a:t>
            </a:r>
          </a:p>
        </p:txBody>
      </p:sp>
      <p:grpSp>
        <p:nvGrpSpPr>
          <p:cNvPr id="100057" name="Checkpoint.Part0"/>
          <p:cNvGrpSpPr/>
          <p:nvPr/>
        </p:nvGrpSpPr>
        <p:grpSpPr>
          <a:xfrm>
            <a:off x="5779008" y="2948026"/>
            <a:ext cx="1046074" cy="1302106"/>
            <a:chOff x="5779008" y="2948026"/>
            <a:chExt cx="1046074" cy="1302106"/>
          </a:xfrm>
        </p:grpSpPr>
        <p:sp>
          <p:nvSpPr>
            <p:cNvPr id="100055" name="Checkpoint.Part0.Page"/>
            <p:cNvSpPr/>
            <p:nvPr/>
          </p:nvSpPr>
          <p:spPr>
            <a:xfrm>
              <a:off x="5779008" y="2948026"/>
              <a:ext cx="1046074" cy="1302106"/>
            </a:xfrm>
            <a:prstGeom prst="foldedCorner">
              <a:avLst/>
            </a:prstGeom>
            <a:solidFill>
              <a:srgbClr val="DCEEF9"/>
            </a:solidFill>
            <a:ln w="1524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6" name="Checkpoint.Part0.Text"/>
            <p:cNvSpPr txBox="1"/>
            <p:nvPr/>
          </p:nvSpPr>
          <p:spPr>
            <a:xfrm>
              <a:off x="5822899" y="3123590"/>
              <a:ext cx="958291" cy="108265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scanchain</a:t>
              </a:r>
            </a:p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part_0</a:t>
              </a:r>
            </a:p>
          </p:txBody>
        </p:sp>
      </p:grpSp>
      <p:grpSp>
        <p:nvGrpSpPr>
          <p:cNvPr id="100060" name="Checkpoint.Part1"/>
          <p:cNvGrpSpPr/>
          <p:nvPr/>
        </p:nvGrpSpPr>
        <p:grpSpPr>
          <a:xfrm>
            <a:off x="7000646" y="2948026"/>
            <a:ext cx="1046074" cy="1302106"/>
            <a:chOff x="7000646" y="2948026"/>
            <a:chExt cx="1046074" cy="1302106"/>
          </a:xfrm>
        </p:grpSpPr>
        <p:sp>
          <p:nvSpPr>
            <p:cNvPr id="100058" name="Checkpoint.Part1.Page"/>
            <p:cNvSpPr/>
            <p:nvPr/>
          </p:nvSpPr>
          <p:spPr>
            <a:xfrm>
              <a:off x="7000646" y="2948026"/>
              <a:ext cx="1046074" cy="1302106"/>
            </a:xfrm>
            <a:prstGeom prst="foldedCorner">
              <a:avLst/>
            </a:prstGeom>
            <a:solidFill>
              <a:srgbClr val="DCEEF9"/>
            </a:solidFill>
            <a:ln w="1524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9" name="Checkpoint.Part1.Text"/>
            <p:cNvSpPr txBox="1"/>
            <p:nvPr/>
          </p:nvSpPr>
          <p:spPr>
            <a:xfrm>
              <a:off x="7044538" y="3123590"/>
              <a:ext cx="958291" cy="108265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scanchain</a:t>
              </a:r>
            </a:p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part_1</a:t>
              </a:r>
            </a:p>
          </p:txBody>
        </p:sp>
      </p:grpSp>
      <p:grpSp>
        <p:nvGrpSpPr>
          <p:cNvPr id="100063" name="Checkpoint.Memory"/>
          <p:cNvGrpSpPr/>
          <p:nvPr/>
        </p:nvGrpSpPr>
        <p:grpSpPr>
          <a:xfrm>
            <a:off x="8222285" y="2948026"/>
            <a:ext cx="1046074" cy="1302106"/>
            <a:chOff x="8222285" y="2948026"/>
            <a:chExt cx="1046074" cy="1302106"/>
          </a:xfrm>
        </p:grpSpPr>
        <p:sp>
          <p:nvSpPr>
            <p:cNvPr id="100061" name="Checkpoint.Memory.Page"/>
            <p:cNvSpPr/>
            <p:nvPr/>
          </p:nvSpPr>
          <p:spPr>
            <a:xfrm>
              <a:off x="8222285" y="2948026"/>
              <a:ext cx="1046074" cy="1302106"/>
            </a:xfrm>
            <a:prstGeom prst="foldedCorner">
              <a:avLst/>
            </a:prstGeom>
            <a:solidFill>
              <a:srgbClr val="EAF4F3"/>
            </a:solidFill>
            <a:ln w="1524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2" name="Checkpoint.Memory.Text"/>
            <p:cNvSpPr txBox="1"/>
            <p:nvPr/>
          </p:nvSpPr>
          <p:spPr>
            <a:xfrm>
              <a:off x="8266176" y="3123590"/>
              <a:ext cx="958291" cy="108265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RAM Model</a:t>
              </a:r>
            </a:p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Data</a:t>
              </a:r>
            </a:p>
          </p:txBody>
        </p:sp>
      </p:grpSp>
      <p:sp>
        <p:nvSpPr>
          <p:cNvPr id="100064" name="Checkpoint.SameCycle"/>
          <p:cNvSpPr txBox="1"/>
          <p:nvPr/>
        </p:nvSpPr>
        <p:spPr>
          <a:xfrm>
            <a:off x="5779008" y="4374490"/>
            <a:ext cx="3482035" cy="3218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All partitions · same cycle</a:t>
            </a:r>
          </a:p>
        </p:txBody>
      </p:sp>
      <p:grpSp>
        <p:nvGrpSpPr>
          <p:cNvPr id="100067" name="Aux.Input"/>
          <p:cNvGrpSpPr/>
          <p:nvPr/>
        </p:nvGrpSpPr>
        <p:grpSpPr>
          <a:xfrm>
            <a:off x="5742432" y="5596128"/>
            <a:ext cx="1550822" cy="1119226"/>
            <a:chOff x="5742432" y="5596128"/>
            <a:chExt cx="1550822" cy="1119226"/>
          </a:xfrm>
        </p:grpSpPr>
        <p:sp>
          <p:nvSpPr>
            <p:cNvPr id="100065" name="Aux.Input.Page"/>
            <p:cNvSpPr/>
            <p:nvPr/>
          </p:nvSpPr>
          <p:spPr>
            <a:xfrm>
              <a:off x="5742432" y="5596128"/>
              <a:ext cx="1550822" cy="1119226"/>
            </a:xfrm>
            <a:prstGeom prst="foldedCorner">
              <a:avLst/>
            </a:prstGeom>
            <a:solidFill>
              <a:srgbClr val="FFF0D9"/>
            </a:solidFill>
            <a:ln w="1524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6" name="Aux.Input.Text"/>
            <p:cNvSpPr txBox="1"/>
            <p:nvPr/>
          </p:nvSpPr>
          <p:spPr>
            <a:xfrm>
              <a:off x="5786323" y="5771693"/>
              <a:ext cx="1463040" cy="89977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800" b="1">
                  <a:solidFill>
                    <a:srgbClr val="183B56"/>
                  </a:solidFill>
                  <a:latin typeface="Arial"/>
                  <a:ea typeface="Arial"/>
                </a:rPr>
                <a:t>Input Traces</a:t>
              </a:r>
            </a:p>
          </p:txBody>
        </p:sp>
      </p:grpSp>
      <p:grpSp>
        <p:nvGrpSpPr>
          <p:cNvPr id="100070" name="Aux.Mapping"/>
          <p:cNvGrpSpPr/>
          <p:nvPr/>
        </p:nvGrpSpPr>
        <p:grpSpPr>
          <a:xfrm>
            <a:off x="7644384" y="5596128"/>
            <a:ext cx="1814170" cy="1119226"/>
            <a:chOff x="7644384" y="5596128"/>
            <a:chExt cx="1814170" cy="1119226"/>
          </a:xfrm>
        </p:grpSpPr>
        <p:sp>
          <p:nvSpPr>
            <p:cNvPr id="100068" name="Aux.Mapping.Page"/>
            <p:cNvSpPr/>
            <p:nvPr/>
          </p:nvSpPr>
          <p:spPr>
            <a:xfrm>
              <a:off x="7644384" y="5596128"/>
              <a:ext cx="1814170" cy="1119226"/>
            </a:xfrm>
            <a:prstGeom prst="foldedCorner">
              <a:avLst/>
            </a:prstGeom>
            <a:solidFill>
              <a:srgbClr val="EDF0F3"/>
            </a:solidFill>
            <a:ln w="1524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9" name="Aux.Mapping.Text"/>
            <p:cNvSpPr txBox="1"/>
            <p:nvPr/>
          </p:nvSpPr>
          <p:spPr>
            <a:xfrm>
              <a:off x="7688275" y="5771693"/>
              <a:ext cx="1726387" cy="89977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800" b="1">
                  <a:solidFill>
                    <a:srgbClr val="183B56"/>
                  </a:solidFill>
                  <a:latin typeface="Arial"/>
                  <a:ea typeface="Arial"/>
                </a:rPr>
                <a:t>State Mapping</a:t>
              </a:r>
            </a:p>
            <a:p>
              <a:pPr algn="ctr"/>
              <a:r>
                <a:rPr lang="en-US" sz="1800" b="1">
                  <a:solidFill>
                    <a:srgbClr val="183B56"/>
                  </a:solidFill>
                  <a:latin typeface="Arial"/>
                  <a:ea typeface="Arial"/>
                </a:rPr>
                <a:t>Metadata</a:t>
              </a:r>
            </a:p>
          </p:txBody>
        </p:sp>
      </p:grpSp>
      <p:sp>
        <p:nvSpPr>
          <p:cNvPr id="100071" name="Aux.Heading"/>
          <p:cNvSpPr txBox="1"/>
          <p:nvPr/>
        </p:nvSpPr>
        <p:spPr>
          <a:xfrm>
            <a:off x="5654650" y="5252314"/>
            <a:ext cx="376732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700">
                <a:solidFill>
                  <a:srgbClr val="183B56"/>
                </a:solidFill>
                <a:latin typeface="Arial"/>
                <a:ea typeface="Arial"/>
              </a:rPr>
              <a:t>Supporting records and metadata</a:t>
            </a:r>
          </a:p>
        </p:txBody>
      </p:sp>
      <p:cxnSp>
        <p:nvCxnSpPr>
          <p:cNvPr id="100072" name="Restore.SelectedSnapshot"/>
          <p:cNvCxnSpPr/>
          <p:nvPr/>
        </p:nvCxnSpPr>
        <p:spPr>
          <a:xfrm>
            <a:off x="9421978" y="3913632"/>
            <a:ext cx="658368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073" name="Restore.PathBus"/>
          <p:cNvCxnSpPr/>
          <p:nvPr/>
        </p:nvCxnSpPr>
        <p:spPr>
          <a:xfrm>
            <a:off x="10080346" y="2457907"/>
            <a:ext cx="0" cy="286755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074" name="Restore.HardwareArrow"/>
          <p:cNvCxnSpPr/>
          <p:nvPr/>
        </p:nvCxnSpPr>
        <p:spPr>
          <a:xfrm>
            <a:off x="10080346" y="2457907"/>
            <a:ext cx="59984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cxnSp>
        <p:nvCxnSpPr>
          <p:cNvPr id="100075" name="Restore.SoftwareArrow"/>
          <p:cNvCxnSpPr/>
          <p:nvPr/>
        </p:nvCxnSpPr>
        <p:spPr>
          <a:xfrm>
            <a:off x="10080346" y="5325466"/>
            <a:ext cx="59984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sp>
        <p:nvSpPr>
          <p:cNvPr id="100076" name="Restore.Panel"/>
          <p:cNvSpPr/>
          <p:nvPr/>
        </p:nvSpPr>
        <p:spPr>
          <a:xfrm>
            <a:off x="10680192" y="1119226"/>
            <a:ext cx="3547872" cy="2852928"/>
          </a:xfrm>
          <a:prstGeom prst="roundRect">
            <a:avLst>
              <a:gd name="adj" fmla="val 4500"/>
            </a:avLst>
          </a:prstGeom>
          <a:solidFill>
            <a:srgbClr val="EAF4F3"/>
          </a:solidFill>
          <a:ln w="15240">
            <a:solidFill>
              <a:srgbClr val="008C95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77" name="Restore.Title"/>
          <p:cNvSpPr txBox="1"/>
          <p:nvPr/>
        </p:nvSpPr>
        <p:spPr>
          <a:xfrm>
            <a:off x="10826496" y="1280160"/>
            <a:ext cx="3255264" cy="3803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300" b="1">
                <a:solidFill>
                  <a:srgbClr val="183B56"/>
                </a:solidFill>
                <a:latin typeface="Arial"/>
                <a:ea typeface="Arial"/>
              </a:rPr>
              <a:t>FPGA Restore</a:t>
            </a:r>
          </a:p>
        </p:txBody>
      </p:sp>
      <p:grpSp>
        <p:nvGrpSpPr>
          <p:cNvPr id="100145" name="Restore.Chips"/>
          <p:cNvGrpSpPr/>
          <p:nvPr/>
        </p:nvGrpSpPr>
        <p:grpSpPr>
          <a:xfrm>
            <a:off x="11667744" y="1660550"/>
            <a:ext cx="1506931" cy="1506932"/>
            <a:chOff x="11667744" y="1660550"/>
            <a:chExt cx="1506931" cy="1506932"/>
          </a:xfrm>
        </p:grpSpPr>
        <p:grpSp>
          <p:nvGrpSpPr>
            <p:cNvPr id="100099" name="Restore.Chips.Chip2"/>
            <p:cNvGrpSpPr/>
            <p:nvPr/>
          </p:nvGrpSpPr>
          <p:grpSpPr>
            <a:xfrm>
              <a:off x="12165178" y="1660550"/>
              <a:ext cx="1009497" cy="1009498"/>
              <a:chOff x="12165178" y="1660550"/>
              <a:chExt cx="1009497" cy="1009498"/>
            </a:xfrm>
          </p:grpSpPr>
          <p:sp>
            <p:nvSpPr>
              <p:cNvPr id="100078" name="Restore.Chips.Chip2.Top0"/>
              <p:cNvSpPr/>
              <p:nvPr/>
            </p:nvSpPr>
            <p:spPr>
              <a:xfrm>
                <a:off x="12367809" y="166055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79" name="Restore.Chips.Chip2.Bottom0"/>
              <p:cNvSpPr/>
              <p:nvPr/>
            </p:nvSpPr>
            <p:spPr>
              <a:xfrm>
                <a:off x="12367809" y="2596896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0" name="Restore.Chips.Chip2.Left0"/>
              <p:cNvSpPr/>
              <p:nvPr/>
            </p:nvSpPr>
            <p:spPr>
              <a:xfrm>
                <a:off x="12165178" y="186318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1" name="Restore.Chips.Chip2.Right0"/>
              <p:cNvSpPr/>
              <p:nvPr/>
            </p:nvSpPr>
            <p:spPr>
              <a:xfrm>
                <a:off x="13101523" y="186318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2" name="Restore.Chips.Chip2.Top1"/>
              <p:cNvSpPr/>
              <p:nvPr/>
            </p:nvSpPr>
            <p:spPr>
              <a:xfrm>
                <a:off x="12501604" y="166055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3" name="Restore.Chips.Chip2.Bottom1"/>
              <p:cNvSpPr/>
              <p:nvPr/>
            </p:nvSpPr>
            <p:spPr>
              <a:xfrm>
                <a:off x="12501604" y="2596896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4" name="Restore.Chips.Chip2.Left1"/>
              <p:cNvSpPr/>
              <p:nvPr/>
            </p:nvSpPr>
            <p:spPr>
              <a:xfrm>
                <a:off x="12165178" y="1996976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5" name="Restore.Chips.Chip2.Right1"/>
              <p:cNvSpPr/>
              <p:nvPr/>
            </p:nvSpPr>
            <p:spPr>
              <a:xfrm>
                <a:off x="13101523" y="1996976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6" name="Restore.Chips.Chip2.Top2"/>
              <p:cNvSpPr/>
              <p:nvPr/>
            </p:nvSpPr>
            <p:spPr>
              <a:xfrm>
                <a:off x="12635399" y="166055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7" name="Restore.Chips.Chip2.Bottom2"/>
              <p:cNvSpPr/>
              <p:nvPr/>
            </p:nvSpPr>
            <p:spPr>
              <a:xfrm>
                <a:off x="12635399" y="2596896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8" name="Restore.Chips.Chip2.Left2"/>
              <p:cNvSpPr/>
              <p:nvPr/>
            </p:nvSpPr>
            <p:spPr>
              <a:xfrm>
                <a:off x="12165178" y="213077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89" name="Restore.Chips.Chip2.Right2"/>
              <p:cNvSpPr/>
              <p:nvPr/>
            </p:nvSpPr>
            <p:spPr>
              <a:xfrm>
                <a:off x="13101523" y="213077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0" name="Restore.Chips.Chip2.Top3"/>
              <p:cNvSpPr/>
              <p:nvPr/>
            </p:nvSpPr>
            <p:spPr>
              <a:xfrm>
                <a:off x="12769194" y="166055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1" name="Restore.Chips.Chip2.Bottom3"/>
              <p:cNvSpPr/>
              <p:nvPr/>
            </p:nvSpPr>
            <p:spPr>
              <a:xfrm>
                <a:off x="12769194" y="2596896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2" name="Restore.Chips.Chip2.Left3"/>
              <p:cNvSpPr/>
              <p:nvPr/>
            </p:nvSpPr>
            <p:spPr>
              <a:xfrm>
                <a:off x="12165178" y="2264566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3" name="Restore.Chips.Chip2.Right3"/>
              <p:cNvSpPr/>
              <p:nvPr/>
            </p:nvSpPr>
            <p:spPr>
              <a:xfrm>
                <a:off x="13101523" y="2264566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4" name="Restore.Chips.Chip2.Top4"/>
              <p:cNvSpPr/>
              <p:nvPr/>
            </p:nvSpPr>
            <p:spPr>
              <a:xfrm>
                <a:off x="12902989" y="166055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5" name="Restore.Chips.Chip2.Bottom4"/>
              <p:cNvSpPr/>
              <p:nvPr/>
            </p:nvSpPr>
            <p:spPr>
              <a:xfrm>
                <a:off x="12902989" y="2596896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6" name="Restore.Chips.Chip2.Left4"/>
              <p:cNvSpPr/>
              <p:nvPr/>
            </p:nvSpPr>
            <p:spPr>
              <a:xfrm>
                <a:off x="12165178" y="239836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7" name="Restore.Chips.Chip2.Right4"/>
              <p:cNvSpPr/>
              <p:nvPr/>
            </p:nvSpPr>
            <p:spPr>
              <a:xfrm>
                <a:off x="13101523" y="2398361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098" name="Restore.Chips.Chip2.Body"/>
              <p:cNvSpPr/>
              <p:nvPr/>
            </p:nvSpPr>
            <p:spPr>
              <a:xfrm>
                <a:off x="12238330" y="1733702"/>
                <a:ext cx="863194" cy="863194"/>
              </a:xfrm>
              <a:prstGeom prst="roundRect">
                <a:avLst>
                  <a:gd name="adj" fmla="val 7000"/>
                </a:avLst>
              </a:prstGeom>
              <a:solidFill>
                <a:srgbClr val="DCEEEA"/>
              </a:solidFill>
              <a:ln w="19050">
                <a:solidFill>
                  <a:srgbClr val="183B56"/>
                </a:solidFill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100121" name="Restore.Chips.Chip1"/>
            <p:cNvGrpSpPr/>
            <p:nvPr/>
          </p:nvGrpSpPr>
          <p:grpSpPr>
            <a:xfrm>
              <a:off x="11916461" y="1909267"/>
              <a:ext cx="1009497" cy="1009498"/>
              <a:chOff x="11916461" y="1909267"/>
              <a:chExt cx="1009497" cy="1009498"/>
            </a:xfrm>
          </p:grpSpPr>
          <p:sp>
            <p:nvSpPr>
              <p:cNvPr id="100100" name="Restore.Chips.Chip1.Top0"/>
              <p:cNvSpPr/>
              <p:nvPr/>
            </p:nvSpPr>
            <p:spPr>
              <a:xfrm>
                <a:off x="12119092" y="1909267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1" name="Restore.Chips.Chip1.Bottom0"/>
              <p:cNvSpPr/>
              <p:nvPr/>
            </p:nvSpPr>
            <p:spPr>
              <a:xfrm>
                <a:off x="12119092" y="2845613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2" name="Restore.Chips.Chip1.Left0"/>
              <p:cNvSpPr/>
              <p:nvPr/>
            </p:nvSpPr>
            <p:spPr>
              <a:xfrm>
                <a:off x="11916461" y="211189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3" name="Restore.Chips.Chip1.Right0"/>
              <p:cNvSpPr/>
              <p:nvPr/>
            </p:nvSpPr>
            <p:spPr>
              <a:xfrm>
                <a:off x="12852806" y="211189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4" name="Restore.Chips.Chip1.Top1"/>
              <p:cNvSpPr/>
              <p:nvPr/>
            </p:nvSpPr>
            <p:spPr>
              <a:xfrm>
                <a:off x="12252887" y="1909267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5" name="Restore.Chips.Chip1.Bottom1"/>
              <p:cNvSpPr/>
              <p:nvPr/>
            </p:nvSpPr>
            <p:spPr>
              <a:xfrm>
                <a:off x="12252887" y="2845613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6" name="Restore.Chips.Chip1.Left1"/>
              <p:cNvSpPr/>
              <p:nvPr/>
            </p:nvSpPr>
            <p:spPr>
              <a:xfrm>
                <a:off x="11916461" y="2245693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7" name="Restore.Chips.Chip1.Right1"/>
              <p:cNvSpPr/>
              <p:nvPr/>
            </p:nvSpPr>
            <p:spPr>
              <a:xfrm>
                <a:off x="12852806" y="2245693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8" name="Restore.Chips.Chip1.Top2"/>
              <p:cNvSpPr/>
              <p:nvPr/>
            </p:nvSpPr>
            <p:spPr>
              <a:xfrm>
                <a:off x="12386682" y="1909267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09" name="Restore.Chips.Chip1.Bottom2"/>
              <p:cNvSpPr/>
              <p:nvPr/>
            </p:nvSpPr>
            <p:spPr>
              <a:xfrm>
                <a:off x="12386682" y="2845613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0" name="Restore.Chips.Chip1.Left2"/>
              <p:cNvSpPr/>
              <p:nvPr/>
            </p:nvSpPr>
            <p:spPr>
              <a:xfrm>
                <a:off x="11916461" y="237948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1" name="Restore.Chips.Chip1.Right2"/>
              <p:cNvSpPr/>
              <p:nvPr/>
            </p:nvSpPr>
            <p:spPr>
              <a:xfrm>
                <a:off x="12852806" y="237948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2" name="Restore.Chips.Chip1.Top3"/>
              <p:cNvSpPr/>
              <p:nvPr/>
            </p:nvSpPr>
            <p:spPr>
              <a:xfrm>
                <a:off x="12520477" y="1909267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3" name="Restore.Chips.Chip1.Bottom3"/>
              <p:cNvSpPr/>
              <p:nvPr/>
            </p:nvSpPr>
            <p:spPr>
              <a:xfrm>
                <a:off x="12520477" y="2845613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4" name="Restore.Chips.Chip1.Left3"/>
              <p:cNvSpPr/>
              <p:nvPr/>
            </p:nvSpPr>
            <p:spPr>
              <a:xfrm>
                <a:off x="11916461" y="2513283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5" name="Restore.Chips.Chip1.Right3"/>
              <p:cNvSpPr/>
              <p:nvPr/>
            </p:nvSpPr>
            <p:spPr>
              <a:xfrm>
                <a:off x="12852806" y="2513283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6" name="Restore.Chips.Chip1.Top4"/>
              <p:cNvSpPr/>
              <p:nvPr/>
            </p:nvSpPr>
            <p:spPr>
              <a:xfrm>
                <a:off x="12654272" y="1909267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7" name="Restore.Chips.Chip1.Bottom4"/>
              <p:cNvSpPr/>
              <p:nvPr/>
            </p:nvSpPr>
            <p:spPr>
              <a:xfrm>
                <a:off x="12654272" y="2845613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8" name="Restore.Chips.Chip1.Left4"/>
              <p:cNvSpPr/>
              <p:nvPr/>
            </p:nvSpPr>
            <p:spPr>
              <a:xfrm>
                <a:off x="11916461" y="264707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19" name="Restore.Chips.Chip1.Right4"/>
              <p:cNvSpPr/>
              <p:nvPr/>
            </p:nvSpPr>
            <p:spPr>
              <a:xfrm>
                <a:off x="12852806" y="2647078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0" name="Restore.Chips.Chip1.Body"/>
              <p:cNvSpPr/>
              <p:nvPr/>
            </p:nvSpPr>
            <p:spPr>
              <a:xfrm>
                <a:off x="11989613" y="1982419"/>
                <a:ext cx="863194" cy="863194"/>
              </a:xfrm>
              <a:prstGeom prst="roundRect">
                <a:avLst>
                  <a:gd name="adj" fmla="val 7000"/>
                </a:avLst>
              </a:prstGeom>
              <a:solidFill>
                <a:srgbClr val="BCDCD5"/>
              </a:solidFill>
              <a:ln w="19050">
                <a:solidFill>
                  <a:srgbClr val="183B56"/>
                </a:solidFill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100144" name="Restore.Chips.Chip0"/>
            <p:cNvGrpSpPr/>
            <p:nvPr/>
          </p:nvGrpSpPr>
          <p:grpSpPr>
            <a:xfrm>
              <a:off x="11667744" y="2157984"/>
              <a:ext cx="1009498" cy="1009498"/>
              <a:chOff x="11667744" y="2157984"/>
              <a:chExt cx="1009498" cy="1009498"/>
            </a:xfrm>
          </p:grpSpPr>
          <p:sp>
            <p:nvSpPr>
              <p:cNvPr id="100122" name="Restore.Chips.Chip0.Top0"/>
              <p:cNvSpPr/>
              <p:nvPr/>
            </p:nvSpPr>
            <p:spPr>
              <a:xfrm>
                <a:off x="11870375" y="2157984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3" name="Restore.Chips.Chip0.Bottom0"/>
              <p:cNvSpPr/>
              <p:nvPr/>
            </p:nvSpPr>
            <p:spPr>
              <a:xfrm>
                <a:off x="11870375" y="309433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4" name="Restore.Chips.Chip0.Left0"/>
              <p:cNvSpPr/>
              <p:nvPr/>
            </p:nvSpPr>
            <p:spPr>
              <a:xfrm>
                <a:off x="11667744" y="236061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5" name="Restore.Chips.Chip0.Right0"/>
              <p:cNvSpPr/>
              <p:nvPr/>
            </p:nvSpPr>
            <p:spPr>
              <a:xfrm>
                <a:off x="12604090" y="236061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6" name="Restore.Chips.Chip0.Top1"/>
              <p:cNvSpPr/>
              <p:nvPr/>
            </p:nvSpPr>
            <p:spPr>
              <a:xfrm>
                <a:off x="12004170" y="2157984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7" name="Restore.Chips.Chip0.Bottom1"/>
              <p:cNvSpPr/>
              <p:nvPr/>
            </p:nvSpPr>
            <p:spPr>
              <a:xfrm>
                <a:off x="12004170" y="309433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8" name="Restore.Chips.Chip0.Left1"/>
              <p:cNvSpPr/>
              <p:nvPr/>
            </p:nvSpPr>
            <p:spPr>
              <a:xfrm>
                <a:off x="11667744" y="2494410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29" name="Restore.Chips.Chip0.Right1"/>
              <p:cNvSpPr/>
              <p:nvPr/>
            </p:nvSpPr>
            <p:spPr>
              <a:xfrm>
                <a:off x="12604090" y="2494410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0" name="Restore.Chips.Chip0.Top2"/>
              <p:cNvSpPr/>
              <p:nvPr/>
            </p:nvSpPr>
            <p:spPr>
              <a:xfrm>
                <a:off x="12137965" y="2157984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1" name="Restore.Chips.Chip0.Bottom2"/>
              <p:cNvSpPr/>
              <p:nvPr/>
            </p:nvSpPr>
            <p:spPr>
              <a:xfrm>
                <a:off x="12137965" y="309433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2" name="Restore.Chips.Chip0.Left2"/>
              <p:cNvSpPr/>
              <p:nvPr/>
            </p:nvSpPr>
            <p:spPr>
              <a:xfrm>
                <a:off x="11667744" y="262820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3" name="Restore.Chips.Chip0.Right2"/>
              <p:cNvSpPr/>
              <p:nvPr/>
            </p:nvSpPr>
            <p:spPr>
              <a:xfrm>
                <a:off x="12604090" y="262820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4" name="Restore.Chips.Chip0.Top3"/>
              <p:cNvSpPr/>
              <p:nvPr/>
            </p:nvSpPr>
            <p:spPr>
              <a:xfrm>
                <a:off x="12271760" y="2157984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5" name="Restore.Chips.Chip0.Bottom3"/>
              <p:cNvSpPr/>
              <p:nvPr/>
            </p:nvSpPr>
            <p:spPr>
              <a:xfrm>
                <a:off x="12271760" y="309433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6" name="Restore.Chips.Chip0.Left3"/>
              <p:cNvSpPr/>
              <p:nvPr/>
            </p:nvSpPr>
            <p:spPr>
              <a:xfrm>
                <a:off x="11667744" y="2762000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7" name="Restore.Chips.Chip0.Right3"/>
              <p:cNvSpPr/>
              <p:nvPr/>
            </p:nvSpPr>
            <p:spPr>
              <a:xfrm>
                <a:off x="12604090" y="2762000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8" name="Restore.Chips.Chip0.Top4"/>
              <p:cNvSpPr/>
              <p:nvPr/>
            </p:nvSpPr>
            <p:spPr>
              <a:xfrm>
                <a:off x="12405555" y="2157984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39" name="Restore.Chips.Chip0.Bottom4"/>
              <p:cNvSpPr/>
              <p:nvPr/>
            </p:nvSpPr>
            <p:spPr>
              <a:xfrm>
                <a:off x="12405555" y="3094330"/>
                <a:ext cx="51206" cy="73152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40" name="Restore.Chips.Chip0.Left4"/>
              <p:cNvSpPr/>
              <p:nvPr/>
            </p:nvSpPr>
            <p:spPr>
              <a:xfrm>
                <a:off x="11667744" y="289579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41" name="Restore.Chips.Chip0.Right4"/>
              <p:cNvSpPr/>
              <p:nvPr/>
            </p:nvSpPr>
            <p:spPr>
              <a:xfrm>
                <a:off x="12604090" y="2895795"/>
                <a:ext cx="73152" cy="51206"/>
              </a:xfrm>
              <a:prstGeom prst="rect">
                <a:avLst/>
              </a:prstGeom>
              <a:solidFill>
                <a:srgbClr val="183B56"/>
              </a:solidFill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42" name="Restore.Chips.Chip0.Body"/>
              <p:cNvSpPr/>
              <p:nvPr/>
            </p:nvSpPr>
            <p:spPr>
              <a:xfrm>
                <a:off x="11740896" y="2231136"/>
                <a:ext cx="863194" cy="863194"/>
              </a:xfrm>
              <a:prstGeom prst="roundRect">
                <a:avLst>
                  <a:gd name="adj" fmla="val 7000"/>
                </a:avLst>
              </a:prstGeom>
              <a:solidFill>
                <a:srgbClr val="ACE0D4"/>
              </a:solidFill>
              <a:ln w="19050">
                <a:solidFill>
                  <a:srgbClr val="183B56"/>
                </a:solidFill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endParaRPr lang="en-US" sz="1800">
                  <a:solidFill>
                    <a:srgbClr val="183B56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00143" name="Restore.Chips.Chip0.Label"/>
              <p:cNvSpPr txBox="1"/>
              <p:nvPr/>
            </p:nvSpPr>
            <p:spPr>
              <a:xfrm>
                <a:off x="11740896" y="2231136"/>
                <a:ext cx="863194" cy="863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>
                <a:noAutofit/>
              </a:bodyPr>
              <a:lstStyle/>
              <a:p>
                <a:pPr algn="ctr"/>
                <a:r>
                  <a:rPr lang="en-US" sz="2100" b="1">
                    <a:solidFill>
                      <a:srgbClr val="183B56"/>
                    </a:solidFill>
                    <a:latin typeface="Arial"/>
                    <a:ea typeface="Arial"/>
                  </a:rPr>
                  <a:t>FPGA</a:t>
                </a:r>
              </a:p>
            </p:txBody>
          </p:sp>
        </p:grpSp>
      </p:grpSp>
      <p:sp>
        <p:nvSpPr>
          <p:cNvPr id="100146" name="Restore.Description"/>
          <p:cNvSpPr txBox="1"/>
          <p:nvPr/>
        </p:nvSpPr>
        <p:spPr>
          <a:xfrm>
            <a:off x="10877702" y="3240634"/>
            <a:ext cx="3145536" cy="5632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900">
                <a:solidFill>
                  <a:srgbClr val="183B56"/>
                </a:solidFill>
                <a:latin typeface="Arial"/>
                <a:ea typeface="Arial"/>
              </a:rPr>
              <a:t>Write back by partition</a:t>
            </a:r>
          </a:p>
          <a:p>
            <a:pPr algn="ctr"/>
            <a:r>
              <a:rPr lang="en-US" sz="1900">
                <a:solidFill>
                  <a:srgbClr val="183B56"/>
                </a:solidFill>
                <a:latin typeface="Arial"/>
                <a:ea typeface="Arial"/>
              </a:rPr>
              <a:t>Restore local states</a:t>
            </a:r>
          </a:p>
        </p:txBody>
      </p:sp>
      <p:sp>
        <p:nvSpPr>
          <p:cNvPr id="100147" name="Replay.Panel"/>
          <p:cNvSpPr/>
          <p:nvPr/>
        </p:nvSpPr>
        <p:spPr>
          <a:xfrm>
            <a:off x="10680192" y="4389120"/>
            <a:ext cx="3547872" cy="2421331"/>
          </a:xfrm>
          <a:prstGeom prst="roundRect">
            <a:avLst>
              <a:gd name="adj" fmla="val 4500"/>
            </a:avLst>
          </a:prstGeom>
          <a:solidFill>
            <a:srgbClr val="F1F5F8"/>
          </a:solidFill>
          <a:ln w="15240">
            <a:solidFill>
              <a:srgbClr val="6B8AA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48" name="Replay.Title"/>
          <p:cNvSpPr txBox="1"/>
          <p:nvPr/>
        </p:nvSpPr>
        <p:spPr>
          <a:xfrm>
            <a:off x="10826496" y="4550054"/>
            <a:ext cx="3255264" cy="3803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300" b="1">
                <a:solidFill>
                  <a:srgbClr val="183B56"/>
                </a:solidFill>
                <a:latin typeface="Arial"/>
                <a:ea typeface="Arial"/>
              </a:rPr>
              <a:t>Software RTL Replay</a:t>
            </a:r>
          </a:p>
        </p:txBody>
      </p:sp>
      <p:sp>
        <p:nvSpPr>
          <p:cNvPr id="100149" name="Replay.Monitor"/>
          <p:cNvSpPr/>
          <p:nvPr/>
        </p:nvSpPr>
        <p:spPr>
          <a:xfrm>
            <a:off x="11638483" y="5113325"/>
            <a:ext cx="1631290" cy="804672"/>
          </a:xfrm>
          <a:prstGeom prst="roundRect">
            <a:avLst>
              <a:gd name="adj" fmla="val 4500"/>
            </a:avLst>
          </a:prstGeom>
          <a:solidFill>
            <a:srgbClr val="A9D3EC"/>
          </a:solidFill>
          <a:ln w="1524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50" name="Replay.Screen"/>
          <p:cNvSpPr/>
          <p:nvPr/>
        </p:nvSpPr>
        <p:spPr>
          <a:xfrm>
            <a:off x="11711635" y="5186477"/>
            <a:ext cx="1484986" cy="6291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cxnSp>
        <p:nvCxnSpPr>
          <p:cNvPr id="100151" name="Replay.Trace0.0"/>
          <p:cNvCxnSpPr/>
          <p:nvPr/>
        </p:nvCxnSpPr>
        <p:spPr>
          <a:xfrm>
            <a:off x="11821363" y="5435194"/>
            <a:ext cx="1054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2" name="Replay.Trace0.1"/>
          <p:cNvCxnSpPr/>
          <p:nvPr/>
        </p:nvCxnSpPr>
        <p:spPr>
          <a:xfrm>
            <a:off x="11926824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3" name="Replay.Trace0.2"/>
          <p:cNvCxnSpPr/>
          <p:nvPr/>
        </p:nvCxnSpPr>
        <p:spPr>
          <a:xfrm>
            <a:off x="11926824" y="5303520"/>
            <a:ext cx="18982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4" name="Replay.Trace0.3"/>
          <p:cNvCxnSpPr/>
          <p:nvPr/>
        </p:nvCxnSpPr>
        <p:spPr>
          <a:xfrm>
            <a:off x="12116653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5" name="Replay.Trace0.4"/>
          <p:cNvCxnSpPr/>
          <p:nvPr/>
        </p:nvCxnSpPr>
        <p:spPr>
          <a:xfrm>
            <a:off x="12116653" y="5435194"/>
            <a:ext cx="12655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6" name="Replay.Trace0.5"/>
          <p:cNvCxnSpPr/>
          <p:nvPr/>
        </p:nvCxnSpPr>
        <p:spPr>
          <a:xfrm>
            <a:off x="12243206" y="5435194"/>
            <a:ext cx="1054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7" name="Replay.Trace0.6"/>
          <p:cNvCxnSpPr/>
          <p:nvPr/>
        </p:nvCxnSpPr>
        <p:spPr>
          <a:xfrm>
            <a:off x="12348668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8" name="Replay.Trace0.7"/>
          <p:cNvCxnSpPr/>
          <p:nvPr/>
        </p:nvCxnSpPr>
        <p:spPr>
          <a:xfrm>
            <a:off x="12348668" y="5303520"/>
            <a:ext cx="18982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59" name="Replay.Trace0.8"/>
          <p:cNvCxnSpPr/>
          <p:nvPr/>
        </p:nvCxnSpPr>
        <p:spPr>
          <a:xfrm>
            <a:off x="12538497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0" name="Replay.Trace0.9"/>
          <p:cNvCxnSpPr/>
          <p:nvPr/>
        </p:nvCxnSpPr>
        <p:spPr>
          <a:xfrm>
            <a:off x="12538497" y="5435194"/>
            <a:ext cx="12655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1" name="Replay.Trace0.10"/>
          <p:cNvCxnSpPr/>
          <p:nvPr/>
        </p:nvCxnSpPr>
        <p:spPr>
          <a:xfrm>
            <a:off x="12665050" y="5435194"/>
            <a:ext cx="1054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2" name="Replay.Trace0.11"/>
          <p:cNvCxnSpPr/>
          <p:nvPr/>
        </p:nvCxnSpPr>
        <p:spPr>
          <a:xfrm>
            <a:off x="12770510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3" name="Replay.Trace0.12"/>
          <p:cNvCxnSpPr/>
          <p:nvPr/>
        </p:nvCxnSpPr>
        <p:spPr>
          <a:xfrm>
            <a:off x="12770510" y="5303520"/>
            <a:ext cx="18982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4" name="Replay.Trace0.13"/>
          <p:cNvCxnSpPr/>
          <p:nvPr/>
        </p:nvCxnSpPr>
        <p:spPr>
          <a:xfrm>
            <a:off x="12960340" y="5303520"/>
            <a:ext cx="0" cy="131674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5" name="Replay.Trace0.14"/>
          <p:cNvCxnSpPr/>
          <p:nvPr/>
        </p:nvCxnSpPr>
        <p:spPr>
          <a:xfrm>
            <a:off x="12960340" y="5435194"/>
            <a:ext cx="12655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166" name="Replay.Trace1.0"/>
          <p:cNvCxnSpPr/>
          <p:nvPr/>
        </p:nvCxnSpPr>
        <p:spPr>
          <a:xfrm>
            <a:off x="11821363" y="5705856"/>
            <a:ext cx="1054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67" name="Replay.Trace1.1"/>
          <p:cNvCxnSpPr/>
          <p:nvPr/>
        </p:nvCxnSpPr>
        <p:spPr>
          <a:xfrm>
            <a:off x="11926824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68" name="Replay.Trace1.2"/>
          <p:cNvCxnSpPr/>
          <p:nvPr/>
        </p:nvCxnSpPr>
        <p:spPr>
          <a:xfrm>
            <a:off x="11926824" y="5574182"/>
            <a:ext cx="18982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69" name="Replay.Trace1.3"/>
          <p:cNvCxnSpPr/>
          <p:nvPr/>
        </p:nvCxnSpPr>
        <p:spPr>
          <a:xfrm>
            <a:off x="12116653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0" name="Replay.Trace1.4"/>
          <p:cNvCxnSpPr/>
          <p:nvPr/>
        </p:nvCxnSpPr>
        <p:spPr>
          <a:xfrm>
            <a:off x="12116653" y="5705856"/>
            <a:ext cx="12655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1" name="Replay.Trace1.5"/>
          <p:cNvCxnSpPr/>
          <p:nvPr/>
        </p:nvCxnSpPr>
        <p:spPr>
          <a:xfrm>
            <a:off x="12243206" y="5705856"/>
            <a:ext cx="1054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2" name="Replay.Trace1.6"/>
          <p:cNvCxnSpPr/>
          <p:nvPr/>
        </p:nvCxnSpPr>
        <p:spPr>
          <a:xfrm>
            <a:off x="12348668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3" name="Replay.Trace1.7"/>
          <p:cNvCxnSpPr/>
          <p:nvPr/>
        </p:nvCxnSpPr>
        <p:spPr>
          <a:xfrm>
            <a:off x="12348668" y="5574182"/>
            <a:ext cx="18982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4" name="Replay.Trace1.8"/>
          <p:cNvCxnSpPr/>
          <p:nvPr/>
        </p:nvCxnSpPr>
        <p:spPr>
          <a:xfrm>
            <a:off x="12538497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5" name="Replay.Trace1.9"/>
          <p:cNvCxnSpPr/>
          <p:nvPr/>
        </p:nvCxnSpPr>
        <p:spPr>
          <a:xfrm>
            <a:off x="12538497" y="5705856"/>
            <a:ext cx="12655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6" name="Replay.Trace1.10"/>
          <p:cNvCxnSpPr/>
          <p:nvPr/>
        </p:nvCxnSpPr>
        <p:spPr>
          <a:xfrm>
            <a:off x="12665050" y="5705856"/>
            <a:ext cx="1054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7" name="Replay.Trace1.11"/>
          <p:cNvCxnSpPr/>
          <p:nvPr/>
        </p:nvCxnSpPr>
        <p:spPr>
          <a:xfrm>
            <a:off x="12770510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8" name="Replay.Trace1.12"/>
          <p:cNvCxnSpPr/>
          <p:nvPr/>
        </p:nvCxnSpPr>
        <p:spPr>
          <a:xfrm>
            <a:off x="12770510" y="5574182"/>
            <a:ext cx="18982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79" name="Replay.Trace1.13"/>
          <p:cNvCxnSpPr/>
          <p:nvPr/>
        </p:nvCxnSpPr>
        <p:spPr>
          <a:xfrm>
            <a:off x="12960340" y="5574182"/>
            <a:ext cx="0" cy="131674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80" name="Replay.Trace1.14"/>
          <p:cNvCxnSpPr/>
          <p:nvPr/>
        </p:nvCxnSpPr>
        <p:spPr>
          <a:xfrm>
            <a:off x="12960340" y="5705856"/>
            <a:ext cx="12655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sp>
        <p:nvSpPr>
          <p:cNvPr id="100181" name="Replay.Stand"/>
          <p:cNvSpPr/>
          <p:nvPr/>
        </p:nvSpPr>
        <p:spPr>
          <a:xfrm>
            <a:off x="12377318" y="5917997"/>
            <a:ext cx="160934" cy="109728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82" name="Replay.Foot"/>
          <p:cNvSpPr/>
          <p:nvPr/>
        </p:nvSpPr>
        <p:spPr>
          <a:xfrm>
            <a:off x="12099341" y="6027725"/>
            <a:ext cx="716890" cy="32918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83" name="Replay.Description"/>
          <p:cNvSpPr txBox="1"/>
          <p:nvPr/>
        </p:nvSpPr>
        <p:spPr>
          <a:xfrm>
            <a:off x="10877702" y="6144768"/>
            <a:ext cx="3145536" cy="5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900">
                <a:solidFill>
                  <a:srgbClr val="183B56"/>
                </a:solidFill>
                <a:latin typeface="Arial"/>
                <a:ea typeface="Arial"/>
              </a:rPr>
              <a:t>Decode by state mapping</a:t>
            </a:r>
          </a:p>
          <a:p>
            <a:pPr algn="ctr"/>
            <a:r>
              <a:rPr lang="en-US" sz="1900">
                <a:solidFill>
                  <a:srgbClr val="183B56"/>
                </a:solidFill>
                <a:latin typeface="Arial"/>
                <a:ea typeface="Arial"/>
              </a:rPr>
              <a:t>Restore and replay</a:t>
            </a:r>
          </a:p>
        </p:txBody>
      </p:sp>
      <p:cxnSp>
        <p:nvCxnSpPr>
          <p:cNvPr id="100184" name="Mapping.AuxA"/>
          <p:cNvCxnSpPr/>
          <p:nvPr/>
        </p:nvCxnSpPr>
        <p:spPr>
          <a:xfrm>
            <a:off x="9458554" y="6232550"/>
            <a:ext cx="453542" cy="0"/>
          </a:xfrm>
          <a:prstGeom prst="straightConnector1">
            <a:avLst/>
          </a:prstGeom>
          <a:ln w="19050">
            <a:solidFill>
              <a:srgbClr val="607184"/>
            </a:solidFill>
            <a:prstDash val="dash"/>
            <a:headEnd type="none"/>
            <a:tailEnd type="none"/>
          </a:ln>
        </p:spPr>
      </p:cxnSp>
      <p:cxnSp>
        <p:nvCxnSpPr>
          <p:cNvPr id="100185" name="Mapping.AuxB"/>
          <p:cNvCxnSpPr/>
          <p:nvPr/>
        </p:nvCxnSpPr>
        <p:spPr>
          <a:xfrm>
            <a:off x="9912096" y="6232550"/>
            <a:ext cx="0" cy="314554"/>
          </a:xfrm>
          <a:prstGeom prst="straightConnector1">
            <a:avLst/>
          </a:prstGeom>
          <a:ln w="19050">
            <a:solidFill>
              <a:srgbClr val="607184"/>
            </a:solidFill>
            <a:prstDash val="dash"/>
            <a:headEnd type="none"/>
            <a:tailEnd type="none"/>
          </a:ln>
        </p:spPr>
      </p:cxnSp>
      <p:cxnSp>
        <p:nvCxnSpPr>
          <p:cNvPr id="100186" name="Mapping.AuxC"/>
          <p:cNvCxnSpPr/>
          <p:nvPr/>
        </p:nvCxnSpPr>
        <p:spPr>
          <a:xfrm>
            <a:off x="9912096" y="6547104"/>
            <a:ext cx="768096" cy="0"/>
          </a:xfrm>
          <a:prstGeom prst="straightConnector1">
            <a:avLst/>
          </a:prstGeom>
          <a:ln w="19050">
            <a:solidFill>
              <a:srgbClr val="607184"/>
            </a:solidFill>
            <a:prstDash val="dash"/>
            <a:headEnd type="none"/>
            <a:tailEnd type="triangle"/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2026-10-26T03:59:58.0000000Z</dcterms:created>
  <lastModifiedBy>OfficeCLI</lastModifiedBy>
  <dcterms:modified xsi:type="dcterms:W3CDTF">2026-10-26T03:59:59.0694481Z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2026-10-26T04:00:01Z</vt:lpwstr>
  </op:property>
</op:Properties>
</file>