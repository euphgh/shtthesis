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1"/>
  </p:notesMasterIdLst>
  <p:sldIdLst>
    <p:sldId id="256" r:id="rId2"/>
    <p:sldId id="257" r:id="rId3"/>
    <p:sldId id="266" r:id="rId4"/>
    <p:sldId id="298" r:id="rId5"/>
    <p:sldId id="315" r:id="rId6"/>
    <p:sldId id="317" r:id="rId7"/>
    <p:sldId id="302" r:id="rId8"/>
    <p:sldId id="303" r:id="rId9"/>
    <p:sldId id="306" r:id="rId10"/>
    <p:sldId id="307" r:id="rId11"/>
    <p:sldId id="308" r:id="rId12"/>
    <p:sldId id="309" r:id="rId13"/>
    <p:sldId id="310" r:id="rId14"/>
    <p:sldId id="319" r:id="rId15"/>
    <p:sldId id="320" r:id="rId16"/>
    <p:sldId id="322" r:id="rId17"/>
    <p:sldId id="321" r:id="rId18"/>
    <p:sldId id="323" r:id="rId19"/>
    <p:sldId id="258"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F4D2B89-8C80-4C06-8164-C4E857C7F4EF}">
          <p14:sldIdLst>
            <p14:sldId id="256"/>
            <p14:sldId id="257"/>
            <p14:sldId id="266"/>
            <p14:sldId id="298"/>
            <p14:sldId id="315"/>
            <p14:sldId id="317"/>
            <p14:sldId id="302"/>
            <p14:sldId id="303"/>
            <p14:sldId id="306"/>
            <p14:sldId id="307"/>
            <p14:sldId id="308"/>
            <p14:sldId id="309"/>
            <p14:sldId id="310"/>
            <p14:sldId id="319"/>
            <p14:sldId id="320"/>
            <p14:sldId id="322"/>
            <p14:sldId id="321"/>
            <p14:sldId id="323"/>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68" autoAdjust="0"/>
    <p:restoredTop sz="83556" autoAdjust="0"/>
  </p:normalViewPr>
  <p:slideViewPr>
    <p:cSldViewPr snapToGrid="0">
      <p:cViewPr varScale="1">
        <p:scale>
          <a:sx n="108" d="100"/>
          <a:sy n="108" d="100"/>
        </p:scale>
        <p:origin x="1080" y="1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C1EB5-D5BC-DE45-879B-24BB2CFFA33A}" type="datetimeFigureOut">
              <a:rPr kumimoji="1" lang="zh-CN" altLang="en-US" smtClean="0"/>
              <a:t>2025/12/10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77E10-6855-184D-B35B-F428F789FE47}" type="slidenum">
              <a:rPr kumimoji="1" lang="zh-CN" altLang="en-US" smtClean="0"/>
              <a:t>‹#›</a:t>
            </a:fld>
            <a:endParaRPr kumimoji="1" lang="zh-CN" altLang="en-US"/>
          </a:p>
        </p:txBody>
      </p:sp>
    </p:spTree>
    <p:extLst>
      <p:ext uri="{BB962C8B-B14F-4D97-AF65-F5344CB8AC3E}">
        <p14:creationId xmlns:p14="http://schemas.microsoft.com/office/powerpoint/2010/main" val="2736333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My proposal title is </a:t>
            </a:r>
            <a:r>
              <a:rPr kumimoji="1" lang="en-US" altLang="zh-CN" sz="1200" dirty="0">
                <a:cs typeface="+mn-cs"/>
              </a:rPr>
              <a:t>Research and Implementation of Key Technology in Multi-FPGA Hardware Emulation</a:t>
            </a:r>
            <a:endParaRPr lang="zh-CN" altLang="en-US" dirty="0"/>
          </a:p>
        </p:txBody>
      </p:sp>
      <p:sp>
        <p:nvSpPr>
          <p:cNvPr id="4" name="灯片编号占位符 3"/>
          <p:cNvSpPr>
            <a:spLocks noGrp="1"/>
          </p:cNvSpPr>
          <p:nvPr>
            <p:ph type="sldNum" sz="quarter" idx="5"/>
          </p:nvPr>
        </p:nvSpPr>
        <p:spPr/>
        <p:txBody>
          <a:bodyPr/>
          <a:lstStyle/>
          <a:p>
            <a:fld id="{96977E10-6855-184D-B35B-F428F789FE47}" type="slidenum">
              <a:rPr kumimoji="1" lang="zh-CN" altLang="en-US" smtClean="0"/>
              <a:t>0</a:t>
            </a:fld>
            <a:endParaRPr kumimoji="1" lang="zh-CN" altLang="en-US"/>
          </a:p>
        </p:txBody>
      </p:sp>
    </p:spTree>
    <p:extLst>
      <p:ext uri="{BB962C8B-B14F-4D97-AF65-F5344CB8AC3E}">
        <p14:creationId xmlns:p14="http://schemas.microsoft.com/office/powerpoint/2010/main" val="2378949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Today’s contents is as follow, let‘s focus on introduction firstly</a:t>
            </a:r>
          </a:p>
          <a:p>
            <a:r>
              <a:rPr lang="zh-CN" altLang="en-US" dirty="0"/>
              <a:t>这是今天课题介绍的顺序，我们先介绍研究背景</a:t>
            </a:r>
            <a:endParaRPr lang="en-US" altLang="zh-CN" dirty="0"/>
          </a:p>
        </p:txBody>
      </p:sp>
      <p:sp>
        <p:nvSpPr>
          <p:cNvPr id="4" name="灯片编号占位符 3"/>
          <p:cNvSpPr>
            <a:spLocks noGrp="1"/>
          </p:cNvSpPr>
          <p:nvPr>
            <p:ph type="sldNum" sz="quarter" idx="5"/>
          </p:nvPr>
        </p:nvSpPr>
        <p:spPr/>
        <p:txBody>
          <a:bodyPr/>
          <a:lstStyle/>
          <a:p>
            <a:fld id="{96977E10-6855-184D-B35B-F428F789FE47}" type="slidenum">
              <a:rPr kumimoji="1" lang="zh-CN" altLang="en-US" smtClean="0"/>
              <a:t>1</a:t>
            </a:fld>
            <a:endParaRPr kumimoji="1" lang="zh-CN" altLang="en-US"/>
          </a:p>
        </p:txBody>
      </p:sp>
    </p:spTree>
    <p:extLst>
      <p:ext uri="{BB962C8B-B14F-4D97-AF65-F5344CB8AC3E}">
        <p14:creationId xmlns:p14="http://schemas.microsoft.com/office/powerpoint/2010/main" val="3581068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现代芯片的性能每年都会增长，但是工艺演进速度的进展却十分缓慢，只能通过增加集成度来实现性能增长。</a:t>
            </a:r>
            <a:endParaRPr lang="en-US" altLang="zh-CN" dirty="0"/>
          </a:p>
          <a:p>
            <a:r>
              <a:rPr lang="zh-CN" altLang="en-US" dirty="0"/>
              <a:t>这导致现代</a:t>
            </a:r>
            <a:r>
              <a:rPr lang="en-US" altLang="zh-CN" dirty="0"/>
              <a:t>SoC</a:t>
            </a:r>
            <a:r>
              <a:rPr lang="zh-CN" altLang="en-US" dirty="0"/>
              <a:t>已经到了万亿门级的规模，这对于验证来说是一个不小的挑战，据统计有将近</a:t>
            </a:r>
            <a:r>
              <a:rPr lang="en-US" altLang="zh-CN" dirty="0"/>
              <a:t>70%</a:t>
            </a:r>
            <a:r>
              <a:rPr lang="zh-CN" altLang="en-US" dirty="0"/>
              <a:t>的时间都是用于芯片验证。</a:t>
            </a:r>
            <a:endParaRPr lang="en-US" altLang="zh-CN" dirty="0"/>
          </a:p>
          <a:p>
            <a:r>
              <a:rPr lang="zh-CN" altLang="en-US" dirty="0"/>
              <a:t>从右图可以看到挑战的根源，红色的线代表逻辑仿真软件的仿真速度，随着规模的增大不断下降，但是厚重的</a:t>
            </a:r>
            <a:r>
              <a:rPr lang="zh-CN" altLang="en-CN" dirty="0"/>
              <a:t>软件栈</a:t>
            </a:r>
            <a:r>
              <a:rPr lang="zh-CN" altLang="en-US" dirty="0"/>
              <a:t>，例如操作系统、</a:t>
            </a:r>
            <a:r>
              <a:rPr lang="en-US" altLang="zh-CN" dirty="0"/>
              <a:t>AI</a:t>
            </a:r>
            <a:r>
              <a:rPr lang="zh-CN" altLang="en-US" dirty="0"/>
              <a:t>应用等，又要求全面的软硬件联合验证。</a:t>
            </a:r>
            <a:endParaRPr lang="en-US" altLang="zh-CN" dirty="0"/>
          </a:p>
          <a:p>
            <a:r>
              <a:rPr lang="zh-CN" altLang="en-US" dirty="0"/>
              <a:t>软件仿真的速度和芯片本身的速度鸿沟的拉大，让验证的时间成本变得不可接受</a:t>
            </a:r>
            <a:endParaRPr lang="en-US" altLang="zh-CN" dirty="0"/>
          </a:p>
          <a:p>
            <a:r>
              <a:rPr lang="zh-CN" altLang="en-US" dirty="0"/>
              <a:t>为了解决这个问题，学者们提出了硬件仿真这个概念，它能够用较快的对芯片进行验证，如右图蓝色的线</a:t>
            </a:r>
            <a:endParaRPr lang="en-US" altLang="zh-CN" dirty="0"/>
          </a:p>
        </p:txBody>
      </p:sp>
      <p:sp>
        <p:nvSpPr>
          <p:cNvPr id="4" name="灯片编号占位符 3"/>
          <p:cNvSpPr>
            <a:spLocks noGrp="1"/>
          </p:cNvSpPr>
          <p:nvPr>
            <p:ph type="sldNum" sz="quarter" idx="5"/>
          </p:nvPr>
        </p:nvSpPr>
        <p:spPr/>
        <p:txBody>
          <a:bodyPr/>
          <a:lstStyle/>
          <a:p>
            <a:fld id="{96977E10-6855-184D-B35B-F428F789FE47}" type="slidenum">
              <a:rPr kumimoji="1" lang="zh-CN" altLang="en-US" smtClean="0"/>
              <a:t>2</a:t>
            </a:fld>
            <a:endParaRPr kumimoji="1" lang="zh-CN" altLang="en-US"/>
          </a:p>
        </p:txBody>
      </p:sp>
    </p:spTree>
    <p:extLst>
      <p:ext uri="{BB962C8B-B14F-4D97-AF65-F5344CB8AC3E}">
        <p14:creationId xmlns:p14="http://schemas.microsoft.com/office/powerpoint/2010/main" val="2248209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C964E-B93D-0150-5BBB-2438133885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4C467D-0498-6B30-75EF-7F81351FEC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9D19DD-08B4-CC4E-F8AD-F0C37BE20882}"/>
              </a:ext>
            </a:extLst>
          </p:cNvPr>
          <p:cNvSpPr>
            <a:spLocks noGrp="1"/>
          </p:cNvSpPr>
          <p:nvPr>
            <p:ph type="body" idx="1"/>
          </p:nvPr>
        </p:nvSpPr>
        <p:spPr/>
        <p:txBody>
          <a:bodyPr/>
          <a:lstStyle/>
          <a:p>
            <a:r>
              <a:rPr lang="en-US" dirty="0" err="1"/>
              <a:t>所谓硬件仿真</a:t>
            </a:r>
            <a:r>
              <a:rPr lang="zh-CN" altLang="en-US" dirty="0"/>
              <a:t>，就是用专用硬件，例如</a:t>
            </a:r>
            <a:r>
              <a:rPr lang="en-US" altLang="zh-CN" dirty="0"/>
              <a:t>ASIC</a:t>
            </a:r>
            <a:r>
              <a:rPr lang="zh-CN" altLang="en-US" dirty="0"/>
              <a:t>或者</a:t>
            </a:r>
            <a:r>
              <a:rPr lang="en-US" altLang="zh-CN" dirty="0"/>
              <a:t>FPGA</a:t>
            </a:r>
            <a:r>
              <a:rPr lang="zh-CN" altLang="en-US" dirty="0"/>
              <a:t>，来加速逻辑仿真和波形采集的过程。</a:t>
            </a:r>
            <a:endParaRPr lang="en-US" altLang="zh-CN" dirty="0"/>
          </a:p>
          <a:p>
            <a:r>
              <a:rPr lang="zh-CN" altLang="en-US" dirty="0"/>
              <a:t>它的速度能够达到</a:t>
            </a:r>
            <a:r>
              <a:rPr lang="en-US" altLang="zh-CN" dirty="0"/>
              <a:t>MHz</a:t>
            </a:r>
            <a:r>
              <a:rPr lang="zh-CN" altLang="en-US" dirty="0"/>
              <a:t>的级别，相对软件仿真快了</a:t>
            </a:r>
            <a:r>
              <a:rPr lang="en-US" altLang="zh-CN" dirty="0"/>
              <a:t>3</a:t>
            </a:r>
            <a:r>
              <a:rPr lang="zh-CN" altLang="en-US" dirty="0"/>
              <a:t>到</a:t>
            </a:r>
            <a:r>
              <a:rPr lang="en-US" altLang="zh-CN" dirty="0"/>
              <a:t>4</a:t>
            </a:r>
            <a:r>
              <a:rPr lang="zh-CN" altLang="en-US" dirty="0"/>
              <a:t>个数量级。</a:t>
            </a:r>
            <a:endParaRPr lang="en-US" altLang="zh-CN" dirty="0"/>
          </a:p>
          <a:p>
            <a:r>
              <a:rPr lang="en-US" dirty="0" err="1"/>
              <a:t>仿真不光需要运行</a:t>
            </a:r>
            <a:r>
              <a:rPr lang="zh-CN" altLang="en-US" dirty="0"/>
              <a:t>，也需要在出错的时候可调试，这也要求硬件仿真能够获取到所有信号的波形。</a:t>
            </a:r>
            <a:endParaRPr lang="en-US" altLang="zh-CN" dirty="0"/>
          </a:p>
          <a:p>
            <a:r>
              <a:rPr lang="zh-CN" altLang="en-US" dirty="0"/>
              <a:t>硬件仿真最重要的一点就是确定性可重放，也叫可重放。</a:t>
            </a:r>
            <a:endParaRPr lang="en-US" altLang="zh-CN" dirty="0"/>
          </a:p>
          <a:p>
            <a:r>
              <a:rPr lang="zh-CN" altLang="en-US" dirty="0"/>
              <a:t>在真实芯片中，总会由于随机的物理延迟导致每次运行的行为会稍有不同，当错误出现的时候，难移复现和调试，这也就是不可重放。</a:t>
            </a:r>
            <a:endParaRPr lang="en-US" altLang="zh-CN" dirty="0"/>
          </a:p>
          <a:p>
            <a:r>
              <a:rPr lang="zh-CN" altLang="en-US" dirty="0"/>
              <a:t>为了增强可调试性，硬件仿真需要保证在给定初始状态和输入序列后，输出结果和行为是一致的，这也就是可重放。</a:t>
            </a:r>
            <a:endParaRPr lang="en-US" altLang="zh-CN" dirty="0"/>
          </a:p>
          <a:p>
            <a:r>
              <a:rPr lang="zh-CN" altLang="en-US" dirty="0"/>
              <a:t>可重放是改研究的一个重点。</a:t>
            </a:r>
            <a:endParaRPr lang="en-US" dirty="0"/>
          </a:p>
          <a:p>
            <a:r>
              <a:rPr lang="en-US" dirty="0"/>
              <a:t>So, what is hardware emulation? It's the bridge between slow software simulation and fast but </a:t>
            </a:r>
            <a:r>
              <a:rPr lang="en-US" dirty="0" err="1"/>
              <a:t>invisual</a:t>
            </a:r>
            <a:r>
              <a:rPr lang="en-US" dirty="0"/>
              <a:t> FPGA prototyping."（</a:t>
            </a:r>
            <a:r>
              <a:rPr lang="zh-CN" altLang="en-US" dirty="0"/>
              <a:t>硬件仿真是什么？它是慢速软件仿真和快速但不可见的</a:t>
            </a:r>
            <a:r>
              <a:rPr lang="en-US" dirty="0"/>
              <a:t>FPGA</a:t>
            </a:r>
            <a:r>
              <a:rPr lang="zh-CN" altLang="en-US" dirty="0"/>
              <a:t>原型之间的桥梁。）</a:t>
            </a:r>
          </a:p>
          <a:p>
            <a:r>
              <a:rPr lang="zh-CN" altLang="en-US" b="1" dirty="0"/>
              <a:t>关于加速：</a:t>
            </a:r>
            <a:r>
              <a:rPr lang="zh-CN" altLang="en-US" dirty="0"/>
              <a:t> </a:t>
            </a:r>
            <a:r>
              <a:rPr lang="en-US" altLang="zh-CN" dirty="0"/>
              <a:t>"</a:t>
            </a:r>
            <a:r>
              <a:rPr lang="en-US" dirty="0"/>
              <a:t>It uses specialized hardware to run the design in parallel, achieving MHz speeds."</a:t>
            </a:r>
          </a:p>
          <a:p>
            <a:r>
              <a:rPr lang="zh-CN" altLang="en-US" b="1" dirty="0"/>
              <a:t>重点解释 </a:t>
            </a:r>
            <a:r>
              <a:rPr lang="en-US" b="1" dirty="0"/>
              <a:t>Deterministic Replay（</a:t>
            </a:r>
            <a:r>
              <a:rPr lang="zh-CN" altLang="en-US" b="1" dirty="0"/>
              <a:t>重中之重）：</a:t>
            </a:r>
            <a:endParaRPr lang="zh-CN" altLang="en-US" dirty="0"/>
          </a:p>
          <a:p>
            <a:r>
              <a:rPr lang="en-US" altLang="zh-CN" dirty="0"/>
              <a:t>"</a:t>
            </a:r>
            <a:r>
              <a:rPr lang="en-US" dirty="0"/>
              <a:t>The most critical feature is </a:t>
            </a:r>
            <a:r>
              <a:rPr lang="en-US" b="1" dirty="0"/>
              <a:t>Deterministic Replay</a:t>
            </a:r>
            <a:r>
              <a:rPr lang="en-US" dirty="0"/>
              <a:t>."</a:t>
            </a:r>
          </a:p>
          <a:p>
            <a:r>
              <a:rPr lang="en-US" dirty="0"/>
              <a:t>“In real silicon or standard FPGA prototypes, delay is different due to physical factors (temperature, routing delays). If a bug happens once, it might not happen again.（</a:t>
            </a:r>
            <a:r>
              <a:rPr lang="zh-CN" altLang="en-US" dirty="0"/>
              <a:t>在真实芯片或普通</a:t>
            </a:r>
            <a:r>
              <a:rPr lang="en-US" dirty="0"/>
              <a:t>FPGA</a:t>
            </a:r>
            <a:r>
              <a:rPr lang="zh-CN" altLang="en-US" dirty="0"/>
              <a:t>原型中，时序会因物理因素变化。）</a:t>
            </a:r>
          </a:p>
          <a:p>
            <a:r>
              <a:rPr lang="en-US" altLang="zh-CN" dirty="0"/>
              <a:t>"</a:t>
            </a:r>
            <a:r>
              <a:rPr lang="en-US" dirty="0"/>
              <a:t>Hardware Emulation guarantees that </a:t>
            </a:r>
            <a:r>
              <a:rPr lang="en-US" b="1" dirty="0"/>
              <a:t>Input A plus State B always equals Output C</a:t>
            </a:r>
            <a:r>
              <a:rPr lang="en-US" dirty="0"/>
              <a:t>. It captures the exact sequence of events, allowing us to 'rewind' time and inspect any signal, just like a video recording."（</a:t>
            </a:r>
            <a:r>
              <a:rPr lang="zh-CN" altLang="en-US" dirty="0"/>
              <a:t>硬件仿真保证输入</a:t>
            </a:r>
            <a:r>
              <a:rPr lang="en-US" dirty="0"/>
              <a:t>A+</a:t>
            </a:r>
            <a:r>
              <a:rPr lang="zh-CN" altLang="en-US" dirty="0"/>
              <a:t>状态</a:t>
            </a:r>
            <a:r>
              <a:rPr lang="en-US" dirty="0"/>
              <a:t>B</a:t>
            </a:r>
            <a:r>
              <a:rPr lang="zh-CN" altLang="en-US" dirty="0"/>
              <a:t>永远等于输出</a:t>
            </a:r>
            <a:r>
              <a:rPr lang="en-US" dirty="0"/>
              <a:t>C。</a:t>
            </a:r>
            <a:r>
              <a:rPr lang="zh-CN" altLang="en-US" dirty="0"/>
              <a:t>它就像录像回放一样，允许我们“倒退时间”去检查任意信号。）</a:t>
            </a:r>
          </a:p>
          <a:p>
            <a:endParaRPr lang="zh-CN" altLang="en-US" dirty="0"/>
          </a:p>
        </p:txBody>
      </p:sp>
      <p:sp>
        <p:nvSpPr>
          <p:cNvPr id="4" name="灯片编号占位符 3">
            <a:extLst>
              <a:ext uri="{FF2B5EF4-FFF2-40B4-BE49-F238E27FC236}">
                <a16:creationId xmlns:a16="http://schemas.microsoft.com/office/drawing/2014/main" id="{7F4A000E-E536-584C-F33B-63A59C62BC1C}"/>
              </a:ext>
            </a:extLst>
          </p:cNvPr>
          <p:cNvSpPr>
            <a:spLocks noGrp="1"/>
          </p:cNvSpPr>
          <p:nvPr>
            <p:ph type="sldNum" sz="quarter" idx="5"/>
          </p:nvPr>
        </p:nvSpPr>
        <p:spPr/>
        <p:txBody>
          <a:bodyPr/>
          <a:lstStyle/>
          <a:p>
            <a:fld id="{96977E10-6855-184D-B35B-F428F789FE47}" type="slidenum">
              <a:rPr kumimoji="1" lang="zh-CN" altLang="en-US" smtClean="0"/>
              <a:t>3</a:t>
            </a:fld>
            <a:endParaRPr kumimoji="1" lang="zh-CN" altLang="en-US"/>
          </a:p>
        </p:txBody>
      </p:sp>
    </p:spTree>
    <p:extLst>
      <p:ext uri="{BB962C8B-B14F-4D97-AF65-F5344CB8AC3E}">
        <p14:creationId xmlns:p14="http://schemas.microsoft.com/office/powerpoint/2010/main" val="582956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E3DE-E865-13AD-411F-BEA8ECA7A6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B3B120-334A-FE7B-CAA3-156741F442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389430-400B-0BB0-67CA-D3F9C4D611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在硬件仿真中，主要有两类技术路线，一类</a:t>
            </a:r>
            <a:r>
              <a:rPr lang="zh-CN" altLang="en-US" b="0"/>
              <a:t>是基于专用</a:t>
            </a:r>
            <a:r>
              <a:rPr lang="en-US" altLang="zh-CN" b="0"/>
              <a:t>ASIC</a:t>
            </a:r>
            <a:r>
              <a:rPr lang="zh-CN" altLang="en-US" b="0" dirty="0"/>
              <a:t>的，一个是基于</a:t>
            </a:r>
            <a:r>
              <a:rPr lang="en-US" altLang="zh-CN" b="0" dirty="0"/>
              <a:t>FPGA</a:t>
            </a:r>
            <a:r>
              <a:rPr lang="zh-CN" altLang="en-US" b="0" dirty="0"/>
              <a:t>得，基于</a:t>
            </a:r>
            <a:r>
              <a:rPr lang="en-US" altLang="zh-CN" b="0" dirty="0"/>
              <a:t>ASIC</a:t>
            </a:r>
            <a:r>
              <a:rPr lang="zh-CN" altLang="en-US" b="0" dirty="0"/>
              <a:t>的解决方案十分昂贵，工业界也对相关技术进行保密。因此，本文的研究聚焦于</a:t>
            </a:r>
            <a:r>
              <a:rPr lang="en-US" altLang="zh-CN" b="0" dirty="0"/>
              <a:t>FPGA</a:t>
            </a:r>
            <a:r>
              <a:rPr lang="zh-CN" altLang="en-US" b="0" dirty="0"/>
              <a:t>的硬件仿真。</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关于</a:t>
            </a:r>
            <a:r>
              <a:rPr lang="en-US" altLang="zh-CN" b="0" dirty="0"/>
              <a:t>FPGA</a:t>
            </a:r>
            <a:r>
              <a:rPr lang="zh-CN" altLang="en-US" b="0" dirty="0"/>
              <a:t>具有高度的可重构性和接近实际的运行速度，十分适合作为硬件仿真的平台。</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但也存在问题，首先是</a:t>
            </a:r>
            <a:r>
              <a:rPr lang="en-US" altLang="zh-CN" b="0" dirty="0"/>
              <a:t>FPGA</a:t>
            </a:r>
            <a:r>
              <a:rPr lang="zh-CN" altLang="en-US" b="0" dirty="0"/>
              <a:t>得信号可见性极低，只能通过有限的探针手动插入，第二就是单片</a:t>
            </a:r>
            <a:r>
              <a:rPr lang="en-US" altLang="zh-CN" b="0" dirty="0"/>
              <a:t>FPGA</a:t>
            </a:r>
            <a:r>
              <a:rPr lang="zh-CN" altLang="en-US" b="0" dirty="0"/>
              <a:t>的容量有限，无法支持现代大型</a:t>
            </a:r>
            <a:r>
              <a:rPr lang="en-US" altLang="zh-CN" b="0" dirty="0"/>
              <a:t>SoC</a:t>
            </a:r>
            <a:r>
              <a:rPr lang="zh-CN" altLang="en-US" b="0" dirty="0"/>
              <a:t>的硬件仿真</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为了解决可见性，可以在原设计中插入扫描链，读出所有的寄存器。</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为了解决容量问题，可以从单片扩展到多片，将设计切分并协同工作。</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分类：</a:t>
            </a:r>
            <a:r>
              <a:rPr lang="zh-CN" altLang="en-US" dirty="0"/>
              <a:t> </a:t>
            </a:r>
            <a:r>
              <a:rPr lang="en-US" altLang="zh-CN" dirty="0"/>
              <a:t>"</a:t>
            </a:r>
            <a:r>
              <a:rPr lang="en-US" dirty="0"/>
              <a:t>Industrially, we have expensive ASIC-based machines and scalable FPGA-based solutions. My research focuses on the FPGA path."（</a:t>
            </a:r>
            <a:r>
              <a:rPr lang="zh-CN" altLang="en-US" dirty="0"/>
              <a:t>工业界有昂贵的</a:t>
            </a:r>
            <a:r>
              <a:rPr lang="en-US" dirty="0"/>
              <a:t>ASIC</a:t>
            </a:r>
            <a:r>
              <a:rPr lang="zh-CN" altLang="en-US" dirty="0"/>
              <a:t>方案和可扩展的</a:t>
            </a:r>
            <a:r>
              <a:rPr lang="en-US" dirty="0"/>
              <a:t>FPGA</a:t>
            </a:r>
            <a:r>
              <a:rPr lang="zh-CN" altLang="en-US" dirty="0"/>
              <a:t>方案。我的研究聚焦于</a:t>
            </a:r>
            <a:r>
              <a:rPr lang="en-US" dirty="0"/>
              <a:t>FPGA</a:t>
            </a:r>
            <a:r>
              <a:rPr lang="zh-CN" altLang="en-US" dirty="0"/>
              <a:t>路线。）</a:t>
            </a:r>
            <a:endParaRPr lang="en-US" altLang="zh-CN" b="1" dirty="0"/>
          </a:p>
          <a:p>
            <a:r>
              <a:rPr lang="zh-CN" altLang="en-US" b="1" dirty="0"/>
              <a:t>关于</a:t>
            </a:r>
            <a:r>
              <a:rPr lang="en-US" b="1" dirty="0"/>
              <a:t>FPGA</a:t>
            </a:r>
            <a:r>
              <a:rPr lang="zh-CN" altLang="en-US" b="1" dirty="0"/>
              <a:t>的优缺点：</a:t>
            </a:r>
            <a:r>
              <a:rPr lang="zh-CN" altLang="en-US" dirty="0"/>
              <a:t> </a:t>
            </a:r>
            <a:r>
              <a:rPr lang="en-US" altLang="zh-CN" dirty="0"/>
              <a:t>"</a:t>
            </a:r>
            <a:r>
              <a:rPr lang="en-US" dirty="0"/>
              <a:t>We chose FPGA as our platform because it's reconfigurable and fast. However, it's not perfect. The biggest issues are </a:t>
            </a:r>
            <a:r>
              <a:rPr lang="en-US" b="1" dirty="0"/>
              <a:t>visibility</a:t>
            </a:r>
            <a:r>
              <a:rPr lang="en-US" dirty="0"/>
              <a:t> and </a:t>
            </a:r>
            <a:r>
              <a:rPr lang="en-US" b="1" dirty="0"/>
              <a:t>capacity</a:t>
            </a:r>
            <a:r>
              <a:rPr lang="en-US" dirty="0"/>
              <a:t>. You can't see enough signals inside, and a single chip is just too small for large </a:t>
            </a:r>
            <a:r>
              <a:rPr lang="en-US" dirty="0" err="1"/>
              <a:t>SoC.</a:t>
            </a:r>
            <a:r>
              <a:rPr lang="en-US" dirty="0"/>
              <a:t>"</a:t>
            </a:r>
          </a:p>
          <a:p>
            <a:r>
              <a:rPr lang="zh-CN" altLang="en-US" b="1" dirty="0"/>
              <a:t>关于解决思路（对应您的两个大方向）：</a:t>
            </a:r>
            <a:endParaRPr lang="zh-CN" altLang="en-US" dirty="0"/>
          </a:p>
          <a:p>
            <a:r>
              <a:rPr lang="en-US" altLang="zh-CN" dirty="0"/>
              <a:t>"</a:t>
            </a:r>
            <a:r>
              <a:rPr lang="en-US" dirty="0"/>
              <a:t>To fix the </a:t>
            </a:r>
            <a:r>
              <a:rPr lang="en-US" b="1" dirty="0"/>
              <a:t>visibility</a:t>
            </a:r>
            <a:r>
              <a:rPr lang="en-US" dirty="0"/>
              <a:t> issue, we insert </a:t>
            </a:r>
            <a:r>
              <a:rPr lang="en-US" b="1" dirty="0"/>
              <a:t>Scan Chains</a:t>
            </a:r>
            <a:r>
              <a:rPr lang="en-US" dirty="0"/>
              <a:t>, It allow us to read out every flip-flop in the design."（</a:t>
            </a:r>
            <a:r>
              <a:rPr lang="zh-CN" altLang="en-US" dirty="0"/>
              <a:t>为了解决可见性，我们不使用标准探针，而是插入扫描链，读出所有触发器。）</a:t>
            </a:r>
          </a:p>
          <a:p>
            <a:r>
              <a:rPr lang="en-US" altLang="zh-CN" dirty="0"/>
              <a:t>"</a:t>
            </a:r>
            <a:r>
              <a:rPr lang="en-US" dirty="0"/>
              <a:t>To fix the </a:t>
            </a:r>
            <a:r>
              <a:rPr lang="en-US" b="1" dirty="0"/>
              <a:t>capacity</a:t>
            </a:r>
            <a:r>
              <a:rPr lang="en-US" dirty="0"/>
              <a:t> issue, we move from Single-FPGA to </a:t>
            </a:r>
            <a:r>
              <a:rPr lang="en-US" b="1" dirty="0"/>
              <a:t>Multi-FPGA</a:t>
            </a:r>
            <a:r>
              <a:rPr lang="en-US" dirty="0"/>
              <a:t>. We split the design into pieces and make them work together"（</a:t>
            </a:r>
            <a:r>
              <a:rPr lang="zh-CN" altLang="en-US" dirty="0"/>
              <a:t>为了解决容量问题，我们从单片扩展到多片，将设计切分并协同工作。）</a:t>
            </a:r>
          </a:p>
          <a:p>
            <a:endParaRPr lang="zh-CN" altLang="en-US" dirty="0"/>
          </a:p>
        </p:txBody>
      </p:sp>
      <p:sp>
        <p:nvSpPr>
          <p:cNvPr id="4" name="灯片编号占位符 3">
            <a:extLst>
              <a:ext uri="{FF2B5EF4-FFF2-40B4-BE49-F238E27FC236}">
                <a16:creationId xmlns:a16="http://schemas.microsoft.com/office/drawing/2014/main" id="{9E23B473-596E-2540-A35D-CDEF31258230}"/>
              </a:ext>
            </a:extLst>
          </p:cNvPr>
          <p:cNvSpPr>
            <a:spLocks noGrp="1"/>
          </p:cNvSpPr>
          <p:nvPr>
            <p:ph type="sldNum" sz="quarter" idx="5"/>
          </p:nvPr>
        </p:nvSpPr>
        <p:spPr/>
        <p:txBody>
          <a:bodyPr/>
          <a:lstStyle/>
          <a:p>
            <a:fld id="{96977E10-6855-184D-B35B-F428F789FE47}" type="slidenum">
              <a:rPr kumimoji="1" lang="zh-CN" altLang="en-US" smtClean="0"/>
              <a:t>4</a:t>
            </a:fld>
            <a:endParaRPr kumimoji="1" lang="zh-CN" altLang="en-US"/>
          </a:p>
        </p:txBody>
      </p:sp>
    </p:spTree>
    <p:extLst>
      <p:ext uri="{BB962C8B-B14F-4D97-AF65-F5344CB8AC3E}">
        <p14:creationId xmlns:p14="http://schemas.microsoft.com/office/powerpoint/2010/main" val="3305837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22953-FA81-92AF-2BCA-04C96A935B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F9E366-0C39-FF71-E1C3-D2A1B6C188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FA1874-2738-22B9-43DB-3718ACC043CC}"/>
              </a:ext>
            </a:extLst>
          </p:cNvPr>
          <p:cNvSpPr>
            <a:spLocks noGrp="1"/>
          </p:cNvSpPr>
          <p:nvPr>
            <p:ph type="body" idx="1"/>
          </p:nvPr>
        </p:nvSpPr>
        <p:spPr/>
        <p:txBody>
          <a:bodyPr/>
          <a:lstStyle/>
          <a:p>
            <a:r>
              <a:rPr lang="en-US" dirty="0"/>
              <a:t>Existing works in academic still have three main limitation.</a:t>
            </a:r>
            <a:endParaRPr lang="en-US" altLang="zh-CN" b="1" dirty="0"/>
          </a:p>
          <a:p>
            <a:r>
              <a:rPr lang="en-US" dirty="0"/>
              <a:t>Firstly, there is no large-scale replay. The exist work like REMU can only replay in Signal FPGA. or like </a:t>
            </a:r>
            <a:r>
              <a:rPr lang="en-US" dirty="0" err="1"/>
              <a:t>FireAxe</a:t>
            </a:r>
            <a:r>
              <a:rPr lang="en-US" dirty="0"/>
              <a:t> can run a large design with no debugging. But we want both</a:t>
            </a:r>
          </a:p>
          <a:p>
            <a:r>
              <a:rPr lang="en-US" dirty="0"/>
              <a:t>Secondly, Partitioning is a pain. Tools like </a:t>
            </a:r>
            <a:r>
              <a:rPr lang="en-US" dirty="0" err="1"/>
              <a:t>FireAxe</a:t>
            </a:r>
            <a:r>
              <a:rPr lang="en-US" dirty="0"/>
              <a:t> need manual guidance. And other work like </a:t>
            </a:r>
            <a:r>
              <a:rPr lang="en-US" dirty="0" err="1"/>
              <a:t>ViTAL</a:t>
            </a:r>
            <a:r>
              <a:rPr lang="en-US" dirty="0"/>
              <a:t> and DUOHUAFEN can either partition in netlist or module level. We want to a automated tool support multi-granularity</a:t>
            </a:r>
          </a:p>
          <a:p>
            <a:r>
              <a:rPr lang="en-US" dirty="0"/>
              <a:t>Thirdly, exist work are difficult to migrate between different hardware platform. They assumed all links between FPGAs are homogeneous. May not portable for heterogeneous.</a:t>
            </a:r>
          </a:p>
          <a:p>
            <a:r>
              <a:rPr lang="en-US" dirty="0"/>
              <a:t>The figure on the right illustrates the three core steps for build multi-FPGA hardware emulation, with each phase is corresponding to a limitation.</a:t>
            </a:r>
          </a:p>
          <a:p>
            <a:r>
              <a:rPr lang="en-US" altLang="zh-CN" dirty="0"/>
              <a:t>In first phase design is </a:t>
            </a:r>
            <a:r>
              <a:rPr lang="en-US" altLang="zh-CN" dirty="0" err="1"/>
              <a:t>splitt</a:t>
            </a:r>
            <a:r>
              <a:rPr lang="en-US" altLang="zh-CN" dirty="0"/>
              <a:t> to different partitions, this phase need automation and multi-granularity.</a:t>
            </a:r>
          </a:p>
          <a:p>
            <a:r>
              <a:rPr lang="en-US" altLang="zh-CN" dirty="0"/>
              <a:t>Then comes integration, this phase change the sub design to a scalable and </a:t>
            </a:r>
            <a:r>
              <a:rPr lang="en-US" altLang="zh-CN" dirty="0" err="1"/>
              <a:t>replayable</a:t>
            </a:r>
            <a:r>
              <a:rPr lang="en-US" altLang="zh-CN" dirty="0"/>
              <a:t> unit. But it hasn't been achieved yet.</a:t>
            </a:r>
          </a:p>
          <a:p>
            <a:r>
              <a:rPr lang="en-US" altLang="zh-CN" dirty="0"/>
              <a:t>Final</a:t>
            </a:r>
            <a:r>
              <a:rPr lang="zh-CN" altLang="en-US" dirty="0"/>
              <a:t> </a:t>
            </a:r>
            <a:r>
              <a:rPr lang="en-US" altLang="zh-CN" dirty="0"/>
              <a:t>phase is interconnection, connect different FPGA by physical link, and connect FPGA with host. Interconnection need Scalability and Portability. </a:t>
            </a:r>
          </a:p>
          <a:p>
            <a:r>
              <a:rPr lang="en-US" altLang="zh-CN" dirty="0"/>
              <a:t>Ok that is all about introduction.</a:t>
            </a:r>
            <a:r>
              <a:rPr lang="zh-CN" altLang="en-US" dirty="0"/>
              <a:t> </a:t>
            </a:r>
            <a:r>
              <a:rPr lang="en-US" altLang="zh-CN" dirty="0"/>
              <a:t>let focus these limitations in related work</a:t>
            </a:r>
          </a:p>
        </p:txBody>
      </p:sp>
      <p:sp>
        <p:nvSpPr>
          <p:cNvPr id="4" name="灯片编号占位符 3">
            <a:extLst>
              <a:ext uri="{FF2B5EF4-FFF2-40B4-BE49-F238E27FC236}">
                <a16:creationId xmlns:a16="http://schemas.microsoft.com/office/drawing/2014/main" id="{97AB98FB-1718-2DA5-D626-86B3B33F97F7}"/>
              </a:ext>
            </a:extLst>
          </p:cNvPr>
          <p:cNvSpPr>
            <a:spLocks noGrp="1"/>
          </p:cNvSpPr>
          <p:nvPr>
            <p:ph type="sldNum" sz="quarter" idx="5"/>
          </p:nvPr>
        </p:nvSpPr>
        <p:spPr/>
        <p:txBody>
          <a:bodyPr/>
          <a:lstStyle/>
          <a:p>
            <a:fld id="{96977E10-6855-184D-B35B-F428F789FE47}" type="slidenum">
              <a:rPr kumimoji="1" lang="zh-CN" altLang="en-US" smtClean="0"/>
              <a:t>5</a:t>
            </a:fld>
            <a:endParaRPr kumimoji="1" lang="zh-CN" altLang="en-US"/>
          </a:p>
        </p:txBody>
      </p:sp>
    </p:spTree>
    <p:extLst>
      <p:ext uri="{BB962C8B-B14F-4D97-AF65-F5344CB8AC3E}">
        <p14:creationId xmlns:p14="http://schemas.microsoft.com/office/powerpoint/2010/main" val="3263037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574D4-64D1-B956-4529-D84989FA67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741E29-BA3D-9414-DCBD-05B1546E88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910B92-FA3C-2CD9-3E4D-560F8BB65B8C}"/>
              </a:ext>
            </a:extLst>
          </p:cNvPr>
          <p:cNvSpPr>
            <a:spLocks noGrp="1"/>
          </p:cNvSpPr>
          <p:nvPr>
            <p:ph type="body" idx="1"/>
          </p:nvPr>
        </p:nvSpPr>
        <p:spPr/>
        <p:txBody>
          <a:bodyPr/>
          <a:lstStyle/>
          <a:p>
            <a:r>
              <a:rPr lang="en-US" altLang="zh-CN" b="1" dirty="0"/>
              <a:t>The first challenge is partition.</a:t>
            </a:r>
          </a:p>
          <a:p>
            <a:r>
              <a:rPr lang="zh-CN" altLang="en-US" b="1" dirty="0"/>
              <a:t>关于历史：</a:t>
            </a:r>
            <a:r>
              <a:rPr lang="zh-CN" altLang="en-US" dirty="0"/>
              <a:t> </a:t>
            </a:r>
            <a:r>
              <a:rPr lang="en-US" altLang="zh-CN" dirty="0"/>
              <a:t>"</a:t>
            </a:r>
            <a:r>
              <a:rPr lang="en-US" dirty="0"/>
              <a:t>Partitioning isn't new. It started with simple Graphs in VLSI design. Later, we moved to </a:t>
            </a:r>
            <a:r>
              <a:rPr lang="en-US" b="1" dirty="0"/>
              <a:t>Hypergraphs</a:t>
            </a:r>
            <a:r>
              <a:rPr lang="en-US" dirty="0"/>
              <a:t> like </a:t>
            </a:r>
            <a:r>
              <a:rPr lang="en-US" dirty="0" err="1"/>
              <a:t>hMetis</a:t>
            </a:r>
            <a:r>
              <a:rPr lang="en-US" dirty="0"/>
              <a:t> to handle complex connections. This is the math foundation."（</a:t>
            </a:r>
            <a:r>
              <a:rPr lang="zh-CN" altLang="en-US" dirty="0"/>
              <a:t>划分不是新鲜事。它始于</a:t>
            </a:r>
            <a:r>
              <a:rPr lang="en-US" dirty="0"/>
              <a:t>VLSI</a:t>
            </a:r>
            <a:r>
              <a:rPr lang="zh-CN" altLang="en-US" dirty="0"/>
              <a:t>设计中的简单图。后来我们转向</a:t>
            </a:r>
            <a:r>
              <a:rPr lang="en-US" dirty="0" err="1"/>
              <a:t>hMetis</a:t>
            </a:r>
            <a:r>
              <a:rPr lang="zh-CN" altLang="en-US" dirty="0"/>
              <a:t>这样的超图来处理复杂连接。这是数学基础。）</a:t>
            </a:r>
          </a:p>
          <a:p>
            <a:r>
              <a:rPr lang="zh-CN" altLang="en-US" b="1" dirty="0"/>
              <a:t>关于现状：</a:t>
            </a:r>
            <a:r>
              <a:rPr lang="zh-CN" altLang="en-US" dirty="0"/>
              <a:t> </a:t>
            </a:r>
            <a:r>
              <a:rPr lang="en-US" altLang="zh-CN" dirty="0"/>
              <a:t>"</a:t>
            </a:r>
            <a:r>
              <a:rPr lang="en-US" dirty="0"/>
              <a:t>Today's tools have issues. </a:t>
            </a:r>
            <a:r>
              <a:rPr lang="en-US" b="1" dirty="0" err="1"/>
              <a:t>FireAxe</a:t>
            </a:r>
            <a:r>
              <a:rPr lang="en-US" dirty="0"/>
              <a:t> is fast but needs manually cut the design. </a:t>
            </a:r>
            <a:r>
              <a:rPr lang="en-US" b="1" dirty="0" err="1"/>
              <a:t>ViTAL</a:t>
            </a:r>
            <a:r>
              <a:rPr lang="en-US" dirty="0"/>
              <a:t> only cuts modules, and </a:t>
            </a:r>
            <a:r>
              <a:rPr lang="en-US" b="1" dirty="0"/>
              <a:t>DUOHUAFEN</a:t>
            </a:r>
            <a:r>
              <a:rPr lang="en-US" dirty="0"/>
              <a:t> only cuts netlists. They are too rigid."（</a:t>
            </a:r>
            <a:r>
              <a:rPr lang="zh-CN" altLang="en-US" dirty="0"/>
              <a:t>今天的工具存在问题。</a:t>
            </a:r>
            <a:r>
              <a:rPr lang="en-US" dirty="0" err="1"/>
              <a:t>FireAxe</a:t>
            </a:r>
            <a:r>
              <a:rPr lang="zh-CN" altLang="en-US" dirty="0"/>
              <a:t>很快，但需要我手动切割。</a:t>
            </a:r>
            <a:r>
              <a:rPr lang="en-US" dirty="0" err="1"/>
              <a:t>ViTAL</a:t>
            </a:r>
            <a:r>
              <a:rPr lang="zh-CN" altLang="en-US" dirty="0"/>
              <a:t>只切模块，</a:t>
            </a:r>
            <a:r>
              <a:rPr lang="en-US" dirty="0"/>
              <a:t>DUOHUAFEN</a:t>
            </a:r>
            <a:r>
              <a:rPr lang="zh-CN" altLang="en-US" dirty="0"/>
              <a:t>只切网表。它们太僵化了。）</a:t>
            </a:r>
          </a:p>
          <a:p>
            <a:r>
              <a:rPr lang="zh-CN" altLang="en-US" b="1" dirty="0"/>
              <a:t>关于缺口：</a:t>
            </a:r>
            <a:r>
              <a:rPr lang="zh-CN" altLang="en-US" dirty="0"/>
              <a:t> </a:t>
            </a:r>
            <a:r>
              <a:rPr lang="en-US" altLang="zh-CN" dirty="0"/>
              <a:t>"</a:t>
            </a:r>
            <a:r>
              <a:rPr lang="en-US" dirty="0"/>
              <a:t>What's missing is a tool that is </a:t>
            </a:r>
            <a:r>
              <a:rPr lang="en-US" b="1" dirty="0"/>
              <a:t>Automated</a:t>
            </a:r>
            <a:r>
              <a:rPr lang="en-US" dirty="0"/>
              <a:t> and support </a:t>
            </a:r>
            <a:r>
              <a:rPr lang="en-US" sz="1200" b="1" dirty="0">
                <a:latin typeface="+mn-lt"/>
              </a:rPr>
              <a:t>Multi-Granularity</a:t>
            </a:r>
            <a:r>
              <a:rPr lang="en-US" dirty="0"/>
              <a:t>."（</a:t>
            </a:r>
            <a:r>
              <a:rPr lang="zh-CN" altLang="en-US" dirty="0"/>
              <a:t>缺少的是一种自动化且自适应的工具</a:t>
            </a:r>
            <a:r>
              <a:rPr lang="en-US" altLang="zh-CN" dirty="0"/>
              <a:t>——</a:t>
            </a:r>
            <a:r>
              <a:rPr lang="zh-CN" altLang="en-US" dirty="0"/>
              <a:t>混合模块和网表，集众家之长。）</a:t>
            </a:r>
          </a:p>
          <a:p>
            <a:endParaRPr lang="en-US" altLang="zh-CN" dirty="0"/>
          </a:p>
        </p:txBody>
      </p:sp>
      <p:sp>
        <p:nvSpPr>
          <p:cNvPr id="4" name="灯片编号占位符 3">
            <a:extLst>
              <a:ext uri="{FF2B5EF4-FFF2-40B4-BE49-F238E27FC236}">
                <a16:creationId xmlns:a16="http://schemas.microsoft.com/office/drawing/2014/main" id="{1CE495A8-1672-8EE0-133A-D0D04609528F}"/>
              </a:ext>
            </a:extLst>
          </p:cNvPr>
          <p:cNvSpPr>
            <a:spLocks noGrp="1"/>
          </p:cNvSpPr>
          <p:nvPr>
            <p:ph type="sldNum" sz="quarter" idx="5"/>
          </p:nvPr>
        </p:nvSpPr>
        <p:spPr/>
        <p:txBody>
          <a:bodyPr/>
          <a:lstStyle/>
          <a:p>
            <a:fld id="{96977E10-6855-184D-B35B-F428F789FE47}" type="slidenum">
              <a:rPr kumimoji="1" lang="zh-CN" altLang="en-US" smtClean="0"/>
              <a:t>6</a:t>
            </a:fld>
            <a:endParaRPr kumimoji="1" lang="zh-CN" altLang="en-US"/>
          </a:p>
        </p:txBody>
      </p:sp>
    </p:spTree>
    <p:extLst>
      <p:ext uri="{BB962C8B-B14F-4D97-AF65-F5344CB8AC3E}">
        <p14:creationId xmlns:p14="http://schemas.microsoft.com/office/powerpoint/2010/main" val="2021543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157B6-84FE-717C-E444-3F052DDC39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815431-BC30-A426-D47A-2ACE527D67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915660-0599-4E80-36FE-85D0596BBB04}"/>
              </a:ext>
            </a:extLst>
          </p:cNvPr>
          <p:cNvSpPr>
            <a:spLocks noGrp="1"/>
          </p:cNvSpPr>
          <p:nvPr>
            <p:ph type="body" idx="1"/>
          </p:nvPr>
        </p:nvSpPr>
        <p:spPr/>
        <p:txBody>
          <a:bodyPr/>
          <a:lstStyle/>
          <a:p>
            <a:r>
              <a:rPr lang="en-US" altLang="zh-CN" b="0" dirty="0"/>
              <a:t>Second challenge is about Scalable and </a:t>
            </a:r>
            <a:r>
              <a:rPr lang="en-US" altLang="zh-CN" b="0" dirty="0" err="1"/>
              <a:t>Replayable</a:t>
            </a:r>
            <a:r>
              <a:rPr lang="en-US" altLang="zh-CN" b="0" dirty="0"/>
              <a:t> integration.</a:t>
            </a:r>
          </a:p>
          <a:p>
            <a:r>
              <a:rPr lang="en-US" altLang="zh-CN" b="0" dirty="0"/>
              <a:t>To implement scalability, It need boundary interface to connect different partition.</a:t>
            </a:r>
          </a:p>
          <a:p>
            <a:r>
              <a:rPr lang="zh-CN" altLang="en-US" b="1" dirty="0"/>
              <a:t>关于挑战：</a:t>
            </a:r>
            <a:r>
              <a:rPr lang="zh-CN" altLang="en-US" dirty="0"/>
              <a:t> </a:t>
            </a:r>
            <a:r>
              <a:rPr lang="en-US" altLang="zh-CN" dirty="0"/>
              <a:t>"</a:t>
            </a:r>
            <a:r>
              <a:rPr lang="en-US" dirty="0"/>
              <a:t>When we cut a wire between FPGAs, it's not just a wire anymore. It becomes a communication channel. The biggest challenge is ensuring </a:t>
            </a:r>
            <a:r>
              <a:rPr lang="en-US" b="1" dirty="0"/>
              <a:t>combinational logic</a:t>
            </a:r>
            <a:r>
              <a:rPr lang="en-US" dirty="0"/>
              <a:t> still works correctly across this </a:t>
            </a:r>
            <a:r>
              <a:rPr lang="en-US" dirty="0" err="1"/>
              <a:t>channe</a:t>
            </a:r>
            <a:r>
              <a:rPr lang="en-US" dirty="0"/>
              <a:t>."</a:t>
            </a:r>
          </a:p>
          <a:p>
            <a:r>
              <a:rPr lang="zh-CN" altLang="en-US" b="1" dirty="0"/>
              <a:t>关于经典方法：</a:t>
            </a:r>
            <a:r>
              <a:rPr lang="zh-CN" altLang="en-US" dirty="0"/>
              <a:t> </a:t>
            </a:r>
            <a:r>
              <a:rPr lang="en-US" altLang="zh-CN" dirty="0"/>
              <a:t>“</a:t>
            </a:r>
            <a:r>
              <a:rPr lang="en-US" dirty="0"/>
              <a:t>Classically, </a:t>
            </a:r>
            <a:r>
              <a:rPr lang="en-US" b="0" dirty="0"/>
              <a:t>TDM</a:t>
            </a:r>
            <a:r>
              <a:rPr lang="en-US" dirty="0"/>
              <a:t> is fast but fragile—it</a:t>
            </a:r>
            <a:r>
              <a:rPr lang="zh-CN" altLang="en-US" dirty="0"/>
              <a:t> </a:t>
            </a:r>
            <a:r>
              <a:rPr lang="en-US" altLang="zh-CN" dirty="0"/>
              <a:t>has strict requirements for the timing of the physical link</a:t>
            </a:r>
            <a:r>
              <a:rPr lang="en-US" altLang="zh-CN" b="0" dirty="0"/>
              <a:t>.</a:t>
            </a:r>
            <a:r>
              <a:rPr lang="en-US" b="0" dirty="0"/>
              <a:t> LI </a:t>
            </a:r>
            <a:r>
              <a:rPr lang="en-US" dirty="0"/>
              <a:t>is robust but too simple—it can‘t handle </a:t>
            </a:r>
            <a:r>
              <a:rPr lang="en-US" b="1" dirty="0"/>
              <a:t>combinational logic</a:t>
            </a:r>
            <a:r>
              <a:rPr lang="zh-CN" altLang="en-US" b="1" dirty="0"/>
              <a:t> </a:t>
            </a:r>
            <a:r>
              <a:rPr lang="en-US" dirty="0"/>
              <a:t>paths."</a:t>
            </a:r>
          </a:p>
          <a:p>
            <a:r>
              <a:rPr lang="zh-CN" altLang="en-US" b="1" dirty="0"/>
              <a:t>关于为何选择</a:t>
            </a:r>
            <a:r>
              <a:rPr lang="en-US" b="1" dirty="0"/>
              <a:t>LI-TDM：</a:t>
            </a:r>
            <a:r>
              <a:rPr lang="en-US" dirty="0"/>
              <a:t> "That's why we look at Hybrid approaches. </a:t>
            </a:r>
            <a:r>
              <a:rPr lang="en-US" b="0" dirty="0"/>
              <a:t>LI-TDM</a:t>
            </a:r>
            <a:r>
              <a:rPr lang="en-US" dirty="0"/>
              <a:t> is the sweet spot. It allows us to run complex logic (like TDM) over unreliable cables (like LI). It's lightweight and efficient, making it the perfect foundation for my work."</a:t>
            </a:r>
          </a:p>
          <a:p>
            <a:endParaRPr lang="en-US" altLang="zh-CN" dirty="0"/>
          </a:p>
        </p:txBody>
      </p:sp>
      <p:sp>
        <p:nvSpPr>
          <p:cNvPr id="4" name="灯片编号占位符 3">
            <a:extLst>
              <a:ext uri="{FF2B5EF4-FFF2-40B4-BE49-F238E27FC236}">
                <a16:creationId xmlns:a16="http://schemas.microsoft.com/office/drawing/2014/main" id="{73F1F3FA-97D3-85BB-88F5-207204D726D9}"/>
              </a:ext>
            </a:extLst>
          </p:cNvPr>
          <p:cNvSpPr>
            <a:spLocks noGrp="1"/>
          </p:cNvSpPr>
          <p:nvPr>
            <p:ph type="sldNum" sz="quarter" idx="5"/>
          </p:nvPr>
        </p:nvSpPr>
        <p:spPr/>
        <p:txBody>
          <a:bodyPr/>
          <a:lstStyle/>
          <a:p>
            <a:fld id="{96977E10-6855-184D-B35B-F428F789FE47}" type="slidenum">
              <a:rPr kumimoji="1" lang="zh-CN" altLang="en-US" smtClean="0"/>
              <a:t>7</a:t>
            </a:fld>
            <a:endParaRPr kumimoji="1" lang="zh-CN" altLang="en-US"/>
          </a:p>
        </p:txBody>
      </p:sp>
    </p:spTree>
    <p:extLst>
      <p:ext uri="{BB962C8B-B14F-4D97-AF65-F5344CB8AC3E}">
        <p14:creationId xmlns:p14="http://schemas.microsoft.com/office/powerpoint/2010/main" val="3970288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5240E-E0D4-E695-53F0-3B67A406C8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59E061-D8E4-0E35-EAF9-9D9F3FB1C8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4AC9B5-C5FF-DA31-09FB-CE23B2886917}"/>
              </a:ext>
            </a:extLst>
          </p:cNvPr>
          <p:cNvSpPr>
            <a:spLocks noGrp="1"/>
          </p:cNvSpPr>
          <p:nvPr>
            <p:ph type="body" idx="1"/>
          </p:nvPr>
        </p:nvSpPr>
        <p:spPr/>
        <p:txBody>
          <a:bodyPr/>
          <a:lstStyle/>
          <a:p>
            <a:r>
              <a:rPr lang="en-US" altLang="zh-CN" b="0" dirty="0"/>
              <a:t>Another theme of integration is </a:t>
            </a:r>
            <a:r>
              <a:rPr lang="en-US" altLang="zh-CN" b="0" dirty="0" err="1"/>
              <a:t>replayability</a:t>
            </a:r>
            <a:r>
              <a:rPr lang="en-US" altLang="zh-CN" b="0" dirty="0"/>
              <a:t>.</a:t>
            </a:r>
            <a:r>
              <a:rPr lang="zh-CN" altLang="en-US" b="0" dirty="0"/>
              <a:t> </a:t>
            </a:r>
            <a:r>
              <a:rPr lang="en-US" altLang="zh-CN" b="0" dirty="0"/>
              <a:t>Scan Chain can help solve this problem.</a:t>
            </a:r>
          </a:p>
          <a:p>
            <a:r>
              <a:rPr lang="zh-CN" altLang="en-US" b="1" dirty="0"/>
              <a:t>关于核心价值：</a:t>
            </a:r>
            <a:r>
              <a:rPr lang="zh-CN" altLang="en-US" dirty="0"/>
              <a:t> </a:t>
            </a:r>
            <a:r>
              <a:rPr lang="en-US" dirty="0"/>
              <a:t>It converts the FPGA from a black box into a white box. By reading out the state of every flip-flop and memory, It can achieve </a:t>
            </a:r>
            <a:r>
              <a:rPr lang="en-US" b="1" dirty="0"/>
              <a:t>Cycle-Accurate</a:t>
            </a:r>
            <a:r>
              <a:rPr lang="en-US" dirty="0"/>
              <a:t> and </a:t>
            </a:r>
            <a:r>
              <a:rPr lang="en-US" b="1" dirty="0"/>
              <a:t>Bit-Exact</a:t>
            </a:r>
            <a:r>
              <a:rPr lang="en-US" dirty="0"/>
              <a:t> replay."</a:t>
            </a:r>
          </a:p>
          <a:p>
            <a:r>
              <a:rPr lang="zh-CN" altLang="en-US" b="1" dirty="0"/>
              <a:t>关于现有工作（</a:t>
            </a:r>
            <a:r>
              <a:rPr lang="en-US" b="1" dirty="0" err="1"/>
              <a:t>StateMover</a:t>
            </a:r>
            <a:r>
              <a:rPr lang="en-US" b="1" dirty="0"/>
              <a:t> vs REMU）：</a:t>
            </a:r>
            <a:endParaRPr lang="en-US" dirty="0"/>
          </a:p>
          <a:p>
            <a:r>
              <a:rPr lang="en-US" dirty="0"/>
              <a:t>"</a:t>
            </a:r>
            <a:r>
              <a:rPr lang="en-US" b="1" dirty="0" err="1"/>
              <a:t>StateMover</a:t>
            </a:r>
            <a:r>
              <a:rPr lang="en-US" dirty="0"/>
              <a:t> was a good start, but it couldn't scan SRAMs. Modern SoCs are full of caches, so </a:t>
            </a:r>
            <a:r>
              <a:rPr lang="en-US" dirty="0" err="1"/>
              <a:t>StateMover</a:t>
            </a:r>
            <a:r>
              <a:rPr lang="en-US" dirty="0"/>
              <a:t> fails there."（</a:t>
            </a:r>
            <a:r>
              <a:rPr lang="en-US" dirty="0" err="1"/>
              <a:t>StateMover</a:t>
            </a:r>
            <a:r>
              <a:rPr lang="zh-CN" altLang="en-US" dirty="0"/>
              <a:t>是个好的开始，但它不能扫描</a:t>
            </a:r>
            <a:r>
              <a:rPr lang="en-US" dirty="0"/>
              <a:t>SRAM。</a:t>
            </a:r>
            <a:r>
              <a:rPr lang="zh-CN" altLang="en-US" dirty="0"/>
              <a:t>现代</a:t>
            </a:r>
            <a:r>
              <a:rPr lang="en-US" dirty="0"/>
              <a:t>SoC</a:t>
            </a:r>
            <a:r>
              <a:rPr lang="zh-CN" altLang="en-US" dirty="0"/>
              <a:t>到处是缓存，所以</a:t>
            </a:r>
            <a:r>
              <a:rPr lang="en-US" dirty="0" err="1"/>
              <a:t>StateMover</a:t>
            </a:r>
            <a:r>
              <a:rPr lang="zh-CN" altLang="en-US" dirty="0"/>
              <a:t>无法适用。）</a:t>
            </a:r>
          </a:p>
          <a:p>
            <a:r>
              <a:rPr lang="en-US" altLang="zh-CN" dirty="0"/>
              <a:t>"</a:t>
            </a:r>
            <a:r>
              <a:rPr lang="en-US" b="1" dirty="0"/>
              <a:t>REMU</a:t>
            </a:r>
            <a:r>
              <a:rPr lang="en-US" dirty="0"/>
              <a:t> improved this by supporting arbitrary circuits, including SRAMs. It works great on a single FPGA and serves as our baseline."</a:t>
            </a:r>
          </a:p>
          <a:p>
            <a:r>
              <a:rPr lang="zh-CN" altLang="en-US" b="1" dirty="0"/>
              <a:t>关于挑战（</a:t>
            </a:r>
            <a:r>
              <a:rPr lang="en-US" b="1" dirty="0"/>
              <a:t>Challenge）：</a:t>
            </a:r>
            <a:r>
              <a:rPr lang="en-US" dirty="0"/>
              <a:t> "However, REMU is designed for one chip. The real challenge is: </a:t>
            </a:r>
            <a:r>
              <a:rPr lang="en-US" b="1" dirty="0"/>
              <a:t>How do we synchronize scan chains across multiple FPGAs?</a:t>
            </a:r>
            <a:r>
              <a:rPr lang="en-US" dirty="0"/>
              <a:t> We need to ensure that when we pause, every FPGA stops at the exact same logical cycle to maintain global consistency."（</a:t>
            </a:r>
            <a:r>
              <a:rPr lang="zh-CN" altLang="en-US" dirty="0"/>
              <a:t>然而，</a:t>
            </a:r>
            <a:r>
              <a:rPr lang="en-US" dirty="0"/>
              <a:t>REMU</a:t>
            </a:r>
            <a:r>
              <a:rPr lang="zh-CN" altLang="en-US" dirty="0"/>
              <a:t>是为单芯片设计的。真正的挑战是：如何在多</a:t>
            </a:r>
            <a:r>
              <a:rPr lang="en-US" dirty="0"/>
              <a:t>FPGA</a:t>
            </a:r>
            <a:r>
              <a:rPr lang="zh-CN" altLang="en-US" dirty="0"/>
              <a:t>间同步扫描链？我们需要确保暂停时，所有</a:t>
            </a:r>
            <a:r>
              <a:rPr lang="en-US" dirty="0"/>
              <a:t>FPGA</a:t>
            </a:r>
            <a:r>
              <a:rPr lang="zh-CN" altLang="en-US" dirty="0"/>
              <a:t>停在完全相同的逻辑周期，以维持全局一致性。）</a:t>
            </a:r>
          </a:p>
          <a:p>
            <a:endParaRPr lang="en-US" altLang="zh-CN" dirty="0"/>
          </a:p>
        </p:txBody>
      </p:sp>
      <p:sp>
        <p:nvSpPr>
          <p:cNvPr id="4" name="灯片编号占位符 3">
            <a:extLst>
              <a:ext uri="{FF2B5EF4-FFF2-40B4-BE49-F238E27FC236}">
                <a16:creationId xmlns:a16="http://schemas.microsoft.com/office/drawing/2014/main" id="{628009C0-43FF-94EF-3EA2-EBD6EA2C0377}"/>
              </a:ext>
            </a:extLst>
          </p:cNvPr>
          <p:cNvSpPr>
            <a:spLocks noGrp="1"/>
          </p:cNvSpPr>
          <p:nvPr>
            <p:ph type="sldNum" sz="quarter" idx="5"/>
          </p:nvPr>
        </p:nvSpPr>
        <p:spPr/>
        <p:txBody>
          <a:bodyPr/>
          <a:lstStyle/>
          <a:p>
            <a:fld id="{96977E10-6855-184D-B35B-F428F789FE47}" type="slidenum">
              <a:rPr kumimoji="1" lang="zh-CN" altLang="en-US" smtClean="0"/>
              <a:t>8</a:t>
            </a:fld>
            <a:endParaRPr kumimoji="1" lang="zh-CN" altLang="en-US"/>
          </a:p>
        </p:txBody>
      </p:sp>
    </p:spTree>
    <p:extLst>
      <p:ext uri="{BB962C8B-B14F-4D97-AF65-F5344CB8AC3E}">
        <p14:creationId xmlns:p14="http://schemas.microsoft.com/office/powerpoint/2010/main" val="2668207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11BB-00EC-EF4F-2AAB-4AF5E5CCF1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D11ABE-4F4A-41EF-0F35-F7F3658AF4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44F95D-8D21-233F-4F42-38F2CF555779}"/>
              </a:ext>
            </a:extLst>
          </p:cNvPr>
          <p:cNvSpPr>
            <a:spLocks noGrp="1"/>
          </p:cNvSpPr>
          <p:nvPr>
            <p:ph type="body" idx="1"/>
          </p:nvPr>
        </p:nvSpPr>
        <p:spPr/>
        <p:txBody>
          <a:bodyPr/>
          <a:lstStyle/>
          <a:p>
            <a:r>
              <a:rPr lang="en-US" altLang="zh-CN" b="1" dirty="0"/>
              <a:t>The last challenge is about interconnection.</a:t>
            </a:r>
          </a:p>
          <a:p>
            <a:r>
              <a:rPr lang="en-US" dirty="0"/>
              <a:t>For data transfer between FPGAs, the trend is 'Faster and Lower Latency'. </a:t>
            </a:r>
            <a:r>
              <a:rPr lang="en-US" dirty="0" err="1"/>
              <a:t>FireAxe</a:t>
            </a:r>
            <a:r>
              <a:rPr lang="en-US" dirty="0"/>
              <a:t> pushed this to the limit with QSFP cables. DUOHUAFEN try to increase portability by introducing abstraction. However, they all assume the links are Homogeneous. We want to handle </a:t>
            </a:r>
            <a:r>
              <a:rPr lang="en-US" b="1" dirty="0"/>
              <a:t>Heterogeneous</a:t>
            </a:r>
            <a:r>
              <a:rPr lang="en-US" dirty="0"/>
              <a:t> links.</a:t>
            </a:r>
          </a:p>
          <a:p>
            <a:r>
              <a:rPr lang="zh-CN" altLang="en-US" b="1" dirty="0"/>
              <a:t>关于主机互连：</a:t>
            </a:r>
            <a:r>
              <a:rPr lang="zh-CN" altLang="en-US" dirty="0"/>
              <a:t> </a:t>
            </a:r>
            <a:r>
              <a:rPr lang="en-US" altLang="zh-CN" dirty="0"/>
              <a:t>"</a:t>
            </a:r>
            <a:r>
              <a:rPr lang="en-US" dirty="0"/>
              <a:t>For control, REMU uses direct PCIe. This works for one board but fails for a cluster because a PC has limited PCIe slots. We face the challenge of designing a topology that allows one Host to control many FPGAs with perfect synchronization."</a:t>
            </a:r>
          </a:p>
          <a:p>
            <a:endParaRPr lang="en-US" altLang="zh-CN" dirty="0"/>
          </a:p>
        </p:txBody>
      </p:sp>
      <p:sp>
        <p:nvSpPr>
          <p:cNvPr id="4" name="灯片编号占位符 3">
            <a:extLst>
              <a:ext uri="{FF2B5EF4-FFF2-40B4-BE49-F238E27FC236}">
                <a16:creationId xmlns:a16="http://schemas.microsoft.com/office/drawing/2014/main" id="{0DD30BDE-4076-25D0-C593-D7B52BE05AA3}"/>
              </a:ext>
            </a:extLst>
          </p:cNvPr>
          <p:cNvSpPr>
            <a:spLocks noGrp="1"/>
          </p:cNvSpPr>
          <p:nvPr>
            <p:ph type="sldNum" sz="quarter" idx="5"/>
          </p:nvPr>
        </p:nvSpPr>
        <p:spPr/>
        <p:txBody>
          <a:bodyPr/>
          <a:lstStyle/>
          <a:p>
            <a:fld id="{96977E10-6855-184D-B35B-F428F789FE47}" type="slidenum">
              <a:rPr kumimoji="1" lang="zh-CN" altLang="en-US" smtClean="0"/>
              <a:t>9</a:t>
            </a:fld>
            <a:endParaRPr kumimoji="1" lang="zh-CN" altLang="en-US"/>
          </a:p>
        </p:txBody>
      </p:sp>
    </p:spTree>
    <p:extLst>
      <p:ext uri="{BB962C8B-B14F-4D97-AF65-F5344CB8AC3E}">
        <p14:creationId xmlns:p14="http://schemas.microsoft.com/office/powerpoint/2010/main" val="4105910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AA0B-294A-D893-8FEF-BF15B40336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A1D536-8207-B9D2-8B8D-24F559EB7E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9512C5-085C-D893-BD49-0B0A844D91E2}"/>
              </a:ext>
            </a:extLst>
          </p:cNvPr>
          <p:cNvSpPr>
            <a:spLocks noGrp="1"/>
          </p:cNvSpPr>
          <p:nvPr>
            <p:ph type="body" idx="1"/>
          </p:nvPr>
        </p:nvSpPr>
        <p:spPr/>
        <p:txBody>
          <a:bodyPr/>
          <a:lstStyle/>
          <a:p>
            <a:r>
              <a:rPr lang="zh-CN" altLang="en-US" b="1" dirty="0"/>
              <a:t>引入 </a:t>
            </a:r>
            <a:r>
              <a:rPr lang="en-US" b="1" dirty="0"/>
              <a:t>SMART:</a:t>
            </a:r>
            <a:r>
              <a:rPr lang="en-US" dirty="0"/>
              <a:t> "To address all the challenges mentioned, we propose </a:t>
            </a:r>
            <a:r>
              <a:rPr lang="en-US" b="1" dirty="0"/>
              <a:t>SMART</a:t>
            </a:r>
            <a:r>
              <a:rPr lang="en-US" dirty="0"/>
              <a:t>. It stands for Scalable Multi-FPGA Automated Replay Technology."（</a:t>
            </a:r>
            <a:r>
              <a:rPr lang="zh-CN" altLang="en-US" dirty="0"/>
              <a:t>为了解决上述所有挑战，我们提出了 </a:t>
            </a:r>
            <a:r>
              <a:rPr lang="en-US" dirty="0"/>
              <a:t>SMART。</a:t>
            </a:r>
            <a:r>
              <a:rPr lang="zh-CN" altLang="en-US" dirty="0"/>
              <a:t>它代表可扩展、多</a:t>
            </a:r>
            <a:r>
              <a:rPr lang="en-US" dirty="0"/>
              <a:t>FPGA、</a:t>
            </a:r>
            <a:r>
              <a:rPr lang="zh-CN" altLang="en-US" dirty="0"/>
              <a:t>自动化重放技术。）</a:t>
            </a:r>
          </a:p>
          <a:p>
            <a:r>
              <a:rPr lang="zh-CN" altLang="en-US" b="1" dirty="0"/>
              <a:t>强调范围 </a:t>
            </a:r>
            <a:r>
              <a:rPr lang="en-US" altLang="zh-CN" b="1" dirty="0"/>
              <a:t>(</a:t>
            </a:r>
            <a:r>
              <a:rPr lang="en-US" b="1" dirty="0"/>
              <a:t>Scope):</a:t>
            </a:r>
            <a:r>
              <a:rPr lang="en-US" dirty="0"/>
              <a:t> "Unlike previous works that focus on just one level, SMART covers multi-levels: from inside a chip, to across boards, to across servers. It handles both fine-grained netlists and coarse-grained modules."（</a:t>
            </a:r>
            <a:r>
              <a:rPr lang="zh-CN" altLang="en-US" dirty="0"/>
              <a:t>不同于以往只关注单一层面的工作，</a:t>
            </a:r>
            <a:r>
              <a:rPr lang="en-US" dirty="0"/>
              <a:t>SMART </a:t>
            </a:r>
            <a:r>
              <a:rPr lang="zh-CN" altLang="en-US" dirty="0"/>
              <a:t>覆盖了一切：从芯片内部，到板卡之间，再到服务器之间。它既处理细粒度的网表，也处理粗粒度的模块。）</a:t>
            </a:r>
          </a:p>
          <a:p>
            <a:r>
              <a:rPr lang="zh-CN" altLang="en-US" b="1" dirty="0"/>
              <a:t>三支柱 </a:t>
            </a:r>
            <a:r>
              <a:rPr lang="en-US" altLang="zh-CN" b="1" dirty="0"/>
              <a:t>(</a:t>
            </a:r>
            <a:r>
              <a:rPr lang="en-US" b="1" dirty="0"/>
              <a:t>Three Pillars):</a:t>
            </a:r>
            <a:r>
              <a:rPr lang="en-US" dirty="0"/>
              <a:t> "SMART is built on three key technology:</a:t>
            </a:r>
          </a:p>
          <a:p>
            <a:r>
              <a:rPr lang="en-US" b="1" dirty="0" err="1"/>
              <a:t>Replayable</a:t>
            </a:r>
            <a:r>
              <a:rPr lang="en-US" b="1" dirty="0"/>
              <a:t> Integration</a:t>
            </a:r>
            <a:r>
              <a:rPr lang="en-US" dirty="0"/>
              <a:t> for debugging.</a:t>
            </a:r>
          </a:p>
          <a:p>
            <a:r>
              <a:rPr lang="en-US" b="1" dirty="0"/>
              <a:t>Automated Partitioning</a:t>
            </a:r>
            <a:r>
              <a:rPr lang="en-US" dirty="0"/>
              <a:t> for ease of use.</a:t>
            </a:r>
          </a:p>
          <a:p>
            <a:r>
              <a:rPr lang="en-US" b="1" dirty="0"/>
              <a:t>Scalable Interconnect</a:t>
            </a:r>
            <a:r>
              <a:rPr lang="en-US" dirty="0"/>
              <a:t> for growing large."</a:t>
            </a:r>
          </a:p>
          <a:p>
            <a:endParaRPr lang="en-US" altLang="zh-CN" dirty="0"/>
          </a:p>
        </p:txBody>
      </p:sp>
      <p:sp>
        <p:nvSpPr>
          <p:cNvPr id="4" name="灯片编号占位符 3">
            <a:extLst>
              <a:ext uri="{FF2B5EF4-FFF2-40B4-BE49-F238E27FC236}">
                <a16:creationId xmlns:a16="http://schemas.microsoft.com/office/drawing/2014/main" id="{7E3CB236-2BBC-EB14-FB9F-E908B327695B}"/>
              </a:ext>
            </a:extLst>
          </p:cNvPr>
          <p:cNvSpPr>
            <a:spLocks noGrp="1"/>
          </p:cNvSpPr>
          <p:nvPr>
            <p:ph type="sldNum" sz="quarter" idx="5"/>
          </p:nvPr>
        </p:nvSpPr>
        <p:spPr/>
        <p:txBody>
          <a:bodyPr/>
          <a:lstStyle/>
          <a:p>
            <a:fld id="{96977E10-6855-184D-B35B-F428F789FE47}" type="slidenum">
              <a:rPr kumimoji="1" lang="zh-CN" altLang="en-US" smtClean="0"/>
              <a:t>10</a:t>
            </a:fld>
            <a:endParaRPr kumimoji="1" lang="zh-CN" altLang="en-US"/>
          </a:p>
        </p:txBody>
      </p:sp>
    </p:spTree>
    <p:extLst>
      <p:ext uri="{BB962C8B-B14F-4D97-AF65-F5344CB8AC3E}">
        <p14:creationId xmlns:p14="http://schemas.microsoft.com/office/powerpoint/2010/main" val="2121786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C9188-A880-09D9-72CF-A49E33EDA3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7B93D8-8258-F47F-D8A2-08EC6D35C0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653A18-F458-EA02-0411-32DB8D3F1265}"/>
              </a:ext>
            </a:extLst>
          </p:cNvPr>
          <p:cNvSpPr>
            <a:spLocks noGrp="1"/>
          </p:cNvSpPr>
          <p:nvPr>
            <p:ph type="body" idx="1"/>
          </p:nvPr>
        </p:nvSpPr>
        <p:spPr/>
        <p:txBody>
          <a:bodyPr/>
          <a:lstStyle/>
          <a:p>
            <a:r>
              <a:rPr lang="zh-CN" altLang="en-US" b="1" dirty="0"/>
              <a:t>总览</a:t>
            </a:r>
            <a:r>
              <a:rPr lang="en-US" altLang="zh-CN" b="1" dirty="0"/>
              <a:t>:</a:t>
            </a:r>
            <a:r>
              <a:rPr lang="zh-CN" altLang="en-US" dirty="0"/>
              <a:t> </a:t>
            </a:r>
            <a:r>
              <a:rPr lang="en-US" altLang="zh-CN" dirty="0"/>
              <a:t>"</a:t>
            </a:r>
            <a:r>
              <a:rPr lang="en-US" dirty="0"/>
              <a:t>The SMART workflow consists of three automated phases, transforming user RTL into a </a:t>
            </a:r>
            <a:r>
              <a:rPr lang="en-US" dirty="0" err="1"/>
              <a:t>replayable</a:t>
            </a:r>
            <a:r>
              <a:rPr lang="en-US" dirty="0"/>
              <a:t> emulation cluster."</a:t>
            </a:r>
          </a:p>
          <a:p>
            <a:r>
              <a:rPr lang="zh-CN" altLang="en-US" b="1" dirty="0"/>
              <a:t>第一阶段 </a:t>
            </a:r>
            <a:r>
              <a:rPr lang="en-US" altLang="zh-CN" b="1" dirty="0"/>
              <a:t>(</a:t>
            </a:r>
            <a:r>
              <a:rPr lang="en-US" b="1" dirty="0"/>
              <a:t>Partitioning):</a:t>
            </a:r>
            <a:r>
              <a:rPr lang="en-US" dirty="0"/>
              <a:t> "First, we take the user's design and automatically partition it. Our </a:t>
            </a:r>
            <a:r>
              <a:rPr lang="en-US" b="1" dirty="0"/>
              <a:t>Adaptive Pre-processing</a:t>
            </a:r>
            <a:r>
              <a:rPr lang="en-US" dirty="0"/>
              <a:t> decides the best granularity—keeping modules whole where possible, and breaking them down when necessary."</a:t>
            </a:r>
          </a:p>
          <a:p>
            <a:r>
              <a:rPr lang="zh-CN" altLang="en-US" b="1" dirty="0"/>
              <a:t>第二阶段 </a:t>
            </a:r>
            <a:r>
              <a:rPr lang="en-US" altLang="zh-CN" b="1" dirty="0"/>
              <a:t>(</a:t>
            </a:r>
            <a:r>
              <a:rPr lang="en-US" b="1" dirty="0"/>
              <a:t>Integration):</a:t>
            </a:r>
            <a:r>
              <a:rPr lang="en-US" dirty="0"/>
              <a:t> "Next, we integrate the necessary structures. We insert </a:t>
            </a:r>
            <a:r>
              <a:rPr lang="en-US" b="1" dirty="0"/>
              <a:t>Scan Chains</a:t>
            </a:r>
            <a:r>
              <a:rPr lang="en-US" dirty="0"/>
              <a:t> for debugging and add </a:t>
            </a:r>
            <a:r>
              <a:rPr lang="en-US" b="1" dirty="0"/>
              <a:t>LI-TDM wrappers</a:t>
            </a:r>
            <a:r>
              <a:rPr lang="en-US" dirty="0"/>
              <a:t> to handle the communication between split parts."</a:t>
            </a:r>
          </a:p>
          <a:p>
            <a:r>
              <a:rPr lang="zh-CN" altLang="en-US" b="1" dirty="0"/>
              <a:t>第三阶段 </a:t>
            </a:r>
            <a:r>
              <a:rPr lang="en-US" altLang="zh-CN" b="1" dirty="0"/>
              <a:t>(</a:t>
            </a:r>
            <a:r>
              <a:rPr lang="en-US" b="1" dirty="0"/>
              <a:t>Interconnect):</a:t>
            </a:r>
            <a:r>
              <a:rPr lang="en-US" dirty="0"/>
              <a:t> "Finally, we connect everything. We adapt to the physical cables (like QSFP) and use our Runtime Software to control the entire cluster, enabling features like pause and replay."</a:t>
            </a:r>
          </a:p>
          <a:p>
            <a:endParaRPr lang="en-US" altLang="zh-CN" dirty="0"/>
          </a:p>
        </p:txBody>
      </p:sp>
      <p:sp>
        <p:nvSpPr>
          <p:cNvPr id="4" name="灯片编号占位符 3">
            <a:extLst>
              <a:ext uri="{FF2B5EF4-FFF2-40B4-BE49-F238E27FC236}">
                <a16:creationId xmlns:a16="http://schemas.microsoft.com/office/drawing/2014/main" id="{28CA3F3C-6380-83FC-635E-4B5C7087B707}"/>
              </a:ext>
            </a:extLst>
          </p:cNvPr>
          <p:cNvSpPr>
            <a:spLocks noGrp="1"/>
          </p:cNvSpPr>
          <p:nvPr>
            <p:ph type="sldNum" sz="quarter" idx="5"/>
          </p:nvPr>
        </p:nvSpPr>
        <p:spPr/>
        <p:txBody>
          <a:bodyPr/>
          <a:lstStyle/>
          <a:p>
            <a:fld id="{96977E10-6855-184D-B35B-F428F789FE47}" type="slidenum">
              <a:rPr kumimoji="1" lang="zh-CN" altLang="en-US" smtClean="0"/>
              <a:t>11</a:t>
            </a:fld>
            <a:endParaRPr kumimoji="1" lang="zh-CN" altLang="en-US"/>
          </a:p>
        </p:txBody>
      </p:sp>
    </p:spTree>
    <p:extLst>
      <p:ext uri="{BB962C8B-B14F-4D97-AF65-F5344CB8AC3E}">
        <p14:creationId xmlns:p14="http://schemas.microsoft.com/office/powerpoint/2010/main" val="3729134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7D241-D532-02FF-D03B-B269675B73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63ACA8-B8B0-D1A5-EE77-E6059F0C45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26AA9D-4DAD-5E4F-A39E-F7164906377F}"/>
              </a:ext>
            </a:extLst>
          </p:cNvPr>
          <p:cNvSpPr>
            <a:spLocks noGrp="1"/>
          </p:cNvSpPr>
          <p:nvPr>
            <p:ph type="body" idx="1"/>
          </p:nvPr>
        </p:nvSpPr>
        <p:spPr/>
        <p:txBody>
          <a:bodyPr/>
          <a:lstStyle/>
          <a:p>
            <a:r>
              <a:rPr lang="zh-CN" altLang="en-US" b="1" dirty="0"/>
              <a:t>关于痛点：</a:t>
            </a:r>
            <a:r>
              <a:rPr lang="zh-CN" altLang="en-US" dirty="0"/>
              <a:t> </a:t>
            </a:r>
            <a:r>
              <a:rPr lang="en-US" altLang="zh-CN" dirty="0"/>
              <a:t>"</a:t>
            </a:r>
            <a:r>
              <a:rPr lang="en-US" dirty="0"/>
              <a:t>Currently, partitioning is painful. You either do it manually, or you let the tool flatten everything into a mess of gates. We want a 'Black Box' experience: You give us RTL, we give you a partitioned RTL, automatically."</a:t>
            </a:r>
          </a:p>
          <a:p>
            <a:r>
              <a:rPr lang="zh-CN" altLang="en-US" b="1" dirty="0"/>
              <a:t>关于算法（核心）：</a:t>
            </a:r>
            <a:r>
              <a:rPr lang="zh-CN" altLang="en-US" dirty="0"/>
              <a:t> </a:t>
            </a:r>
            <a:r>
              <a:rPr lang="en-US" altLang="zh-CN" dirty="0"/>
              <a:t>"</a:t>
            </a:r>
            <a:r>
              <a:rPr lang="en-US" dirty="0"/>
              <a:t>How do we do it? We use a </a:t>
            </a:r>
            <a:r>
              <a:rPr lang="en-US" b="1" dirty="0"/>
              <a:t>Resource-Aware</a:t>
            </a:r>
            <a:r>
              <a:rPr lang="en-US" dirty="0"/>
              <a:t> algorithm. It looks at the design hierarchy. If a module is too big (like a CPU core), we break it down. If a module is small enough (like an ALU), we keep it whole."（</a:t>
            </a:r>
            <a:r>
              <a:rPr lang="zh-CN" altLang="en-US" dirty="0"/>
              <a:t>我们如何做？我们使用资源感知算法。如果一个模块太大，比如</a:t>
            </a:r>
            <a:r>
              <a:rPr lang="en-US" dirty="0"/>
              <a:t>CPU</a:t>
            </a:r>
            <a:r>
              <a:rPr lang="zh-CN" altLang="en-US" dirty="0"/>
              <a:t>核，我们把它打散；如果够小，比如</a:t>
            </a:r>
            <a:r>
              <a:rPr lang="en-US" dirty="0"/>
              <a:t>ALU，</a:t>
            </a:r>
            <a:r>
              <a:rPr lang="zh-CN" altLang="en-US" dirty="0"/>
              <a:t>我们保留它。）</a:t>
            </a:r>
          </a:p>
          <a:p>
            <a:r>
              <a:rPr lang="zh-CN" altLang="en-US" b="1" dirty="0"/>
              <a:t>关于优势：</a:t>
            </a:r>
            <a:r>
              <a:rPr lang="zh-CN" altLang="en-US" dirty="0"/>
              <a:t> </a:t>
            </a:r>
            <a:r>
              <a:rPr lang="en-US" altLang="zh-CN" dirty="0"/>
              <a:t>"</a:t>
            </a:r>
            <a:r>
              <a:rPr lang="en-US" dirty="0"/>
              <a:t>This implies </a:t>
            </a:r>
            <a:r>
              <a:rPr lang="en-US" b="1" dirty="0"/>
              <a:t>Adaptive Granularity</a:t>
            </a:r>
            <a:r>
              <a:rPr lang="en-US" dirty="0"/>
              <a:t>. We don't force a choice between Netlist or Module; we find the best balance to make the subsequent Hypergraph partitioning faster and better."（</a:t>
            </a:r>
            <a:r>
              <a:rPr lang="zh-CN" altLang="en-US" dirty="0"/>
              <a:t>这意味着自适应粒度。我们不强迫在网表或模块间二选一，而是找到最佳平衡点。）</a:t>
            </a:r>
          </a:p>
          <a:p>
            <a:endParaRPr lang="en-US" altLang="zh-CN" dirty="0"/>
          </a:p>
        </p:txBody>
      </p:sp>
      <p:sp>
        <p:nvSpPr>
          <p:cNvPr id="4" name="灯片编号占位符 3">
            <a:extLst>
              <a:ext uri="{FF2B5EF4-FFF2-40B4-BE49-F238E27FC236}">
                <a16:creationId xmlns:a16="http://schemas.microsoft.com/office/drawing/2014/main" id="{E0488052-8D10-34A2-9B2C-A3E19500CD63}"/>
              </a:ext>
            </a:extLst>
          </p:cNvPr>
          <p:cNvSpPr>
            <a:spLocks noGrp="1"/>
          </p:cNvSpPr>
          <p:nvPr>
            <p:ph type="sldNum" sz="quarter" idx="5"/>
          </p:nvPr>
        </p:nvSpPr>
        <p:spPr/>
        <p:txBody>
          <a:bodyPr/>
          <a:lstStyle/>
          <a:p>
            <a:fld id="{96977E10-6855-184D-B35B-F428F789FE47}" type="slidenum">
              <a:rPr kumimoji="1" lang="zh-CN" altLang="en-US" smtClean="0"/>
              <a:t>12</a:t>
            </a:fld>
            <a:endParaRPr kumimoji="1" lang="zh-CN" altLang="en-US"/>
          </a:p>
        </p:txBody>
      </p:sp>
    </p:spTree>
    <p:extLst>
      <p:ext uri="{BB962C8B-B14F-4D97-AF65-F5344CB8AC3E}">
        <p14:creationId xmlns:p14="http://schemas.microsoft.com/office/powerpoint/2010/main" val="3045238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B98AD-5FF1-6BFA-A660-7F9FB08E34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BC5685-0202-CC5F-52E5-2BCE09F158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FC5AB8-083D-AD56-5186-0A0EA789F67D}"/>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45BB9CA3-9B0E-CD5C-EA69-33D87EE379F0}"/>
              </a:ext>
            </a:extLst>
          </p:cNvPr>
          <p:cNvSpPr>
            <a:spLocks noGrp="1"/>
          </p:cNvSpPr>
          <p:nvPr>
            <p:ph type="sldNum" sz="quarter" idx="5"/>
          </p:nvPr>
        </p:nvSpPr>
        <p:spPr/>
        <p:txBody>
          <a:bodyPr/>
          <a:lstStyle/>
          <a:p>
            <a:fld id="{96977E10-6855-184D-B35B-F428F789FE47}" type="slidenum">
              <a:rPr kumimoji="1" lang="zh-CN" altLang="en-US" smtClean="0"/>
              <a:t>13</a:t>
            </a:fld>
            <a:endParaRPr kumimoji="1" lang="zh-CN" altLang="en-US"/>
          </a:p>
        </p:txBody>
      </p:sp>
    </p:spTree>
    <p:extLst>
      <p:ext uri="{BB962C8B-B14F-4D97-AF65-F5344CB8AC3E}">
        <p14:creationId xmlns:p14="http://schemas.microsoft.com/office/powerpoint/2010/main" val="28984377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A8507-CB1D-3872-CDCA-1706468400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E7148E-973E-3832-D0D4-66706F2C6E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230865-3E46-BC1B-9DDA-9EEF08F1A60C}"/>
              </a:ext>
            </a:extLst>
          </p:cNvPr>
          <p:cNvSpPr>
            <a:spLocks noGrp="1"/>
          </p:cNvSpPr>
          <p:nvPr>
            <p:ph type="body" idx="1"/>
          </p:nvPr>
        </p:nvSpPr>
        <p:spPr/>
        <p:txBody>
          <a:bodyPr/>
          <a:lstStyle/>
          <a:p>
            <a:r>
              <a:rPr lang="zh-CN" altLang="en-US" b="1" dirty="0"/>
              <a:t>关于瓶颈：</a:t>
            </a:r>
            <a:r>
              <a:rPr lang="zh-CN" altLang="en-US" dirty="0"/>
              <a:t> </a:t>
            </a:r>
            <a:r>
              <a:rPr lang="en-US" altLang="zh-CN" dirty="0"/>
              <a:t>"</a:t>
            </a:r>
            <a:r>
              <a:rPr lang="en-US" dirty="0"/>
              <a:t>A standard server only has a few PCIe slots, but we might have dozens of FPGAs. We can't plug them all in directly. Also, how do we make 100 separate chips act like one single synchronized chip?"（</a:t>
            </a:r>
            <a:r>
              <a:rPr lang="zh-CN" altLang="en-US" dirty="0"/>
              <a:t>标准服务器只有几个</a:t>
            </a:r>
            <a:r>
              <a:rPr lang="en-US" dirty="0"/>
              <a:t>PCIe</a:t>
            </a:r>
            <a:r>
              <a:rPr lang="zh-CN" altLang="en-US" dirty="0"/>
              <a:t>插槽，但我们可能有几十个</a:t>
            </a:r>
            <a:r>
              <a:rPr lang="en-US" dirty="0"/>
              <a:t>FPGA。</a:t>
            </a:r>
            <a:r>
              <a:rPr lang="zh-CN" altLang="en-US" dirty="0"/>
              <a:t>我们无法全部直连。另外，我们如何让</a:t>
            </a:r>
            <a:r>
              <a:rPr lang="en-US" altLang="zh-CN" dirty="0"/>
              <a:t>100</a:t>
            </a:r>
            <a:r>
              <a:rPr lang="zh-CN" altLang="en-US" dirty="0"/>
              <a:t>个独立的芯片像一个同步芯片那样工作？）</a:t>
            </a:r>
          </a:p>
          <a:p>
            <a:r>
              <a:rPr lang="zh-CN" altLang="en-US" b="1" dirty="0"/>
              <a:t>关于树状拓扑：</a:t>
            </a:r>
            <a:r>
              <a:rPr lang="zh-CN" altLang="en-US" dirty="0"/>
              <a:t> </a:t>
            </a:r>
            <a:r>
              <a:rPr lang="en-US" altLang="zh-CN" dirty="0"/>
              <a:t>"</a:t>
            </a:r>
            <a:r>
              <a:rPr lang="en-US" dirty="0"/>
              <a:t>Our solution is a </a:t>
            </a:r>
            <a:r>
              <a:rPr lang="en-US" b="1" dirty="0"/>
              <a:t>Tree-Based Control Plane</a:t>
            </a:r>
            <a:r>
              <a:rPr lang="en-US" dirty="0"/>
              <a:t>. We only connect the Master FPGA to the Host. The Master then passes control signals to Slaves using the existing data cables. We built special hardware to forward these messages."（</a:t>
            </a:r>
            <a:r>
              <a:rPr lang="zh-CN" altLang="en-US" dirty="0"/>
              <a:t>我们的方案是树状控制平面。我们只将</a:t>
            </a:r>
            <a:r>
              <a:rPr lang="en-US" dirty="0"/>
              <a:t>Master FPGA</a:t>
            </a:r>
            <a:r>
              <a:rPr lang="zh-CN" altLang="en-US" dirty="0"/>
              <a:t>连到主机。</a:t>
            </a:r>
            <a:r>
              <a:rPr lang="en-US" dirty="0"/>
              <a:t>Master</a:t>
            </a:r>
            <a:r>
              <a:rPr lang="zh-CN" altLang="en-US" dirty="0"/>
              <a:t>通过现有的数据线将控制信号传递给</a:t>
            </a:r>
            <a:r>
              <a:rPr lang="en-US" dirty="0"/>
              <a:t>Slaves。</a:t>
            </a:r>
            <a:r>
              <a:rPr lang="zh-CN" altLang="en-US" dirty="0"/>
              <a:t>我们构建了专用硬件来转发这些消息。）</a:t>
            </a:r>
          </a:p>
          <a:p>
            <a:r>
              <a:rPr lang="zh-CN" altLang="en-US" b="1" dirty="0"/>
              <a:t>关于同步（精髓）：</a:t>
            </a:r>
            <a:r>
              <a:rPr lang="zh-CN" altLang="en-US" dirty="0"/>
              <a:t> </a:t>
            </a:r>
            <a:r>
              <a:rPr lang="en-US" altLang="zh-CN" dirty="0"/>
              <a:t>"</a:t>
            </a:r>
            <a:r>
              <a:rPr lang="en-US" dirty="0"/>
              <a:t>For synchronization, we use the magic of </a:t>
            </a:r>
            <a:r>
              <a:rPr lang="en-US" b="1" dirty="0"/>
              <a:t>LI-TDM</a:t>
            </a:r>
            <a:r>
              <a:rPr lang="en-US" dirty="0"/>
              <a:t>. It's 'Latency Insensitive'. If we stop the Master, it stops sending data. The Slaves, waiting for data, will automatically pause. This chain reaction ensures the whole system freezes at a precise logical point."（</a:t>
            </a:r>
            <a:r>
              <a:rPr lang="zh-CN" altLang="en-US" dirty="0"/>
              <a:t>关于同步，我们利用了</a:t>
            </a:r>
            <a:r>
              <a:rPr lang="en-US" dirty="0"/>
              <a:t>LI-TDM</a:t>
            </a:r>
            <a:r>
              <a:rPr lang="zh-CN" altLang="en-US" dirty="0"/>
              <a:t>的魔力。它是“延迟不敏感”的。如果我们停止</a:t>
            </a:r>
            <a:r>
              <a:rPr lang="en-US" dirty="0"/>
              <a:t>Master，</a:t>
            </a:r>
            <a:r>
              <a:rPr lang="zh-CN" altLang="en-US" dirty="0"/>
              <a:t>它就停止发送数据。等待数据的</a:t>
            </a:r>
            <a:r>
              <a:rPr lang="en-US" dirty="0"/>
              <a:t>Slaves</a:t>
            </a:r>
            <a:r>
              <a:rPr lang="zh-CN" altLang="en-US" dirty="0"/>
              <a:t>会自动暂停。这种连锁反应确保整个系统停在一个精确的逻辑点上。）</a:t>
            </a:r>
          </a:p>
          <a:p>
            <a:endParaRPr lang="en-US" altLang="zh-CN" dirty="0"/>
          </a:p>
        </p:txBody>
      </p:sp>
      <p:sp>
        <p:nvSpPr>
          <p:cNvPr id="4" name="灯片编号占位符 3">
            <a:extLst>
              <a:ext uri="{FF2B5EF4-FFF2-40B4-BE49-F238E27FC236}">
                <a16:creationId xmlns:a16="http://schemas.microsoft.com/office/drawing/2014/main" id="{32F4AC10-8614-2191-36E5-7929E25889C7}"/>
              </a:ext>
            </a:extLst>
          </p:cNvPr>
          <p:cNvSpPr>
            <a:spLocks noGrp="1"/>
          </p:cNvSpPr>
          <p:nvPr>
            <p:ph type="sldNum" sz="quarter" idx="5"/>
          </p:nvPr>
        </p:nvSpPr>
        <p:spPr/>
        <p:txBody>
          <a:bodyPr/>
          <a:lstStyle/>
          <a:p>
            <a:fld id="{96977E10-6855-184D-B35B-F428F789FE47}" type="slidenum">
              <a:rPr kumimoji="1" lang="zh-CN" altLang="en-US" smtClean="0"/>
              <a:t>14</a:t>
            </a:fld>
            <a:endParaRPr kumimoji="1" lang="zh-CN" altLang="en-US"/>
          </a:p>
        </p:txBody>
      </p:sp>
    </p:spTree>
    <p:extLst>
      <p:ext uri="{BB962C8B-B14F-4D97-AF65-F5344CB8AC3E}">
        <p14:creationId xmlns:p14="http://schemas.microsoft.com/office/powerpoint/2010/main" val="3273523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03A33-FBE3-D644-4A45-24E3DCC373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FD2CF3-D2E9-724C-97AE-67ADF85AB9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051D1A-F755-FB83-77E0-10BB0EAE470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EA148B48-3F25-608D-B708-08482C335495}"/>
              </a:ext>
            </a:extLst>
          </p:cNvPr>
          <p:cNvSpPr>
            <a:spLocks noGrp="1"/>
          </p:cNvSpPr>
          <p:nvPr>
            <p:ph type="sldNum" sz="quarter" idx="5"/>
          </p:nvPr>
        </p:nvSpPr>
        <p:spPr/>
        <p:txBody>
          <a:bodyPr/>
          <a:lstStyle/>
          <a:p>
            <a:fld id="{96977E10-6855-184D-B35B-F428F789FE47}" type="slidenum">
              <a:rPr kumimoji="1" lang="zh-CN" altLang="en-US" smtClean="0"/>
              <a:t>15</a:t>
            </a:fld>
            <a:endParaRPr kumimoji="1" lang="zh-CN" altLang="en-US"/>
          </a:p>
        </p:txBody>
      </p:sp>
    </p:spTree>
    <p:extLst>
      <p:ext uri="{BB962C8B-B14F-4D97-AF65-F5344CB8AC3E}">
        <p14:creationId xmlns:p14="http://schemas.microsoft.com/office/powerpoint/2010/main" val="2845664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8D494-A664-BE78-4A1F-AC4BD165B4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92EC9A-611F-C6EF-5BCE-9452E44E67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D84ABE-F663-0378-526D-2ECC25C3B770}"/>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05A3988C-4F83-B8A7-565F-E196B1A3E0BA}"/>
              </a:ext>
            </a:extLst>
          </p:cNvPr>
          <p:cNvSpPr>
            <a:spLocks noGrp="1"/>
          </p:cNvSpPr>
          <p:nvPr>
            <p:ph type="sldNum" sz="quarter" idx="5"/>
          </p:nvPr>
        </p:nvSpPr>
        <p:spPr/>
        <p:txBody>
          <a:bodyPr/>
          <a:lstStyle/>
          <a:p>
            <a:fld id="{96977E10-6855-184D-B35B-F428F789FE47}" type="slidenum">
              <a:rPr kumimoji="1" lang="zh-CN" altLang="en-US" smtClean="0"/>
              <a:t>16</a:t>
            </a:fld>
            <a:endParaRPr kumimoji="1" lang="zh-CN" altLang="en-US"/>
          </a:p>
        </p:txBody>
      </p:sp>
    </p:spTree>
    <p:extLst>
      <p:ext uri="{BB962C8B-B14F-4D97-AF65-F5344CB8AC3E}">
        <p14:creationId xmlns:p14="http://schemas.microsoft.com/office/powerpoint/2010/main" val="3615653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043F1-B394-6426-4E63-24F8E666B5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3AEAE3-CB18-9C36-FE6B-BDD3AABA65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517B32-1AC4-01C9-01FA-848299CDE8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a:extLst>
              <a:ext uri="{FF2B5EF4-FFF2-40B4-BE49-F238E27FC236}">
                <a16:creationId xmlns:a16="http://schemas.microsoft.com/office/drawing/2014/main" id="{F16556D8-14FA-6950-B3D1-E3E6F35E6180}"/>
              </a:ext>
            </a:extLst>
          </p:cNvPr>
          <p:cNvSpPr>
            <a:spLocks noGrp="1"/>
          </p:cNvSpPr>
          <p:nvPr>
            <p:ph type="sldNum" sz="quarter" idx="5"/>
          </p:nvPr>
        </p:nvSpPr>
        <p:spPr/>
        <p:txBody>
          <a:bodyPr/>
          <a:lstStyle/>
          <a:p>
            <a:fld id="{96977E10-6855-184D-B35B-F428F789FE47}" type="slidenum">
              <a:rPr kumimoji="1" lang="zh-CN" altLang="en-US" smtClean="0"/>
              <a:t>17</a:t>
            </a:fld>
            <a:endParaRPr kumimoji="1" lang="zh-CN" altLang="en-US"/>
          </a:p>
        </p:txBody>
      </p:sp>
    </p:spTree>
    <p:extLst>
      <p:ext uri="{BB962C8B-B14F-4D97-AF65-F5344CB8AC3E}">
        <p14:creationId xmlns:p14="http://schemas.microsoft.com/office/powerpoint/2010/main" val="35362527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394E34-A4E1-0A47-81AD-0FFDFACE2D27}"/>
              </a:ext>
            </a:extLst>
          </p:cNvPr>
          <p:cNvSpPr>
            <a:spLocks noGrp="1"/>
          </p:cNvSpPr>
          <p:nvPr>
            <p:ph type="ctrTitle" hasCustomPrompt="1"/>
          </p:nvPr>
        </p:nvSpPr>
        <p:spPr>
          <a:xfrm>
            <a:off x="0" y="2168639"/>
            <a:ext cx="12192000" cy="1936882"/>
          </a:xfrm>
          <a:noFill/>
        </p:spPr>
        <p:txBody>
          <a:bodyPr anchor="ctr">
            <a:normAutofit/>
          </a:bodyPr>
          <a:lstStyle>
            <a:lvl1pPr algn="ctr">
              <a:defRPr sz="4800" b="1" baseline="0">
                <a:solidFill>
                  <a:srgbClr val="C00000"/>
                </a:solidFill>
                <a:latin typeface="Noto Sans" panose="020B0502040504020204" pitchFamily="34" charset="0"/>
                <a:ea typeface="Noto Sans CJK SC" panose="020B0500000000000000" pitchFamily="34" charset="-122"/>
              </a:defRPr>
            </a:lvl1pPr>
          </a:lstStyle>
          <a:p>
            <a:r>
              <a:rPr kumimoji="1" lang="en-US" altLang="zh-CN" dirty="0"/>
              <a:t>Click to edit thesis title style</a:t>
            </a:r>
            <a:endParaRPr kumimoji="1" lang="zh-CN" altLang="en-US" dirty="0"/>
          </a:p>
        </p:txBody>
      </p:sp>
      <p:sp>
        <p:nvSpPr>
          <p:cNvPr id="4" name="日期占位符 3">
            <a:extLst>
              <a:ext uri="{FF2B5EF4-FFF2-40B4-BE49-F238E27FC236}">
                <a16:creationId xmlns:a16="http://schemas.microsoft.com/office/drawing/2014/main" id="{CF04E2E1-6F52-4247-B454-11914E0AE6B4}"/>
              </a:ext>
            </a:extLst>
          </p:cNvPr>
          <p:cNvSpPr>
            <a:spLocks noGrp="1"/>
          </p:cNvSpPr>
          <p:nvPr>
            <p:ph type="dt" sz="half" idx="10"/>
          </p:nvPr>
        </p:nvSpPr>
        <p:spPr/>
        <p:txBody>
          <a:bodyPr/>
          <a:lstStyle/>
          <a:p>
            <a:fld id="{94D87667-948B-4B5D-857A-C1426D142067}" type="datetime1">
              <a:rPr kumimoji="1" lang="en-US" altLang="zh-CN" smtClean="0"/>
              <a:t>12/10/25</a:t>
            </a:fld>
            <a:endParaRPr kumimoji="1" lang="zh-CN" altLang="en-US"/>
          </a:p>
        </p:txBody>
      </p:sp>
      <p:sp>
        <p:nvSpPr>
          <p:cNvPr id="5" name="页脚占位符 4">
            <a:extLst>
              <a:ext uri="{FF2B5EF4-FFF2-40B4-BE49-F238E27FC236}">
                <a16:creationId xmlns:a16="http://schemas.microsoft.com/office/drawing/2014/main" id="{F301D4FA-A75C-2F44-883E-4AC185027E0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F299D7-B793-0341-BA66-F6DDDC6B3353}"/>
              </a:ext>
            </a:extLst>
          </p:cNvPr>
          <p:cNvSpPr>
            <a:spLocks noGrp="1"/>
          </p:cNvSpPr>
          <p:nvPr>
            <p:ph type="sldNum" sz="quarter" idx="12"/>
          </p:nvPr>
        </p:nvSpPr>
        <p:spPr/>
        <p:txBody>
          <a:bodyPr/>
          <a:lstStyle/>
          <a:p>
            <a:fld id="{07B19D4B-9808-1A4C-B845-D9471D0CA790}" type="slidenum">
              <a:rPr kumimoji="1" lang="zh-CN" altLang="en-US" smtClean="0"/>
              <a:t>‹#›</a:t>
            </a:fld>
            <a:endParaRPr kumimoji="1" lang="zh-CN" altLang="en-US"/>
          </a:p>
        </p:txBody>
      </p:sp>
      <p:cxnSp>
        <p:nvCxnSpPr>
          <p:cNvPr id="19" name="Straight Connector 18">
            <a:extLst>
              <a:ext uri="{FF2B5EF4-FFF2-40B4-BE49-F238E27FC236}">
                <a16:creationId xmlns:a16="http://schemas.microsoft.com/office/drawing/2014/main" id="{807348DA-3C8B-894A-88C1-DD8DB3668BBF}"/>
              </a:ext>
            </a:extLst>
          </p:cNvPr>
          <p:cNvCxnSpPr>
            <a:cxnSpLocks/>
          </p:cNvCxnSpPr>
          <p:nvPr userDrawn="1"/>
        </p:nvCxnSpPr>
        <p:spPr>
          <a:xfrm>
            <a:off x="0" y="2152782"/>
            <a:ext cx="12192000" cy="0"/>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BC4B8A5C-1DD7-2741-8B92-2ABD8EAB5BB5}"/>
              </a:ext>
            </a:extLst>
          </p:cNvPr>
          <p:cNvCxnSpPr>
            <a:cxnSpLocks/>
          </p:cNvCxnSpPr>
          <p:nvPr userDrawn="1"/>
        </p:nvCxnSpPr>
        <p:spPr>
          <a:xfrm>
            <a:off x="0" y="4105521"/>
            <a:ext cx="12192000" cy="0"/>
          </a:xfrm>
          <a:prstGeom prst="line">
            <a:avLst/>
          </a:prstGeom>
          <a:ln w="12700"/>
        </p:spPr>
        <p:style>
          <a:lnRef idx="1">
            <a:schemeClr val="accent2"/>
          </a:lnRef>
          <a:fillRef idx="0">
            <a:schemeClr val="accent2"/>
          </a:fillRef>
          <a:effectRef idx="0">
            <a:schemeClr val="accent2"/>
          </a:effectRef>
          <a:fontRef idx="minor">
            <a:schemeClr val="tx1"/>
          </a:fontRef>
        </p:style>
      </p:cxnSp>
      <p:grpSp>
        <p:nvGrpSpPr>
          <p:cNvPr id="25" name="组合 24">
            <a:extLst>
              <a:ext uri="{FF2B5EF4-FFF2-40B4-BE49-F238E27FC236}">
                <a16:creationId xmlns:a16="http://schemas.microsoft.com/office/drawing/2014/main" id="{40F6F499-9268-48B1-0E1F-7474E513719E}"/>
              </a:ext>
            </a:extLst>
          </p:cNvPr>
          <p:cNvGrpSpPr/>
          <p:nvPr userDrawn="1"/>
        </p:nvGrpSpPr>
        <p:grpSpPr>
          <a:xfrm>
            <a:off x="2344895" y="163035"/>
            <a:ext cx="7502210" cy="702074"/>
            <a:chOff x="1710556" y="163035"/>
            <a:chExt cx="8770888" cy="820800"/>
          </a:xfrm>
        </p:grpSpPr>
        <p:pic>
          <p:nvPicPr>
            <p:cNvPr id="17" name="图形 16">
              <a:extLst>
                <a:ext uri="{FF2B5EF4-FFF2-40B4-BE49-F238E27FC236}">
                  <a16:creationId xmlns:a16="http://schemas.microsoft.com/office/drawing/2014/main" id="{89B545BD-DB44-DA80-F161-0D27802BED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10556" y="163035"/>
              <a:ext cx="3065676" cy="820800"/>
            </a:xfrm>
            <a:prstGeom prst="rect">
              <a:avLst/>
            </a:prstGeom>
          </p:spPr>
        </p:pic>
        <p:pic>
          <p:nvPicPr>
            <p:cNvPr id="24" name="图片 23">
              <a:extLst>
                <a:ext uri="{FF2B5EF4-FFF2-40B4-BE49-F238E27FC236}">
                  <a16:creationId xmlns:a16="http://schemas.microsoft.com/office/drawing/2014/main" id="{F64FA03D-454B-9320-C58F-1E11C182C9E6}"/>
                </a:ext>
              </a:extLst>
            </p:cNvPr>
            <p:cNvPicPr>
              <a:picLocks noChangeAspect="1"/>
            </p:cNvPicPr>
            <p:nvPr userDrawn="1"/>
          </p:nvPicPr>
          <p:blipFill>
            <a:blip r:embed="rId4"/>
            <a:stretch>
              <a:fillRect/>
            </a:stretch>
          </p:blipFill>
          <p:spPr>
            <a:xfrm>
              <a:off x="5061719" y="163860"/>
              <a:ext cx="5419725" cy="819150"/>
            </a:xfrm>
            <a:prstGeom prst="rect">
              <a:avLst/>
            </a:prstGeom>
          </p:spPr>
        </p:pic>
      </p:grpSp>
    </p:spTree>
    <p:extLst>
      <p:ext uri="{BB962C8B-B14F-4D97-AF65-F5344CB8AC3E}">
        <p14:creationId xmlns:p14="http://schemas.microsoft.com/office/powerpoint/2010/main" val="1855452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106A9A-4523-DB41-B2D8-8F07F5110EAB}"/>
              </a:ext>
            </a:extLst>
          </p:cNvPr>
          <p:cNvSpPr>
            <a:spLocks noGrp="1"/>
          </p:cNvSpPr>
          <p:nvPr>
            <p:ph type="title"/>
          </p:nvPr>
        </p:nvSpPr>
        <p:spPr>
          <a:xfrm>
            <a:off x="236033" y="136526"/>
            <a:ext cx="11561957" cy="878236"/>
          </a:xfrm>
        </p:spPr>
        <p:txBody>
          <a:bodyPr>
            <a:normAutofit/>
          </a:bodyPr>
          <a:lstStyle>
            <a:lvl1pPr>
              <a:defRPr sz="3200" b="1" baseline="0">
                <a:solidFill>
                  <a:srgbClr val="C00000"/>
                </a:solidFill>
                <a:latin typeface="Noto Sans" panose="020B0502040504020204" pitchFamily="34" charset="0"/>
                <a:ea typeface="Noto Sans CJK SC" panose="020B0500000000000000" pitchFamily="34" charset="-122"/>
              </a:defRPr>
            </a:lvl1pPr>
          </a:lstStyle>
          <a:p>
            <a:r>
              <a:rPr kumimoji="1" lang="en-US" altLang="zh-CN" dirty="0"/>
              <a:t>Click to edit Master title style</a:t>
            </a:r>
            <a:endParaRPr kumimoji="1" lang="zh-CN" altLang="en-US" dirty="0"/>
          </a:p>
        </p:txBody>
      </p:sp>
      <p:sp>
        <p:nvSpPr>
          <p:cNvPr id="3" name="内容占位符 2">
            <a:extLst>
              <a:ext uri="{FF2B5EF4-FFF2-40B4-BE49-F238E27FC236}">
                <a16:creationId xmlns:a16="http://schemas.microsoft.com/office/drawing/2014/main" id="{76300472-B359-3B42-A846-416180D84599}"/>
              </a:ext>
            </a:extLst>
          </p:cNvPr>
          <p:cNvSpPr>
            <a:spLocks noGrp="1"/>
          </p:cNvSpPr>
          <p:nvPr>
            <p:ph idx="1"/>
          </p:nvPr>
        </p:nvSpPr>
        <p:spPr>
          <a:xfrm>
            <a:off x="236033" y="1026272"/>
            <a:ext cx="11561956" cy="5318561"/>
          </a:xfrm>
        </p:spPr>
        <p:txBody>
          <a:bodyPr/>
          <a:lstStyle>
            <a:lvl1pPr indent="-300600">
              <a:lnSpc>
                <a:spcPct val="110000"/>
              </a:lnSpc>
              <a:buClr>
                <a:schemeClr val="accent2"/>
              </a:buClr>
              <a:defRPr sz="2400" baseline="0">
                <a:latin typeface="Noto Sans" panose="020B0502040504020204" pitchFamily="34" charset="0"/>
                <a:ea typeface="Noto Sans CJK SC" panose="020B0500000000000000" pitchFamily="34" charset="-122"/>
              </a:defRPr>
            </a:lvl1pPr>
            <a:lvl2pPr indent="-300600">
              <a:lnSpc>
                <a:spcPct val="110000"/>
              </a:lnSpc>
              <a:buClr>
                <a:schemeClr val="accent6"/>
              </a:buClr>
              <a:defRPr sz="2200" baseline="0">
                <a:latin typeface="Noto Sans" panose="020B0502040504020204" pitchFamily="34" charset="0"/>
                <a:ea typeface="Noto Sans CJK SC" panose="020B0500000000000000" pitchFamily="34" charset="-122"/>
              </a:defRPr>
            </a:lvl2pPr>
            <a:lvl3pPr>
              <a:lnSpc>
                <a:spcPct val="110000"/>
              </a:lnSpc>
              <a:defRPr sz="2000" baseline="0">
                <a:latin typeface="Noto Sans" panose="020B0502040504020204" pitchFamily="34" charset="0"/>
                <a:ea typeface="Noto Sans CJK SC" panose="020B0500000000000000" pitchFamily="34" charset="-122"/>
              </a:defRPr>
            </a:lvl3pPr>
            <a:lvl4pPr>
              <a:lnSpc>
                <a:spcPct val="110000"/>
              </a:lnSpc>
              <a:defRPr baseline="0">
                <a:latin typeface="Noto Sans" panose="020B0502040504020204" pitchFamily="34" charset="0"/>
                <a:ea typeface="Noto Sans CJK SC" panose="020B0500000000000000" pitchFamily="34" charset="-122"/>
              </a:defRPr>
            </a:lvl4pPr>
            <a:lvl5pPr>
              <a:lnSpc>
                <a:spcPct val="110000"/>
              </a:lnSpc>
              <a:defRPr baseline="0">
                <a:latin typeface="Noto Sans" panose="020B0502040504020204" pitchFamily="34" charset="0"/>
                <a:ea typeface="Noto Sans CJK SC" panose="020B0500000000000000" pitchFamily="34" charset="-122"/>
              </a:defRPr>
            </a:lvl5pPr>
          </a:lstStyle>
          <a:p>
            <a:pPr lvl="0"/>
            <a:r>
              <a:rPr kumimoji="1" lang="en-US" altLang="zh-CN" dirty="0"/>
              <a:t>Click to edit Master text styles</a:t>
            </a:r>
          </a:p>
          <a:p>
            <a:pPr lvl="1"/>
            <a:r>
              <a:rPr kumimoji="1" lang="en-US" altLang="zh-CN" dirty="0"/>
              <a:t>Second level</a:t>
            </a:r>
          </a:p>
          <a:p>
            <a:pPr lvl="2"/>
            <a:r>
              <a:rPr kumimoji="1" lang="en-US" altLang="zh-CN" dirty="0"/>
              <a:t>Third level</a:t>
            </a:r>
          </a:p>
          <a:p>
            <a:pPr lvl="3"/>
            <a:r>
              <a:rPr kumimoji="1" lang="en-US" altLang="zh-CN" dirty="0"/>
              <a:t>Fourth level</a:t>
            </a:r>
          </a:p>
          <a:p>
            <a:pPr lvl="4"/>
            <a:r>
              <a:rPr kumimoji="1" lang="en-US" altLang="zh-CN" dirty="0"/>
              <a:t>Fifth level</a:t>
            </a:r>
            <a:endParaRPr kumimoji="1" lang="zh-CN" altLang="en-US" dirty="0"/>
          </a:p>
        </p:txBody>
      </p:sp>
      <p:sp>
        <p:nvSpPr>
          <p:cNvPr id="4" name="日期占位符 3">
            <a:extLst>
              <a:ext uri="{FF2B5EF4-FFF2-40B4-BE49-F238E27FC236}">
                <a16:creationId xmlns:a16="http://schemas.microsoft.com/office/drawing/2014/main" id="{08D07A5A-91FF-494E-8D02-89709B05C2CA}"/>
              </a:ext>
            </a:extLst>
          </p:cNvPr>
          <p:cNvSpPr>
            <a:spLocks noGrp="1"/>
          </p:cNvSpPr>
          <p:nvPr>
            <p:ph type="dt" sz="half" idx="10"/>
          </p:nvPr>
        </p:nvSpPr>
        <p:spPr/>
        <p:txBody>
          <a:bodyPr/>
          <a:lstStyle/>
          <a:p>
            <a:fld id="{BB34C70F-3263-4CD6-B96C-7BC8652CFC42}" type="datetime1">
              <a:rPr kumimoji="1" lang="en-US" altLang="zh-CN" smtClean="0"/>
              <a:t>12/10/25</a:t>
            </a:fld>
            <a:endParaRPr kumimoji="1" lang="zh-CN" altLang="en-US"/>
          </a:p>
        </p:txBody>
      </p:sp>
      <p:sp>
        <p:nvSpPr>
          <p:cNvPr id="5" name="页脚占位符 4">
            <a:extLst>
              <a:ext uri="{FF2B5EF4-FFF2-40B4-BE49-F238E27FC236}">
                <a16:creationId xmlns:a16="http://schemas.microsoft.com/office/drawing/2014/main" id="{E5CC6612-37BE-814F-ACA0-AE4950C232DB}"/>
              </a:ext>
            </a:extLst>
          </p:cNvPr>
          <p:cNvSpPr>
            <a:spLocks noGrp="1"/>
          </p:cNvSpPr>
          <p:nvPr>
            <p:ph type="ftr" sz="quarter" idx="11"/>
          </p:nvPr>
        </p:nvSpPr>
        <p:spPr>
          <a:xfrm>
            <a:off x="3947714" y="6367861"/>
            <a:ext cx="4114800" cy="365125"/>
          </a:xfrm>
        </p:spPr>
        <p:txBody>
          <a:bodyPr/>
          <a:lstStyle/>
          <a:p>
            <a:endParaRPr kumimoji="1" lang="zh-CN" altLang="en-US"/>
          </a:p>
        </p:txBody>
      </p:sp>
      <p:sp>
        <p:nvSpPr>
          <p:cNvPr id="6" name="灯片编号占位符 5">
            <a:extLst>
              <a:ext uri="{FF2B5EF4-FFF2-40B4-BE49-F238E27FC236}">
                <a16:creationId xmlns:a16="http://schemas.microsoft.com/office/drawing/2014/main" id="{47C18CA8-FF2C-BF49-A4D6-34924DCA1F4A}"/>
              </a:ext>
            </a:extLst>
          </p:cNvPr>
          <p:cNvSpPr>
            <a:spLocks noGrp="1"/>
          </p:cNvSpPr>
          <p:nvPr>
            <p:ph type="sldNum" sz="quarter" idx="12"/>
          </p:nvPr>
        </p:nvSpPr>
        <p:spPr>
          <a:xfrm>
            <a:off x="9030994" y="6367862"/>
            <a:ext cx="2743200" cy="365125"/>
          </a:xfrm>
        </p:spPr>
        <p:txBody>
          <a:bodyPr/>
          <a:lstStyle/>
          <a:p>
            <a:fld id="{07B19D4B-9808-1A4C-B845-D9471D0CA790}" type="slidenum">
              <a:rPr kumimoji="1" lang="zh-CN" altLang="en-US" smtClean="0"/>
              <a:t>‹#›</a:t>
            </a:fld>
            <a:endParaRPr kumimoji="1" lang="zh-CN" altLang="en-US"/>
          </a:p>
        </p:txBody>
      </p:sp>
      <p:cxnSp>
        <p:nvCxnSpPr>
          <p:cNvPr id="7" name="Straight Connector 6">
            <a:extLst>
              <a:ext uri="{FF2B5EF4-FFF2-40B4-BE49-F238E27FC236}">
                <a16:creationId xmlns:a16="http://schemas.microsoft.com/office/drawing/2014/main" id="{E619EE58-A2B4-1D47-95D9-98F374F7B60B}"/>
              </a:ext>
            </a:extLst>
          </p:cNvPr>
          <p:cNvCxnSpPr>
            <a:cxnSpLocks/>
          </p:cNvCxnSpPr>
          <p:nvPr userDrawn="1"/>
        </p:nvCxnSpPr>
        <p:spPr>
          <a:xfrm>
            <a:off x="236032" y="1014761"/>
            <a:ext cx="11561958"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F0D88BD-6E18-6246-8AF7-B21FB95FBB25}"/>
              </a:ext>
            </a:extLst>
          </p:cNvPr>
          <p:cNvCxnSpPr>
            <a:cxnSpLocks/>
          </p:cNvCxnSpPr>
          <p:nvPr userDrawn="1"/>
        </p:nvCxnSpPr>
        <p:spPr>
          <a:xfrm>
            <a:off x="236032" y="6356349"/>
            <a:ext cx="11561957"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7729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结束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394E34-A4E1-0A47-81AD-0FFDFACE2D27}"/>
              </a:ext>
            </a:extLst>
          </p:cNvPr>
          <p:cNvSpPr>
            <a:spLocks noGrp="1"/>
          </p:cNvSpPr>
          <p:nvPr>
            <p:ph type="ctrTitle"/>
          </p:nvPr>
        </p:nvSpPr>
        <p:spPr>
          <a:xfrm>
            <a:off x="0" y="2205243"/>
            <a:ext cx="12192000" cy="1936882"/>
          </a:xfrm>
          <a:noFill/>
        </p:spPr>
        <p:txBody>
          <a:bodyPr anchor="ctr">
            <a:normAutofit/>
          </a:bodyPr>
          <a:lstStyle>
            <a:lvl1pPr algn="ctr">
              <a:defRPr sz="4800" b="1" baseline="0">
                <a:solidFill>
                  <a:srgbClr val="C00000"/>
                </a:solidFill>
                <a:latin typeface="Noto Sans" panose="020B0502040504020204" pitchFamily="34" charset="0"/>
                <a:ea typeface="Noto Sans CJK SC" panose="020B0500000000000000" pitchFamily="34" charset="-122"/>
              </a:defRPr>
            </a:lvl1pPr>
          </a:lstStyle>
          <a:p>
            <a:r>
              <a:rPr kumimoji="1" lang="en-US" altLang="zh-CN" dirty="0"/>
              <a:t>Click to edit Master title style</a:t>
            </a:r>
            <a:endParaRPr kumimoji="1" lang="zh-CN" altLang="en-US" dirty="0"/>
          </a:p>
        </p:txBody>
      </p:sp>
      <p:sp>
        <p:nvSpPr>
          <p:cNvPr id="4" name="日期占位符 3">
            <a:extLst>
              <a:ext uri="{FF2B5EF4-FFF2-40B4-BE49-F238E27FC236}">
                <a16:creationId xmlns:a16="http://schemas.microsoft.com/office/drawing/2014/main" id="{CF04E2E1-6F52-4247-B454-11914E0AE6B4}"/>
              </a:ext>
            </a:extLst>
          </p:cNvPr>
          <p:cNvSpPr>
            <a:spLocks noGrp="1"/>
          </p:cNvSpPr>
          <p:nvPr>
            <p:ph type="dt" sz="half" idx="10"/>
          </p:nvPr>
        </p:nvSpPr>
        <p:spPr/>
        <p:txBody>
          <a:bodyPr/>
          <a:lstStyle/>
          <a:p>
            <a:fld id="{94D87667-948B-4B5D-857A-C1426D142067}" type="datetime1">
              <a:rPr kumimoji="1" lang="en-US" altLang="zh-CN" smtClean="0"/>
              <a:t>12/10/25</a:t>
            </a:fld>
            <a:endParaRPr kumimoji="1" lang="zh-CN" altLang="en-US"/>
          </a:p>
        </p:txBody>
      </p:sp>
      <p:sp>
        <p:nvSpPr>
          <p:cNvPr id="5" name="页脚占位符 4">
            <a:extLst>
              <a:ext uri="{FF2B5EF4-FFF2-40B4-BE49-F238E27FC236}">
                <a16:creationId xmlns:a16="http://schemas.microsoft.com/office/drawing/2014/main" id="{F301D4FA-A75C-2F44-883E-4AC185027E0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F299D7-B793-0341-BA66-F6DDDC6B3353}"/>
              </a:ext>
            </a:extLst>
          </p:cNvPr>
          <p:cNvSpPr>
            <a:spLocks noGrp="1"/>
          </p:cNvSpPr>
          <p:nvPr>
            <p:ph type="sldNum" sz="quarter" idx="12"/>
          </p:nvPr>
        </p:nvSpPr>
        <p:spPr/>
        <p:txBody>
          <a:bodyPr/>
          <a:lstStyle/>
          <a:p>
            <a:fld id="{07B19D4B-9808-1A4C-B845-D9471D0CA790}" type="slidenum">
              <a:rPr kumimoji="1" lang="zh-CN" altLang="en-US" smtClean="0"/>
              <a:t>‹#›</a:t>
            </a:fld>
            <a:endParaRPr kumimoji="1" lang="zh-CN" altLang="en-US"/>
          </a:p>
        </p:txBody>
      </p:sp>
      <p:grpSp>
        <p:nvGrpSpPr>
          <p:cNvPr id="25" name="组合 24">
            <a:extLst>
              <a:ext uri="{FF2B5EF4-FFF2-40B4-BE49-F238E27FC236}">
                <a16:creationId xmlns:a16="http://schemas.microsoft.com/office/drawing/2014/main" id="{40F6F499-9268-48B1-0E1F-7474E513719E}"/>
              </a:ext>
            </a:extLst>
          </p:cNvPr>
          <p:cNvGrpSpPr/>
          <p:nvPr userDrawn="1"/>
        </p:nvGrpSpPr>
        <p:grpSpPr>
          <a:xfrm>
            <a:off x="2344895" y="163035"/>
            <a:ext cx="7502210" cy="702074"/>
            <a:chOff x="1710556" y="163035"/>
            <a:chExt cx="8770888" cy="820800"/>
          </a:xfrm>
        </p:grpSpPr>
        <p:pic>
          <p:nvPicPr>
            <p:cNvPr id="17" name="图形 16">
              <a:extLst>
                <a:ext uri="{FF2B5EF4-FFF2-40B4-BE49-F238E27FC236}">
                  <a16:creationId xmlns:a16="http://schemas.microsoft.com/office/drawing/2014/main" id="{89B545BD-DB44-DA80-F161-0D27802BED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10556" y="163035"/>
              <a:ext cx="3065676" cy="820800"/>
            </a:xfrm>
            <a:prstGeom prst="rect">
              <a:avLst/>
            </a:prstGeom>
          </p:spPr>
        </p:pic>
        <p:pic>
          <p:nvPicPr>
            <p:cNvPr id="24" name="图片 23">
              <a:extLst>
                <a:ext uri="{FF2B5EF4-FFF2-40B4-BE49-F238E27FC236}">
                  <a16:creationId xmlns:a16="http://schemas.microsoft.com/office/drawing/2014/main" id="{F64FA03D-454B-9320-C58F-1E11C182C9E6}"/>
                </a:ext>
              </a:extLst>
            </p:cNvPr>
            <p:cNvPicPr>
              <a:picLocks noChangeAspect="1"/>
            </p:cNvPicPr>
            <p:nvPr userDrawn="1"/>
          </p:nvPicPr>
          <p:blipFill>
            <a:blip r:embed="rId4"/>
            <a:stretch>
              <a:fillRect/>
            </a:stretch>
          </p:blipFill>
          <p:spPr>
            <a:xfrm>
              <a:off x="5061719" y="163860"/>
              <a:ext cx="5419725" cy="819150"/>
            </a:xfrm>
            <a:prstGeom prst="rect">
              <a:avLst/>
            </a:prstGeom>
          </p:spPr>
        </p:pic>
      </p:grpSp>
    </p:spTree>
    <p:extLst>
      <p:ext uri="{BB962C8B-B14F-4D97-AF65-F5344CB8AC3E}">
        <p14:creationId xmlns:p14="http://schemas.microsoft.com/office/powerpoint/2010/main" val="811810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2B0DFF1-1291-DE47-8F2C-1E391F2D6661}"/>
              </a:ext>
            </a:extLst>
          </p:cNvPr>
          <p:cNvSpPr>
            <a:spLocks noGrp="1"/>
          </p:cNvSpPr>
          <p:nvPr>
            <p:ph type="title"/>
          </p:nvPr>
        </p:nvSpPr>
        <p:spPr>
          <a:xfrm>
            <a:off x="236033" y="136525"/>
            <a:ext cx="11117765" cy="103435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CEAAFEB-AE17-2F4B-AE1E-FEE09F451349}"/>
              </a:ext>
            </a:extLst>
          </p:cNvPr>
          <p:cNvSpPr>
            <a:spLocks noGrp="1"/>
          </p:cNvSpPr>
          <p:nvPr>
            <p:ph type="body" idx="1"/>
          </p:nvPr>
        </p:nvSpPr>
        <p:spPr>
          <a:xfrm>
            <a:off x="236033" y="1362731"/>
            <a:ext cx="11117764"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69475FE-666F-8749-974E-F6CE0EDFA06E}"/>
              </a:ext>
            </a:extLst>
          </p:cNvPr>
          <p:cNvSpPr>
            <a:spLocks noGrp="1"/>
          </p:cNvSpPr>
          <p:nvPr>
            <p:ph type="dt" sz="half" idx="2"/>
          </p:nvPr>
        </p:nvSpPr>
        <p:spPr>
          <a:xfrm>
            <a:off x="236034" y="6356349"/>
            <a:ext cx="2743200" cy="365125"/>
          </a:xfrm>
          <a:prstGeom prst="rect">
            <a:avLst/>
          </a:prstGeom>
        </p:spPr>
        <p:txBody>
          <a:bodyPr vert="horz" lIns="91440" tIns="45720" rIns="91440" bIns="45720" rtlCol="0" anchor="ctr"/>
          <a:lstStyle>
            <a:lvl1pPr algn="l">
              <a:defRPr sz="1200" baseline="0">
                <a:solidFill>
                  <a:schemeClr val="tx1">
                    <a:tint val="75000"/>
                  </a:schemeClr>
                </a:solidFill>
                <a:latin typeface="Arial Unicode MS" panose="020B0604020202020204" pitchFamily="34" charset="-128"/>
                <a:ea typeface="黑体" panose="02010609060101010101" pitchFamily="49" charset="-122"/>
              </a:defRPr>
            </a:lvl1pPr>
          </a:lstStyle>
          <a:p>
            <a:fld id="{AAF4E1C2-A3E4-429C-9E3F-465F66A51149}" type="datetime1">
              <a:rPr kumimoji="1" lang="en-US" altLang="zh-CN" smtClean="0"/>
              <a:t>12/10/25</a:t>
            </a:fld>
            <a:endParaRPr kumimoji="1" lang="zh-CN" altLang="en-US"/>
          </a:p>
        </p:txBody>
      </p:sp>
      <p:sp>
        <p:nvSpPr>
          <p:cNvPr id="5" name="页脚占位符 4">
            <a:extLst>
              <a:ext uri="{FF2B5EF4-FFF2-40B4-BE49-F238E27FC236}">
                <a16:creationId xmlns:a16="http://schemas.microsoft.com/office/drawing/2014/main" id="{D5E43BA4-0202-9344-9BD6-F0D7117826F0}"/>
              </a:ext>
            </a:extLst>
          </p:cNvPr>
          <p:cNvSpPr>
            <a:spLocks noGrp="1"/>
          </p:cNvSpPr>
          <p:nvPr>
            <p:ph type="ftr" sz="quarter" idx="3"/>
          </p:nvPr>
        </p:nvSpPr>
        <p:spPr>
          <a:xfrm>
            <a:off x="3737516" y="6356349"/>
            <a:ext cx="4114800" cy="365125"/>
          </a:xfrm>
          <a:prstGeom prst="rect">
            <a:avLst/>
          </a:prstGeom>
        </p:spPr>
        <p:txBody>
          <a:bodyPr vert="horz" lIns="91440" tIns="45720" rIns="91440" bIns="45720" rtlCol="0" anchor="ctr"/>
          <a:lstStyle>
            <a:lvl1pPr algn="ctr">
              <a:defRPr sz="1200" baseline="0">
                <a:solidFill>
                  <a:schemeClr val="tx1">
                    <a:tint val="75000"/>
                  </a:schemeClr>
                </a:solidFill>
                <a:latin typeface="Arial Unicode MS" panose="020B0604020202020204" pitchFamily="34" charset="-128"/>
                <a:ea typeface="黑体" panose="02010609060101010101" pitchFamily="49" charset="-122"/>
              </a:defRPr>
            </a:lvl1pPr>
          </a:lstStyle>
          <a:p>
            <a:endParaRPr kumimoji="1" lang="zh-CN" altLang="en-US"/>
          </a:p>
        </p:txBody>
      </p:sp>
      <p:sp>
        <p:nvSpPr>
          <p:cNvPr id="6" name="灯片编号占位符 5">
            <a:extLst>
              <a:ext uri="{FF2B5EF4-FFF2-40B4-BE49-F238E27FC236}">
                <a16:creationId xmlns:a16="http://schemas.microsoft.com/office/drawing/2014/main" id="{4E7E7285-2177-D44F-9A26-A9580302A1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B19D4B-9808-1A4C-B845-D9471D0CA790}" type="slidenum">
              <a:rPr kumimoji="1" lang="zh-CN" altLang="en-US" smtClean="0"/>
              <a:t>‹#›</a:t>
            </a:fld>
            <a:endParaRPr kumimoji="1" lang="zh-CN" altLang="en-US"/>
          </a:p>
        </p:txBody>
      </p:sp>
    </p:spTree>
    <p:extLst>
      <p:ext uri="{BB962C8B-B14F-4D97-AF65-F5344CB8AC3E}">
        <p14:creationId xmlns:p14="http://schemas.microsoft.com/office/powerpoint/2010/main" val="2981001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Lst>
  <p:hf hdr="0" ftr="0" dt="0"/>
  <p:txStyles>
    <p:titleStyle>
      <a:lvl1pPr algn="l" defTabSz="914400" rtl="0" eaLnBrk="1" latinLnBrk="0" hangingPunct="1">
        <a:lnSpc>
          <a:spcPct val="90000"/>
        </a:lnSpc>
        <a:spcBef>
          <a:spcPct val="0"/>
        </a:spcBef>
        <a:buNone/>
        <a:defRPr sz="3600" kern="1200" baseline="0">
          <a:solidFill>
            <a:schemeClr val="tx1"/>
          </a:solidFill>
          <a:latin typeface="Arial Unicode MS" panose="020B0604020202020204" pitchFamily="34" charset="-128"/>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800" kern="1200" baseline="0">
          <a:solidFill>
            <a:schemeClr val="tx1"/>
          </a:solidFill>
          <a:latin typeface="Arial Unicode MS" panose="020B0604020202020204" pitchFamily="34" charset="-128"/>
          <a:ea typeface="黑体" panose="02010609060101010101" pitchFamily="49" charset="-122"/>
          <a:cs typeface="+mn-cs"/>
        </a:defRPr>
      </a:lvl1pPr>
      <a:lvl2pPr marL="685800" indent="-228600" algn="l" defTabSz="914400" rtl="0" eaLnBrk="1" latinLnBrk="0" hangingPunct="1">
        <a:lnSpc>
          <a:spcPct val="90000"/>
        </a:lnSpc>
        <a:spcBef>
          <a:spcPts val="500"/>
        </a:spcBef>
        <a:buFont typeface="Wingdings" pitchFamily="2" charset="2"/>
        <a:buChar char="Ø"/>
        <a:defRPr sz="2400" kern="1200" baseline="0">
          <a:solidFill>
            <a:schemeClr val="tx1"/>
          </a:solidFill>
          <a:latin typeface="Arial Unicode MS" panose="020B0604020202020204" pitchFamily="34" charset="-128"/>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Arial Unicode MS" panose="020B0604020202020204" pitchFamily="34" charset="-128"/>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Unicode MS" panose="020B0604020202020204" pitchFamily="34" charset="-128"/>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Unicode MS" panose="020B0604020202020204" pitchFamily="34" charset="-128"/>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7E89A815-281D-7EB0-BE02-A896DFB0F90C}"/>
              </a:ext>
            </a:extLst>
          </p:cNvPr>
          <p:cNvSpPr>
            <a:spLocks noGrp="1"/>
          </p:cNvSpPr>
          <p:nvPr>
            <p:ph type="ctrTitle"/>
          </p:nvPr>
        </p:nvSpPr>
        <p:spPr/>
        <p:txBody>
          <a:bodyPr>
            <a:noAutofit/>
          </a:bodyPr>
          <a:lstStyle/>
          <a:p>
            <a:r>
              <a:rPr kumimoji="1" lang="en-US" altLang="zh-CN" sz="3200" dirty="0">
                <a:cs typeface="+mn-cs"/>
              </a:rPr>
              <a:t>Research and Implementation of Key Technology in </a:t>
            </a:r>
            <a:br>
              <a:rPr kumimoji="1" lang="en-US" altLang="zh-CN" sz="3200" dirty="0">
                <a:cs typeface="+mn-cs"/>
              </a:rPr>
            </a:br>
            <a:r>
              <a:rPr kumimoji="1" lang="en-US" altLang="zh-CN" sz="3200" dirty="0">
                <a:cs typeface="+mn-cs"/>
              </a:rPr>
              <a:t>Multi-FPGA Hardware Emulation</a:t>
            </a:r>
            <a:br>
              <a:rPr kumimoji="1" lang="en-US" altLang="zh-CN" sz="3200" dirty="0">
                <a:cs typeface="+mn-cs"/>
              </a:rPr>
            </a:br>
            <a:r>
              <a:rPr kumimoji="1" lang="zh-CN" altLang="en-US" sz="3200" dirty="0">
                <a:cs typeface="+mn-cs"/>
              </a:rPr>
              <a:t>多</a:t>
            </a:r>
            <a:r>
              <a:rPr kumimoji="1" lang="en-US" altLang="zh-CN" sz="3200" dirty="0">
                <a:cs typeface="+mn-cs"/>
              </a:rPr>
              <a:t>FPGA</a:t>
            </a:r>
            <a:r>
              <a:rPr kumimoji="1" lang="zh-CN" altLang="en-US" sz="3200" dirty="0">
                <a:cs typeface="+mn-cs"/>
              </a:rPr>
              <a:t>硬件仿真关键技术研究与实现</a:t>
            </a:r>
          </a:p>
        </p:txBody>
      </p:sp>
      <p:sp>
        <p:nvSpPr>
          <p:cNvPr id="5" name="文本框 4">
            <a:extLst>
              <a:ext uri="{FF2B5EF4-FFF2-40B4-BE49-F238E27FC236}">
                <a16:creationId xmlns:a16="http://schemas.microsoft.com/office/drawing/2014/main" id="{BDE7984E-F309-04BD-1011-33A86C05AAB8}"/>
              </a:ext>
            </a:extLst>
          </p:cNvPr>
          <p:cNvSpPr txBox="1"/>
          <p:nvPr/>
        </p:nvSpPr>
        <p:spPr>
          <a:xfrm>
            <a:off x="5434598" y="6304001"/>
            <a:ext cx="1322798" cy="369332"/>
          </a:xfrm>
          <a:prstGeom prst="rect">
            <a:avLst/>
          </a:prstGeom>
          <a:noFill/>
        </p:spPr>
        <p:txBody>
          <a:bodyPr wrap="none" rtlCol="0">
            <a:spAutoFit/>
          </a:bodyPr>
          <a:lstStyle/>
          <a:p>
            <a:r>
              <a:rPr lang="en-US" altLang="zh-CN" dirty="0">
                <a:latin typeface="Noto Sans" panose="020B0502040504020204" pitchFamily="34" charset="0"/>
                <a:ea typeface="Noto Sans CJK SC" panose="020B0500000000000000" pitchFamily="34" charset="-122"/>
              </a:rPr>
              <a:t>2025.12.10</a:t>
            </a:r>
            <a:endParaRPr lang="zh-CN" altLang="en-US" dirty="0">
              <a:latin typeface="Noto Sans" panose="020B0502040504020204" pitchFamily="34" charset="0"/>
              <a:ea typeface="Noto Sans CJK SC" panose="020B0500000000000000" pitchFamily="34" charset="-122"/>
            </a:endParaRPr>
          </a:p>
        </p:txBody>
      </p:sp>
      <p:graphicFrame>
        <p:nvGraphicFramePr>
          <p:cNvPr id="9" name="表格 8">
            <a:extLst>
              <a:ext uri="{FF2B5EF4-FFF2-40B4-BE49-F238E27FC236}">
                <a16:creationId xmlns:a16="http://schemas.microsoft.com/office/drawing/2014/main" id="{8EE4F672-4FB0-DA03-8B3A-C56252FA1124}"/>
              </a:ext>
            </a:extLst>
          </p:cNvPr>
          <p:cNvGraphicFramePr>
            <a:graphicFrameLocks noGrp="1"/>
          </p:cNvGraphicFramePr>
          <p:nvPr>
            <p:extLst>
              <p:ext uri="{D42A27DB-BD31-4B8C-83A1-F6EECF244321}">
                <p14:modId xmlns:p14="http://schemas.microsoft.com/office/powerpoint/2010/main" val="1185780886"/>
              </p:ext>
            </p:extLst>
          </p:nvPr>
        </p:nvGraphicFramePr>
        <p:xfrm>
          <a:off x="1581354" y="4518961"/>
          <a:ext cx="9029286" cy="1371600"/>
        </p:xfrm>
        <a:graphic>
          <a:graphicData uri="http://schemas.openxmlformats.org/drawingml/2006/table">
            <a:tbl>
              <a:tblPr firstRow="1" bandRow="1">
                <a:effectLst/>
                <a:tableStyleId>{5C22544A-7EE6-4342-B048-85BDC9FD1C3A}</a:tableStyleId>
              </a:tblPr>
              <a:tblGrid>
                <a:gridCol w="3009762">
                  <a:extLst>
                    <a:ext uri="{9D8B030D-6E8A-4147-A177-3AD203B41FA5}">
                      <a16:colId xmlns:a16="http://schemas.microsoft.com/office/drawing/2014/main" val="3776854773"/>
                    </a:ext>
                  </a:extLst>
                </a:gridCol>
                <a:gridCol w="3009762">
                  <a:extLst>
                    <a:ext uri="{9D8B030D-6E8A-4147-A177-3AD203B41FA5}">
                      <a16:colId xmlns:a16="http://schemas.microsoft.com/office/drawing/2014/main" val="2475322704"/>
                    </a:ext>
                  </a:extLst>
                </a:gridCol>
                <a:gridCol w="3009762">
                  <a:extLst>
                    <a:ext uri="{9D8B030D-6E8A-4147-A177-3AD203B41FA5}">
                      <a16:colId xmlns:a16="http://schemas.microsoft.com/office/drawing/2014/main" val="1751818527"/>
                    </a:ext>
                  </a:extLst>
                </a:gridCol>
              </a:tblGrid>
              <a:tr h="370840">
                <a:tc>
                  <a:txBody>
                    <a:bodyPr/>
                    <a:lstStyle/>
                    <a:p>
                      <a:pPr algn="r"/>
                      <a:r>
                        <a:rPr lang="en-US" altLang="zh-CN" sz="2400" b="0" dirty="0">
                          <a:solidFill>
                            <a:schemeClr val="tx1"/>
                          </a:solidFill>
                          <a:effectLst/>
                          <a:latin typeface="+mn-lt"/>
                          <a:ea typeface="Noto Sans CJK SC" panose="020B0500000000000000" pitchFamily="34" charset="-122"/>
                        </a:rPr>
                        <a:t>Student</a:t>
                      </a:r>
                      <a:r>
                        <a:rPr lang="zh-CN" altLang="en-US" sz="2400" b="0" dirty="0">
                          <a:solidFill>
                            <a:schemeClr val="tx1"/>
                          </a:solidFill>
                          <a:effectLst/>
                          <a:latin typeface="+mn-lt"/>
                          <a:ea typeface="Noto Sans CJK SC" panose="020B0500000000000000" pitchFamily="34" charset="-122"/>
                        </a:rPr>
                        <a:t>：</a:t>
                      </a:r>
                      <a:endParaRPr lang="en-US" altLang="zh-CN" sz="2400" b="0" dirty="0">
                        <a:solidFill>
                          <a:schemeClr val="tx1"/>
                        </a:solidFill>
                        <a:effectLst/>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mn-lt"/>
                          <a:ea typeface="Noto Sans CJK SC" panose="020B0500000000000000" pitchFamily="34" charset="-122"/>
                        </a:rPr>
                        <a:t>Hu</a:t>
                      </a:r>
                      <a:r>
                        <a:rPr lang="zh-CN" altLang="en-US" sz="2400" b="0" dirty="0">
                          <a:solidFill>
                            <a:schemeClr val="tx1"/>
                          </a:solidFill>
                          <a:effectLst/>
                          <a:latin typeface="+mn-lt"/>
                          <a:ea typeface="Noto Sans CJK SC" panose="020B0500000000000000" pitchFamily="34" charset="-122"/>
                        </a:rPr>
                        <a:t> </a:t>
                      </a:r>
                      <a:r>
                        <a:rPr lang="en-US" altLang="zh-CN" sz="2400" b="0" dirty="0">
                          <a:solidFill>
                            <a:schemeClr val="tx1"/>
                          </a:solidFill>
                          <a:effectLst/>
                          <a:latin typeface="+mn-lt"/>
                          <a:ea typeface="Noto Sans CJK SC" panose="020B0500000000000000" pitchFamily="34" charset="-122"/>
                        </a:rPr>
                        <a:t>Guanghui</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baseline="0" dirty="0">
                          <a:solidFill>
                            <a:schemeClr val="tx1"/>
                          </a:solidFill>
                          <a:effectLst/>
                          <a:latin typeface="+mn-lt"/>
                          <a:ea typeface="Noto Sans CJK SC" panose="020B0500000000000000" pitchFamily="34" charset="-122"/>
                        </a:rPr>
                        <a:t>2024234318</a:t>
                      </a:r>
                      <a:endParaRPr lang="zh-CN" altLang="en-US" sz="2400" b="0" baseline="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003493"/>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mn-lt"/>
                          <a:ea typeface="Noto Sans CJK SC" panose="020B0500000000000000" pitchFamily="34" charset="-122"/>
                        </a:rPr>
                        <a:t>Academic mentor</a:t>
                      </a:r>
                      <a:r>
                        <a:rPr lang="zh-CN" altLang="en-US" sz="2400" b="0" dirty="0">
                          <a:solidFill>
                            <a:schemeClr val="tx1"/>
                          </a:solidFill>
                          <a:effectLst/>
                          <a:latin typeface="+mn-lt"/>
                          <a:ea typeface="Noto Sans CJK SC" panose="020B0500000000000000" pitchFamily="34" charset="-122"/>
                        </a:rPr>
                        <a:t>：</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mn-lt"/>
                          <a:ea typeface="Noto Sans CJK SC" panose="020B0500000000000000" pitchFamily="34" charset="-122"/>
                        </a:rPr>
                        <a:t>Ha</a:t>
                      </a:r>
                      <a:r>
                        <a:rPr lang="zh-CN" altLang="en-US" sz="2400" b="0" dirty="0">
                          <a:solidFill>
                            <a:schemeClr val="tx1"/>
                          </a:solidFill>
                          <a:effectLst/>
                          <a:latin typeface="+mn-lt"/>
                          <a:ea typeface="Noto Sans CJK SC" panose="020B0500000000000000" pitchFamily="34" charset="-122"/>
                        </a:rPr>
                        <a:t> </a:t>
                      </a:r>
                      <a:r>
                        <a:rPr lang="en-US" altLang="zh-CN" sz="2400" b="0" dirty="0" err="1">
                          <a:solidFill>
                            <a:schemeClr val="tx1"/>
                          </a:solidFill>
                          <a:effectLst/>
                          <a:latin typeface="+mn-lt"/>
                          <a:ea typeface="Noto Sans CJK SC" panose="020B0500000000000000" pitchFamily="34" charset="-122"/>
                        </a:rPr>
                        <a:t>Yajun</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mn-lt"/>
                          <a:ea typeface="Noto Sans CJK SC" panose="020B0500000000000000" pitchFamily="34" charset="-122"/>
                        </a:rPr>
                        <a:t>Professor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997686"/>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mn-lt"/>
                          <a:ea typeface="Noto Sans CJK SC" panose="020B0500000000000000" pitchFamily="34" charset="-122"/>
                        </a:rPr>
                        <a:t>Enterprise mentor</a:t>
                      </a:r>
                      <a:r>
                        <a:rPr lang="zh-CN" altLang="en-US" sz="2400" b="0" dirty="0">
                          <a:solidFill>
                            <a:schemeClr val="tx1"/>
                          </a:solidFill>
                          <a:effectLst/>
                          <a:latin typeface="+mn-lt"/>
                          <a:ea typeface="Noto Sans CJK SC" panose="020B0500000000000000" pitchFamily="34" charset="-122"/>
                        </a:rPr>
                        <a:t>：</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mn-lt"/>
                          <a:ea typeface="Noto Sans CJK SC" panose="020B0500000000000000" pitchFamily="34" charset="-122"/>
                        </a:rPr>
                        <a:t>Zhang</a:t>
                      </a:r>
                      <a:r>
                        <a:rPr lang="zh-CN" altLang="en-US" sz="2400" b="0" dirty="0">
                          <a:solidFill>
                            <a:schemeClr val="tx1"/>
                          </a:solidFill>
                          <a:effectLst/>
                          <a:latin typeface="+mn-lt"/>
                          <a:ea typeface="Noto Sans CJK SC" panose="020B0500000000000000" pitchFamily="34" charset="-122"/>
                        </a:rPr>
                        <a:t> </a:t>
                      </a:r>
                      <a:r>
                        <a:rPr lang="en-US" altLang="zh-CN" sz="2400" b="0" dirty="0">
                          <a:solidFill>
                            <a:schemeClr val="tx1"/>
                          </a:solidFill>
                          <a:effectLst/>
                          <a:latin typeface="+mn-lt"/>
                          <a:ea typeface="Noto Sans CJK SC" panose="020B0500000000000000" pitchFamily="34" charset="-122"/>
                        </a:rPr>
                        <a:t>Ke</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mn-lt"/>
                          <a:ea typeface="Noto Sans CJK SC" panose="020B0500000000000000" pitchFamily="34" charset="-122"/>
                        </a:rPr>
                        <a:t>Professor</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9195710"/>
                  </a:ext>
                </a:extLst>
              </a:tr>
            </a:tbl>
          </a:graphicData>
        </a:graphic>
      </p:graphicFrame>
      <p:sp>
        <p:nvSpPr>
          <p:cNvPr id="10" name="文本框 9">
            <a:extLst>
              <a:ext uri="{FF2B5EF4-FFF2-40B4-BE49-F238E27FC236}">
                <a16:creationId xmlns:a16="http://schemas.microsoft.com/office/drawing/2014/main" id="{15FC0B23-12B0-DCD3-871F-A0FAF13175EA}"/>
              </a:ext>
            </a:extLst>
          </p:cNvPr>
          <p:cNvSpPr txBox="1"/>
          <p:nvPr/>
        </p:nvSpPr>
        <p:spPr>
          <a:xfrm>
            <a:off x="3040377" y="1577729"/>
            <a:ext cx="6111240" cy="461665"/>
          </a:xfrm>
          <a:prstGeom prst="rect">
            <a:avLst/>
          </a:prstGeom>
          <a:noFill/>
        </p:spPr>
        <p:txBody>
          <a:bodyPr wrap="square">
            <a:spAutoFit/>
          </a:bodyPr>
          <a:lstStyle/>
          <a:p>
            <a:pPr algn="ctr"/>
            <a:r>
              <a:rPr kumimoji="1" lang="zh-CN" altLang="en-US" sz="2400" b="1" dirty="0">
                <a:solidFill>
                  <a:schemeClr val="accent1">
                    <a:lumMod val="75000"/>
                  </a:schemeClr>
                </a:solidFill>
                <a:latin typeface="Noto Sans" panose="020B0502040504020204" pitchFamily="34" charset="0"/>
                <a:ea typeface="Noto Sans CJK SC" panose="020B0500000000000000" pitchFamily="34" charset="-122"/>
              </a:rPr>
              <a:t>硕士研究生开题答辩</a:t>
            </a:r>
          </a:p>
        </p:txBody>
      </p:sp>
    </p:spTree>
    <p:extLst>
      <p:ext uri="{BB962C8B-B14F-4D97-AF65-F5344CB8AC3E}">
        <p14:creationId xmlns:p14="http://schemas.microsoft.com/office/powerpoint/2010/main" val="1244152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7844A4-0D82-CD04-641D-DFD1A3902AA3}"/>
              </a:ext>
            </a:extLst>
          </p:cNvPr>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Contents</a:t>
            </a:r>
            <a:endParaRPr lang="zh-CN" altLang="en-US"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26F6A201-9EC6-BF80-2BFE-14E950ECDF9C}"/>
              </a:ext>
            </a:extLst>
          </p:cNvPr>
          <p:cNvSpPr>
            <a:spLocks noGrp="1"/>
          </p:cNvSpPr>
          <p:nvPr>
            <p:ph idx="1"/>
          </p:nvPr>
        </p:nvSpPr>
        <p:spPr/>
        <p:txBody>
          <a:bodyPr>
            <a:normAutofit/>
          </a:bodyPr>
          <a:lstStyle/>
          <a:p>
            <a:pPr>
              <a:lnSpc>
                <a:spcPct val="150000"/>
              </a:lnSpc>
            </a:pPr>
            <a:r>
              <a:rPr lang="en-US" altLang="zh-CN" sz="2800" dirty="0">
                <a:latin typeface="+mn-lt"/>
                <a:ea typeface="Microsoft YaHei" panose="020B0503020204020204" pitchFamily="34" charset="-122"/>
              </a:rPr>
              <a:t>Introduction</a:t>
            </a:r>
          </a:p>
          <a:p>
            <a:pPr>
              <a:lnSpc>
                <a:spcPct val="150000"/>
              </a:lnSpc>
            </a:pPr>
            <a:r>
              <a:rPr lang="en-US" altLang="zh-CN" sz="2800" dirty="0">
                <a:latin typeface="+mn-lt"/>
                <a:ea typeface="Microsoft YaHei" panose="020B0503020204020204" pitchFamily="34" charset="-122"/>
              </a:rPr>
              <a:t>Related Work</a:t>
            </a:r>
          </a:p>
          <a:p>
            <a:pPr>
              <a:lnSpc>
                <a:spcPct val="150000"/>
              </a:lnSpc>
            </a:pPr>
            <a:r>
              <a:rPr lang="en-US" altLang="zh-CN" sz="2800" dirty="0">
                <a:latin typeface="+mn-lt"/>
                <a:ea typeface="Microsoft YaHei" panose="020B0503020204020204" pitchFamily="34" charset="-122"/>
              </a:rPr>
              <a:t>Research Goal</a:t>
            </a:r>
          </a:p>
          <a:p>
            <a:pPr>
              <a:lnSpc>
                <a:spcPct val="150000"/>
              </a:lnSpc>
            </a:pPr>
            <a:r>
              <a:rPr lang="en-US" altLang="zh-CN" sz="2800" dirty="0">
                <a:latin typeface="+mn-lt"/>
                <a:ea typeface="Microsoft YaHei" panose="020B0503020204020204" pitchFamily="34" charset="-122"/>
              </a:rPr>
              <a:t>Key Problem and</a:t>
            </a:r>
            <a:r>
              <a:rPr lang="zh-CN" altLang="en-US" sz="2800" dirty="0">
                <a:latin typeface="+mn-lt"/>
                <a:ea typeface="Microsoft YaHei" panose="020B0503020204020204" pitchFamily="34" charset="-122"/>
              </a:rPr>
              <a:t> </a:t>
            </a:r>
            <a:r>
              <a:rPr lang="en-US" altLang="zh-CN" sz="2800" dirty="0">
                <a:latin typeface="+mn-lt"/>
                <a:ea typeface="Microsoft YaHei" panose="020B0503020204020204" pitchFamily="34" charset="-122"/>
              </a:rPr>
              <a:t>Technology</a:t>
            </a:r>
          </a:p>
          <a:p>
            <a:pPr>
              <a:lnSpc>
                <a:spcPct val="150000"/>
              </a:lnSpc>
            </a:pPr>
            <a:r>
              <a:rPr lang="en-US" altLang="zh-CN" sz="2800" dirty="0">
                <a:latin typeface="+mn-lt"/>
                <a:ea typeface="Microsoft YaHei" panose="020B0503020204020204" pitchFamily="34" charset="-122"/>
              </a:rPr>
              <a:t>Experiment</a:t>
            </a:r>
          </a:p>
          <a:p>
            <a:pPr>
              <a:lnSpc>
                <a:spcPct val="150000"/>
              </a:lnSpc>
            </a:pPr>
            <a:r>
              <a:rPr lang="en-US" altLang="zh-CN" sz="2800" dirty="0">
                <a:latin typeface="+mn-lt"/>
                <a:ea typeface="Microsoft YaHei" panose="020B0503020204020204" pitchFamily="34" charset="-122"/>
              </a:rPr>
              <a:t>Project</a:t>
            </a:r>
            <a:r>
              <a:rPr lang="zh-CN" altLang="en-US" sz="2800" dirty="0">
                <a:latin typeface="+mn-lt"/>
                <a:ea typeface="Microsoft YaHei" panose="020B0503020204020204" pitchFamily="34" charset="-122"/>
              </a:rPr>
              <a:t> </a:t>
            </a:r>
            <a:r>
              <a:rPr lang="en-US" altLang="zh-CN" sz="2800" dirty="0">
                <a:latin typeface="+mn-lt"/>
                <a:ea typeface="Microsoft YaHei" panose="020B0503020204020204" pitchFamily="34" charset="-122"/>
              </a:rPr>
              <a:t>Timeline</a:t>
            </a:r>
          </a:p>
        </p:txBody>
      </p:sp>
      <p:sp>
        <p:nvSpPr>
          <p:cNvPr id="5" name="灯片编号占位符 4">
            <a:extLst>
              <a:ext uri="{FF2B5EF4-FFF2-40B4-BE49-F238E27FC236}">
                <a16:creationId xmlns:a16="http://schemas.microsoft.com/office/drawing/2014/main" id="{50E3D067-DEEF-1E40-3271-40001051EE41}"/>
              </a:ext>
            </a:extLst>
          </p:cNvPr>
          <p:cNvSpPr>
            <a:spLocks noGrp="1"/>
          </p:cNvSpPr>
          <p:nvPr>
            <p:ph type="sldNum" sz="quarter" idx="12"/>
          </p:nvPr>
        </p:nvSpPr>
        <p:spPr/>
        <p:txBody>
          <a:bodyPr/>
          <a:lstStyle/>
          <a:p>
            <a:fld id="{07B19D4B-9808-1A4C-B845-D9471D0CA790}" type="slidenum">
              <a:rPr kumimoji="1" lang="zh-CN" altLang="en-US" smtClean="0"/>
              <a:t>1</a:t>
            </a:fld>
            <a:endParaRPr kumimoji="1" lang="zh-CN" altLang="en-US"/>
          </a:p>
        </p:txBody>
      </p:sp>
    </p:spTree>
    <p:extLst>
      <p:ext uri="{BB962C8B-B14F-4D97-AF65-F5344CB8AC3E}">
        <p14:creationId xmlns:p14="http://schemas.microsoft.com/office/powerpoint/2010/main" val="130229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7844A4-0D82-CD04-641D-DFD1A3902AA3}"/>
              </a:ext>
            </a:extLst>
          </p:cNvPr>
          <p:cNvSpPr>
            <a:spLocks noGrp="1"/>
          </p:cNvSpPr>
          <p:nvPr>
            <p:ph type="title"/>
          </p:nvPr>
        </p:nvSpPr>
        <p:spPr/>
        <p:txBody>
          <a:bodyPr>
            <a:normAutofit/>
          </a:bodyPr>
          <a:lstStyle/>
          <a:p>
            <a:r>
              <a:rPr lang="en-US" altLang="zh-CN" dirty="0">
                <a:latin typeface="Arial" panose="020B0604020202020204" pitchFamily="34" charset="0"/>
                <a:cs typeface="Arial" panose="020B0604020202020204" pitchFamily="34" charset="0"/>
              </a:rPr>
              <a:t>Intro: Challenges in Chip Verification</a:t>
            </a:r>
          </a:p>
        </p:txBody>
      </p:sp>
      <p:sp>
        <p:nvSpPr>
          <p:cNvPr id="3" name="内容占位符 2">
            <a:extLst>
              <a:ext uri="{FF2B5EF4-FFF2-40B4-BE49-F238E27FC236}">
                <a16:creationId xmlns:a16="http://schemas.microsoft.com/office/drawing/2014/main" id="{26F6A201-9EC6-BF80-2BFE-14E950ECDF9C}"/>
              </a:ext>
            </a:extLst>
          </p:cNvPr>
          <p:cNvSpPr>
            <a:spLocks noGrp="1"/>
          </p:cNvSpPr>
          <p:nvPr>
            <p:ph idx="1"/>
          </p:nvPr>
        </p:nvSpPr>
        <p:spPr>
          <a:xfrm>
            <a:off x="236034" y="1026272"/>
            <a:ext cx="6850566" cy="5318561"/>
          </a:xfrm>
        </p:spPr>
        <p:txBody>
          <a:bodyPr>
            <a:normAutofit/>
          </a:bodyPr>
          <a:lstStyle/>
          <a:p>
            <a:pPr>
              <a:lnSpc>
                <a:spcPct val="150000"/>
              </a:lnSpc>
            </a:pPr>
            <a:r>
              <a:rPr lang="en-US" sz="2000" b="1" dirty="0">
                <a:latin typeface="+mn-lt"/>
              </a:rPr>
              <a:t>Complexity Explosion</a:t>
            </a:r>
            <a:endParaRPr lang="en-US" sz="2000" dirty="0">
              <a:latin typeface="+mn-lt"/>
            </a:endParaRPr>
          </a:p>
          <a:p>
            <a:pPr lvl="1"/>
            <a:r>
              <a:rPr lang="en-US" sz="1800" dirty="0">
                <a:latin typeface="+mn-lt"/>
              </a:rPr>
              <a:t>Trend: "Stagnant Process" vs. "Skyrocketing Complexity"</a:t>
            </a:r>
          </a:p>
          <a:p>
            <a:pPr lvl="1"/>
            <a:r>
              <a:rPr lang="en-US" sz="1800" dirty="0">
                <a:latin typeface="+mn-lt"/>
              </a:rPr>
              <a:t>Result: Verification effort now dominates the chip design cycle (~70%)</a:t>
            </a:r>
            <a:endParaRPr lang="en-US" sz="1800" b="1" dirty="0">
              <a:latin typeface="+mn-lt"/>
            </a:endParaRPr>
          </a:p>
          <a:p>
            <a:r>
              <a:rPr lang="en-US" sz="2000" b="1" dirty="0">
                <a:latin typeface="+mn-lt"/>
              </a:rPr>
              <a:t>The Simulation Bottleneck</a:t>
            </a:r>
            <a:endParaRPr lang="en-US" sz="2000" dirty="0">
              <a:latin typeface="+mn-lt"/>
            </a:endParaRPr>
          </a:p>
          <a:p>
            <a:pPr lvl="1"/>
            <a:r>
              <a:rPr lang="en-US" sz="1800" b="1" dirty="0">
                <a:latin typeface="+mn-lt"/>
              </a:rPr>
              <a:t>Speed Gap:</a:t>
            </a:r>
            <a:r>
              <a:rPr lang="en-US" sz="1800" dirty="0">
                <a:latin typeface="+mn-lt"/>
              </a:rPr>
              <a:t> Real Silicon (GHz) vs. Simulation (</a:t>
            </a:r>
            <a:r>
              <a:rPr lang="en-US" sz="1800" dirty="0" err="1">
                <a:latin typeface="+mn-lt"/>
              </a:rPr>
              <a:t>KHz</a:t>
            </a:r>
            <a:r>
              <a:rPr lang="en-US" sz="1800" dirty="0">
                <a:latin typeface="+mn-lt"/>
              </a:rPr>
              <a:t>)</a:t>
            </a:r>
            <a:endParaRPr lang="en-US" sz="1800" b="1" dirty="0">
              <a:latin typeface="+mn-lt"/>
            </a:endParaRPr>
          </a:p>
          <a:p>
            <a:r>
              <a:rPr lang="en-US" sz="2000" b="1" dirty="0">
                <a:latin typeface="+mn-lt"/>
              </a:rPr>
              <a:t>The Unmet Need</a:t>
            </a:r>
            <a:endParaRPr lang="en-US" sz="2000" dirty="0">
              <a:latin typeface="+mn-lt"/>
            </a:endParaRPr>
          </a:p>
          <a:p>
            <a:pPr lvl="1"/>
            <a:r>
              <a:rPr lang="en-US" sz="1800" dirty="0">
                <a:latin typeface="+mn-lt"/>
              </a:rPr>
              <a:t>Requirement: Pre-silicon HW/SW co-verification (OS, Drivers, Apps)</a:t>
            </a:r>
          </a:p>
          <a:p>
            <a:pPr lvl="1"/>
            <a:r>
              <a:rPr lang="en-US" sz="1800" dirty="0">
                <a:latin typeface="+mn-lt"/>
              </a:rPr>
              <a:t>Reality: Software simulation fails to run real-world workloads in feasible time</a:t>
            </a:r>
          </a:p>
          <a:p>
            <a:r>
              <a:rPr lang="en-US" sz="2000" b="1" dirty="0">
                <a:latin typeface="+mn-lt"/>
              </a:rPr>
              <a:t>Solution: Hardware Emulation</a:t>
            </a:r>
          </a:p>
        </p:txBody>
      </p:sp>
      <p:sp>
        <p:nvSpPr>
          <p:cNvPr id="5" name="灯片编号占位符 4">
            <a:extLst>
              <a:ext uri="{FF2B5EF4-FFF2-40B4-BE49-F238E27FC236}">
                <a16:creationId xmlns:a16="http://schemas.microsoft.com/office/drawing/2014/main" id="{50E3D067-DEEF-1E40-3271-40001051EE41}"/>
              </a:ext>
            </a:extLst>
          </p:cNvPr>
          <p:cNvSpPr>
            <a:spLocks noGrp="1"/>
          </p:cNvSpPr>
          <p:nvPr>
            <p:ph type="sldNum" sz="quarter" idx="12"/>
          </p:nvPr>
        </p:nvSpPr>
        <p:spPr/>
        <p:txBody>
          <a:bodyPr/>
          <a:lstStyle/>
          <a:p>
            <a:fld id="{07B19D4B-9808-1A4C-B845-D9471D0CA790}" type="slidenum">
              <a:rPr kumimoji="1" lang="zh-CN" altLang="en-US" smtClean="0"/>
              <a:t>2</a:t>
            </a:fld>
            <a:endParaRPr kumimoji="1" lang="zh-CN" altLang="en-US" dirty="0"/>
          </a:p>
        </p:txBody>
      </p:sp>
      <p:pic>
        <p:nvPicPr>
          <p:cNvPr id="6" name="Picture 5" descr="A graph with lines and words&#10;&#10;AI-generated content may be incorrect.">
            <a:extLst>
              <a:ext uri="{FF2B5EF4-FFF2-40B4-BE49-F238E27FC236}">
                <a16:creationId xmlns:a16="http://schemas.microsoft.com/office/drawing/2014/main" id="{37B87059-166B-536A-2EE3-4AF129A58760}"/>
              </a:ext>
            </a:extLst>
          </p:cNvPr>
          <p:cNvPicPr>
            <a:picLocks noChangeAspect="1"/>
          </p:cNvPicPr>
          <p:nvPr/>
        </p:nvPicPr>
        <p:blipFill>
          <a:blip r:embed="rId3"/>
          <a:stretch>
            <a:fillRect/>
          </a:stretch>
        </p:blipFill>
        <p:spPr>
          <a:xfrm>
            <a:off x="6853084" y="2044999"/>
            <a:ext cx="5249770" cy="3281106"/>
          </a:xfrm>
          <a:prstGeom prst="rect">
            <a:avLst/>
          </a:prstGeom>
        </p:spPr>
      </p:pic>
    </p:spTree>
    <p:extLst>
      <p:ext uri="{BB962C8B-B14F-4D97-AF65-F5344CB8AC3E}">
        <p14:creationId xmlns:p14="http://schemas.microsoft.com/office/powerpoint/2010/main" val="2344457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843FF-EE8B-6102-12F1-DC1C8EB45C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1145E4-FF32-8F24-9D16-5345DEE50FD7}"/>
              </a:ext>
            </a:extLst>
          </p:cNvPr>
          <p:cNvSpPr>
            <a:spLocks noGrp="1"/>
          </p:cNvSpPr>
          <p:nvPr>
            <p:ph type="title"/>
          </p:nvPr>
        </p:nvSpPr>
        <p:spPr/>
        <p:txBody>
          <a:bodyPr>
            <a:normAutofit/>
          </a:bodyPr>
          <a:lstStyle/>
          <a:p>
            <a:r>
              <a:rPr lang="en-US" dirty="0">
                <a:latin typeface="+mn-lt"/>
                <a:cs typeface="Arial" panose="020B0604020202020204" pitchFamily="34" charset="0"/>
              </a:rPr>
              <a:t>Intro: Hardware Emulation</a:t>
            </a:r>
            <a:r>
              <a:rPr lang="zh-CN" altLang="en-US" dirty="0">
                <a:latin typeface="+mn-lt"/>
                <a:cs typeface="Arial" panose="020B0604020202020204" pitchFamily="34" charset="0"/>
              </a:rPr>
              <a:t> </a:t>
            </a:r>
            <a:r>
              <a:rPr lang="en-US" altLang="zh-CN" dirty="0">
                <a:latin typeface="+mn-lt"/>
                <a:cs typeface="Arial" panose="020B0604020202020204" pitchFamily="34" charset="0"/>
              </a:rPr>
              <a:t>for Verification</a:t>
            </a:r>
          </a:p>
        </p:txBody>
      </p:sp>
      <p:sp>
        <p:nvSpPr>
          <p:cNvPr id="3" name="内容占位符 2">
            <a:extLst>
              <a:ext uri="{FF2B5EF4-FFF2-40B4-BE49-F238E27FC236}">
                <a16:creationId xmlns:a16="http://schemas.microsoft.com/office/drawing/2014/main" id="{E7EB3CF3-D735-7DC0-DA2E-0DCF870E635B}"/>
              </a:ext>
            </a:extLst>
          </p:cNvPr>
          <p:cNvSpPr>
            <a:spLocks noGrp="1"/>
          </p:cNvSpPr>
          <p:nvPr>
            <p:ph idx="1"/>
          </p:nvPr>
        </p:nvSpPr>
        <p:spPr/>
        <p:txBody>
          <a:bodyPr>
            <a:normAutofit/>
          </a:bodyPr>
          <a:lstStyle/>
          <a:p>
            <a:pPr>
              <a:lnSpc>
                <a:spcPct val="150000"/>
              </a:lnSpc>
            </a:pPr>
            <a:r>
              <a:rPr lang="en-US" sz="2000" b="1" dirty="0">
                <a:latin typeface="+mn-lt"/>
              </a:rPr>
              <a:t>Definition &amp; Advantages</a:t>
            </a:r>
            <a:endParaRPr lang="en-US" sz="2000" dirty="0">
              <a:latin typeface="+mn-lt"/>
            </a:endParaRPr>
          </a:p>
          <a:p>
            <a:pPr lvl="1"/>
            <a:r>
              <a:rPr lang="en-US" sz="1800" b="1" dirty="0">
                <a:latin typeface="+mn-lt"/>
              </a:rPr>
              <a:t>Hardware Acceleration:</a:t>
            </a:r>
            <a:r>
              <a:rPr lang="en-US" sz="1800" dirty="0">
                <a:latin typeface="+mn-lt"/>
              </a:rPr>
              <a:t> Utilizing ASIC or FPGA to execute logic in parallel</a:t>
            </a:r>
          </a:p>
          <a:p>
            <a:pPr lvl="1"/>
            <a:r>
              <a:rPr lang="en-US" sz="1800" b="1" dirty="0">
                <a:latin typeface="+mn-lt"/>
              </a:rPr>
              <a:t>Speed:</a:t>
            </a:r>
            <a:r>
              <a:rPr lang="en-US" sz="1800" dirty="0">
                <a:latin typeface="+mn-lt"/>
              </a:rPr>
              <a:t> Running at </a:t>
            </a:r>
            <a:r>
              <a:rPr lang="en-US" sz="1800" b="1" dirty="0">
                <a:latin typeface="+mn-lt"/>
              </a:rPr>
              <a:t>MHz</a:t>
            </a:r>
            <a:r>
              <a:rPr lang="en-US" sz="1800" dirty="0">
                <a:latin typeface="+mn-lt"/>
              </a:rPr>
              <a:t> range, 1000x - 10000x faster than software simulation</a:t>
            </a:r>
          </a:p>
          <a:p>
            <a:pPr lvl="1"/>
            <a:r>
              <a:rPr lang="en-US" sz="1800" b="1" dirty="0">
                <a:latin typeface="+mn-lt"/>
              </a:rPr>
              <a:t>High Visibility:</a:t>
            </a:r>
            <a:r>
              <a:rPr lang="en-US" sz="1800" dirty="0">
                <a:latin typeface="+mn-lt"/>
              </a:rPr>
              <a:t> full visibility of internal signals for debugging</a:t>
            </a:r>
          </a:p>
          <a:p>
            <a:r>
              <a:rPr lang="en-US" sz="2000" b="1" dirty="0">
                <a:latin typeface="+mn-lt"/>
              </a:rPr>
              <a:t>Core Feature: Deterministic Replay</a:t>
            </a:r>
            <a:endParaRPr lang="en-US" sz="2000" dirty="0">
              <a:latin typeface="+mn-lt"/>
            </a:endParaRPr>
          </a:p>
          <a:p>
            <a:pPr lvl="1"/>
            <a:r>
              <a:rPr lang="en-US" sz="1800" dirty="0"/>
              <a:t>Have </a:t>
            </a:r>
            <a:r>
              <a:rPr lang="en-US" sz="1800" b="1" dirty="0"/>
              <a:t>exact same behaviors</a:t>
            </a:r>
            <a:r>
              <a:rPr lang="zh-CN" altLang="en-US" sz="1800" dirty="0"/>
              <a:t> </a:t>
            </a:r>
            <a:r>
              <a:rPr lang="en-US" altLang="zh-CN" sz="1800" dirty="0"/>
              <a:t>under</a:t>
            </a:r>
            <a:r>
              <a:rPr lang="en-US" sz="1800" dirty="0">
                <a:latin typeface="+mn-lt"/>
              </a:rPr>
              <a:t> the </a:t>
            </a:r>
            <a:r>
              <a:rPr lang="en-US" sz="1800" b="1" dirty="0">
                <a:latin typeface="+mn-lt"/>
              </a:rPr>
              <a:t>same initial state</a:t>
            </a:r>
            <a:r>
              <a:rPr lang="en-US" sz="1800" dirty="0">
                <a:latin typeface="+mn-lt"/>
              </a:rPr>
              <a:t> and </a:t>
            </a:r>
            <a:r>
              <a:rPr lang="en-US" sz="1800" b="1" dirty="0">
                <a:latin typeface="+mn-lt"/>
              </a:rPr>
              <a:t>input sequence</a:t>
            </a:r>
          </a:p>
          <a:p>
            <a:pPr lvl="1"/>
            <a:r>
              <a:rPr lang="en-US" sz="1800" dirty="0">
                <a:latin typeface="+mn-lt"/>
              </a:rPr>
              <a:t>Guarantees </a:t>
            </a:r>
            <a:r>
              <a:rPr lang="en-US" sz="1800" b="1" dirty="0">
                <a:latin typeface="+mn-lt"/>
              </a:rPr>
              <a:t>100% reproducibility </a:t>
            </a:r>
            <a:r>
              <a:rPr lang="en-US" sz="1800" dirty="0">
                <a:latin typeface="+mn-lt"/>
              </a:rPr>
              <a:t>for complex race conditions</a:t>
            </a:r>
          </a:p>
        </p:txBody>
      </p:sp>
      <p:sp>
        <p:nvSpPr>
          <p:cNvPr id="5" name="灯片编号占位符 4">
            <a:extLst>
              <a:ext uri="{FF2B5EF4-FFF2-40B4-BE49-F238E27FC236}">
                <a16:creationId xmlns:a16="http://schemas.microsoft.com/office/drawing/2014/main" id="{78B224B1-F2D6-CF5B-D8DE-058F4FD7C672}"/>
              </a:ext>
            </a:extLst>
          </p:cNvPr>
          <p:cNvSpPr>
            <a:spLocks noGrp="1"/>
          </p:cNvSpPr>
          <p:nvPr>
            <p:ph type="sldNum" sz="quarter" idx="12"/>
          </p:nvPr>
        </p:nvSpPr>
        <p:spPr/>
        <p:txBody>
          <a:bodyPr/>
          <a:lstStyle/>
          <a:p>
            <a:fld id="{07B19D4B-9808-1A4C-B845-D9471D0CA790}" type="slidenum">
              <a:rPr kumimoji="1" lang="zh-CN" altLang="en-US" smtClean="0"/>
              <a:t>3</a:t>
            </a:fld>
            <a:endParaRPr kumimoji="1" lang="zh-CN" altLang="en-US" dirty="0"/>
          </a:p>
        </p:txBody>
      </p:sp>
      <p:pic>
        <p:nvPicPr>
          <p:cNvPr id="6" name="Picture 5">
            <a:extLst>
              <a:ext uri="{FF2B5EF4-FFF2-40B4-BE49-F238E27FC236}">
                <a16:creationId xmlns:a16="http://schemas.microsoft.com/office/drawing/2014/main" id="{CC92EFBE-D4A7-F7C5-9633-684A78B21276}"/>
              </a:ext>
            </a:extLst>
          </p:cNvPr>
          <p:cNvPicPr>
            <a:picLocks noChangeAspect="1"/>
          </p:cNvPicPr>
          <p:nvPr/>
        </p:nvPicPr>
        <p:blipFill>
          <a:blip r:embed="rId3"/>
          <a:stretch>
            <a:fillRect/>
          </a:stretch>
        </p:blipFill>
        <p:spPr>
          <a:xfrm>
            <a:off x="2631947" y="3702644"/>
            <a:ext cx="6770128" cy="2615296"/>
          </a:xfrm>
          <a:prstGeom prst="rect">
            <a:avLst/>
          </a:prstGeom>
        </p:spPr>
      </p:pic>
    </p:spTree>
    <p:extLst>
      <p:ext uri="{BB962C8B-B14F-4D97-AF65-F5344CB8AC3E}">
        <p14:creationId xmlns:p14="http://schemas.microsoft.com/office/powerpoint/2010/main" val="20910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FC4BD-0700-ADE2-8901-86C9CD3795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CA05266-2659-F1D5-E781-C0046CB3EB88}"/>
              </a:ext>
            </a:extLst>
          </p:cNvPr>
          <p:cNvSpPr>
            <a:spLocks noGrp="1"/>
          </p:cNvSpPr>
          <p:nvPr>
            <p:ph type="title"/>
          </p:nvPr>
        </p:nvSpPr>
        <p:spPr/>
        <p:txBody>
          <a:bodyPr>
            <a:normAutofit/>
          </a:bodyPr>
          <a:lstStyle/>
          <a:p>
            <a:r>
              <a:rPr lang="en-US" altLang="zh-CN" dirty="0">
                <a:latin typeface="+mn-lt"/>
                <a:cs typeface="Arial" panose="020B0604020202020204" pitchFamily="34" charset="0"/>
              </a:rPr>
              <a:t>Intro: FPGA</a:t>
            </a:r>
            <a:r>
              <a:rPr lang="zh-CN" altLang="en-US" dirty="0">
                <a:latin typeface="+mn-lt"/>
                <a:cs typeface="Arial" panose="020B0604020202020204" pitchFamily="34" charset="0"/>
              </a:rPr>
              <a:t> </a:t>
            </a:r>
            <a:r>
              <a:rPr lang="en-US" altLang="zh-CN" dirty="0">
                <a:latin typeface="+mn-lt"/>
                <a:cs typeface="Arial" panose="020B0604020202020204" pitchFamily="34" charset="0"/>
              </a:rPr>
              <a:t>for Hardware</a:t>
            </a:r>
            <a:r>
              <a:rPr lang="zh-CN" altLang="en-US" dirty="0">
                <a:latin typeface="+mn-lt"/>
                <a:cs typeface="Arial" panose="020B0604020202020204" pitchFamily="34" charset="0"/>
              </a:rPr>
              <a:t> </a:t>
            </a:r>
            <a:r>
              <a:rPr lang="en-US" altLang="zh-CN" dirty="0">
                <a:latin typeface="+mn-lt"/>
                <a:cs typeface="Arial" panose="020B0604020202020204" pitchFamily="34" charset="0"/>
              </a:rPr>
              <a:t>Emulation</a:t>
            </a:r>
          </a:p>
        </p:txBody>
      </p:sp>
      <p:sp>
        <p:nvSpPr>
          <p:cNvPr id="3" name="内容占位符 2">
            <a:extLst>
              <a:ext uri="{FF2B5EF4-FFF2-40B4-BE49-F238E27FC236}">
                <a16:creationId xmlns:a16="http://schemas.microsoft.com/office/drawing/2014/main" id="{5B55B5EB-4D4F-2313-1E63-33401E829338}"/>
              </a:ext>
            </a:extLst>
          </p:cNvPr>
          <p:cNvSpPr>
            <a:spLocks noGrp="1"/>
          </p:cNvSpPr>
          <p:nvPr>
            <p:ph idx="1"/>
          </p:nvPr>
        </p:nvSpPr>
        <p:spPr>
          <a:xfrm>
            <a:off x="236032" y="1026272"/>
            <a:ext cx="10487385" cy="5318561"/>
          </a:xfrm>
        </p:spPr>
        <p:txBody>
          <a:bodyPr>
            <a:normAutofit lnSpcReduction="10000"/>
          </a:bodyPr>
          <a:lstStyle/>
          <a:p>
            <a:pPr>
              <a:lnSpc>
                <a:spcPct val="160000"/>
              </a:lnSpc>
            </a:pPr>
            <a:r>
              <a:rPr lang="en-US" sz="2000" b="1" dirty="0">
                <a:latin typeface="+mn-lt"/>
              </a:rPr>
              <a:t>Advantages:</a:t>
            </a:r>
            <a:endParaRPr lang="en-US" sz="1800" dirty="0">
              <a:latin typeface="+mn-lt"/>
            </a:endParaRPr>
          </a:p>
          <a:p>
            <a:pPr lvl="1">
              <a:lnSpc>
                <a:spcPct val="150000"/>
              </a:lnSpc>
            </a:pPr>
            <a:r>
              <a:rPr lang="en-US" sz="1800" dirty="0">
                <a:latin typeface="+mn-lt"/>
              </a:rPr>
              <a:t>High Reconfigurability</a:t>
            </a:r>
          </a:p>
          <a:p>
            <a:pPr lvl="1">
              <a:lnSpc>
                <a:spcPct val="150000"/>
              </a:lnSpc>
            </a:pPr>
            <a:r>
              <a:rPr lang="en-US" sz="1800" dirty="0">
                <a:latin typeface="+mn-lt"/>
              </a:rPr>
              <a:t>Near-Silicon Speed</a:t>
            </a:r>
            <a:endParaRPr lang="en-US" sz="1800" b="1" dirty="0">
              <a:latin typeface="+mn-lt"/>
            </a:endParaRPr>
          </a:p>
          <a:p>
            <a:pPr>
              <a:lnSpc>
                <a:spcPct val="150000"/>
              </a:lnSpc>
            </a:pPr>
            <a:r>
              <a:rPr lang="en-US" sz="2000" b="1" dirty="0">
                <a:latin typeface="+mn-lt"/>
              </a:rPr>
              <a:t>Fundamental Bottlenecks:</a:t>
            </a:r>
            <a:endParaRPr lang="en-US" sz="2000" dirty="0">
              <a:latin typeface="+mn-lt"/>
            </a:endParaRPr>
          </a:p>
          <a:p>
            <a:pPr lvl="1">
              <a:lnSpc>
                <a:spcPct val="150000"/>
              </a:lnSpc>
            </a:pPr>
            <a:r>
              <a:rPr lang="en-US" sz="1800" dirty="0">
                <a:latin typeface="+mn-lt"/>
              </a:rPr>
              <a:t>Limited Visibility</a:t>
            </a:r>
          </a:p>
          <a:p>
            <a:pPr lvl="1">
              <a:lnSpc>
                <a:spcPct val="150000"/>
              </a:lnSpc>
            </a:pPr>
            <a:r>
              <a:rPr lang="en-US" sz="1800" dirty="0">
                <a:latin typeface="+mn-lt"/>
              </a:rPr>
              <a:t>Capacity Wall</a:t>
            </a:r>
            <a:endParaRPr lang="en-US" sz="1800" b="1" dirty="0">
              <a:latin typeface="+mn-lt"/>
            </a:endParaRPr>
          </a:p>
          <a:p>
            <a:pPr>
              <a:lnSpc>
                <a:spcPct val="150000"/>
              </a:lnSpc>
            </a:pPr>
            <a:r>
              <a:rPr lang="en-US" sz="2000" b="1" dirty="0">
                <a:latin typeface="+mn-lt"/>
              </a:rPr>
              <a:t>Bridging the Gap: </a:t>
            </a:r>
            <a:endParaRPr lang="en-US" sz="2000" dirty="0">
              <a:latin typeface="+mn-lt"/>
            </a:endParaRPr>
          </a:p>
          <a:p>
            <a:pPr lvl="1">
              <a:lnSpc>
                <a:spcPct val="150000"/>
              </a:lnSpc>
            </a:pPr>
            <a:r>
              <a:rPr lang="en-US" sz="1800" b="1" dirty="0">
                <a:latin typeface="+mn-lt"/>
              </a:rPr>
              <a:t>Solution to Visibility: Scan Chain</a:t>
            </a:r>
          </a:p>
          <a:p>
            <a:pPr lvl="2">
              <a:lnSpc>
                <a:spcPct val="150000"/>
              </a:lnSpc>
            </a:pPr>
            <a:r>
              <a:rPr lang="en-US" sz="1600" dirty="0">
                <a:latin typeface="+mn-lt"/>
              </a:rPr>
              <a:t>Insert</a:t>
            </a:r>
            <a:r>
              <a:rPr lang="zh-CN" altLang="en-US" sz="1600" dirty="0">
                <a:latin typeface="+mn-lt"/>
              </a:rPr>
              <a:t> </a:t>
            </a:r>
            <a:r>
              <a:rPr lang="en-US" sz="1600" dirty="0">
                <a:latin typeface="+mn-lt"/>
              </a:rPr>
              <a:t>scan logic to capture and restore </a:t>
            </a:r>
            <a:r>
              <a:rPr lang="en-US" sz="1600" b="1" dirty="0">
                <a:latin typeface="+mn-lt"/>
              </a:rPr>
              <a:t>full system state</a:t>
            </a:r>
            <a:endParaRPr lang="en-US" sz="1400" dirty="0">
              <a:latin typeface="+mn-lt"/>
            </a:endParaRPr>
          </a:p>
          <a:p>
            <a:pPr lvl="1">
              <a:lnSpc>
                <a:spcPct val="150000"/>
              </a:lnSpc>
            </a:pPr>
            <a:r>
              <a:rPr lang="en-US" sz="1800" b="1" dirty="0">
                <a:latin typeface="+mn-lt"/>
              </a:rPr>
              <a:t>Solution to Capacity: Multi-FPGA Architecture</a:t>
            </a:r>
          </a:p>
          <a:p>
            <a:pPr lvl="2">
              <a:lnSpc>
                <a:spcPct val="150000"/>
              </a:lnSpc>
            </a:pPr>
            <a:r>
              <a:rPr lang="en-US" sz="1600" dirty="0">
                <a:latin typeface="+mn-lt"/>
              </a:rPr>
              <a:t>Breaks the capacity limit by partitioning large designs across </a:t>
            </a:r>
            <a:r>
              <a:rPr lang="en-US" sz="1600" b="1" dirty="0">
                <a:latin typeface="+mn-lt"/>
              </a:rPr>
              <a:t>interconnected FPGA clusters</a:t>
            </a:r>
            <a:endParaRPr lang="en-US" sz="1400" dirty="0">
              <a:latin typeface="+mn-lt"/>
            </a:endParaRPr>
          </a:p>
        </p:txBody>
      </p:sp>
      <p:sp>
        <p:nvSpPr>
          <p:cNvPr id="5" name="灯片编号占位符 4">
            <a:extLst>
              <a:ext uri="{FF2B5EF4-FFF2-40B4-BE49-F238E27FC236}">
                <a16:creationId xmlns:a16="http://schemas.microsoft.com/office/drawing/2014/main" id="{716E9402-E176-FECD-C752-D54F10A78804}"/>
              </a:ext>
            </a:extLst>
          </p:cNvPr>
          <p:cNvSpPr>
            <a:spLocks noGrp="1"/>
          </p:cNvSpPr>
          <p:nvPr>
            <p:ph type="sldNum" sz="quarter" idx="12"/>
          </p:nvPr>
        </p:nvSpPr>
        <p:spPr/>
        <p:txBody>
          <a:bodyPr/>
          <a:lstStyle/>
          <a:p>
            <a:fld id="{07B19D4B-9808-1A4C-B845-D9471D0CA790}" type="slidenum">
              <a:rPr kumimoji="1" lang="zh-CN" altLang="en-US" smtClean="0"/>
              <a:t>4</a:t>
            </a:fld>
            <a:endParaRPr kumimoji="1" lang="zh-CN" altLang="en-US" dirty="0"/>
          </a:p>
        </p:txBody>
      </p:sp>
      <p:pic>
        <p:nvPicPr>
          <p:cNvPr id="4" name="Picture 3">
            <a:extLst>
              <a:ext uri="{FF2B5EF4-FFF2-40B4-BE49-F238E27FC236}">
                <a16:creationId xmlns:a16="http://schemas.microsoft.com/office/drawing/2014/main" id="{87B420D9-5F4A-6E58-AA53-05A90F0F1FBF}"/>
              </a:ext>
            </a:extLst>
          </p:cNvPr>
          <p:cNvPicPr>
            <a:picLocks noChangeAspect="1"/>
          </p:cNvPicPr>
          <p:nvPr/>
        </p:nvPicPr>
        <p:blipFill>
          <a:blip r:embed="rId3"/>
          <a:stretch>
            <a:fillRect/>
          </a:stretch>
        </p:blipFill>
        <p:spPr>
          <a:xfrm>
            <a:off x="4920703" y="1565354"/>
            <a:ext cx="7035265" cy="3517633"/>
          </a:xfrm>
          <a:prstGeom prst="rect">
            <a:avLst/>
          </a:prstGeom>
        </p:spPr>
      </p:pic>
    </p:spTree>
    <p:extLst>
      <p:ext uri="{BB962C8B-B14F-4D97-AF65-F5344CB8AC3E}">
        <p14:creationId xmlns:p14="http://schemas.microsoft.com/office/powerpoint/2010/main" val="1561568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E4EB5-EB20-5134-0146-F6E72B5E5FC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92A5A4-0C9B-5CDD-889E-9694DD68E460}"/>
              </a:ext>
            </a:extLst>
          </p:cNvPr>
          <p:cNvSpPr>
            <a:spLocks noGrp="1"/>
          </p:cNvSpPr>
          <p:nvPr>
            <p:ph type="title"/>
          </p:nvPr>
        </p:nvSpPr>
        <p:spPr/>
        <p:txBody>
          <a:bodyPr>
            <a:normAutofit/>
          </a:bodyPr>
          <a:lstStyle/>
          <a:p>
            <a:r>
              <a:rPr lang="en-US" dirty="0">
                <a:latin typeface="+mn-lt"/>
                <a:cs typeface="Arial" panose="020B0604020202020204" pitchFamily="34" charset="0"/>
              </a:rPr>
              <a:t>Intro: Existing Limitations in FPGA Hardware Emulation</a:t>
            </a:r>
            <a:endParaRPr lang="en-US" altLang="zh-CN" dirty="0">
              <a:latin typeface="+mn-lt"/>
              <a:cs typeface="Arial" panose="020B0604020202020204" pitchFamily="34" charset="0"/>
            </a:endParaRPr>
          </a:p>
        </p:txBody>
      </p:sp>
      <p:sp>
        <p:nvSpPr>
          <p:cNvPr id="3" name="内容占位符 2">
            <a:extLst>
              <a:ext uri="{FF2B5EF4-FFF2-40B4-BE49-F238E27FC236}">
                <a16:creationId xmlns:a16="http://schemas.microsoft.com/office/drawing/2014/main" id="{41AFA37A-B7F9-E12C-6BF0-9ABE38D01B16}"/>
              </a:ext>
            </a:extLst>
          </p:cNvPr>
          <p:cNvSpPr>
            <a:spLocks noGrp="1"/>
          </p:cNvSpPr>
          <p:nvPr>
            <p:ph idx="1"/>
          </p:nvPr>
        </p:nvSpPr>
        <p:spPr>
          <a:xfrm>
            <a:off x="236034" y="1026272"/>
            <a:ext cx="6213928" cy="5318561"/>
          </a:xfrm>
        </p:spPr>
        <p:txBody>
          <a:bodyPr>
            <a:normAutofit/>
          </a:bodyPr>
          <a:lstStyle/>
          <a:p>
            <a:pPr>
              <a:lnSpc>
                <a:spcPct val="150000"/>
              </a:lnSpc>
            </a:pPr>
            <a:r>
              <a:rPr lang="en-US" sz="2000" b="1" dirty="0">
                <a:latin typeface="+mn-lt"/>
              </a:rPr>
              <a:t>Limitations of State-of-the-Art</a:t>
            </a:r>
            <a:endParaRPr lang="en-US" sz="2000" dirty="0">
              <a:latin typeface="+mn-lt"/>
            </a:endParaRPr>
          </a:p>
          <a:p>
            <a:pPr lvl="1"/>
            <a:r>
              <a:rPr lang="en-US" sz="1800" b="1" dirty="0">
                <a:latin typeface="+mn-lt"/>
              </a:rPr>
              <a:t>No Large-Scale Replay</a:t>
            </a:r>
          </a:p>
          <a:p>
            <a:pPr lvl="2"/>
            <a:r>
              <a:rPr lang="en-CN" altLang="en-CN" sz="1600" dirty="0">
                <a:latin typeface="+mn-lt"/>
              </a:rPr>
              <a:t>Current replay solutions are limited to </a:t>
            </a:r>
            <a:r>
              <a:rPr lang="en-CN" altLang="en-CN" sz="1600" b="1" dirty="0">
                <a:latin typeface="+mn-lt"/>
              </a:rPr>
              <a:t>Single-FPGA</a:t>
            </a:r>
            <a:endParaRPr lang="en-CN" altLang="en-CN" sz="1600" dirty="0">
              <a:latin typeface="+mn-lt"/>
            </a:endParaRPr>
          </a:p>
          <a:p>
            <a:pPr lvl="2"/>
            <a:r>
              <a:rPr lang="en-CN" altLang="en-CN" sz="1600" dirty="0">
                <a:latin typeface="+mn-lt"/>
              </a:rPr>
              <a:t>Large-scale prototypes lack </a:t>
            </a:r>
            <a:r>
              <a:rPr lang="en-CN" altLang="en-CN" sz="1600" b="1" dirty="0">
                <a:latin typeface="+mn-lt"/>
              </a:rPr>
              <a:t>deterministic replayability</a:t>
            </a:r>
            <a:endParaRPr lang="en-US" sz="1600" dirty="0">
              <a:latin typeface="+mn-lt"/>
            </a:endParaRPr>
          </a:p>
          <a:p>
            <a:pPr lvl="1"/>
            <a:r>
              <a:rPr lang="en-US" sz="1800" b="1" dirty="0">
                <a:latin typeface="+mn-lt"/>
              </a:rPr>
              <a:t>Lack of Automation in Partitioning</a:t>
            </a:r>
          </a:p>
          <a:p>
            <a:pPr lvl="2"/>
            <a:r>
              <a:rPr lang="en-CN" altLang="en-CN" sz="1600" dirty="0">
                <a:latin typeface="+mn-lt"/>
              </a:rPr>
              <a:t>Existing tools rely on </a:t>
            </a:r>
            <a:r>
              <a:rPr lang="en-CN" altLang="en-CN" sz="1600" b="1" dirty="0">
                <a:latin typeface="+mn-lt"/>
              </a:rPr>
              <a:t>manual guidance</a:t>
            </a:r>
            <a:r>
              <a:rPr lang="en-CN" altLang="en-CN" sz="1600" dirty="0">
                <a:latin typeface="+mn-lt"/>
              </a:rPr>
              <a:t> or </a:t>
            </a:r>
            <a:r>
              <a:rPr lang="en-CN" altLang="en-CN" sz="1600" b="1" dirty="0">
                <a:latin typeface="+mn-lt"/>
              </a:rPr>
              <a:t>fixed granularity</a:t>
            </a:r>
          </a:p>
          <a:p>
            <a:pPr lvl="1"/>
            <a:r>
              <a:rPr lang="en-US" sz="1800" b="1" dirty="0">
                <a:latin typeface="+mn-lt"/>
              </a:rPr>
              <a:t>Rigid Scalability &amp; Portability</a:t>
            </a:r>
            <a:endParaRPr lang="en-CN" altLang="en-CN" sz="1800" dirty="0">
              <a:latin typeface="+mn-lt"/>
            </a:endParaRPr>
          </a:p>
          <a:p>
            <a:pPr lvl="2"/>
            <a:r>
              <a:rPr lang="en-CN" altLang="en-CN" sz="1600" dirty="0">
                <a:latin typeface="+mn-lt"/>
              </a:rPr>
              <a:t>Coupled with specific hardware platform</a:t>
            </a:r>
            <a:endParaRPr lang="en-US" altLang="en-CN" sz="1600" dirty="0">
              <a:latin typeface="+mn-lt"/>
            </a:endParaRPr>
          </a:p>
          <a:p>
            <a:r>
              <a:rPr lang="en-US" altLang="zh-CN" sz="2000" b="1" dirty="0">
                <a:latin typeface="+mn-lt"/>
              </a:rPr>
              <a:t>One Limitation For a Key Phase</a:t>
            </a:r>
          </a:p>
          <a:p>
            <a:pPr lvl="1"/>
            <a:r>
              <a:rPr lang="en-US" altLang="zh-CN" sz="1800" b="1" dirty="0">
                <a:latin typeface="+mn-lt"/>
              </a:rPr>
              <a:t>Partitioning</a:t>
            </a:r>
            <a:r>
              <a:rPr lang="en-US" altLang="zh-CN" sz="1800" dirty="0">
                <a:latin typeface="+mn-lt"/>
              </a:rPr>
              <a:t>: Automation &amp; Multi-Granularity</a:t>
            </a:r>
            <a:endParaRPr lang="en-US" altLang="zh-CN" sz="1800" b="1" dirty="0">
              <a:latin typeface="+mn-lt"/>
            </a:endParaRPr>
          </a:p>
          <a:p>
            <a:pPr lvl="1"/>
            <a:r>
              <a:rPr lang="en-US" sz="1800" b="1" dirty="0">
                <a:latin typeface="+mn-lt"/>
              </a:rPr>
              <a:t>Integration: </a:t>
            </a:r>
            <a:r>
              <a:rPr lang="en-US" sz="1800" dirty="0">
                <a:latin typeface="+mn-lt"/>
              </a:rPr>
              <a:t>Large-Scale Replay</a:t>
            </a:r>
          </a:p>
          <a:p>
            <a:pPr lvl="1"/>
            <a:r>
              <a:rPr lang="en-US" sz="1800" b="1" dirty="0">
                <a:latin typeface="+mn-lt"/>
              </a:rPr>
              <a:t>Interconnection: </a:t>
            </a:r>
            <a:r>
              <a:rPr lang="en-US" sz="1800" dirty="0">
                <a:latin typeface="+mn-lt"/>
              </a:rPr>
              <a:t>Scalability &amp; Portability</a:t>
            </a:r>
          </a:p>
        </p:txBody>
      </p:sp>
      <p:sp>
        <p:nvSpPr>
          <p:cNvPr id="5" name="灯片编号占位符 4">
            <a:extLst>
              <a:ext uri="{FF2B5EF4-FFF2-40B4-BE49-F238E27FC236}">
                <a16:creationId xmlns:a16="http://schemas.microsoft.com/office/drawing/2014/main" id="{D76FE9BC-58E2-9159-B415-E74CA0D0CD24}"/>
              </a:ext>
            </a:extLst>
          </p:cNvPr>
          <p:cNvSpPr>
            <a:spLocks noGrp="1"/>
          </p:cNvSpPr>
          <p:nvPr>
            <p:ph type="sldNum" sz="quarter" idx="12"/>
          </p:nvPr>
        </p:nvSpPr>
        <p:spPr/>
        <p:txBody>
          <a:bodyPr/>
          <a:lstStyle/>
          <a:p>
            <a:fld id="{07B19D4B-9808-1A4C-B845-D9471D0CA790}" type="slidenum">
              <a:rPr kumimoji="1" lang="zh-CN" altLang="en-US" smtClean="0"/>
              <a:t>5</a:t>
            </a:fld>
            <a:endParaRPr kumimoji="1" lang="zh-CN" altLang="en-US" dirty="0"/>
          </a:p>
        </p:txBody>
      </p:sp>
      <p:pic>
        <p:nvPicPr>
          <p:cNvPr id="4" name="Picture 3">
            <a:extLst>
              <a:ext uri="{FF2B5EF4-FFF2-40B4-BE49-F238E27FC236}">
                <a16:creationId xmlns:a16="http://schemas.microsoft.com/office/drawing/2014/main" id="{3E24DE00-4157-BCB2-F80F-EBB895F9F6E2}"/>
              </a:ext>
            </a:extLst>
          </p:cNvPr>
          <p:cNvPicPr>
            <a:picLocks noChangeAspect="1"/>
          </p:cNvPicPr>
          <p:nvPr/>
        </p:nvPicPr>
        <p:blipFill>
          <a:blip r:embed="rId3"/>
          <a:stretch>
            <a:fillRect/>
          </a:stretch>
        </p:blipFill>
        <p:spPr>
          <a:xfrm>
            <a:off x="6299238" y="2469957"/>
            <a:ext cx="5656729" cy="3007484"/>
          </a:xfrm>
          <a:prstGeom prst="rect">
            <a:avLst/>
          </a:prstGeom>
        </p:spPr>
      </p:pic>
    </p:spTree>
    <p:extLst>
      <p:ext uri="{BB962C8B-B14F-4D97-AF65-F5344CB8AC3E}">
        <p14:creationId xmlns:p14="http://schemas.microsoft.com/office/powerpoint/2010/main" val="3357885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FB073-AA95-AA26-E890-D7C703F732B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6B514C6-EEDF-CE61-51F4-B2892BAAC88E}"/>
              </a:ext>
            </a:extLst>
          </p:cNvPr>
          <p:cNvSpPr>
            <a:spLocks noGrp="1"/>
          </p:cNvSpPr>
          <p:nvPr>
            <p:ph type="title"/>
          </p:nvPr>
        </p:nvSpPr>
        <p:spPr/>
        <p:txBody>
          <a:bodyPr>
            <a:normAutofit/>
          </a:bodyPr>
          <a:lstStyle/>
          <a:p>
            <a:r>
              <a:rPr lang="en-US" altLang="zh-CN" dirty="0">
                <a:latin typeface="+mn-lt"/>
              </a:rPr>
              <a:t>Related Work: </a:t>
            </a:r>
            <a:r>
              <a:rPr lang="en-US" dirty="0">
                <a:latin typeface="+mn-lt"/>
              </a:rPr>
              <a:t>Automated </a:t>
            </a:r>
            <a:r>
              <a:rPr lang="en-US" altLang="zh-CN" dirty="0">
                <a:latin typeface="+mn-lt"/>
              </a:rPr>
              <a:t>Circuit Partition</a:t>
            </a:r>
          </a:p>
        </p:txBody>
      </p:sp>
      <p:sp>
        <p:nvSpPr>
          <p:cNvPr id="3" name="内容占位符 2">
            <a:extLst>
              <a:ext uri="{FF2B5EF4-FFF2-40B4-BE49-F238E27FC236}">
                <a16:creationId xmlns:a16="http://schemas.microsoft.com/office/drawing/2014/main" id="{C09092F4-B5C8-0FDC-BAA6-5A96F3A65851}"/>
              </a:ext>
            </a:extLst>
          </p:cNvPr>
          <p:cNvSpPr>
            <a:spLocks noGrp="1"/>
          </p:cNvSpPr>
          <p:nvPr>
            <p:ph idx="1"/>
          </p:nvPr>
        </p:nvSpPr>
        <p:spPr>
          <a:xfrm>
            <a:off x="236034" y="1026272"/>
            <a:ext cx="11561956" cy="5318561"/>
          </a:xfrm>
        </p:spPr>
        <p:txBody>
          <a:bodyPr>
            <a:normAutofit/>
          </a:bodyPr>
          <a:lstStyle/>
          <a:p>
            <a:pPr>
              <a:lnSpc>
                <a:spcPct val="150000"/>
              </a:lnSpc>
            </a:pPr>
            <a:r>
              <a:rPr lang="en-US" sz="2000" b="1" dirty="0">
                <a:latin typeface="+mn-lt"/>
              </a:rPr>
              <a:t>Foundations: From Graph to Hypergraph</a:t>
            </a:r>
            <a:endParaRPr lang="en-US" sz="2000" dirty="0">
              <a:latin typeface="+mn-lt"/>
            </a:endParaRPr>
          </a:p>
          <a:p>
            <a:pPr lvl="1">
              <a:lnSpc>
                <a:spcPct val="150000"/>
              </a:lnSpc>
            </a:pPr>
            <a:r>
              <a:rPr lang="en-US" sz="1800" b="1" dirty="0">
                <a:latin typeface="+mn-lt"/>
              </a:rPr>
              <a:t>Early Approaches:</a:t>
            </a:r>
            <a:r>
              <a:rPr lang="en-US" sz="1800" dirty="0">
                <a:latin typeface="+mn-lt"/>
              </a:rPr>
              <a:t> Originated from VLSI physical design </a:t>
            </a:r>
          </a:p>
          <a:p>
            <a:pPr lvl="1">
              <a:lnSpc>
                <a:spcPct val="150000"/>
              </a:lnSpc>
            </a:pPr>
            <a:r>
              <a:rPr lang="en-US" sz="1800" b="1" dirty="0">
                <a:latin typeface="+mn-lt"/>
              </a:rPr>
              <a:t>The Modern Standard:</a:t>
            </a:r>
            <a:r>
              <a:rPr lang="en-US" sz="1800" dirty="0">
                <a:latin typeface="+mn-lt"/>
              </a:rPr>
              <a:t> </a:t>
            </a:r>
            <a:r>
              <a:rPr lang="en-US" sz="1800" b="1" dirty="0">
                <a:latin typeface="+mn-lt"/>
              </a:rPr>
              <a:t>Hypergraph Model</a:t>
            </a:r>
          </a:p>
          <a:p>
            <a:pPr lvl="2">
              <a:lnSpc>
                <a:spcPct val="150000"/>
              </a:lnSpc>
            </a:pPr>
            <a:r>
              <a:rPr lang="en-US" sz="1600" dirty="0">
                <a:latin typeface="+mn-lt"/>
              </a:rPr>
              <a:t>Accurately models multi-port nets (1-to-many connections)</a:t>
            </a:r>
          </a:p>
          <a:p>
            <a:pPr lvl="2">
              <a:lnSpc>
                <a:spcPct val="150000"/>
              </a:lnSpc>
            </a:pPr>
            <a:r>
              <a:rPr lang="en-US" sz="1600" dirty="0">
                <a:latin typeface="+mn-lt"/>
              </a:rPr>
              <a:t>Remains the algorithmic backbone for today's tools</a:t>
            </a:r>
          </a:p>
          <a:p>
            <a:pPr>
              <a:lnSpc>
                <a:spcPct val="150000"/>
              </a:lnSpc>
            </a:pPr>
            <a:r>
              <a:rPr lang="en-US" sz="2000" b="1" dirty="0">
                <a:latin typeface="+mn-lt"/>
              </a:rPr>
              <a:t>Limitations of State-of-the-Art</a:t>
            </a:r>
            <a:endParaRPr lang="en-US" sz="2000" dirty="0">
              <a:latin typeface="+mn-lt"/>
            </a:endParaRPr>
          </a:p>
          <a:p>
            <a:pPr lvl="1">
              <a:lnSpc>
                <a:spcPct val="150000"/>
              </a:lnSpc>
            </a:pPr>
            <a:r>
              <a:rPr lang="en-US" sz="1800" dirty="0" err="1">
                <a:latin typeface="+mn-lt"/>
              </a:rPr>
              <a:t>FireAxe</a:t>
            </a:r>
            <a:r>
              <a:rPr lang="en-US" sz="1800" dirty="0">
                <a:latin typeface="+mn-lt"/>
              </a:rPr>
              <a:t>: High performance but relies on </a:t>
            </a:r>
            <a:r>
              <a:rPr lang="en-US" sz="1800" b="1" dirty="0">
                <a:latin typeface="+mn-lt"/>
              </a:rPr>
              <a:t>Manual Partition</a:t>
            </a:r>
            <a:endParaRPr lang="en-US" sz="1800" dirty="0">
              <a:latin typeface="+mn-lt"/>
            </a:endParaRPr>
          </a:p>
          <a:p>
            <a:pPr lvl="1">
              <a:lnSpc>
                <a:spcPct val="150000"/>
              </a:lnSpc>
            </a:pPr>
            <a:r>
              <a:rPr lang="en-US" sz="1800" dirty="0" err="1">
                <a:latin typeface="+mn-lt"/>
              </a:rPr>
              <a:t>ViTAL</a:t>
            </a:r>
            <a:r>
              <a:rPr lang="en-US" sz="1800" dirty="0">
                <a:latin typeface="+mn-lt"/>
              </a:rPr>
              <a:t> &amp; DUOHUAFEN: Limited to </a:t>
            </a:r>
            <a:r>
              <a:rPr lang="en-US" sz="1800" b="1" dirty="0">
                <a:latin typeface="+mn-lt"/>
              </a:rPr>
              <a:t>Fixed Granularity</a:t>
            </a:r>
            <a:endParaRPr lang="en-US" sz="1800" dirty="0">
              <a:latin typeface="+mn-lt"/>
            </a:endParaRPr>
          </a:p>
          <a:p>
            <a:pPr>
              <a:lnSpc>
                <a:spcPct val="150000"/>
              </a:lnSpc>
            </a:pPr>
            <a:r>
              <a:rPr lang="en-US" sz="2000" b="1" dirty="0">
                <a:latin typeface="+mn-lt"/>
              </a:rPr>
              <a:t>Research Goal: </a:t>
            </a:r>
            <a:r>
              <a:rPr lang="en-US" sz="2000" dirty="0">
                <a:latin typeface="+mn-lt"/>
              </a:rPr>
              <a:t>A </a:t>
            </a:r>
            <a:r>
              <a:rPr lang="en-US" sz="2000" b="1" dirty="0">
                <a:latin typeface="+mn-lt"/>
              </a:rPr>
              <a:t>Fully Automated</a:t>
            </a:r>
            <a:r>
              <a:rPr lang="en-US" sz="2000" dirty="0">
                <a:latin typeface="+mn-lt"/>
              </a:rPr>
              <a:t> partition technology supporting </a:t>
            </a:r>
            <a:r>
              <a:rPr lang="en-US" sz="2000" b="1" dirty="0">
                <a:latin typeface="+mn-lt"/>
              </a:rPr>
              <a:t>Multi-Granularity</a:t>
            </a:r>
            <a:endParaRPr lang="en-US" sz="2000" dirty="0">
              <a:latin typeface="+mn-lt"/>
            </a:endParaRPr>
          </a:p>
        </p:txBody>
      </p:sp>
      <p:sp>
        <p:nvSpPr>
          <p:cNvPr id="5" name="灯片编号占位符 4">
            <a:extLst>
              <a:ext uri="{FF2B5EF4-FFF2-40B4-BE49-F238E27FC236}">
                <a16:creationId xmlns:a16="http://schemas.microsoft.com/office/drawing/2014/main" id="{5F12B505-E909-34C2-E695-F8923FD018D8}"/>
              </a:ext>
            </a:extLst>
          </p:cNvPr>
          <p:cNvSpPr>
            <a:spLocks noGrp="1"/>
          </p:cNvSpPr>
          <p:nvPr>
            <p:ph type="sldNum" sz="quarter" idx="12"/>
          </p:nvPr>
        </p:nvSpPr>
        <p:spPr/>
        <p:txBody>
          <a:bodyPr/>
          <a:lstStyle/>
          <a:p>
            <a:fld id="{07B19D4B-9808-1A4C-B845-D9471D0CA790}" type="slidenum">
              <a:rPr kumimoji="1" lang="zh-CN" altLang="en-US" smtClean="0"/>
              <a:t>6</a:t>
            </a:fld>
            <a:endParaRPr kumimoji="1" lang="zh-CN" altLang="en-US"/>
          </a:p>
        </p:txBody>
      </p:sp>
      <p:pic>
        <p:nvPicPr>
          <p:cNvPr id="6" name="图片 13">
            <a:extLst>
              <a:ext uri="{FF2B5EF4-FFF2-40B4-BE49-F238E27FC236}">
                <a16:creationId xmlns:a16="http://schemas.microsoft.com/office/drawing/2014/main" id="{B9B4194A-211F-96FF-B9AB-77CC672322EE}"/>
              </a:ext>
            </a:extLst>
          </p:cNvPr>
          <p:cNvPicPr>
            <a:picLocks noChangeAspect="1"/>
          </p:cNvPicPr>
          <p:nvPr/>
        </p:nvPicPr>
        <p:blipFill>
          <a:blip r:embed="rId3"/>
          <a:srcRect r="55480"/>
          <a:stretch>
            <a:fillRect/>
          </a:stretch>
        </p:blipFill>
        <p:spPr>
          <a:xfrm>
            <a:off x="8536381" y="1037791"/>
            <a:ext cx="2762943" cy="1658786"/>
          </a:xfrm>
          <a:prstGeom prst="rect">
            <a:avLst/>
          </a:prstGeom>
        </p:spPr>
      </p:pic>
      <p:pic>
        <p:nvPicPr>
          <p:cNvPr id="7" name="图片 13">
            <a:extLst>
              <a:ext uri="{FF2B5EF4-FFF2-40B4-BE49-F238E27FC236}">
                <a16:creationId xmlns:a16="http://schemas.microsoft.com/office/drawing/2014/main" id="{A3740D6A-D08B-2642-5198-678AA307D45A}"/>
              </a:ext>
            </a:extLst>
          </p:cNvPr>
          <p:cNvPicPr>
            <a:picLocks noChangeAspect="1"/>
          </p:cNvPicPr>
          <p:nvPr/>
        </p:nvPicPr>
        <p:blipFill>
          <a:blip r:embed="rId3"/>
          <a:srcRect l="55480"/>
          <a:stretch>
            <a:fillRect/>
          </a:stretch>
        </p:blipFill>
        <p:spPr>
          <a:xfrm>
            <a:off x="8536380" y="2690377"/>
            <a:ext cx="2762944" cy="1658786"/>
          </a:xfrm>
          <a:prstGeom prst="rect">
            <a:avLst/>
          </a:prstGeom>
        </p:spPr>
      </p:pic>
      <p:sp>
        <p:nvSpPr>
          <p:cNvPr id="8" name="文本框 17">
            <a:extLst>
              <a:ext uri="{FF2B5EF4-FFF2-40B4-BE49-F238E27FC236}">
                <a16:creationId xmlns:a16="http://schemas.microsoft.com/office/drawing/2014/main" id="{733E8920-9842-97A0-18E0-7F2C5DCFA29B}"/>
              </a:ext>
            </a:extLst>
          </p:cNvPr>
          <p:cNvSpPr txBox="1"/>
          <p:nvPr/>
        </p:nvSpPr>
        <p:spPr>
          <a:xfrm>
            <a:off x="8857150" y="4372192"/>
            <a:ext cx="2121404" cy="461665"/>
          </a:xfrm>
          <a:prstGeom prst="rect">
            <a:avLst/>
          </a:prstGeom>
          <a:noFill/>
        </p:spPr>
        <p:txBody>
          <a:bodyPr wrap="square">
            <a:spAutoFit/>
          </a:bodyPr>
          <a:lstStyle/>
          <a:p>
            <a:pPr algn="ctr"/>
            <a:r>
              <a:rPr kumimoji="0" lang="en-US" altLang="zh-CN" sz="1200" b="0" i="0" u="none" strike="noStrike" kern="1200" cap="none" spc="0" normalizeH="0" noProof="0" dirty="0">
                <a:ln>
                  <a:noFill/>
                </a:ln>
                <a:solidFill>
                  <a:prstClr val="black"/>
                </a:solidFill>
                <a:effectLst/>
                <a:uLnTx/>
                <a:uFillTx/>
                <a:latin typeface="Noto Sans" panose="020B0502040504020204" pitchFamily="34" charset="0"/>
                <a:ea typeface="Noto Sans CJK SC" panose="020B0500000000000000" pitchFamily="34" charset="-122"/>
                <a:cs typeface="+mn-cs"/>
              </a:rPr>
              <a:t>From netlist to hypergraph </a:t>
            </a:r>
            <a:r>
              <a:rPr kumimoji="0" lang="zh-CN" altLang="en-US" sz="1200" b="0" i="0" u="none" strike="noStrike" kern="1200" cap="none" spc="0" normalizeH="0" noProof="0" dirty="0">
                <a:ln>
                  <a:noFill/>
                </a:ln>
                <a:solidFill>
                  <a:prstClr val="black"/>
                </a:solidFill>
                <a:effectLst/>
                <a:uLnTx/>
                <a:uFillTx/>
                <a:latin typeface="Noto Sans" panose="020B0502040504020204" pitchFamily="34" charset="0"/>
                <a:ea typeface="Noto Sans CJK SC" panose="020B0500000000000000" pitchFamily="34" charset="-122"/>
                <a:cs typeface="+mn-cs"/>
              </a:rPr>
              <a:t> </a:t>
            </a:r>
            <a:r>
              <a:rPr kumimoji="0" lang="en-US" altLang="zh-CN" sz="1200" b="0" i="0" u="none" strike="noStrike" kern="1200" cap="none" spc="0" normalizeH="0" noProof="0" dirty="0">
                <a:ln>
                  <a:noFill/>
                </a:ln>
                <a:solidFill>
                  <a:prstClr val="black"/>
                </a:solidFill>
                <a:effectLst/>
                <a:uLnTx/>
                <a:uFillTx/>
                <a:latin typeface="Noto Sans" panose="020B0502040504020204" pitchFamily="34" charset="0"/>
                <a:ea typeface="Noto Sans CJK SC" panose="020B0500000000000000" pitchFamily="34" charset="-122"/>
                <a:cs typeface="+mn-cs"/>
              </a:rPr>
              <a:t>(ACM J. Exp. Algo., 2023)</a:t>
            </a:r>
            <a:endParaRPr lang="zh-CN" altLang="en-US" sz="1200" baseline="30000" dirty="0">
              <a:latin typeface="Noto Sans" panose="020B0502040504020204" pitchFamily="34" charset="0"/>
              <a:ea typeface="Noto Sans CJK SC" panose="020B0500000000000000" pitchFamily="34" charset="-122"/>
            </a:endParaRPr>
          </a:p>
        </p:txBody>
      </p:sp>
    </p:spTree>
    <p:extLst>
      <p:ext uri="{BB962C8B-B14F-4D97-AF65-F5344CB8AC3E}">
        <p14:creationId xmlns:p14="http://schemas.microsoft.com/office/powerpoint/2010/main" val="3834060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7240B-0C9C-6A01-A363-B1FD1C436EA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3716D7-43DC-FA48-AF2B-3C7EDBD3089E}"/>
              </a:ext>
            </a:extLst>
          </p:cNvPr>
          <p:cNvSpPr>
            <a:spLocks noGrp="1"/>
          </p:cNvSpPr>
          <p:nvPr>
            <p:ph type="title"/>
          </p:nvPr>
        </p:nvSpPr>
        <p:spPr/>
        <p:txBody>
          <a:bodyPr>
            <a:normAutofit/>
          </a:bodyPr>
          <a:lstStyle/>
          <a:p>
            <a:r>
              <a:rPr lang="en-US" altLang="zh-CN" dirty="0">
                <a:latin typeface="+mn-lt"/>
              </a:rPr>
              <a:t>Related Work: Boundary Interface in Integration</a:t>
            </a:r>
          </a:p>
        </p:txBody>
      </p:sp>
      <p:sp>
        <p:nvSpPr>
          <p:cNvPr id="3" name="内容占位符 2">
            <a:extLst>
              <a:ext uri="{FF2B5EF4-FFF2-40B4-BE49-F238E27FC236}">
                <a16:creationId xmlns:a16="http://schemas.microsoft.com/office/drawing/2014/main" id="{7F6B5602-697E-B8E0-B661-4CF66DAC01CA}"/>
              </a:ext>
            </a:extLst>
          </p:cNvPr>
          <p:cNvSpPr>
            <a:spLocks noGrp="1"/>
          </p:cNvSpPr>
          <p:nvPr>
            <p:ph idx="1"/>
          </p:nvPr>
        </p:nvSpPr>
        <p:spPr>
          <a:xfrm>
            <a:off x="236034" y="1026272"/>
            <a:ext cx="11561956" cy="5318561"/>
          </a:xfrm>
        </p:spPr>
        <p:txBody>
          <a:bodyPr>
            <a:normAutofit/>
          </a:bodyPr>
          <a:lstStyle/>
          <a:p>
            <a:pPr>
              <a:lnSpc>
                <a:spcPct val="150000"/>
              </a:lnSpc>
            </a:pPr>
            <a:r>
              <a:rPr lang="en-US" sz="2000" b="1" dirty="0">
                <a:latin typeface="+mn-lt"/>
              </a:rPr>
              <a:t>The Key to Scalability</a:t>
            </a:r>
            <a:endParaRPr lang="en-US" sz="2000" dirty="0">
              <a:latin typeface="+mn-lt"/>
            </a:endParaRPr>
          </a:p>
          <a:p>
            <a:pPr lvl="1"/>
            <a:r>
              <a:rPr lang="en-US" sz="1800" b="1" dirty="0">
                <a:latin typeface="+mn-lt"/>
              </a:rPr>
              <a:t>Role:</a:t>
            </a:r>
            <a:r>
              <a:rPr lang="en-US" sz="1800" dirty="0">
                <a:latin typeface="+mn-lt"/>
              </a:rPr>
              <a:t> Ensures semantic consistency when splitting a design across FPGAs</a:t>
            </a:r>
          </a:p>
          <a:p>
            <a:pPr lvl="1"/>
            <a:r>
              <a:rPr lang="en-US" sz="1800" b="1" dirty="0">
                <a:latin typeface="+mn-lt"/>
              </a:rPr>
              <a:t>Scientific Challenges:</a:t>
            </a:r>
            <a:endParaRPr lang="en-US" sz="1800" dirty="0">
              <a:latin typeface="+mn-lt"/>
            </a:endParaRPr>
          </a:p>
          <a:p>
            <a:pPr lvl="2"/>
            <a:r>
              <a:rPr lang="en-US" sz="1600" dirty="0">
                <a:latin typeface="+mn-lt"/>
              </a:rPr>
              <a:t>Handling </a:t>
            </a:r>
            <a:r>
              <a:rPr lang="en-US" sz="1600" b="1" dirty="0">
                <a:latin typeface="+mn-lt"/>
              </a:rPr>
              <a:t>Cross-boundary Combinational Paths</a:t>
            </a:r>
            <a:endParaRPr lang="en-US" sz="1600" dirty="0">
              <a:latin typeface="+mn-lt"/>
            </a:endParaRPr>
          </a:p>
          <a:p>
            <a:pPr lvl="2"/>
            <a:r>
              <a:rPr lang="en-US" sz="1600" dirty="0">
                <a:latin typeface="+mn-lt"/>
              </a:rPr>
              <a:t>Balancing </a:t>
            </a:r>
            <a:r>
              <a:rPr lang="en-US" sz="1600" b="1" dirty="0">
                <a:latin typeface="+mn-lt"/>
              </a:rPr>
              <a:t>Bandwidth</a:t>
            </a:r>
            <a:r>
              <a:rPr lang="en-US" sz="1600" dirty="0">
                <a:latin typeface="+mn-lt"/>
              </a:rPr>
              <a:t> vs. </a:t>
            </a:r>
            <a:r>
              <a:rPr lang="en-US" sz="1600" b="1" dirty="0">
                <a:latin typeface="+mn-lt"/>
              </a:rPr>
              <a:t>Communication Latency</a:t>
            </a:r>
            <a:endParaRPr lang="en-US" sz="1600" dirty="0">
              <a:latin typeface="+mn-lt"/>
            </a:endParaRPr>
          </a:p>
          <a:p>
            <a:r>
              <a:rPr lang="en-US" sz="2000" b="1" dirty="0">
                <a:latin typeface="+mn-lt"/>
              </a:rPr>
              <a:t>Classic Approaches</a:t>
            </a:r>
            <a:endParaRPr lang="en-US" sz="2000" dirty="0">
              <a:latin typeface="+mn-lt"/>
            </a:endParaRPr>
          </a:p>
          <a:p>
            <a:pPr lvl="1"/>
            <a:r>
              <a:rPr lang="en-US" sz="1800" dirty="0">
                <a:latin typeface="+mn-lt"/>
              </a:rPr>
              <a:t>Time-Division Multiplexing</a:t>
            </a:r>
          </a:p>
          <a:p>
            <a:pPr lvl="1"/>
            <a:r>
              <a:rPr lang="en-US" sz="1800" dirty="0">
                <a:latin typeface="+mn-lt"/>
              </a:rPr>
              <a:t>Latency-Insensitive</a:t>
            </a:r>
          </a:p>
          <a:p>
            <a:r>
              <a:rPr lang="en-US" sz="2000" b="1" dirty="0">
                <a:latin typeface="+mn-lt"/>
              </a:rPr>
              <a:t>Evolution of Hybrid Interfaces</a:t>
            </a:r>
            <a:endParaRPr lang="en-US" sz="2000" dirty="0">
              <a:latin typeface="+mn-lt"/>
            </a:endParaRPr>
          </a:p>
          <a:p>
            <a:pPr lvl="1"/>
            <a:r>
              <a:rPr lang="en-US" sz="1800" b="1" dirty="0">
                <a:latin typeface="+mn-lt"/>
              </a:rPr>
              <a:t>LI-BDN:</a:t>
            </a:r>
            <a:r>
              <a:rPr lang="en-US" sz="1800" dirty="0">
                <a:latin typeface="+mn-lt"/>
              </a:rPr>
              <a:t> Supports combinational logic but </a:t>
            </a:r>
            <a:r>
              <a:rPr lang="en-US" sz="1800" b="1" dirty="0">
                <a:latin typeface="+mn-lt"/>
              </a:rPr>
              <a:t>complex to implement</a:t>
            </a:r>
            <a:endParaRPr lang="en-US" sz="1800" dirty="0">
              <a:latin typeface="+mn-lt"/>
            </a:endParaRPr>
          </a:p>
          <a:p>
            <a:pPr lvl="1"/>
            <a:r>
              <a:rPr lang="en-US" sz="1800" b="1" dirty="0">
                <a:latin typeface="+mn-lt"/>
              </a:rPr>
              <a:t>LI-TDM (foundation):</a:t>
            </a:r>
            <a:endParaRPr lang="en-US" sz="1800" dirty="0">
              <a:latin typeface="+mn-lt"/>
            </a:endParaRPr>
          </a:p>
          <a:p>
            <a:pPr lvl="2"/>
            <a:r>
              <a:rPr lang="en-US" sz="1600" dirty="0">
                <a:latin typeface="+mn-lt"/>
              </a:rPr>
              <a:t>Combines the robustness of LI with the logic support of TDM</a:t>
            </a:r>
          </a:p>
          <a:p>
            <a:pPr lvl="2"/>
            <a:r>
              <a:rPr lang="en-US" sz="1600" b="1" dirty="0">
                <a:latin typeface="+mn-lt"/>
              </a:rPr>
              <a:t>Lightweight &amp; Timing-Simple</a:t>
            </a:r>
            <a:endParaRPr lang="en-US" sz="2000" dirty="0">
              <a:latin typeface="+mn-lt"/>
            </a:endParaRPr>
          </a:p>
        </p:txBody>
      </p:sp>
      <p:sp>
        <p:nvSpPr>
          <p:cNvPr id="5" name="灯片编号占位符 4">
            <a:extLst>
              <a:ext uri="{FF2B5EF4-FFF2-40B4-BE49-F238E27FC236}">
                <a16:creationId xmlns:a16="http://schemas.microsoft.com/office/drawing/2014/main" id="{CD4C2D3D-4183-9104-8C44-3F70D290267F}"/>
              </a:ext>
            </a:extLst>
          </p:cNvPr>
          <p:cNvSpPr>
            <a:spLocks noGrp="1"/>
          </p:cNvSpPr>
          <p:nvPr>
            <p:ph type="sldNum" sz="quarter" idx="12"/>
          </p:nvPr>
        </p:nvSpPr>
        <p:spPr/>
        <p:txBody>
          <a:bodyPr/>
          <a:lstStyle/>
          <a:p>
            <a:fld id="{07B19D4B-9808-1A4C-B845-D9471D0CA790}" type="slidenum">
              <a:rPr kumimoji="1" lang="zh-CN" altLang="en-US" smtClean="0"/>
              <a:t>7</a:t>
            </a:fld>
            <a:endParaRPr kumimoji="1" lang="zh-CN" altLang="en-US"/>
          </a:p>
        </p:txBody>
      </p:sp>
      <p:pic>
        <p:nvPicPr>
          <p:cNvPr id="6" name="Picture 5">
            <a:extLst>
              <a:ext uri="{FF2B5EF4-FFF2-40B4-BE49-F238E27FC236}">
                <a16:creationId xmlns:a16="http://schemas.microsoft.com/office/drawing/2014/main" id="{2116FF88-7DE9-EF71-B55D-7A041F02658F}"/>
              </a:ext>
            </a:extLst>
          </p:cNvPr>
          <p:cNvPicPr>
            <a:picLocks noChangeAspect="1"/>
          </p:cNvPicPr>
          <p:nvPr/>
        </p:nvPicPr>
        <p:blipFill>
          <a:blip r:embed="rId3">
            <a:alphaModFix/>
          </a:blip>
          <a:stretch>
            <a:fillRect/>
          </a:stretch>
        </p:blipFill>
        <p:spPr>
          <a:xfrm>
            <a:off x="8907437" y="1864615"/>
            <a:ext cx="2601549" cy="3141405"/>
          </a:xfrm>
          <a:prstGeom prst="rect">
            <a:avLst/>
          </a:prstGeom>
        </p:spPr>
      </p:pic>
      <p:sp>
        <p:nvSpPr>
          <p:cNvPr id="8" name="文本框 17">
            <a:extLst>
              <a:ext uri="{FF2B5EF4-FFF2-40B4-BE49-F238E27FC236}">
                <a16:creationId xmlns:a16="http://schemas.microsoft.com/office/drawing/2014/main" id="{148DA3F5-2D22-1ED6-4046-CCC31218A446}"/>
              </a:ext>
            </a:extLst>
          </p:cNvPr>
          <p:cNvSpPr txBox="1"/>
          <p:nvPr/>
        </p:nvSpPr>
        <p:spPr>
          <a:xfrm>
            <a:off x="8907437" y="5006020"/>
            <a:ext cx="2601548" cy="461665"/>
          </a:xfrm>
          <a:prstGeom prst="rect">
            <a:avLst/>
          </a:prstGeom>
          <a:noFill/>
        </p:spPr>
        <p:txBody>
          <a:bodyPr wrap="square">
            <a:spAutoFit/>
          </a:bodyPr>
          <a:lstStyle/>
          <a:p>
            <a:pPr algn="ctr"/>
            <a:r>
              <a:rPr lang="en-US" altLang="zh-CN" sz="1200" dirty="0">
                <a:solidFill>
                  <a:prstClr val="black"/>
                </a:solidFill>
                <a:latin typeface="Noto Sans" panose="020B0502040504020204" pitchFamily="34" charset="0"/>
                <a:ea typeface="Noto Sans CJK SC" panose="020B0500000000000000" pitchFamily="34" charset="-122"/>
              </a:rPr>
              <a:t>The Implementation of </a:t>
            </a:r>
            <a:r>
              <a:rPr kumimoji="0" lang="en-US" altLang="zh-CN" sz="1200" b="0" i="0" u="none" strike="noStrike" kern="1200" cap="none" spc="0" normalizeH="0" noProof="0" dirty="0">
                <a:ln>
                  <a:noFill/>
                </a:ln>
                <a:solidFill>
                  <a:prstClr val="black"/>
                </a:solidFill>
                <a:effectLst/>
                <a:uLnTx/>
                <a:uFillTx/>
                <a:latin typeface="Noto Sans" panose="020B0502040504020204" pitchFamily="34" charset="0"/>
                <a:ea typeface="Noto Sans CJK SC" panose="020B0500000000000000" pitchFamily="34" charset="-122"/>
                <a:cs typeface="+mn-cs"/>
              </a:rPr>
              <a:t>LI-TDM</a:t>
            </a:r>
            <a:r>
              <a:rPr lang="zh-CN" altLang="en-US" sz="1200" dirty="0">
                <a:solidFill>
                  <a:prstClr val="black"/>
                </a:solidFill>
                <a:latin typeface="Noto Sans" panose="020B0502040504020204" pitchFamily="34" charset="0"/>
                <a:ea typeface="Noto Sans CJK SC" panose="020B0500000000000000" pitchFamily="34" charset="-122"/>
              </a:rPr>
              <a:t> </a:t>
            </a:r>
            <a:r>
              <a:rPr kumimoji="0" lang="en-US" altLang="zh-CN" sz="1200" b="0" i="0" u="none" strike="noStrike" kern="1200" cap="none" spc="0" normalizeH="0" noProof="0" dirty="0">
                <a:ln>
                  <a:noFill/>
                </a:ln>
                <a:solidFill>
                  <a:prstClr val="black"/>
                </a:solidFill>
                <a:effectLst/>
                <a:uLnTx/>
                <a:uFillTx/>
                <a:latin typeface="Noto Sans" panose="020B0502040504020204" pitchFamily="34" charset="0"/>
                <a:ea typeface="Noto Sans CJK SC" panose="020B0500000000000000" pitchFamily="34" charset="-122"/>
                <a:cs typeface="+mn-cs"/>
              </a:rPr>
              <a:t>(DUOHUAFEN., 2025)</a:t>
            </a:r>
            <a:endParaRPr lang="zh-CN" altLang="en-US" sz="1200" baseline="30000" dirty="0">
              <a:latin typeface="Noto Sans" panose="020B0502040504020204" pitchFamily="34" charset="0"/>
              <a:ea typeface="Noto Sans CJK SC" panose="020B0500000000000000" pitchFamily="34" charset="-122"/>
            </a:endParaRPr>
          </a:p>
        </p:txBody>
      </p:sp>
    </p:spTree>
    <p:extLst>
      <p:ext uri="{BB962C8B-B14F-4D97-AF65-F5344CB8AC3E}">
        <p14:creationId xmlns:p14="http://schemas.microsoft.com/office/powerpoint/2010/main" val="2921021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ABA38-04D3-E5F7-5CBE-9091A2DCAA4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9EDAF1-C1B5-86A1-C555-4487D0255472}"/>
              </a:ext>
            </a:extLst>
          </p:cNvPr>
          <p:cNvSpPr>
            <a:spLocks noGrp="1"/>
          </p:cNvSpPr>
          <p:nvPr>
            <p:ph type="title"/>
          </p:nvPr>
        </p:nvSpPr>
        <p:spPr/>
        <p:txBody>
          <a:bodyPr>
            <a:normAutofit/>
          </a:bodyPr>
          <a:lstStyle/>
          <a:p>
            <a:r>
              <a:rPr lang="en-US" altLang="zh-CN" dirty="0">
                <a:latin typeface="+mn-lt"/>
              </a:rPr>
              <a:t>Related Work: Scan</a:t>
            </a:r>
            <a:r>
              <a:rPr lang="zh-CN" altLang="en-US" dirty="0">
                <a:latin typeface="+mn-lt"/>
              </a:rPr>
              <a:t> </a:t>
            </a:r>
            <a:r>
              <a:rPr lang="en-US" altLang="zh-CN" dirty="0">
                <a:latin typeface="+mn-lt"/>
              </a:rPr>
              <a:t>Chain in Integration</a:t>
            </a:r>
          </a:p>
        </p:txBody>
      </p:sp>
      <p:sp>
        <p:nvSpPr>
          <p:cNvPr id="3" name="内容占位符 2">
            <a:extLst>
              <a:ext uri="{FF2B5EF4-FFF2-40B4-BE49-F238E27FC236}">
                <a16:creationId xmlns:a16="http://schemas.microsoft.com/office/drawing/2014/main" id="{7C8907E7-97C8-A6BC-82A6-CBC595D97350}"/>
              </a:ext>
            </a:extLst>
          </p:cNvPr>
          <p:cNvSpPr>
            <a:spLocks noGrp="1"/>
          </p:cNvSpPr>
          <p:nvPr>
            <p:ph idx="1"/>
          </p:nvPr>
        </p:nvSpPr>
        <p:spPr>
          <a:xfrm>
            <a:off x="236034" y="1026272"/>
            <a:ext cx="11561956" cy="5318561"/>
          </a:xfrm>
        </p:spPr>
        <p:txBody>
          <a:bodyPr>
            <a:normAutofit lnSpcReduction="10000"/>
          </a:bodyPr>
          <a:lstStyle/>
          <a:p>
            <a:pPr>
              <a:lnSpc>
                <a:spcPct val="160000"/>
              </a:lnSpc>
            </a:pPr>
            <a:r>
              <a:rPr lang="en-US" sz="2000" b="1" dirty="0">
                <a:latin typeface="+mn-lt"/>
              </a:rPr>
              <a:t>The Core Value of Scan Chain</a:t>
            </a:r>
            <a:endParaRPr lang="en-US" sz="2000" dirty="0">
              <a:latin typeface="+mn-lt"/>
            </a:endParaRPr>
          </a:p>
          <a:p>
            <a:pPr lvl="1">
              <a:lnSpc>
                <a:spcPct val="150000"/>
              </a:lnSpc>
            </a:pPr>
            <a:r>
              <a:rPr lang="en-US" sz="1800" b="1" dirty="0">
                <a:latin typeface="+mn-lt"/>
              </a:rPr>
              <a:t>Function:</a:t>
            </a:r>
            <a:r>
              <a:rPr lang="en-US" sz="1800" dirty="0">
                <a:latin typeface="+mn-lt"/>
              </a:rPr>
              <a:t> Connects storage elements (FFs, SRAMs) into serial chains</a:t>
            </a:r>
          </a:p>
          <a:p>
            <a:pPr lvl="1">
              <a:lnSpc>
                <a:spcPct val="150000"/>
              </a:lnSpc>
            </a:pPr>
            <a:r>
              <a:rPr lang="en-US" sz="1800" b="1" dirty="0">
                <a:latin typeface="+mn-lt"/>
              </a:rPr>
              <a:t>Benefit:</a:t>
            </a:r>
            <a:r>
              <a:rPr lang="en-US" sz="1800" dirty="0">
                <a:latin typeface="+mn-lt"/>
              </a:rPr>
              <a:t> Enables </a:t>
            </a:r>
            <a:r>
              <a:rPr lang="en-US" sz="1800" b="1" dirty="0">
                <a:latin typeface="+mn-lt"/>
              </a:rPr>
              <a:t>Cycle-Accurate</a:t>
            </a:r>
            <a:r>
              <a:rPr lang="en-US" sz="1800" dirty="0">
                <a:latin typeface="+mn-lt"/>
              </a:rPr>
              <a:t> and </a:t>
            </a:r>
            <a:r>
              <a:rPr lang="en-US" sz="1800" b="1" dirty="0">
                <a:latin typeface="+mn-lt"/>
              </a:rPr>
              <a:t>Bit-Exact</a:t>
            </a:r>
            <a:r>
              <a:rPr lang="en-US" sz="1800" dirty="0">
                <a:latin typeface="+mn-lt"/>
              </a:rPr>
              <a:t> waveform replay</a:t>
            </a:r>
            <a:endParaRPr lang="en-US" sz="1600" dirty="0">
              <a:latin typeface="+mn-lt"/>
            </a:endParaRPr>
          </a:p>
          <a:p>
            <a:pPr lvl="1">
              <a:lnSpc>
                <a:spcPct val="150000"/>
              </a:lnSpc>
            </a:pPr>
            <a:endParaRPr lang="en-US" sz="1600" dirty="0">
              <a:latin typeface="+mn-lt"/>
            </a:endParaRPr>
          </a:p>
          <a:p>
            <a:pPr>
              <a:lnSpc>
                <a:spcPct val="150000"/>
              </a:lnSpc>
            </a:pPr>
            <a:r>
              <a:rPr lang="en-US" sz="2000" b="1" dirty="0">
                <a:latin typeface="+mn-lt"/>
              </a:rPr>
              <a:t>Evolution of Tools</a:t>
            </a:r>
            <a:endParaRPr lang="en-US" sz="2000" dirty="0">
              <a:latin typeface="+mn-lt"/>
            </a:endParaRPr>
          </a:p>
          <a:p>
            <a:pPr lvl="1">
              <a:lnSpc>
                <a:spcPct val="150000"/>
              </a:lnSpc>
            </a:pPr>
            <a:r>
              <a:rPr lang="en-US" sz="1800" b="1" dirty="0" err="1">
                <a:latin typeface="+mn-lt"/>
              </a:rPr>
              <a:t>StateMover</a:t>
            </a:r>
            <a:r>
              <a:rPr lang="en-US" sz="1800" b="1" dirty="0">
                <a:latin typeface="+mn-lt"/>
              </a:rPr>
              <a:t>: </a:t>
            </a:r>
            <a:r>
              <a:rPr lang="en-US" sz="1600" dirty="0">
                <a:latin typeface="+mn-lt"/>
              </a:rPr>
              <a:t>Pioneered scan-based FPGA emulation</a:t>
            </a:r>
          </a:p>
          <a:p>
            <a:pPr lvl="2">
              <a:lnSpc>
                <a:spcPct val="150000"/>
              </a:lnSpc>
            </a:pPr>
            <a:r>
              <a:rPr lang="en-US" sz="1600" i="1" dirty="0">
                <a:latin typeface="+mn-lt"/>
              </a:rPr>
              <a:t>Con</a:t>
            </a:r>
            <a:r>
              <a:rPr lang="en-US" sz="1600" dirty="0">
                <a:latin typeface="+mn-lt"/>
              </a:rPr>
              <a:t>: No supports </a:t>
            </a:r>
            <a:r>
              <a:rPr lang="en-US" sz="1600" b="1" dirty="0">
                <a:latin typeface="+mn-lt"/>
              </a:rPr>
              <a:t>SRAM</a:t>
            </a:r>
            <a:endParaRPr lang="en-US" sz="1600" dirty="0">
              <a:latin typeface="+mn-lt"/>
            </a:endParaRPr>
          </a:p>
          <a:p>
            <a:pPr lvl="1">
              <a:lnSpc>
                <a:spcPct val="150000"/>
              </a:lnSpc>
            </a:pPr>
            <a:r>
              <a:rPr lang="en-US" sz="1800" b="1" dirty="0">
                <a:latin typeface="+mn-lt"/>
              </a:rPr>
              <a:t>REMU (Baseline):</a:t>
            </a:r>
            <a:endParaRPr lang="en-US" sz="1800" dirty="0">
              <a:latin typeface="+mn-lt"/>
            </a:endParaRPr>
          </a:p>
          <a:p>
            <a:pPr lvl="2">
              <a:lnSpc>
                <a:spcPct val="150000"/>
              </a:lnSpc>
            </a:pPr>
            <a:r>
              <a:rPr lang="en-US" sz="1600" i="1" dirty="0">
                <a:latin typeface="+mn-lt"/>
              </a:rPr>
              <a:t>Pro:</a:t>
            </a:r>
            <a:r>
              <a:rPr lang="en-US" sz="1600" dirty="0">
                <a:latin typeface="+mn-lt"/>
              </a:rPr>
              <a:t> Supports </a:t>
            </a:r>
            <a:r>
              <a:rPr lang="en-US" sz="1600" b="1" dirty="0">
                <a:latin typeface="+mn-lt"/>
              </a:rPr>
              <a:t>arbitrary sequential circuits</a:t>
            </a:r>
            <a:r>
              <a:rPr lang="en-US" sz="1600" dirty="0">
                <a:latin typeface="+mn-lt"/>
              </a:rPr>
              <a:t> (Registers + SRAMs)</a:t>
            </a:r>
          </a:p>
          <a:p>
            <a:pPr>
              <a:lnSpc>
                <a:spcPct val="150000"/>
              </a:lnSpc>
            </a:pPr>
            <a:r>
              <a:rPr lang="en-US" sz="2000" b="1" dirty="0">
                <a:latin typeface="+mn-lt"/>
              </a:rPr>
              <a:t>Challenge</a:t>
            </a:r>
            <a:endParaRPr lang="en-US" sz="2000" dirty="0">
              <a:latin typeface="+mn-lt"/>
            </a:endParaRPr>
          </a:p>
          <a:p>
            <a:pPr lvl="1">
              <a:lnSpc>
                <a:spcPct val="150000"/>
              </a:lnSpc>
            </a:pPr>
            <a:r>
              <a:rPr lang="en-US" sz="1800" dirty="0">
                <a:latin typeface="+mn-lt"/>
              </a:rPr>
              <a:t>From Single to Multi-FPGA: </a:t>
            </a:r>
            <a:r>
              <a:rPr lang="en-US" sz="1800" b="1" dirty="0">
                <a:latin typeface="+mn-lt"/>
              </a:rPr>
              <a:t>Global Consistency </a:t>
            </a:r>
            <a:r>
              <a:rPr lang="en-US" sz="1800" dirty="0">
                <a:latin typeface="+mn-lt"/>
              </a:rPr>
              <a:t>&amp; </a:t>
            </a:r>
            <a:r>
              <a:rPr lang="en-US" sz="1800" b="1" dirty="0">
                <a:latin typeface="+mn-lt"/>
              </a:rPr>
              <a:t>Atomic Pausing</a:t>
            </a:r>
          </a:p>
        </p:txBody>
      </p:sp>
      <p:sp>
        <p:nvSpPr>
          <p:cNvPr id="5" name="灯片编号占位符 4">
            <a:extLst>
              <a:ext uri="{FF2B5EF4-FFF2-40B4-BE49-F238E27FC236}">
                <a16:creationId xmlns:a16="http://schemas.microsoft.com/office/drawing/2014/main" id="{A5848B02-5F65-31B1-111C-47622B307DC9}"/>
              </a:ext>
            </a:extLst>
          </p:cNvPr>
          <p:cNvSpPr>
            <a:spLocks noGrp="1"/>
          </p:cNvSpPr>
          <p:nvPr>
            <p:ph type="sldNum" sz="quarter" idx="12"/>
          </p:nvPr>
        </p:nvSpPr>
        <p:spPr/>
        <p:txBody>
          <a:bodyPr/>
          <a:lstStyle/>
          <a:p>
            <a:fld id="{07B19D4B-9808-1A4C-B845-D9471D0CA790}" type="slidenum">
              <a:rPr kumimoji="1" lang="zh-CN" altLang="en-US" smtClean="0"/>
              <a:t>8</a:t>
            </a:fld>
            <a:endParaRPr kumimoji="1" lang="zh-CN" altLang="en-US"/>
          </a:p>
        </p:txBody>
      </p:sp>
      <p:pic>
        <p:nvPicPr>
          <p:cNvPr id="4" name="Picture 3">
            <a:extLst>
              <a:ext uri="{FF2B5EF4-FFF2-40B4-BE49-F238E27FC236}">
                <a16:creationId xmlns:a16="http://schemas.microsoft.com/office/drawing/2014/main" id="{19F4692A-9520-E94B-0405-6FF664479BC8}"/>
              </a:ext>
            </a:extLst>
          </p:cNvPr>
          <p:cNvPicPr>
            <a:picLocks noChangeAspect="1"/>
          </p:cNvPicPr>
          <p:nvPr/>
        </p:nvPicPr>
        <p:blipFill>
          <a:blip r:embed="rId3"/>
          <a:stretch>
            <a:fillRect/>
          </a:stretch>
        </p:blipFill>
        <p:spPr>
          <a:xfrm>
            <a:off x="3045139" y="2357354"/>
            <a:ext cx="6101721" cy="699884"/>
          </a:xfrm>
          <a:prstGeom prst="rect">
            <a:avLst/>
          </a:prstGeom>
        </p:spPr>
      </p:pic>
    </p:spTree>
    <p:extLst>
      <p:ext uri="{BB962C8B-B14F-4D97-AF65-F5344CB8AC3E}">
        <p14:creationId xmlns:p14="http://schemas.microsoft.com/office/powerpoint/2010/main" val="1901486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2B7C1-2B90-91D9-5547-C7DDF2ECA6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F6A5DE-9F7D-8FF9-827B-3F4E08932FA9}"/>
              </a:ext>
            </a:extLst>
          </p:cNvPr>
          <p:cNvSpPr>
            <a:spLocks noGrp="1"/>
          </p:cNvSpPr>
          <p:nvPr>
            <p:ph type="title"/>
          </p:nvPr>
        </p:nvSpPr>
        <p:spPr/>
        <p:txBody>
          <a:bodyPr>
            <a:normAutofit/>
          </a:bodyPr>
          <a:lstStyle/>
          <a:p>
            <a:r>
              <a:rPr lang="en-US" altLang="zh-CN" dirty="0">
                <a:latin typeface="+mn-lt"/>
              </a:rPr>
              <a:t>Related Work: Scalable &amp; Portable Interconnection</a:t>
            </a:r>
          </a:p>
        </p:txBody>
      </p:sp>
      <p:sp>
        <p:nvSpPr>
          <p:cNvPr id="3" name="内容占位符 2">
            <a:extLst>
              <a:ext uri="{FF2B5EF4-FFF2-40B4-BE49-F238E27FC236}">
                <a16:creationId xmlns:a16="http://schemas.microsoft.com/office/drawing/2014/main" id="{BF68EEB4-021C-AC7A-1426-082D03FCBA4D}"/>
              </a:ext>
            </a:extLst>
          </p:cNvPr>
          <p:cNvSpPr>
            <a:spLocks noGrp="1"/>
          </p:cNvSpPr>
          <p:nvPr>
            <p:ph idx="1"/>
          </p:nvPr>
        </p:nvSpPr>
        <p:spPr>
          <a:xfrm>
            <a:off x="236034" y="1026272"/>
            <a:ext cx="11561956" cy="5318561"/>
          </a:xfrm>
        </p:spPr>
        <p:txBody>
          <a:bodyPr>
            <a:normAutofit/>
          </a:bodyPr>
          <a:lstStyle/>
          <a:p>
            <a:pPr>
              <a:lnSpc>
                <a:spcPct val="150000"/>
              </a:lnSpc>
            </a:pPr>
            <a:r>
              <a:rPr lang="en-US" sz="2000" b="1" dirty="0">
                <a:latin typeface="+mn-lt"/>
              </a:rPr>
              <a:t>FPGA-to-FPGA Interconnection (Data Plane)</a:t>
            </a:r>
            <a:endParaRPr lang="en-US" sz="2000" dirty="0">
              <a:latin typeface="+mn-lt"/>
            </a:endParaRPr>
          </a:p>
          <a:p>
            <a:pPr lvl="1">
              <a:lnSpc>
                <a:spcPct val="100000"/>
              </a:lnSpc>
            </a:pPr>
            <a:r>
              <a:rPr lang="en-US" sz="1800" b="1" dirty="0">
                <a:latin typeface="+mn-lt"/>
              </a:rPr>
              <a:t>Increase of Speed: </a:t>
            </a:r>
            <a:r>
              <a:rPr lang="en-US" sz="1800" dirty="0">
                <a:latin typeface="+mn-lt"/>
              </a:rPr>
              <a:t>Network-based vs QSFP P2P</a:t>
            </a:r>
          </a:p>
          <a:p>
            <a:pPr lvl="1">
              <a:lnSpc>
                <a:spcPct val="100000"/>
              </a:lnSpc>
            </a:pPr>
            <a:r>
              <a:rPr lang="en-US" sz="1800" b="1" dirty="0">
                <a:latin typeface="+mn-lt"/>
              </a:rPr>
              <a:t>Abstraction:</a:t>
            </a:r>
            <a:r>
              <a:rPr lang="en-US" sz="1800" dirty="0">
                <a:latin typeface="+mn-lt"/>
              </a:rPr>
              <a:t> DUOHUAFEN</a:t>
            </a:r>
            <a:r>
              <a:rPr lang="en-US" sz="1800" b="1" dirty="0">
                <a:latin typeface="+mn-lt"/>
              </a:rPr>
              <a:t> </a:t>
            </a:r>
            <a:r>
              <a:rPr lang="en-US" sz="1800" dirty="0">
                <a:latin typeface="+mn-lt"/>
              </a:rPr>
              <a:t>proposed physical-channel-independent streaming for universality</a:t>
            </a:r>
          </a:p>
          <a:p>
            <a:pPr lvl="1">
              <a:lnSpc>
                <a:spcPct val="100000"/>
              </a:lnSpc>
            </a:pPr>
            <a:r>
              <a:rPr lang="en-US" sz="1800" b="1" dirty="0">
                <a:latin typeface="+mn-lt"/>
              </a:rPr>
              <a:t>The Gap:</a:t>
            </a:r>
            <a:r>
              <a:rPr lang="en-US" sz="1800" dirty="0">
                <a:latin typeface="+mn-lt"/>
              </a:rPr>
              <a:t> Existing works assume </a:t>
            </a:r>
            <a:r>
              <a:rPr lang="en-US" sz="1800" b="1" dirty="0">
                <a:latin typeface="+mn-lt"/>
              </a:rPr>
              <a:t>Homogeneous</a:t>
            </a:r>
            <a:r>
              <a:rPr lang="en-US" sz="1800" dirty="0">
                <a:latin typeface="+mn-lt"/>
              </a:rPr>
              <a:t> links, lacks of </a:t>
            </a:r>
            <a:r>
              <a:rPr lang="en-US" sz="1800" b="1" dirty="0">
                <a:latin typeface="+mn-lt"/>
              </a:rPr>
              <a:t>Heterogeneous links portability</a:t>
            </a:r>
            <a:endParaRPr lang="en-US" sz="1800" dirty="0">
              <a:latin typeface="+mn-lt"/>
            </a:endParaRPr>
          </a:p>
          <a:p>
            <a:pPr>
              <a:lnSpc>
                <a:spcPct val="100000"/>
              </a:lnSpc>
            </a:pPr>
            <a:r>
              <a:rPr lang="en-US" sz="2000" b="1" dirty="0">
                <a:latin typeface="+mn-lt"/>
              </a:rPr>
              <a:t>Host-to-FPGA Interconnection (Control Plane)</a:t>
            </a:r>
            <a:endParaRPr lang="en-US" sz="2000" dirty="0">
              <a:latin typeface="+mn-lt"/>
            </a:endParaRPr>
          </a:p>
          <a:p>
            <a:pPr lvl="1">
              <a:lnSpc>
                <a:spcPct val="100000"/>
              </a:lnSpc>
            </a:pPr>
            <a:r>
              <a:rPr lang="en-US" sz="1800" b="1" dirty="0">
                <a:latin typeface="+mn-lt"/>
              </a:rPr>
              <a:t>Limitation: </a:t>
            </a:r>
            <a:r>
              <a:rPr lang="en-US" sz="1800" dirty="0">
                <a:latin typeface="+mn-lt"/>
              </a:rPr>
              <a:t>Relies on direct PCIe connection (1-to-1 mapping)</a:t>
            </a:r>
          </a:p>
          <a:p>
            <a:pPr lvl="1">
              <a:lnSpc>
                <a:spcPct val="100000"/>
              </a:lnSpc>
            </a:pPr>
            <a:r>
              <a:rPr lang="en-US" sz="1800" b="1" dirty="0">
                <a:latin typeface="+mn-lt"/>
              </a:rPr>
              <a:t>The Challenge:</a:t>
            </a:r>
            <a:endParaRPr lang="en-US" sz="1800" dirty="0">
              <a:latin typeface="+mn-lt"/>
            </a:endParaRPr>
          </a:p>
          <a:p>
            <a:pPr lvl="2">
              <a:lnSpc>
                <a:spcPct val="100000"/>
              </a:lnSpc>
            </a:pPr>
            <a:r>
              <a:rPr lang="en-US" sz="1800" dirty="0">
                <a:latin typeface="+mn-lt"/>
              </a:rPr>
              <a:t>Developing a </a:t>
            </a:r>
            <a:r>
              <a:rPr lang="en-US" sz="1800" b="1" dirty="0">
                <a:latin typeface="+mn-lt"/>
              </a:rPr>
              <a:t>Scalable, Synchronized</a:t>
            </a:r>
            <a:r>
              <a:rPr lang="en-US" sz="1800" dirty="0">
                <a:latin typeface="+mn-lt"/>
              </a:rPr>
              <a:t> topology for 1-to-N communication (Host-to-Cluster)</a:t>
            </a:r>
          </a:p>
        </p:txBody>
      </p:sp>
      <p:sp>
        <p:nvSpPr>
          <p:cNvPr id="5" name="灯片编号占位符 4">
            <a:extLst>
              <a:ext uri="{FF2B5EF4-FFF2-40B4-BE49-F238E27FC236}">
                <a16:creationId xmlns:a16="http://schemas.microsoft.com/office/drawing/2014/main" id="{7756E993-405B-5DFC-06CB-19B2F2BB4611}"/>
              </a:ext>
            </a:extLst>
          </p:cNvPr>
          <p:cNvSpPr>
            <a:spLocks noGrp="1"/>
          </p:cNvSpPr>
          <p:nvPr>
            <p:ph type="sldNum" sz="quarter" idx="12"/>
          </p:nvPr>
        </p:nvSpPr>
        <p:spPr/>
        <p:txBody>
          <a:bodyPr/>
          <a:lstStyle/>
          <a:p>
            <a:fld id="{07B19D4B-9808-1A4C-B845-D9471D0CA790}" type="slidenum">
              <a:rPr kumimoji="1" lang="zh-CN" altLang="en-US" smtClean="0"/>
              <a:t>9</a:t>
            </a:fld>
            <a:endParaRPr kumimoji="1" lang="zh-CN" altLang="en-US"/>
          </a:p>
        </p:txBody>
      </p:sp>
      <p:pic>
        <p:nvPicPr>
          <p:cNvPr id="6" name="Picture 5">
            <a:extLst>
              <a:ext uri="{FF2B5EF4-FFF2-40B4-BE49-F238E27FC236}">
                <a16:creationId xmlns:a16="http://schemas.microsoft.com/office/drawing/2014/main" id="{7BF72D17-FD97-6774-F209-11B5514FB497}"/>
              </a:ext>
            </a:extLst>
          </p:cNvPr>
          <p:cNvPicPr>
            <a:picLocks noChangeAspect="1"/>
          </p:cNvPicPr>
          <p:nvPr/>
        </p:nvPicPr>
        <p:blipFill>
          <a:blip r:embed="rId3"/>
          <a:stretch>
            <a:fillRect/>
          </a:stretch>
        </p:blipFill>
        <p:spPr>
          <a:xfrm>
            <a:off x="3306715" y="3840128"/>
            <a:ext cx="5420591" cy="2710296"/>
          </a:xfrm>
          <a:prstGeom prst="rect">
            <a:avLst/>
          </a:prstGeom>
        </p:spPr>
      </p:pic>
    </p:spTree>
    <p:extLst>
      <p:ext uri="{BB962C8B-B14F-4D97-AF65-F5344CB8AC3E}">
        <p14:creationId xmlns:p14="http://schemas.microsoft.com/office/powerpoint/2010/main" val="1545193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927B7-75E3-6EE2-F54F-8D5BBEC7AA0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019796-371C-FA4B-744F-C464F586B3F2}"/>
              </a:ext>
            </a:extLst>
          </p:cNvPr>
          <p:cNvSpPr>
            <a:spLocks noGrp="1"/>
          </p:cNvSpPr>
          <p:nvPr>
            <p:ph type="title"/>
          </p:nvPr>
        </p:nvSpPr>
        <p:spPr/>
        <p:txBody>
          <a:bodyPr>
            <a:normAutofit/>
          </a:bodyPr>
          <a:lstStyle/>
          <a:p>
            <a:r>
              <a:rPr lang="en-US" dirty="0">
                <a:latin typeface="+mn-lt"/>
              </a:rPr>
              <a:t>Research Goal: The SMART Methodology</a:t>
            </a:r>
            <a:endParaRPr lang="en-US" altLang="zh-CN" dirty="0">
              <a:latin typeface="+mn-lt"/>
            </a:endParaRPr>
          </a:p>
        </p:txBody>
      </p:sp>
      <p:sp>
        <p:nvSpPr>
          <p:cNvPr id="3" name="内容占位符 2">
            <a:extLst>
              <a:ext uri="{FF2B5EF4-FFF2-40B4-BE49-F238E27FC236}">
                <a16:creationId xmlns:a16="http://schemas.microsoft.com/office/drawing/2014/main" id="{8E095C76-63DB-42AB-5919-6ED390CD1EBF}"/>
              </a:ext>
            </a:extLst>
          </p:cNvPr>
          <p:cNvSpPr>
            <a:spLocks noGrp="1"/>
          </p:cNvSpPr>
          <p:nvPr>
            <p:ph idx="1"/>
          </p:nvPr>
        </p:nvSpPr>
        <p:spPr>
          <a:xfrm>
            <a:off x="236034" y="1026272"/>
            <a:ext cx="11561956" cy="5318561"/>
          </a:xfrm>
        </p:spPr>
        <p:txBody>
          <a:bodyPr>
            <a:normAutofit/>
          </a:bodyPr>
          <a:lstStyle/>
          <a:p>
            <a:pPr>
              <a:lnSpc>
                <a:spcPct val="150000"/>
              </a:lnSpc>
            </a:pPr>
            <a:r>
              <a:rPr lang="en-US" sz="2000" b="1" dirty="0">
                <a:latin typeface="+mn-lt"/>
              </a:rPr>
              <a:t>Proposed Solution: SMART</a:t>
            </a:r>
            <a:endParaRPr lang="en-US" sz="2000" dirty="0">
              <a:latin typeface="+mn-lt"/>
            </a:endParaRPr>
          </a:p>
          <a:p>
            <a:pPr lvl="1">
              <a:lnSpc>
                <a:spcPct val="120000"/>
              </a:lnSpc>
            </a:pPr>
            <a:r>
              <a:rPr lang="en-US" sz="1800" b="1" dirty="0">
                <a:latin typeface="+mn-lt"/>
              </a:rPr>
              <a:t>Full Name:</a:t>
            </a:r>
            <a:r>
              <a:rPr lang="en-US" sz="1800" dirty="0">
                <a:latin typeface="+mn-lt"/>
              </a:rPr>
              <a:t> </a:t>
            </a:r>
            <a:r>
              <a:rPr lang="en-US" sz="1800" b="1" dirty="0">
                <a:latin typeface="+mn-lt"/>
              </a:rPr>
              <a:t>S</a:t>
            </a:r>
            <a:r>
              <a:rPr lang="en-US" sz="1800" dirty="0">
                <a:latin typeface="+mn-lt"/>
              </a:rPr>
              <a:t>calable </a:t>
            </a:r>
            <a:r>
              <a:rPr lang="en-US" sz="1800" b="1" dirty="0">
                <a:latin typeface="+mn-lt"/>
              </a:rPr>
              <a:t>M</a:t>
            </a:r>
            <a:r>
              <a:rPr lang="en-US" sz="1800" dirty="0">
                <a:latin typeface="+mn-lt"/>
              </a:rPr>
              <a:t>ulti-FPGA </a:t>
            </a:r>
            <a:r>
              <a:rPr lang="en-US" sz="1800" b="1" dirty="0">
                <a:latin typeface="+mn-lt"/>
              </a:rPr>
              <a:t>A</a:t>
            </a:r>
            <a:r>
              <a:rPr lang="en-US" sz="1800" dirty="0">
                <a:latin typeface="+mn-lt"/>
              </a:rPr>
              <a:t>utomated </a:t>
            </a:r>
            <a:r>
              <a:rPr lang="en-US" sz="1800" b="1" dirty="0" err="1">
                <a:latin typeface="+mn-lt"/>
              </a:rPr>
              <a:t>R</a:t>
            </a:r>
            <a:r>
              <a:rPr lang="en-US" sz="1800" dirty="0" err="1">
                <a:latin typeface="+mn-lt"/>
              </a:rPr>
              <a:t>eplayable</a:t>
            </a:r>
            <a:r>
              <a:rPr lang="en-US" sz="1800" dirty="0">
                <a:latin typeface="+mn-lt"/>
              </a:rPr>
              <a:t> </a:t>
            </a:r>
            <a:r>
              <a:rPr lang="en-US" sz="1800" b="1" dirty="0">
                <a:latin typeface="+mn-lt"/>
              </a:rPr>
              <a:t>T</a:t>
            </a:r>
            <a:r>
              <a:rPr lang="en-US" sz="1800" dirty="0">
                <a:latin typeface="+mn-lt"/>
              </a:rPr>
              <a:t>echnology</a:t>
            </a:r>
          </a:p>
          <a:p>
            <a:pPr lvl="1">
              <a:lnSpc>
                <a:spcPct val="120000"/>
              </a:lnSpc>
            </a:pPr>
            <a:r>
              <a:rPr lang="en-US" sz="1800" b="1" dirty="0">
                <a:latin typeface="+mn-lt"/>
              </a:rPr>
              <a:t>Mission:</a:t>
            </a:r>
            <a:r>
              <a:rPr lang="en-US" sz="1800" dirty="0">
                <a:latin typeface="+mn-lt"/>
              </a:rPr>
              <a:t> A unified framework for large-scale SoC FPGA emulation</a:t>
            </a:r>
          </a:p>
          <a:p>
            <a:pPr lvl="1">
              <a:lnSpc>
                <a:spcPct val="120000"/>
              </a:lnSpc>
            </a:pPr>
            <a:r>
              <a:rPr lang="en-US" sz="1800" b="1" dirty="0">
                <a:latin typeface="+mn-lt"/>
              </a:rPr>
              <a:t>Scope:</a:t>
            </a:r>
            <a:endParaRPr lang="en-US" sz="1800" dirty="0">
              <a:latin typeface="+mn-lt"/>
            </a:endParaRPr>
          </a:p>
          <a:p>
            <a:pPr lvl="2">
              <a:lnSpc>
                <a:spcPct val="120000"/>
              </a:lnSpc>
            </a:pPr>
            <a:r>
              <a:rPr lang="en-US" sz="1600" b="1" dirty="0">
                <a:latin typeface="+mn-lt"/>
              </a:rPr>
              <a:t>Multi-Level:</a:t>
            </a:r>
            <a:r>
              <a:rPr lang="en-US" sz="1600" dirty="0">
                <a:latin typeface="+mn-lt"/>
              </a:rPr>
              <a:t> Intra-chip -&gt; Inter-chip -&gt; Cross-server</a:t>
            </a:r>
          </a:p>
          <a:p>
            <a:pPr lvl="2">
              <a:lnSpc>
                <a:spcPct val="120000"/>
              </a:lnSpc>
            </a:pPr>
            <a:r>
              <a:rPr lang="en-US" sz="1600" b="1" dirty="0">
                <a:latin typeface="+mn-lt"/>
              </a:rPr>
              <a:t>Multi-Granularity:</a:t>
            </a:r>
            <a:r>
              <a:rPr lang="en-US" sz="1600" dirty="0">
                <a:latin typeface="+mn-lt"/>
              </a:rPr>
              <a:t> Module-level &amp; Netlist-level</a:t>
            </a:r>
          </a:p>
          <a:p>
            <a:pPr>
              <a:lnSpc>
                <a:spcPct val="120000"/>
              </a:lnSpc>
            </a:pPr>
            <a:r>
              <a:rPr lang="en-US" sz="2000" b="1" dirty="0">
                <a:latin typeface="+mn-lt"/>
              </a:rPr>
              <a:t>Three Key Technology</a:t>
            </a:r>
            <a:endParaRPr lang="en-US" sz="2000" dirty="0">
              <a:latin typeface="+mn-lt"/>
            </a:endParaRPr>
          </a:p>
          <a:p>
            <a:pPr lvl="1">
              <a:lnSpc>
                <a:spcPct val="120000"/>
              </a:lnSpc>
            </a:pPr>
            <a:r>
              <a:rPr lang="en-US" sz="1800" b="1" dirty="0">
                <a:latin typeface="+mn-lt"/>
              </a:rPr>
              <a:t>Scalable </a:t>
            </a:r>
            <a:r>
              <a:rPr lang="en-US" sz="1800" b="1" dirty="0" err="1">
                <a:latin typeface="+mn-lt"/>
              </a:rPr>
              <a:t>Replayable</a:t>
            </a:r>
            <a:r>
              <a:rPr lang="en-US" sz="1800" b="1" dirty="0">
                <a:latin typeface="+mn-lt"/>
              </a:rPr>
              <a:t> Integration Technology:</a:t>
            </a:r>
            <a:endParaRPr lang="en-US" sz="1800" dirty="0">
              <a:latin typeface="+mn-lt"/>
            </a:endParaRPr>
          </a:p>
          <a:p>
            <a:pPr lvl="2">
              <a:lnSpc>
                <a:spcPct val="120000"/>
              </a:lnSpc>
            </a:pPr>
            <a:r>
              <a:rPr lang="en-US" sz="1600" dirty="0">
                <a:latin typeface="+mn-lt"/>
              </a:rPr>
              <a:t>Unified "Scan Chain + LI-TDM" structure for </a:t>
            </a:r>
            <a:r>
              <a:rPr lang="en-US" sz="1600" b="1" dirty="0">
                <a:latin typeface="+mn-lt"/>
              </a:rPr>
              <a:t>large-scale </a:t>
            </a:r>
            <a:r>
              <a:rPr lang="en-US" sz="1600" b="1" dirty="0" err="1">
                <a:latin typeface="+mn-lt"/>
              </a:rPr>
              <a:t>replayability</a:t>
            </a:r>
            <a:endParaRPr lang="en-US" sz="1600" dirty="0">
              <a:latin typeface="+mn-lt"/>
            </a:endParaRPr>
          </a:p>
          <a:p>
            <a:pPr lvl="1">
              <a:lnSpc>
                <a:spcPct val="120000"/>
              </a:lnSpc>
            </a:pPr>
            <a:r>
              <a:rPr lang="en-US" sz="1800" b="1" dirty="0">
                <a:latin typeface="+mn-lt"/>
              </a:rPr>
              <a:t>Automated Multi-Granularity Partition:</a:t>
            </a:r>
            <a:endParaRPr lang="en-US" sz="1800" dirty="0">
              <a:latin typeface="+mn-lt"/>
            </a:endParaRPr>
          </a:p>
          <a:p>
            <a:pPr lvl="2">
              <a:lnSpc>
                <a:spcPct val="120000"/>
              </a:lnSpc>
            </a:pPr>
            <a:r>
              <a:rPr lang="en-US" sz="1600" dirty="0">
                <a:latin typeface="+mn-lt"/>
              </a:rPr>
              <a:t>Adaptive Granularity algorithm supporting RTL and Netlist without manual guidance</a:t>
            </a:r>
          </a:p>
          <a:p>
            <a:pPr lvl="1">
              <a:lnSpc>
                <a:spcPct val="120000"/>
              </a:lnSpc>
            </a:pPr>
            <a:r>
              <a:rPr lang="en-US" sz="1800" b="1" dirty="0">
                <a:latin typeface="+mn-lt"/>
              </a:rPr>
              <a:t>Scalable &amp; Portable Interconnection:</a:t>
            </a:r>
            <a:endParaRPr lang="en-US" sz="1800" dirty="0">
              <a:latin typeface="+mn-lt"/>
            </a:endParaRPr>
          </a:p>
          <a:p>
            <a:pPr lvl="2">
              <a:lnSpc>
                <a:spcPct val="120000"/>
              </a:lnSpc>
            </a:pPr>
            <a:r>
              <a:rPr lang="en-US" sz="1600" dirty="0">
                <a:latin typeface="+mn-lt"/>
              </a:rPr>
              <a:t>Abstracted streaming architecture ensuring portability across heterogeneous clusters</a:t>
            </a:r>
          </a:p>
        </p:txBody>
      </p:sp>
      <p:sp>
        <p:nvSpPr>
          <p:cNvPr id="5" name="灯片编号占位符 4">
            <a:extLst>
              <a:ext uri="{FF2B5EF4-FFF2-40B4-BE49-F238E27FC236}">
                <a16:creationId xmlns:a16="http://schemas.microsoft.com/office/drawing/2014/main" id="{F06774C6-14B9-E2F1-E379-2B1CE32B51E8}"/>
              </a:ext>
            </a:extLst>
          </p:cNvPr>
          <p:cNvSpPr>
            <a:spLocks noGrp="1"/>
          </p:cNvSpPr>
          <p:nvPr>
            <p:ph type="sldNum" sz="quarter" idx="12"/>
          </p:nvPr>
        </p:nvSpPr>
        <p:spPr/>
        <p:txBody>
          <a:bodyPr/>
          <a:lstStyle/>
          <a:p>
            <a:fld id="{07B19D4B-9808-1A4C-B845-D9471D0CA790}" type="slidenum">
              <a:rPr kumimoji="1" lang="zh-CN" altLang="en-US" smtClean="0"/>
              <a:t>10</a:t>
            </a:fld>
            <a:endParaRPr kumimoji="1" lang="zh-CN" altLang="en-US"/>
          </a:p>
        </p:txBody>
      </p:sp>
    </p:spTree>
    <p:extLst>
      <p:ext uri="{BB962C8B-B14F-4D97-AF65-F5344CB8AC3E}">
        <p14:creationId xmlns:p14="http://schemas.microsoft.com/office/powerpoint/2010/main" val="3858590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D4E9B-218A-DCC0-2DD0-B8558A6FC3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4E42E8A-6E29-677B-34CA-ECC62CEEC4DE}"/>
              </a:ext>
            </a:extLst>
          </p:cNvPr>
          <p:cNvSpPr>
            <a:spLocks noGrp="1"/>
          </p:cNvSpPr>
          <p:nvPr>
            <p:ph type="title"/>
          </p:nvPr>
        </p:nvSpPr>
        <p:spPr/>
        <p:txBody>
          <a:bodyPr>
            <a:normAutofit/>
          </a:bodyPr>
          <a:lstStyle/>
          <a:p>
            <a:r>
              <a:rPr lang="en-US" dirty="0">
                <a:latin typeface="+mn-lt"/>
              </a:rPr>
              <a:t>Research Goal: SMART Workflow</a:t>
            </a:r>
            <a:endParaRPr lang="en-US" altLang="zh-CN" dirty="0">
              <a:latin typeface="+mn-lt"/>
            </a:endParaRPr>
          </a:p>
        </p:txBody>
      </p:sp>
      <p:sp>
        <p:nvSpPr>
          <p:cNvPr id="3" name="内容占位符 2">
            <a:extLst>
              <a:ext uri="{FF2B5EF4-FFF2-40B4-BE49-F238E27FC236}">
                <a16:creationId xmlns:a16="http://schemas.microsoft.com/office/drawing/2014/main" id="{2F017597-2B75-0348-C6D3-7D92EF29FDFA}"/>
              </a:ext>
            </a:extLst>
          </p:cNvPr>
          <p:cNvSpPr>
            <a:spLocks noGrp="1"/>
          </p:cNvSpPr>
          <p:nvPr>
            <p:ph idx="1"/>
          </p:nvPr>
        </p:nvSpPr>
        <p:spPr>
          <a:xfrm>
            <a:off x="236034" y="1026272"/>
            <a:ext cx="5535501" cy="5318561"/>
          </a:xfrm>
        </p:spPr>
        <p:txBody>
          <a:bodyPr>
            <a:normAutofit/>
          </a:bodyPr>
          <a:lstStyle/>
          <a:p>
            <a:pPr marL="385200" indent="-457200">
              <a:lnSpc>
                <a:spcPct val="150000"/>
              </a:lnSpc>
              <a:buFont typeface="+mj-lt"/>
              <a:buAutoNum type="arabicPeriod"/>
            </a:pPr>
            <a:r>
              <a:rPr lang="en-US" sz="2000" b="1" dirty="0">
                <a:latin typeface="+mn-lt"/>
              </a:rPr>
              <a:t>Automated Circuit Partition</a:t>
            </a:r>
          </a:p>
          <a:p>
            <a:pPr marL="842400" lvl="1" indent="-457200">
              <a:lnSpc>
                <a:spcPct val="150000"/>
              </a:lnSpc>
              <a:buFont typeface="+mj-lt"/>
              <a:buAutoNum type="arabicPeriod"/>
            </a:pPr>
            <a:r>
              <a:rPr lang="en-US" sz="2000" dirty="0">
                <a:latin typeface="+mn-lt"/>
              </a:rPr>
              <a:t>Adaptive Granularity Pre-processing</a:t>
            </a:r>
          </a:p>
          <a:p>
            <a:pPr marL="842400" lvl="1" indent="-457200">
              <a:lnSpc>
                <a:spcPct val="150000"/>
              </a:lnSpc>
              <a:buFont typeface="+mj-lt"/>
              <a:buAutoNum type="arabicPeriod"/>
            </a:pPr>
            <a:r>
              <a:rPr lang="en-US" sz="2000" dirty="0">
                <a:latin typeface="+mn-lt"/>
              </a:rPr>
              <a:t>Hypergraph Partitioning</a:t>
            </a:r>
          </a:p>
          <a:p>
            <a:pPr marL="385200" indent="-457200">
              <a:lnSpc>
                <a:spcPct val="150000"/>
              </a:lnSpc>
              <a:buFont typeface="+mj-lt"/>
              <a:buAutoNum type="arabicPeriod"/>
            </a:pPr>
            <a:r>
              <a:rPr lang="en-US" sz="2000" b="1" dirty="0">
                <a:latin typeface="+mn-lt"/>
              </a:rPr>
              <a:t>Scalable </a:t>
            </a:r>
            <a:r>
              <a:rPr lang="en-US" sz="2000" b="1" dirty="0" err="1">
                <a:latin typeface="+mn-lt"/>
              </a:rPr>
              <a:t>Replayable</a:t>
            </a:r>
            <a:r>
              <a:rPr lang="en-US" sz="2000" b="1" dirty="0">
                <a:latin typeface="+mn-lt"/>
              </a:rPr>
              <a:t> Integration</a:t>
            </a:r>
            <a:endParaRPr lang="en-US" sz="2000" dirty="0">
              <a:latin typeface="+mn-lt"/>
            </a:endParaRPr>
          </a:p>
          <a:p>
            <a:pPr marL="842400" lvl="1" indent="-457200">
              <a:lnSpc>
                <a:spcPct val="150000"/>
              </a:lnSpc>
              <a:buFont typeface="+mj-lt"/>
              <a:buAutoNum type="arabicPeriod"/>
            </a:pPr>
            <a:r>
              <a:rPr lang="en-US" sz="2000" dirty="0">
                <a:latin typeface="+mn-lt"/>
              </a:rPr>
              <a:t>Scan Chain Insertion</a:t>
            </a:r>
          </a:p>
          <a:p>
            <a:pPr marL="842400" lvl="1" indent="-457200">
              <a:lnSpc>
                <a:spcPct val="150000"/>
              </a:lnSpc>
              <a:buFont typeface="+mj-lt"/>
              <a:buAutoNum type="arabicPeriod"/>
            </a:pPr>
            <a:r>
              <a:rPr lang="en-US" sz="2000" dirty="0">
                <a:latin typeface="+mn-lt"/>
              </a:rPr>
              <a:t>LI-TDM Interface Generation</a:t>
            </a:r>
          </a:p>
          <a:p>
            <a:pPr marL="385200" indent="-457200">
              <a:lnSpc>
                <a:spcPct val="150000"/>
              </a:lnSpc>
              <a:buFont typeface="+mj-lt"/>
              <a:buAutoNum type="arabicPeriod"/>
            </a:pPr>
            <a:r>
              <a:rPr lang="en-US" sz="2000" b="1" dirty="0">
                <a:latin typeface="+mn-lt"/>
              </a:rPr>
              <a:t>Portable &amp; Scalable Interconnection</a:t>
            </a:r>
            <a:endParaRPr lang="en-US" sz="2000" dirty="0">
              <a:latin typeface="+mn-lt"/>
            </a:endParaRPr>
          </a:p>
          <a:p>
            <a:pPr marL="842400" lvl="1" indent="-457200">
              <a:lnSpc>
                <a:spcPct val="150000"/>
              </a:lnSpc>
              <a:buFont typeface="+mj-lt"/>
              <a:buAutoNum type="arabicPeriod"/>
            </a:pPr>
            <a:r>
              <a:rPr lang="en-US" sz="2000" dirty="0">
                <a:latin typeface="+mn-lt"/>
              </a:rPr>
              <a:t>Portable </a:t>
            </a:r>
            <a:r>
              <a:rPr lang="en-US" sz="2000" dirty="0"/>
              <a:t>Abstracted Interface</a:t>
            </a:r>
            <a:endParaRPr lang="en-US" sz="2000" dirty="0">
              <a:latin typeface="+mn-lt"/>
            </a:endParaRPr>
          </a:p>
          <a:p>
            <a:pPr marL="842400" lvl="1" indent="-457200">
              <a:lnSpc>
                <a:spcPct val="150000"/>
              </a:lnSpc>
              <a:buFont typeface="+mj-lt"/>
              <a:buAutoNum type="arabicPeriod"/>
            </a:pPr>
            <a:r>
              <a:rPr lang="en-US" sz="2000" dirty="0">
                <a:latin typeface="+mn-lt"/>
              </a:rPr>
              <a:t>Scalable Host Control</a:t>
            </a:r>
          </a:p>
          <a:p>
            <a:pPr marL="842400" lvl="1" indent="-457200">
              <a:lnSpc>
                <a:spcPct val="150000"/>
              </a:lnSpc>
              <a:buFont typeface="+mj-lt"/>
              <a:buAutoNum type="arabicPeriod"/>
            </a:pPr>
            <a:r>
              <a:rPr lang="en-US" sz="2000" dirty="0">
                <a:latin typeface="+mn-lt"/>
              </a:rPr>
              <a:t>Runtime software</a:t>
            </a:r>
          </a:p>
        </p:txBody>
      </p:sp>
      <p:sp>
        <p:nvSpPr>
          <p:cNvPr id="5" name="灯片编号占位符 4">
            <a:extLst>
              <a:ext uri="{FF2B5EF4-FFF2-40B4-BE49-F238E27FC236}">
                <a16:creationId xmlns:a16="http://schemas.microsoft.com/office/drawing/2014/main" id="{ACDC7C23-099A-0EDA-B266-144F47248078}"/>
              </a:ext>
            </a:extLst>
          </p:cNvPr>
          <p:cNvSpPr>
            <a:spLocks noGrp="1"/>
          </p:cNvSpPr>
          <p:nvPr>
            <p:ph type="sldNum" sz="quarter" idx="12"/>
          </p:nvPr>
        </p:nvSpPr>
        <p:spPr/>
        <p:txBody>
          <a:bodyPr/>
          <a:lstStyle/>
          <a:p>
            <a:fld id="{07B19D4B-9808-1A4C-B845-D9471D0CA790}" type="slidenum">
              <a:rPr kumimoji="1" lang="zh-CN" altLang="en-US" smtClean="0"/>
              <a:t>11</a:t>
            </a:fld>
            <a:endParaRPr kumimoji="1" lang="zh-CN" altLang="en-US"/>
          </a:p>
        </p:txBody>
      </p:sp>
      <p:pic>
        <p:nvPicPr>
          <p:cNvPr id="6" name="Picture 5">
            <a:extLst>
              <a:ext uri="{FF2B5EF4-FFF2-40B4-BE49-F238E27FC236}">
                <a16:creationId xmlns:a16="http://schemas.microsoft.com/office/drawing/2014/main" id="{075C490C-777A-7EC1-4A03-BBFFC7AAEEAA}"/>
              </a:ext>
            </a:extLst>
          </p:cNvPr>
          <p:cNvPicPr>
            <a:picLocks noChangeAspect="1"/>
          </p:cNvPicPr>
          <p:nvPr/>
        </p:nvPicPr>
        <p:blipFill>
          <a:blip r:embed="rId3"/>
          <a:stretch>
            <a:fillRect/>
          </a:stretch>
        </p:blipFill>
        <p:spPr>
          <a:xfrm>
            <a:off x="5533423" y="1489784"/>
            <a:ext cx="6264567" cy="4403056"/>
          </a:xfrm>
          <a:prstGeom prst="rect">
            <a:avLst/>
          </a:prstGeom>
        </p:spPr>
      </p:pic>
    </p:spTree>
    <p:extLst>
      <p:ext uri="{BB962C8B-B14F-4D97-AF65-F5344CB8AC3E}">
        <p14:creationId xmlns:p14="http://schemas.microsoft.com/office/powerpoint/2010/main" val="599307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EA98D-F032-E65A-05B1-D8C5C36CCC8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D38E9B-69D8-46C2-7F3C-2BC8A5FDC7FE}"/>
              </a:ext>
            </a:extLst>
          </p:cNvPr>
          <p:cNvSpPr>
            <a:spLocks noGrp="1"/>
          </p:cNvSpPr>
          <p:nvPr>
            <p:ph type="title"/>
          </p:nvPr>
        </p:nvSpPr>
        <p:spPr/>
        <p:txBody>
          <a:bodyPr>
            <a:normAutofit/>
          </a:bodyPr>
          <a:lstStyle/>
          <a:p>
            <a:r>
              <a:rPr lang="en-US" dirty="0">
                <a:latin typeface="+mn-lt"/>
              </a:rPr>
              <a:t>Phase I: </a:t>
            </a:r>
            <a:r>
              <a:rPr lang="en-US" dirty="0"/>
              <a:t>Adaptive </a:t>
            </a:r>
            <a:r>
              <a:rPr lang="en-US" dirty="0">
                <a:latin typeface="+mn-lt"/>
              </a:rPr>
              <a:t>Granularity Circuit Partition</a:t>
            </a:r>
            <a:endParaRPr lang="en-US" altLang="zh-CN" dirty="0">
              <a:latin typeface="+mn-lt"/>
            </a:endParaRPr>
          </a:p>
        </p:txBody>
      </p:sp>
      <p:sp>
        <p:nvSpPr>
          <p:cNvPr id="3" name="内容占位符 2">
            <a:extLst>
              <a:ext uri="{FF2B5EF4-FFF2-40B4-BE49-F238E27FC236}">
                <a16:creationId xmlns:a16="http://schemas.microsoft.com/office/drawing/2014/main" id="{30598ADD-C727-02EC-AEB3-D5E781A53CF8}"/>
              </a:ext>
            </a:extLst>
          </p:cNvPr>
          <p:cNvSpPr>
            <a:spLocks noGrp="1"/>
          </p:cNvSpPr>
          <p:nvPr>
            <p:ph idx="1"/>
          </p:nvPr>
        </p:nvSpPr>
        <p:spPr>
          <a:xfrm>
            <a:off x="236034" y="1026272"/>
            <a:ext cx="11561956" cy="5318561"/>
          </a:xfrm>
        </p:spPr>
        <p:txBody>
          <a:bodyPr>
            <a:normAutofit/>
          </a:bodyPr>
          <a:lstStyle/>
          <a:p>
            <a:pPr>
              <a:lnSpc>
                <a:spcPct val="150000"/>
              </a:lnSpc>
            </a:pPr>
            <a:r>
              <a:rPr lang="en-US" sz="2000" b="1" dirty="0">
                <a:latin typeface="+mn-lt"/>
              </a:rPr>
              <a:t>Key Challenge: The Automation Dilemma</a:t>
            </a:r>
            <a:endParaRPr lang="en-US" sz="2000" dirty="0">
              <a:latin typeface="+mn-lt"/>
            </a:endParaRPr>
          </a:p>
          <a:p>
            <a:pPr lvl="1"/>
            <a:r>
              <a:rPr lang="en-US" sz="1800" dirty="0">
                <a:latin typeface="+mn-lt"/>
              </a:rPr>
              <a:t>Limitations: Manual Partition &amp; Netlist Flattening</a:t>
            </a:r>
          </a:p>
          <a:p>
            <a:pPr lvl="1"/>
            <a:r>
              <a:rPr lang="en-US" sz="1800" dirty="0">
                <a:latin typeface="+mn-lt"/>
              </a:rPr>
              <a:t>Goal: </a:t>
            </a:r>
            <a:r>
              <a:rPr lang="en-US" sz="1800" b="1" dirty="0">
                <a:latin typeface="+mn-lt"/>
              </a:rPr>
              <a:t>"RTL-in, RTL-out”</a:t>
            </a:r>
          </a:p>
          <a:p>
            <a:r>
              <a:rPr lang="en-US" sz="2000" b="1" dirty="0">
                <a:latin typeface="+mn-lt"/>
              </a:rPr>
              <a:t>Core Technology: Resource-Aware Adaptive Granularity</a:t>
            </a:r>
            <a:r>
              <a:rPr lang="en-US" sz="2000" dirty="0">
                <a:latin typeface="+mn-lt"/>
              </a:rPr>
              <a:t> </a:t>
            </a:r>
            <a:r>
              <a:rPr lang="en-US" sz="2000" b="1" dirty="0">
                <a:latin typeface="+mn-lt"/>
              </a:rPr>
              <a:t>Algorithm</a:t>
            </a:r>
            <a:endParaRPr lang="en-US" sz="2000" dirty="0">
              <a:latin typeface="+mn-lt"/>
            </a:endParaRPr>
          </a:p>
          <a:p>
            <a:pPr lvl="1"/>
            <a:r>
              <a:rPr lang="en-US" sz="1800" b="1" dirty="0">
                <a:latin typeface="+mn-lt"/>
              </a:rPr>
              <a:t>Algorithm Logic (Recursive Flattening):</a:t>
            </a:r>
            <a:endParaRPr lang="en-US" sz="1800" dirty="0">
              <a:latin typeface="+mn-lt"/>
            </a:endParaRPr>
          </a:p>
          <a:p>
            <a:pPr lvl="2"/>
            <a:r>
              <a:rPr lang="en-US" sz="1600" b="1" dirty="0">
                <a:latin typeface="+mn-lt"/>
              </a:rPr>
              <a:t>Estimation:</a:t>
            </a:r>
            <a:r>
              <a:rPr lang="en-US" sz="1600" dirty="0">
                <a:latin typeface="+mn-lt"/>
              </a:rPr>
              <a:t> Analyze resource usage (LUT/FF/BRAM) of all top-level instances</a:t>
            </a:r>
          </a:p>
          <a:p>
            <a:pPr lvl="2"/>
            <a:r>
              <a:rPr lang="en-US" sz="1600" b="1" dirty="0">
                <a:latin typeface="+mn-lt"/>
              </a:rPr>
              <a:t>Checking:</a:t>
            </a:r>
            <a:r>
              <a:rPr lang="en-US" sz="1600" dirty="0">
                <a:latin typeface="+mn-lt"/>
              </a:rPr>
              <a:t> </a:t>
            </a:r>
            <a:r>
              <a:rPr lang="en-US" sz="1600" b="1" dirty="0"/>
              <a:t>Expanding</a:t>
            </a:r>
            <a:r>
              <a:rPr lang="zh-CN" altLang="en-US" sz="1600" b="1" dirty="0"/>
              <a:t> </a:t>
            </a:r>
            <a:r>
              <a:rPr lang="en-US" sz="1600" b="1" dirty="0"/>
              <a:t>(not flatten)</a:t>
            </a:r>
            <a:r>
              <a:rPr lang="en-US" sz="1600" dirty="0"/>
              <a:t> the instance, </a:t>
            </a:r>
            <a:r>
              <a:rPr lang="en-US" sz="1600" dirty="0">
                <a:latin typeface="+mn-lt"/>
              </a:rPr>
              <a:t>if Resource &gt; Threshold</a:t>
            </a:r>
          </a:p>
          <a:p>
            <a:pPr lvl="2"/>
            <a:r>
              <a:rPr lang="en-US" sz="1600" b="1" dirty="0">
                <a:latin typeface="+mn-lt"/>
              </a:rPr>
              <a:t>Iteration:</a:t>
            </a:r>
            <a:r>
              <a:rPr lang="en-US" sz="1600" dirty="0">
                <a:latin typeface="+mn-lt"/>
              </a:rPr>
              <a:t> Repeat until all leaf nodes fit within the granularity threshold</a:t>
            </a:r>
          </a:p>
          <a:p>
            <a:pPr lvl="2"/>
            <a:endParaRPr lang="en-US" sz="1600" dirty="0">
              <a:latin typeface="+mn-lt"/>
            </a:endParaRPr>
          </a:p>
          <a:p>
            <a:pPr marL="914400" lvl="2" indent="0">
              <a:buNone/>
            </a:pPr>
            <a:endParaRPr lang="en-US" sz="1600" dirty="0">
              <a:latin typeface="+mn-lt"/>
            </a:endParaRPr>
          </a:p>
          <a:p>
            <a:pPr marL="914400" lvl="2" indent="0">
              <a:buNone/>
            </a:pPr>
            <a:endParaRPr lang="en-US" sz="1600" dirty="0">
              <a:latin typeface="+mn-lt"/>
            </a:endParaRPr>
          </a:p>
          <a:p>
            <a:pPr marL="914400" lvl="2" indent="0">
              <a:buNone/>
            </a:pPr>
            <a:endParaRPr lang="en-US" sz="1600" dirty="0">
              <a:latin typeface="+mn-lt"/>
            </a:endParaRPr>
          </a:p>
          <a:p>
            <a:pPr marL="914400" lvl="2" indent="0">
              <a:buNone/>
            </a:pPr>
            <a:endParaRPr lang="en-US" sz="1600" dirty="0">
              <a:latin typeface="+mn-lt"/>
            </a:endParaRPr>
          </a:p>
          <a:p>
            <a:pPr lvl="1"/>
            <a:r>
              <a:rPr lang="en-US" sz="1800" b="1" dirty="0">
                <a:latin typeface="+mn-lt"/>
              </a:rPr>
              <a:t>Advantages</a:t>
            </a:r>
            <a:r>
              <a:rPr lang="en-US" sz="1800" dirty="0">
                <a:latin typeface="+mn-lt"/>
              </a:rPr>
              <a:t>: </a:t>
            </a:r>
            <a:r>
              <a:rPr lang="en-US" sz="1600" dirty="0">
                <a:latin typeface="+mn-lt"/>
              </a:rPr>
              <a:t>Adaptive &amp; Efficient</a:t>
            </a:r>
          </a:p>
        </p:txBody>
      </p:sp>
      <p:sp>
        <p:nvSpPr>
          <p:cNvPr id="5" name="灯片编号占位符 4">
            <a:extLst>
              <a:ext uri="{FF2B5EF4-FFF2-40B4-BE49-F238E27FC236}">
                <a16:creationId xmlns:a16="http://schemas.microsoft.com/office/drawing/2014/main" id="{A69BC739-DDDA-381B-97F6-DE0771202E13}"/>
              </a:ext>
            </a:extLst>
          </p:cNvPr>
          <p:cNvSpPr>
            <a:spLocks noGrp="1"/>
          </p:cNvSpPr>
          <p:nvPr>
            <p:ph type="sldNum" sz="quarter" idx="12"/>
          </p:nvPr>
        </p:nvSpPr>
        <p:spPr/>
        <p:txBody>
          <a:bodyPr/>
          <a:lstStyle/>
          <a:p>
            <a:fld id="{07B19D4B-9808-1A4C-B845-D9471D0CA790}" type="slidenum">
              <a:rPr kumimoji="1" lang="zh-CN" altLang="en-US" smtClean="0"/>
              <a:t>12</a:t>
            </a:fld>
            <a:endParaRPr kumimoji="1" lang="zh-CN" altLang="en-US" dirty="0"/>
          </a:p>
        </p:txBody>
      </p:sp>
      <p:pic>
        <p:nvPicPr>
          <p:cNvPr id="6" name="Picture 5">
            <a:extLst>
              <a:ext uri="{FF2B5EF4-FFF2-40B4-BE49-F238E27FC236}">
                <a16:creationId xmlns:a16="http://schemas.microsoft.com/office/drawing/2014/main" id="{DC15F9F6-DE1B-13F5-E926-F7910725DA15}"/>
              </a:ext>
            </a:extLst>
          </p:cNvPr>
          <p:cNvPicPr>
            <a:picLocks noChangeAspect="1"/>
          </p:cNvPicPr>
          <p:nvPr/>
        </p:nvPicPr>
        <p:blipFill>
          <a:blip r:embed="rId3"/>
          <a:srcRect b="64575"/>
          <a:stretch>
            <a:fillRect/>
          </a:stretch>
        </p:blipFill>
        <p:spPr>
          <a:xfrm>
            <a:off x="2764361" y="4132312"/>
            <a:ext cx="6663278" cy="1659075"/>
          </a:xfrm>
          <a:prstGeom prst="rect">
            <a:avLst/>
          </a:prstGeom>
        </p:spPr>
      </p:pic>
    </p:spTree>
    <p:extLst>
      <p:ext uri="{BB962C8B-B14F-4D97-AF65-F5344CB8AC3E}">
        <p14:creationId xmlns:p14="http://schemas.microsoft.com/office/powerpoint/2010/main" val="3684908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5AEEE-A789-CF49-B09B-E8402C14CDB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5F00DC2-F165-EE39-556D-190A9E7E2AD3}"/>
              </a:ext>
            </a:extLst>
          </p:cNvPr>
          <p:cNvSpPr>
            <a:spLocks noGrp="1"/>
          </p:cNvSpPr>
          <p:nvPr>
            <p:ph type="title"/>
          </p:nvPr>
        </p:nvSpPr>
        <p:spPr/>
        <p:txBody>
          <a:bodyPr>
            <a:normAutofit/>
          </a:bodyPr>
          <a:lstStyle/>
          <a:p>
            <a:r>
              <a:rPr lang="en-US" dirty="0">
                <a:latin typeface="+mn-lt"/>
              </a:rPr>
              <a:t>Phase II: Scalable </a:t>
            </a:r>
            <a:r>
              <a:rPr lang="en-US" dirty="0" err="1">
                <a:latin typeface="+mn-lt"/>
              </a:rPr>
              <a:t>Replayable</a:t>
            </a:r>
            <a:r>
              <a:rPr lang="en-US" dirty="0">
                <a:latin typeface="+mn-lt"/>
              </a:rPr>
              <a:t> Integration</a:t>
            </a:r>
            <a:endParaRPr lang="en-US" altLang="zh-CN" dirty="0">
              <a:latin typeface="+mn-lt"/>
            </a:endParaRPr>
          </a:p>
        </p:txBody>
      </p:sp>
      <p:sp>
        <p:nvSpPr>
          <p:cNvPr id="3" name="内容占位符 2">
            <a:extLst>
              <a:ext uri="{FF2B5EF4-FFF2-40B4-BE49-F238E27FC236}">
                <a16:creationId xmlns:a16="http://schemas.microsoft.com/office/drawing/2014/main" id="{75B9724D-136A-824B-7356-EEF86C52A0BE}"/>
              </a:ext>
            </a:extLst>
          </p:cNvPr>
          <p:cNvSpPr>
            <a:spLocks noGrp="1"/>
          </p:cNvSpPr>
          <p:nvPr>
            <p:ph idx="1"/>
          </p:nvPr>
        </p:nvSpPr>
        <p:spPr>
          <a:xfrm>
            <a:off x="236034" y="1026272"/>
            <a:ext cx="6556652" cy="5318561"/>
          </a:xfrm>
        </p:spPr>
        <p:txBody>
          <a:bodyPr>
            <a:normAutofit/>
          </a:bodyPr>
          <a:lstStyle/>
          <a:p>
            <a:pPr>
              <a:lnSpc>
                <a:spcPct val="150000"/>
              </a:lnSpc>
            </a:pPr>
            <a:r>
              <a:rPr lang="en-US" sz="2000" b="1" dirty="0">
                <a:latin typeface="+mn-lt"/>
              </a:rPr>
              <a:t>Key Challenge: Semantic Conflict</a:t>
            </a:r>
            <a:endParaRPr lang="en-US" sz="2000" dirty="0">
              <a:latin typeface="+mn-lt"/>
            </a:endParaRPr>
          </a:p>
          <a:p>
            <a:pPr lvl="1">
              <a:lnSpc>
                <a:spcPct val="150000"/>
              </a:lnSpc>
            </a:pPr>
            <a:r>
              <a:rPr lang="en-US" sz="1800" dirty="0">
                <a:latin typeface="+mn-lt"/>
              </a:rPr>
              <a:t>Goal: Enable </a:t>
            </a:r>
            <a:r>
              <a:rPr lang="en-US" sz="1800" b="1" dirty="0">
                <a:latin typeface="+mn-lt"/>
              </a:rPr>
              <a:t>Cross-Boundary Connectivity</a:t>
            </a:r>
            <a:r>
              <a:rPr lang="en-US" sz="1800" dirty="0">
                <a:latin typeface="+mn-lt"/>
              </a:rPr>
              <a:t> and </a:t>
            </a:r>
            <a:r>
              <a:rPr lang="en-US" sz="1800" b="1" dirty="0">
                <a:latin typeface="+mn-lt"/>
              </a:rPr>
              <a:t>Deterministic Replay</a:t>
            </a:r>
            <a:r>
              <a:rPr lang="en-US" sz="1800" dirty="0">
                <a:latin typeface="+mn-lt"/>
              </a:rPr>
              <a:t> for sub-design.</a:t>
            </a:r>
          </a:p>
          <a:p>
            <a:pPr lvl="1">
              <a:lnSpc>
                <a:spcPct val="150000"/>
              </a:lnSpc>
            </a:pPr>
            <a:r>
              <a:rPr lang="en-US" sz="1800" dirty="0">
                <a:latin typeface="+mn-lt"/>
              </a:rPr>
              <a:t>Conflict: LI-TDM and Scan Chain operate on different control FSMs.</a:t>
            </a:r>
            <a:endParaRPr lang="en-US" sz="2000" dirty="0">
              <a:latin typeface="+mn-lt"/>
            </a:endParaRPr>
          </a:p>
          <a:p>
            <a:pPr>
              <a:lnSpc>
                <a:spcPct val="150000"/>
              </a:lnSpc>
            </a:pPr>
            <a:r>
              <a:rPr lang="en-US" sz="2000" b="1" dirty="0">
                <a:latin typeface="+mn-lt"/>
              </a:rPr>
              <a:t>Core Technology: Fused Integration Controller</a:t>
            </a:r>
            <a:endParaRPr lang="en-US" sz="2000" dirty="0">
              <a:latin typeface="+mn-lt"/>
            </a:endParaRPr>
          </a:p>
          <a:p>
            <a:pPr lvl="1">
              <a:lnSpc>
                <a:spcPct val="150000"/>
              </a:lnSpc>
            </a:pPr>
            <a:r>
              <a:rPr lang="en-US" sz="1800" b="1" dirty="0">
                <a:latin typeface="+mn-lt"/>
              </a:rPr>
              <a:t>Communication:</a:t>
            </a:r>
            <a:r>
              <a:rPr lang="en-US" sz="1800" dirty="0">
                <a:latin typeface="+mn-lt"/>
              </a:rPr>
              <a:t> Adopts </a:t>
            </a:r>
            <a:r>
              <a:rPr lang="en-US" sz="1800" b="1" dirty="0">
                <a:latin typeface="+mn-lt"/>
              </a:rPr>
              <a:t>LI-TDM</a:t>
            </a:r>
            <a:r>
              <a:rPr lang="en-US" sz="1800" dirty="0">
                <a:latin typeface="+mn-lt"/>
              </a:rPr>
              <a:t> from DUOHUAFEN</a:t>
            </a:r>
          </a:p>
          <a:p>
            <a:pPr lvl="1">
              <a:lnSpc>
                <a:spcPct val="150000"/>
              </a:lnSpc>
            </a:pPr>
            <a:r>
              <a:rPr lang="en-US" sz="1800" b="1" dirty="0">
                <a:latin typeface="+mn-lt"/>
              </a:rPr>
              <a:t>Observation:</a:t>
            </a:r>
            <a:r>
              <a:rPr lang="en-US" sz="1800" dirty="0">
                <a:latin typeface="+mn-lt"/>
              </a:rPr>
              <a:t> Adopts </a:t>
            </a:r>
            <a:r>
              <a:rPr lang="en-US" sz="1800" b="1" dirty="0">
                <a:latin typeface="+mn-lt"/>
              </a:rPr>
              <a:t>Scan Chain</a:t>
            </a:r>
            <a:r>
              <a:rPr lang="en-US" sz="1800" dirty="0">
                <a:latin typeface="+mn-lt"/>
              </a:rPr>
              <a:t> from REMU</a:t>
            </a:r>
          </a:p>
          <a:p>
            <a:pPr lvl="1">
              <a:lnSpc>
                <a:spcPct val="150000"/>
              </a:lnSpc>
            </a:pPr>
            <a:r>
              <a:rPr lang="en-US" sz="1800" b="1" dirty="0">
                <a:latin typeface="+mn-lt"/>
              </a:rPr>
              <a:t>Fused FSM:</a:t>
            </a:r>
            <a:r>
              <a:rPr lang="en-US" sz="1800" dirty="0">
                <a:latin typeface="+mn-lt"/>
              </a:rPr>
              <a:t> Merges LI-TDM with Scan Chain.</a:t>
            </a:r>
          </a:p>
        </p:txBody>
      </p:sp>
      <p:sp>
        <p:nvSpPr>
          <p:cNvPr id="5" name="灯片编号占位符 4">
            <a:extLst>
              <a:ext uri="{FF2B5EF4-FFF2-40B4-BE49-F238E27FC236}">
                <a16:creationId xmlns:a16="http://schemas.microsoft.com/office/drawing/2014/main" id="{78A65145-79B2-0D95-B75F-459E5EEBEA20}"/>
              </a:ext>
            </a:extLst>
          </p:cNvPr>
          <p:cNvSpPr>
            <a:spLocks noGrp="1"/>
          </p:cNvSpPr>
          <p:nvPr>
            <p:ph type="sldNum" sz="quarter" idx="12"/>
          </p:nvPr>
        </p:nvSpPr>
        <p:spPr/>
        <p:txBody>
          <a:bodyPr/>
          <a:lstStyle/>
          <a:p>
            <a:fld id="{07B19D4B-9808-1A4C-B845-D9471D0CA790}" type="slidenum">
              <a:rPr kumimoji="1" lang="zh-CN" altLang="en-US" smtClean="0"/>
              <a:t>13</a:t>
            </a:fld>
            <a:endParaRPr kumimoji="1" lang="zh-CN" altLang="en-US"/>
          </a:p>
        </p:txBody>
      </p:sp>
      <p:pic>
        <p:nvPicPr>
          <p:cNvPr id="4" name="Picture 3">
            <a:extLst>
              <a:ext uri="{FF2B5EF4-FFF2-40B4-BE49-F238E27FC236}">
                <a16:creationId xmlns:a16="http://schemas.microsoft.com/office/drawing/2014/main" id="{C29234F2-3D7D-FBBD-C9C5-D332FD02E256}"/>
              </a:ext>
            </a:extLst>
          </p:cNvPr>
          <p:cNvPicPr>
            <a:picLocks noChangeAspect="1"/>
          </p:cNvPicPr>
          <p:nvPr/>
        </p:nvPicPr>
        <p:blipFill>
          <a:blip r:embed="rId3"/>
          <a:srcRect l="72585" r="1604" b="64440"/>
          <a:stretch>
            <a:fillRect/>
          </a:stretch>
        </p:blipFill>
        <p:spPr>
          <a:xfrm>
            <a:off x="7829588" y="1130721"/>
            <a:ext cx="1791222" cy="1734516"/>
          </a:xfrm>
          <a:prstGeom prst="rect">
            <a:avLst/>
          </a:prstGeom>
        </p:spPr>
      </p:pic>
      <p:pic>
        <p:nvPicPr>
          <p:cNvPr id="6" name="Picture 5">
            <a:extLst>
              <a:ext uri="{FF2B5EF4-FFF2-40B4-BE49-F238E27FC236}">
                <a16:creationId xmlns:a16="http://schemas.microsoft.com/office/drawing/2014/main" id="{9EEB99F9-23BB-F55B-1731-FECDD0E869EB}"/>
              </a:ext>
            </a:extLst>
          </p:cNvPr>
          <p:cNvPicPr>
            <a:picLocks noChangeAspect="1"/>
          </p:cNvPicPr>
          <p:nvPr/>
        </p:nvPicPr>
        <p:blipFill>
          <a:blip r:embed="rId3"/>
          <a:srcRect l="68180" t="35456" r="250"/>
          <a:stretch>
            <a:fillRect/>
          </a:stretch>
        </p:blipFill>
        <p:spPr>
          <a:xfrm>
            <a:off x="7629741" y="2981196"/>
            <a:ext cx="2190916" cy="3148291"/>
          </a:xfrm>
          <a:prstGeom prst="rect">
            <a:avLst/>
          </a:prstGeom>
        </p:spPr>
      </p:pic>
    </p:spTree>
    <p:extLst>
      <p:ext uri="{BB962C8B-B14F-4D97-AF65-F5344CB8AC3E}">
        <p14:creationId xmlns:p14="http://schemas.microsoft.com/office/powerpoint/2010/main" val="3587267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B5F45-B5CC-C3A0-A854-EC6C6422FF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E3A579C-E097-BFD0-1B98-F7F8508A577F}"/>
              </a:ext>
            </a:extLst>
          </p:cNvPr>
          <p:cNvSpPr>
            <a:spLocks noGrp="1"/>
          </p:cNvSpPr>
          <p:nvPr>
            <p:ph type="title"/>
          </p:nvPr>
        </p:nvSpPr>
        <p:spPr/>
        <p:txBody>
          <a:bodyPr>
            <a:normAutofit/>
          </a:bodyPr>
          <a:lstStyle/>
          <a:p>
            <a:r>
              <a:rPr lang="en-US" dirty="0">
                <a:latin typeface="+mn-lt"/>
              </a:rPr>
              <a:t>Phase III: Scalable &amp; Portable Interconnection</a:t>
            </a:r>
            <a:endParaRPr lang="en-US" altLang="zh-CN" dirty="0">
              <a:latin typeface="+mn-lt"/>
            </a:endParaRPr>
          </a:p>
        </p:txBody>
      </p:sp>
      <p:sp>
        <p:nvSpPr>
          <p:cNvPr id="3" name="内容占位符 2">
            <a:extLst>
              <a:ext uri="{FF2B5EF4-FFF2-40B4-BE49-F238E27FC236}">
                <a16:creationId xmlns:a16="http://schemas.microsoft.com/office/drawing/2014/main" id="{01DE705E-5030-E364-C840-874EEB78CD86}"/>
              </a:ext>
            </a:extLst>
          </p:cNvPr>
          <p:cNvSpPr>
            <a:spLocks noGrp="1"/>
          </p:cNvSpPr>
          <p:nvPr>
            <p:ph idx="1"/>
          </p:nvPr>
        </p:nvSpPr>
        <p:spPr>
          <a:xfrm>
            <a:off x="236034" y="1026272"/>
            <a:ext cx="11561956" cy="5318561"/>
          </a:xfrm>
        </p:spPr>
        <p:txBody>
          <a:bodyPr>
            <a:normAutofit/>
          </a:bodyPr>
          <a:lstStyle/>
          <a:p>
            <a:pPr>
              <a:lnSpc>
                <a:spcPct val="150000"/>
              </a:lnSpc>
            </a:pPr>
            <a:r>
              <a:rPr lang="en-US" sz="2000" b="1" dirty="0">
                <a:latin typeface="+mn-lt"/>
              </a:rPr>
              <a:t>Key Challenge</a:t>
            </a:r>
          </a:p>
          <a:p>
            <a:pPr lvl="1">
              <a:lnSpc>
                <a:spcPct val="150000"/>
              </a:lnSpc>
            </a:pPr>
            <a:r>
              <a:rPr lang="en-US" sz="1800" dirty="0">
                <a:latin typeface="+mn-lt"/>
              </a:rPr>
              <a:t>Limitations: Diverse Physical Links &amp; Insufficient Host PCIe slots.</a:t>
            </a:r>
          </a:p>
          <a:p>
            <a:pPr lvl="1">
              <a:lnSpc>
                <a:spcPct val="150000"/>
              </a:lnSpc>
            </a:pPr>
            <a:r>
              <a:rPr lang="en-US" sz="1800" dirty="0">
                <a:latin typeface="+mn-lt"/>
              </a:rPr>
              <a:t>Goals: </a:t>
            </a:r>
            <a:r>
              <a:rPr lang="en-US" sz="1800" b="1" dirty="0">
                <a:latin typeface="+mn-lt"/>
              </a:rPr>
              <a:t>Heterogeneous links portability &amp; Scalable Host connection</a:t>
            </a:r>
            <a:endParaRPr lang="en-US" sz="1800" dirty="0">
              <a:latin typeface="+mn-lt"/>
            </a:endParaRPr>
          </a:p>
          <a:p>
            <a:pPr>
              <a:lnSpc>
                <a:spcPct val="150000"/>
              </a:lnSpc>
            </a:pPr>
            <a:r>
              <a:rPr lang="en-US" sz="2000" b="1" dirty="0">
                <a:latin typeface="+mn-lt"/>
              </a:rPr>
              <a:t>Core Technology 1: Scalable Control Tree</a:t>
            </a:r>
            <a:endParaRPr lang="en-US" sz="2000" dirty="0">
              <a:latin typeface="+mn-lt"/>
            </a:endParaRPr>
          </a:p>
          <a:p>
            <a:pPr lvl="1">
              <a:lnSpc>
                <a:spcPct val="150000"/>
              </a:lnSpc>
            </a:pPr>
            <a:r>
              <a:rPr lang="en-US" sz="1800" b="1" dirty="0">
                <a:latin typeface="+mn-lt"/>
              </a:rPr>
              <a:t>Link Reuse:</a:t>
            </a:r>
            <a:r>
              <a:rPr lang="en-US" sz="1800" dirty="0">
                <a:latin typeface="+mn-lt"/>
              </a:rPr>
              <a:t> Multiplexes control packets over existing FPGA-to-FPGA data links</a:t>
            </a:r>
          </a:p>
          <a:p>
            <a:pPr lvl="1">
              <a:lnSpc>
                <a:spcPct val="150000"/>
              </a:lnSpc>
            </a:pPr>
            <a:r>
              <a:rPr lang="en-US" sz="1800" b="1" dirty="0">
                <a:latin typeface="+mn-lt"/>
              </a:rPr>
              <a:t>Packet Forwarding:</a:t>
            </a:r>
            <a:r>
              <a:rPr lang="en-US" sz="1800" dirty="0">
                <a:latin typeface="+mn-lt"/>
              </a:rPr>
              <a:t> Host -&gt; Master -&gt; Slaves</a:t>
            </a:r>
          </a:p>
          <a:p>
            <a:pPr>
              <a:lnSpc>
                <a:spcPct val="150000"/>
              </a:lnSpc>
            </a:pPr>
            <a:r>
              <a:rPr lang="en-US" sz="2000" b="1" dirty="0">
                <a:latin typeface="+mn-lt"/>
              </a:rPr>
              <a:t>Core</a:t>
            </a:r>
            <a:r>
              <a:rPr lang="zh-CN" altLang="en-US" sz="2000" b="1" dirty="0">
                <a:latin typeface="+mn-lt"/>
              </a:rPr>
              <a:t> </a:t>
            </a:r>
            <a:r>
              <a:rPr lang="en-US" altLang="zh-CN" sz="2000" b="1" dirty="0">
                <a:latin typeface="+mn-lt"/>
              </a:rPr>
              <a:t>Technology 2:</a:t>
            </a:r>
            <a:r>
              <a:rPr lang="zh-CN" altLang="en-US" sz="2000" b="1" dirty="0">
                <a:latin typeface="+mn-lt"/>
              </a:rPr>
              <a:t> </a:t>
            </a:r>
            <a:r>
              <a:rPr lang="en-US" altLang="zh-CN" sz="2000" b="1">
                <a:latin typeface="+mn-lt"/>
              </a:rPr>
              <a:t>P</a:t>
            </a:r>
            <a:r>
              <a:rPr lang="en-US" sz="2000" b="1">
                <a:latin typeface="+mn-lt"/>
              </a:rPr>
              <a:t>hysical-Channel-Independent Stream</a:t>
            </a:r>
            <a:endParaRPr lang="en-US" sz="2000" b="1" dirty="0">
              <a:latin typeface="+mn-lt"/>
            </a:endParaRPr>
          </a:p>
          <a:p>
            <a:pPr lvl="1">
              <a:lnSpc>
                <a:spcPct val="150000"/>
              </a:lnSpc>
            </a:pPr>
            <a:r>
              <a:rPr lang="en-US" sz="1800" b="1" dirty="0">
                <a:latin typeface="+mn-lt"/>
              </a:rPr>
              <a:t>AXI</a:t>
            </a:r>
            <a:r>
              <a:rPr lang="en-US" altLang="zh-CN" sz="1800" b="1" dirty="0">
                <a:latin typeface="+mn-lt"/>
              </a:rPr>
              <a:t>-Stream</a:t>
            </a:r>
            <a:r>
              <a:rPr lang="zh-CN" altLang="en-US" sz="1800" b="1" dirty="0">
                <a:latin typeface="+mn-lt"/>
              </a:rPr>
              <a:t> </a:t>
            </a:r>
            <a:r>
              <a:rPr lang="en-US" altLang="zh-CN" sz="1800" b="1" dirty="0">
                <a:latin typeface="+mn-lt"/>
              </a:rPr>
              <a:t>based</a:t>
            </a:r>
            <a:r>
              <a:rPr lang="zh-CN" altLang="en-US" sz="1800" b="1" dirty="0">
                <a:latin typeface="+mn-lt"/>
              </a:rPr>
              <a:t> </a:t>
            </a:r>
            <a:r>
              <a:rPr lang="en-US" altLang="zh-CN" sz="1800" b="1" dirty="0">
                <a:latin typeface="+mn-lt"/>
              </a:rPr>
              <a:t>Interface:</a:t>
            </a:r>
            <a:r>
              <a:rPr lang="en-US" altLang="zh-CN" sz="1800" dirty="0">
                <a:latin typeface="+mn-lt"/>
              </a:rPr>
              <a:t> Data packets supporting dynamic routing</a:t>
            </a:r>
            <a:endParaRPr lang="en-US" sz="1800" b="1" dirty="0">
              <a:latin typeface="+mn-lt"/>
            </a:endParaRPr>
          </a:p>
        </p:txBody>
      </p:sp>
      <p:sp>
        <p:nvSpPr>
          <p:cNvPr id="5" name="灯片编号占位符 4">
            <a:extLst>
              <a:ext uri="{FF2B5EF4-FFF2-40B4-BE49-F238E27FC236}">
                <a16:creationId xmlns:a16="http://schemas.microsoft.com/office/drawing/2014/main" id="{0B92C76F-A1AC-489A-AFDC-B83ABA2493F4}"/>
              </a:ext>
            </a:extLst>
          </p:cNvPr>
          <p:cNvSpPr>
            <a:spLocks noGrp="1"/>
          </p:cNvSpPr>
          <p:nvPr>
            <p:ph type="sldNum" sz="quarter" idx="12"/>
          </p:nvPr>
        </p:nvSpPr>
        <p:spPr/>
        <p:txBody>
          <a:bodyPr/>
          <a:lstStyle/>
          <a:p>
            <a:fld id="{07B19D4B-9808-1A4C-B845-D9471D0CA790}" type="slidenum">
              <a:rPr kumimoji="1" lang="zh-CN" altLang="en-US" smtClean="0"/>
              <a:t>14</a:t>
            </a:fld>
            <a:endParaRPr kumimoji="1" lang="zh-CN" altLang="en-US"/>
          </a:p>
        </p:txBody>
      </p:sp>
    </p:spTree>
    <p:extLst>
      <p:ext uri="{BB962C8B-B14F-4D97-AF65-F5344CB8AC3E}">
        <p14:creationId xmlns:p14="http://schemas.microsoft.com/office/powerpoint/2010/main" val="1875585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27657-24AE-9428-7991-1C6D3565B2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D992875-2DA8-ABF2-E0A5-92BC2311AC23}"/>
              </a:ext>
            </a:extLst>
          </p:cNvPr>
          <p:cNvSpPr>
            <a:spLocks noGrp="1"/>
          </p:cNvSpPr>
          <p:nvPr>
            <p:ph type="title"/>
          </p:nvPr>
        </p:nvSpPr>
        <p:spPr/>
        <p:txBody>
          <a:bodyPr>
            <a:normAutofit/>
          </a:bodyPr>
          <a:lstStyle/>
          <a:p>
            <a:r>
              <a:rPr lang="en-US" dirty="0"/>
              <a:t>Component-Level </a:t>
            </a:r>
            <a:r>
              <a:rPr lang="en-US" dirty="0">
                <a:latin typeface="+mn-lt"/>
              </a:rPr>
              <a:t>Experiments</a:t>
            </a:r>
            <a:endParaRPr lang="en-US" altLang="zh-CN" dirty="0">
              <a:latin typeface="+mn-lt"/>
            </a:endParaRPr>
          </a:p>
        </p:txBody>
      </p:sp>
      <p:sp>
        <p:nvSpPr>
          <p:cNvPr id="3" name="内容占位符 2">
            <a:extLst>
              <a:ext uri="{FF2B5EF4-FFF2-40B4-BE49-F238E27FC236}">
                <a16:creationId xmlns:a16="http://schemas.microsoft.com/office/drawing/2014/main" id="{B74CE24C-E33F-20CB-324D-054801F1DDCD}"/>
              </a:ext>
            </a:extLst>
          </p:cNvPr>
          <p:cNvSpPr>
            <a:spLocks noGrp="1"/>
          </p:cNvSpPr>
          <p:nvPr>
            <p:ph idx="1"/>
          </p:nvPr>
        </p:nvSpPr>
        <p:spPr>
          <a:xfrm>
            <a:off x="236034" y="1026272"/>
            <a:ext cx="11561956" cy="5318561"/>
          </a:xfrm>
        </p:spPr>
        <p:txBody>
          <a:bodyPr>
            <a:normAutofit fontScale="92500" lnSpcReduction="10000"/>
          </a:bodyPr>
          <a:lstStyle/>
          <a:p>
            <a:pPr>
              <a:lnSpc>
                <a:spcPct val="160000"/>
              </a:lnSpc>
            </a:pPr>
            <a:r>
              <a:rPr lang="en-US" sz="2200" b="1" dirty="0">
                <a:latin typeface="+mn-lt"/>
              </a:rPr>
              <a:t>Partition Experiment</a:t>
            </a:r>
            <a:endParaRPr lang="en-US" sz="2200" dirty="0">
              <a:latin typeface="+mn-lt"/>
            </a:endParaRPr>
          </a:p>
          <a:p>
            <a:pPr lvl="1">
              <a:lnSpc>
                <a:spcPct val="150000"/>
              </a:lnSpc>
            </a:pPr>
            <a:r>
              <a:rPr lang="en-US" sz="1700" b="1" dirty="0">
                <a:latin typeface="+mn-lt"/>
              </a:rPr>
              <a:t>Performance:</a:t>
            </a:r>
            <a:r>
              <a:rPr lang="en-US" sz="1700" dirty="0">
                <a:latin typeface="+mn-lt"/>
              </a:rPr>
              <a:t> </a:t>
            </a:r>
            <a:r>
              <a:rPr lang="en-US" sz="1700" b="1" dirty="0">
                <a:latin typeface="+mn-lt"/>
              </a:rPr>
              <a:t>Cut Size</a:t>
            </a:r>
            <a:r>
              <a:rPr lang="en-US" sz="1700" dirty="0">
                <a:latin typeface="+mn-lt"/>
              </a:rPr>
              <a:t> &amp; </a:t>
            </a:r>
            <a:r>
              <a:rPr lang="en-US" sz="1700" b="1" dirty="0">
                <a:latin typeface="+mn-lt"/>
              </a:rPr>
              <a:t>Hop Count</a:t>
            </a:r>
            <a:endParaRPr lang="en-US" sz="1700" dirty="0">
              <a:latin typeface="+mn-lt"/>
            </a:endParaRPr>
          </a:p>
          <a:p>
            <a:pPr lvl="1">
              <a:lnSpc>
                <a:spcPct val="150000"/>
              </a:lnSpc>
            </a:pPr>
            <a:r>
              <a:rPr lang="en-US" sz="1700" b="1" dirty="0">
                <a:latin typeface="+mn-lt"/>
              </a:rPr>
              <a:t>Correctness:</a:t>
            </a:r>
            <a:r>
              <a:rPr lang="en-US" sz="1700" dirty="0">
                <a:latin typeface="+mn-lt"/>
              </a:rPr>
              <a:t> Use </a:t>
            </a:r>
            <a:r>
              <a:rPr lang="en-US" sz="1700" b="1" dirty="0">
                <a:latin typeface="+mn-lt"/>
              </a:rPr>
              <a:t>Formal Verification</a:t>
            </a:r>
            <a:r>
              <a:rPr lang="en-US" sz="1700" dirty="0">
                <a:latin typeface="+mn-lt"/>
              </a:rPr>
              <a:t> (LEC) to prove logical equivalence</a:t>
            </a:r>
          </a:p>
          <a:p>
            <a:pPr>
              <a:lnSpc>
                <a:spcPct val="150000"/>
              </a:lnSpc>
            </a:pPr>
            <a:r>
              <a:rPr lang="en-US" sz="2200" b="1" dirty="0">
                <a:latin typeface="+mn-lt"/>
              </a:rPr>
              <a:t>Integration Experiment</a:t>
            </a:r>
          </a:p>
          <a:p>
            <a:pPr lvl="1">
              <a:lnSpc>
                <a:spcPct val="150000"/>
              </a:lnSpc>
            </a:pPr>
            <a:r>
              <a:rPr lang="en-US" sz="1700" b="1" dirty="0">
                <a:latin typeface="+mn-lt"/>
              </a:rPr>
              <a:t>Functional:</a:t>
            </a:r>
            <a:r>
              <a:rPr lang="en-US" sz="1700" dirty="0">
                <a:latin typeface="+mn-lt"/>
              </a:rPr>
              <a:t> Using Logic Simulation to verify </a:t>
            </a:r>
            <a:r>
              <a:rPr lang="en-US" sz="1700" b="1" dirty="0">
                <a:latin typeface="+mn-lt"/>
              </a:rPr>
              <a:t>Atomic Pause</a:t>
            </a:r>
            <a:r>
              <a:rPr lang="en-US" sz="1700" dirty="0">
                <a:latin typeface="+mn-lt"/>
              </a:rPr>
              <a:t> &amp; </a:t>
            </a:r>
            <a:r>
              <a:rPr lang="en-US" sz="1700" b="1" dirty="0">
                <a:latin typeface="+mn-lt"/>
              </a:rPr>
              <a:t>Waveform Replay</a:t>
            </a:r>
            <a:endParaRPr lang="en-US" sz="1700" dirty="0">
              <a:latin typeface="+mn-lt"/>
            </a:endParaRPr>
          </a:p>
          <a:p>
            <a:pPr lvl="1">
              <a:lnSpc>
                <a:spcPct val="150000"/>
              </a:lnSpc>
            </a:pPr>
            <a:r>
              <a:rPr lang="en-US" sz="1700" b="1" dirty="0">
                <a:latin typeface="+mn-lt"/>
              </a:rPr>
              <a:t>Resource Cost:</a:t>
            </a:r>
            <a:r>
              <a:rPr lang="en-US" sz="1700" dirty="0">
                <a:latin typeface="+mn-lt"/>
              </a:rPr>
              <a:t> Analyze </a:t>
            </a:r>
            <a:r>
              <a:rPr lang="en-US" sz="1700" b="1" dirty="0">
                <a:latin typeface="+mn-lt"/>
              </a:rPr>
              <a:t>Resource Overhead</a:t>
            </a:r>
            <a:r>
              <a:rPr lang="en-US" sz="1700" dirty="0">
                <a:latin typeface="+mn-lt"/>
              </a:rPr>
              <a:t> (LUT/FF) and </a:t>
            </a:r>
            <a:r>
              <a:rPr lang="en-US" sz="1700" b="1" dirty="0">
                <a:latin typeface="+mn-lt"/>
              </a:rPr>
              <a:t>Critical Path </a:t>
            </a:r>
            <a:r>
              <a:rPr lang="en-US" sz="1700" dirty="0">
                <a:latin typeface="+mn-lt"/>
              </a:rPr>
              <a:t>on </a:t>
            </a:r>
            <a:r>
              <a:rPr lang="en-US" sz="1700" dirty="0" err="1">
                <a:latin typeface="+mn-lt"/>
              </a:rPr>
              <a:t>Vivado</a:t>
            </a:r>
            <a:endParaRPr lang="en-US" sz="1700" dirty="0">
              <a:latin typeface="+mn-lt"/>
            </a:endParaRPr>
          </a:p>
          <a:p>
            <a:pPr>
              <a:lnSpc>
                <a:spcPct val="150000"/>
              </a:lnSpc>
            </a:pPr>
            <a:r>
              <a:rPr lang="en-US" sz="2200" b="1" dirty="0">
                <a:latin typeface="+mn-lt"/>
              </a:rPr>
              <a:t>Interconnection Experiment</a:t>
            </a:r>
          </a:p>
          <a:p>
            <a:pPr lvl="1">
              <a:lnSpc>
                <a:spcPct val="150000"/>
              </a:lnSpc>
            </a:pPr>
            <a:r>
              <a:rPr lang="en-US" sz="1700" b="1" dirty="0">
                <a:latin typeface="+mn-lt"/>
              </a:rPr>
              <a:t>Metrics:</a:t>
            </a:r>
            <a:r>
              <a:rPr lang="en-US" sz="1700" dirty="0">
                <a:latin typeface="+mn-lt"/>
              </a:rPr>
              <a:t> End-to-End </a:t>
            </a:r>
            <a:r>
              <a:rPr lang="en-US" sz="1700" b="1" dirty="0">
                <a:latin typeface="+mn-lt"/>
              </a:rPr>
              <a:t>Latency</a:t>
            </a:r>
            <a:r>
              <a:rPr lang="en-US" sz="1700" dirty="0">
                <a:latin typeface="+mn-lt"/>
              </a:rPr>
              <a:t> &amp; </a:t>
            </a:r>
            <a:r>
              <a:rPr lang="en-US" sz="1700" b="1" dirty="0">
                <a:latin typeface="+mn-lt"/>
              </a:rPr>
              <a:t>Throughput</a:t>
            </a:r>
            <a:endParaRPr lang="en-US" sz="1700" dirty="0">
              <a:latin typeface="+mn-lt"/>
            </a:endParaRPr>
          </a:p>
          <a:p>
            <a:pPr lvl="1">
              <a:lnSpc>
                <a:spcPct val="150000"/>
              </a:lnSpc>
            </a:pPr>
            <a:r>
              <a:rPr lang="en-US" sz="1700" b="1" dirty="0">
                <a:latin typeface="+mn-lt"/>
              </a:rPr>
              <a:t>Scenarios:</a:t>
            </a:r>
            <a:endParaRPr lang="en-US" sz="1700" dirty="0">
              <a:latin typeface="+mn-lt"/>
            </a:endParaRPr>
          </a:p>
          <a:p>
            <a:pPr lvl="2">
              <a:lnSpc>
                <a:spcPct val="150000"/>
              </a:lnSpc>
            </a:pPr>
            <a:r>
              <a:rPr lang="en-US" sz="1500" dirty="0">
                <a:latin typeface="+mn-lt"/>
              </a:rPr>
              <a:t>Intra-Chip (AXI crossbar)</a:t>
            </a:r>
          </a:p>
          <a:p>
            <a:pPr lvl="2">
              <a:lnSpc>
                <a:spcPct val="150000"/>
              </a:lnSpc>
            </a:pPr>
            <a:r>
              <a:rPr lang="en-US" sz="1500" dirty="0">
                <a:latin typeface="+mn-lt"/>
              </a:rPr>
              <a:t>Inter-Chip (QSFP / Aurora)</a:t>
            </a:r>
          </a:p>
          <a:p>
            <a:pPr lvl="2">
              <a:lnSpc>
                <a:spcPct val="150000"/>
              </a:lnSpc>
            </a:pPr>
            <a:r>
              <a:rPr lang="en-US" sz="1500" dirty="0">
                <a:latin typeface="+mn-lt"/>
              </a:rPr>
              <a:t>Cross-Server (100G Ethernet / TCP/IP)</a:t>
            </a:r>
          </a:p>
        </p:txBody>
      </p:sp>
      <p:sp>
        <p:nvSpPr>
          <p:cNvPr id="5" name="灯片编号占位符 4">
            <a:extLst>
              <a:ext uri="{FF2B5EF4-FFF2-40B4-BE49-F238E27FC236}">
                <a16:creationId xmlns:a16="http://schemas.microsoft.com/office/drawing/2014/main" id="{B19AD3D9-86DB-D54F-E744-34D5EF2E48D1}"/>
              </a:ext>
            </a:extLst>
          </p:cNvPr>
          <p:cNvSpPr>
            <a:spLocks noGrp="1"/>
          </p:cNvSpPr>
          <p:nvPr>
            <p:ph type="sldNum" sz="quarter" idx="12"/>
          </p:nvPr>
        </p:nvSpPr>
        <p:spPr/>
        <p:txBody>
          <a:bodyPr/>
          <a:lstStyle/>
          <a:p>
            <a:fld id="{07B19D4B-9808-1A4C-B845-D9471D0CA790}" type="slidenum">
              <a:rPr kumimoji="1" lang="zh-CN" altLang="en-US" smtClean="0"/>
              <a:t>15</a:t>
            </a:fld>
            <a:endParaRPr kumimoji="1" lang="zh-CN" altLang="en-US"/>
          </a:p>
        </p:txBody>
      </p:sp>
    </p:spTree>
    <p:extLst>
      <p:ext uri="{BB962C8B-B14F-4D97-AF65-F5344CB8AC3E}">
        <p14:creationId xmlns:p14="http://schemas.microsoft.com/office/powerpoint/2010/main" val="63055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1F5FF-66A5-6483-9624-AD328EF4AF7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E2944F-D1CB-6E9F-5266-5979EFBC29DF}"/>
              </a:ext>
            </a:extLst>
          </p:cNvPr>
          <p:cNvSpPr>
            <a:spLocks noGrp="1"/>
          </p:cNvSpPr>
          <p:nvPr>
            <p:ph type="title"/>
          </p:nvPr>
        </p:nvSpPr>
        <p:spPr/>
        <p:txBody>
          <a:bodyPr>
            <a:normAutofit/>
          </a:bodyPr>
          <a:lstStyle/>
          <a:p>
            <a:r>
              <a:rPr lang="en-US" dirty="0">
                <a:latin typeface="+mn-lt"/>
              </a:rPr>
              <a:t>System Experiment: Prototype &amp; Estimation</a:t>
            </a:r>
            <a:endParaRPr lang="en-US" altLang="zh-CN" dirty="0">
              <a:latin typeface="+mn-lt"/>
            </a:endParaRPr>
          </a:p>
        </p:txBody>
      </p:sp>
      <p:sp>
        <p:nvSpPr>
          <p:cNvPr id="3" name="内容占位符 2">
            <a:extLst>
              <a:ext uri="{FF2B5EF4-FFF2-40B4-BE49-F238E27FC236}">
                <a16:creationId xmlns:a16="http://schemas.microsoft.com/office/drawing/2014/main" id="{DEAD8A55-B3B6-96A5-0C4D-717F96AD1529}"/>
              </a:ext>
            </a:extLst>
          </p:cNvPr>
          <p:cNvSpPr>
            <a:spLocks noGrp="1"/>
          </p:cNvSpPr>
          <p:nvPr>
            <p:ph idx="1"/>
          </p:nvPr>
        </p:nvSpPr>
        <p:spPr>
          <a:xfrm>
            <a:off x="236034" y="1026272"/>
            <a:ext cx="8958070" cy="5318561"/>
          </a:xfrm>
        </p:spPr>
        <p:txBody>
          <a:bodyPr>
            <a:normAutofit/>
          </a:bodyPr>
          <a:lstStyle/>
          <a:p>
            <a:pPr>
              <a:lnSpc>
                <a:spcPct val="150000"/>
              </a:lnSpc>
            </a:pPr>
            <a:r>
              <a:rPr lang="en-US" sz="2000" b="1" dirty="0">
                <a:latin typeface="+mn-lt"/>
              </a:rPr>
              <a:t>Experimental Platform</a:t>
            </a:r>
            <a:endParaRPr lang="en-US" sz="2000" dirty="0">
              <a:latin typeface="+mn-lt"/>
            </a:endParaRPr>
          </a:p>
          <a:p>
            <a:pPr lvl="1"/>
            <a:r>
              <a:rPr lang="en-US" sz="1800" b="1" dirty="0">
                <a:latin typeface="+mn-lt"/>
              </a:rPr>
              <a:t>Hardware:</a:t>
            </a:r>
            <a:r>
              <a:rPr lang="en-US" sz="1800" dirty="0">
                <a:latin typeface="+mn-lt"/>
              </a:rPr>
              <a:t> Self-built Multi-FPGA Cluster, based on AMD/Xilinx XCVU37P</a:t>
            </a:r>
          </a:p>
          <a:p>
            <a:pPr lvl="1"/>
            <a:r>
              <a:rPr lang="en-US" sz="1800" b="1" dirty="0">
                <a:latin typeface="+mn-lt"/>
              </a:rPr>
              <a:t>Interconnect:</a:t>
            </a:r>
            <a:endParaRPr lang="en-US" sz="1800" dirty="0">
              <a:latin typeface="+mn-lt"/>
            </a:endParaRPr>
          </a:p>
          <a:p>
            <a:pPr lvl="2"/>
            <a:r>
              <a:rPr lang="en-US" sz="1800" b="1" dirty="0">
                <a:latin typeface="+mn-lt"/>
              </a:rPr>
              <a:t>Data Plane:</a:t>
            </a:r>
            <a:r>
              <a:rPr lang="en-US" sz="1800" dirty="0">
                <a:latin typeface="+mn-lt"/>
              </a:rPr>
              <a:t> High-speed P2P via QSFP</a:t>
            </a:r>
          </a:p>
          <a:p>
            <a:pPr lvl="2"/>
            <a:r>
              <a:rPr lang="en-US" sz="1800" b="1" dirty="0">
                <a:latin typeface="+mn-lt"/>
              </a:rPr>
              <a:t>Control Plane:</a:t>
            </a:r>
            <a:r>
              <a:rPr lang="en-US" sz="1800" dirty="0">
                <a:latin typeface="+mn-lt"/>
              </a:rPr>
              <a:t> Direct, Tree-based Hierarchy</a:t>
            </a:r>
          </a:p>
          <a:p>
            <a:r>
              <a:rPr lang="en-US" sz="2000" b="1" dirty="0">
                <a:latin typeface="+mn-lt"/>
              </a:rPr>
              <a:t>Target Designs (DUT)</a:t>
            </a:r>
            <a:endParaRPr lang="en-US" sz="2000" dirty="0">
              <a:latin typeface="+mn-lt"/>
            </a:endParaRPr>
          </a:p>
          <a:p>
            <a:pPr lvl="1"/>
            <a:r>
              <a:rPr lang="en-US" sz="1800" b="1" dirty="0" err="1">
                <a:latin typeface="+mn-lt"/>
              </a:rPr>
              <a:t>XiangShan</a:t>
            </a:r>
            <a:r>
              <a:rPr lang="en-US" sz="1800" b="1" dirty="0">
                <a:latin typeface="+mn-lt"/>
              </a:rPr>
              <a:t> (</a:t>
            </a:r>
            <a:r>
              <a:rPr lang="en-US" sz="1800" b="1" dirty="0" err="1">
                <a:latin typeface="+mn-lt"/>
              </a:rPr>
              <a:t>Kunminghu</a:t>
            </a:r>
            <a:r>
              <a:rPr lang="en-US" sz="1800" b="1" dirty="0">
                <a:latin typeface="+mn-lt"/>
              </a:rPr>
              <a:t>):</a:t>
            </a:r>
            <a:r>
              <a:rPr lang="en-US" sz="1800" dirty="0">
                <a:latin typeface="+mn-lt"/>
              </a:rPr>
              <a:t> High-performance RISC-V Processor</a:t>
            </a:r>
          </a:p>
          <a:p>
            <a:pPr lvl="1"/>
            <a:r>
              <a:rPr lang="en-US" sz="1800" b="1" dirty="0" err="1">
                <a:latin typeface="+mn-lt"/>
              </a:rPr>
              <a:t>OpenGPGPU</a:t>
            </a:r>
            <a:r>
              <a:rPr lang="en-US" sz="1800" b="1" dirty="0">
                <a:latin typeface="+mn-lt"/>
              </a:rPr>
              <a:t>:</a:t>
            </a:r>
            <a:r>
              <a:rPr lang="en-US" sz="1800" dirty="0">
                <a:latin typeface="+mn-lt"/>
              </a:rPr>
              <a:t> Large-scale multi-core GPU architecture</a:t>
            </a:r>
          </a:p>
          <a:p>
            <a:r>
              <a:rPr lang="en-US" sz="2000" b="1" dirty="0">
                <a:latin typeface="+mn-lt"/>
              </a:rPr>
              <a:t>Key Estimation Metrics</a:t>
            </a:r>
            <a:endParaRPr lang="en-US" sz="2000" dirty="0">
              <a:latin typeface="+mn-lt"/>
            </a:endParaRPr>
          </a:p>
          <a:p>
            <a:pPr lvl="1"/>
            <a:r>
              <a:rPr lang="en-US" sz="1800" b="1" dirty="0">
                <a:latin typeface="+mn-lt"/>
              </a:rPr>
              <a:t>System Performance:</a:t>
            </a:r>
            <a:r>
              <a:rPr lang="en-US" sz="1800" dirty="0">
                <a:latin typeface="+mn-lt"/>
              </a:rPr>
              <a:t> </a:t>
            </a:r>
            <a:r>
              <a:rPr lang="en-US" sz="1800" b="1" dirty="0">
                <a:latin typeface="+mn-lt"/>
              </a:rPr>
              <a:t>Logical Clock Frequency</a:t>
            </a:r>
            <a:r>
              <a:rPr lang="en-US" sz="1800" dirty="0">
                <a:latin typeface="+mn-lt"/>
              </a:rPr>
              <a:t> running real benchmarks</a:t>
            </a:r>
          </a:p>
          <a:p>
            <a:pPr lvl="1"/>
            <a:r>
              <a:rPr lang="en-US" sz="1800" b="1" dirty="0" err="1">
                <a:latin typeface="+mn-lt"/>
              </a:rPr>
              <a:t>Replayability</a:t>
            </a:r>
            <a:r>
              <a:rPr lang="en-US" sz="1800" b="1" dirty="0">
                <a:latin typeface="+mn-lt"/>
              </a:rPr>
              <a:t>:</a:t>
            </a:r>
            <a:r>
              <a:rPr lang="en-US" sz="1800" dirty="0">
                <a:latin typeface="+mn-lt"/>
              </a:rPr>
              <a:t> Verification of </a:t>
            </a:r>
            <a:r>
              <a:rPr lang="en-US" sz="1800" b="1" dirty="0">
                <a:latin typeface="+mn-lt"/>
              </a:rPr>
              <a:t>Cycle-Accurate Replay</a:t>
            </a:r>
            <a:r>
              <a:rPr lang="en-US" sz="1800" dirty="0">
                <a:latin typeface="+mn-lt"/>
              </a:rPr>
              <a:t> &amp; Signal Tracing</a:t>
            </a:r>
          </a:p>
          <a:p>
            <a:pPr lvl="1"/>
            <a:r>
              <a:rPr lang="en-US" sz="1800" b="1" dirty="0">
                <a:latin typeface="+mn-lt"/>
              </a:rPr>
              <a:t>Scalability:</a:t>
            </a:r>
            <a:r>
              <a:rPr lang="en-US" sz="1800" dirty="0">
                <a:latin typeface="+mn-lt"/>
              </a:rPr>
              <a:t> 4-Board testing to validate the </a:t>
            </a:r>
            <a:r>
              <a:rPr lang="en-US" sz="1800" b="1" dirty="0">
                <a:latin typeface="+mn-lt"/>
              </a:rPr>
              <a:t>Tree-based Host Control</a:t>
            </a:r>
            <a:endParaRPr lang="en-US" sz="1800" dirty="0">
              <a:latin typeface="+mn-lt"/>
            </a:endParaRPr>
          </a:p>
        </p:txBody>
      </p:sp>
      <p:sp>
        <p:nvSpPr>
          <p:cNvPr id="5" name="灯片编号占位符 4">
            <a:extLst>
              <a:ext uri="{FF2B5EF4-FFF2-40B4-BE49-F238E27FC236}">
                <a16:creationId xmlns:a16="http://schemas.microsoft.com/office/drawing/2014/main" id="{3DA5D26C-A3F6-9880-879A-9A89AB97D0E5}"/>
              </a:ext>
            </a:extLst>
          </p:cNvPr>
          <p:cNvSpPr>
            <a:spLocks noGrp="1"/>
          </p:cNvSpPr>
          <p:nvPr>
            <p:ph type="sldNum" sz="quarter" idx="12"/>
          </p:nvPr>
        </p:nvSpPr>
        <p:spPr/>
        <p:txBody>
          <a:bodyPr/>
          <a:lstStyle/>
          <a:p>
            <a:fld id="{07B19D4B-9808-1A4C-B845-D9471D0CA790}" type="slidenum">
              <a:rPr kumimoji="1" lang="zh-CN" altLang="en-US" smtClean="0"/>
              <a:t>16</a:t>
            </a:fld>
            <a:endParaRPr kumimoji="1" lang="zh-CN" altLang="en-US"/>
          </a:p>
        </p:txBody>
      </p:sp>
      <p:pic>
        <p:nvPicPr>
          <p:cNvPr id="8" name="Picture 7">
            <a:extLst>
              <a:ext uri="{FF2B5EF4-FFF2-40B4-BE49-F238E27FC236}">
                <a16:creationId xmlns:a16="http://schemas.microsoft.com/office/drawing/2014/main" id="{6D79742C-1A24-734F-58FE-1CB73D6A6783}"/>
              </a:ext>
            </a:extLst>
          </p:cNvPr>
          <p:cNvPicPr>
            <a:picLocks noChangeAspect="1"/>
          </p:cNvPicPr>
          <p:nvPr/>
        </p:nvPicPr>
        <p:blipFill>
          <a:blip r:embed="rId3"/>
          <a:stretch>
            <a:fillRect/>
          </a:stretch>
        </p:blipFill>
        <p:spPr>
          <a:xfrm rot="5400000">
            <a:off x="8083828" y="2385922"/>
            <a:ext cx="4637530" cy="2086157"/>
          </a:xfrm>
          <a:prstGeom prst="rect">
            <a:avLst/>
          </a:prstGeom>
        </p:spPr>
      </p:pic>
      <p:sp>
        <p:nvSpPr>
          <p:cNvPr id="9" name="TextBox 8">
            <a:extLst>
              <a:ext uri="{FF2B5EF4-FFF2-40B4-BE49-F238E27FC236}">
                <a16:creationId xmlns:a16="http://schemas.microsoft.com/office/drawing/2014/main" id="{8E50839E-2058-5566-034B-8CB4B9B86CC8}"/>
              </a:ext>
            </a:extLst>
          </p:cNvPr>
          <p:cNvSpPr txBox="1"/>
          <p:nvPr/>
        </p:nvSpPr>
        <p:spPr>
          <a:xfrm>
            <a:off x="9359514" y="5844642"/>
            <a:ext cx="2239587" cy="523220"/>
          </a:xfrm>
          <a:prstGeom prst="rect">
            <a:avLst/>
          </a:prstGeom>
          <a:noFill/>
        </p:spPr>
        <p:txBody>
          <a:bodyPr wrap="square" rtlCol="0">
            <a:spAutoFit/>
          </a:bodyPr>
          <a:lstStyle/>
          <a:p>
            <a:pPr algn="ctr"/>
            <a:r>
              <a:rPr lang="en-US" sz="1400" dirty="0"/>
              <a:t>Enterprise-built FPGA Acceleration Card</a:t>
            </a:r>
            <a:endParaRPr lang="en-CN" sz="1400" dirty="0"/>
          </a:p>
        </p:txBody>
      </p:sp>
    </p:spTree>
    <p:extLst>
      <p:ext uri="{BB962C8B-B14F-4D97-AF65-F5344CB8AC3E}">
        <p14:creationId xmlns:p14="http://schemas.microsoft.com/office/powerpoint/2010/main" val="4132936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EFBEF-F73F-9542-E5B7-4169B583CC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A4C543E-A819-7AED-37A0-BE7BF4085C2D}"/>
              </a:ext>
            </a:extLst>
          </p:cNvPr>
          <p:cNvSpPr>
            <a:spLocks noGrp="1"/>
          </p:cNvSpPr>
          <p:nvPr>
            <p:ph type="title"/>
          </p:nvPr>
        </p:nvSpPr>
        <p:spPr/>
        <p:txBody>
          <a:bodyPr/>
          <a:lstStyle/>
          <a:p>
            <a:r>
              <a:rPr lang="en-US" dirty="0">
                <a:latin typeface="+mn-lt"/>
              </a:rPr>
              <a:t>Project Timeline</a:t>
            </a:r>
            <a:endParaRPr lang="zh-CN" altLang="en-US" dirty="0">
              <a:latin typeface="+mn-lt"/>
            </a:endParaRPr>
          </a:p>
        </p:txBody>
      </p:sp>
      <p:sp>
        <p:nvSpPr>
          <p:cNvPr id="3" name="内容占位符 2">
            <a:extLst>
              <a:ext uri="{FF2B5EF4-FFF2-40B4-BE49-F238E27FC236}">
                <a16:creationId xmlns:a16="http://schemas.microsoft.com/office/drawing/2014/main" id="{9FC08F51-441E-3BDE-6B3B-54CC6D70CEA2}"/>
              </a:ext>
            </a:extLst>
          </p:cNvPr>
          <p:cNvSpPr>
            <a:spLocks noGrp="1"/>
          </p:cNvSpPr>
          <p:nvPr>
            <p:ph idx="1"/>
          </p:nvPr>
        </p:nvSpPr>
        <p:spPr>
          <a:xfrm>
            <a:off x="236033" y="1026272"/>
            <a:ext cx="8491108" cy="5318561"/>
          </a:xfrm>
        </p:spPr>
        <p:txBody>
          <a:bodyPr>
            <a:normAutofit/>
          </a:bodyPr>
          <a:lstStyle/>
          <a:p>
            <a:pPr>
              <a:lnSpc>
                <a:spcPct val="150000"/>
              </a:lnSpc>
            </a:pPr>
            <a:r>
              <a:rPr lang="en-US" sz="2000" b="1" dirty="0">
                <a:latin typeface="+mn-lt"/>
              </a:rPr>
              <a:t>Current Status (Completed)</a:t>
            </a:r>
            <a:endParaRPr lang="en-US" sz="2000" dirty="0">
              <a:latin typeface="+mn-lt"/>
            </a:endParaRPr>
          </a:p>
          <a:p>
            <a:pPr lvl="1"/>
            <a:r>
              <a:rPr lang="en-US" sz="1800" b="1" dirty="0">
                <a:latin typeface="+mn-lt"/>
              </a:rPr>
              <a:t>Partition:</a:t>
            </a:r>
            <a:r>
              <a:rPr lang="en-US" sz="1800" dirty="0">
                <a:latin typeface="+mn-lt"/>
              </a:rPr>
              <a:t> Development &amp; Verification finished</a:t>
            </a:r>
          </a:p>
          <a:p>
            <a:pPr lvl="1"/>
            <a:r>
              <a:rPr lang="en-US" sz="1800" b="1" dirty="0">
                <a:latin typeface="+mn-lt"/>
              </a:rPr>
              <a:t>Integration &amp; Interconnection:</a:t>
            </a:r>
            <a:r>
              <a:rPr lang="zh-CN" altLang="en-US" sz="1800" b="1" dirty="0">
                <a:latin typeface="+mn-lt"/>
              </a:rPr>
              <a:t> </a:t>
            </a:r>
            <a:r>
              <a:rPr lang="en-US" altLang="zh-CN" sz="1800" dirty="0">
                <a:latin typeface="+mn-lt"/>
              </a:rPr>
              <a:t>Development</a:t>
            </a:r>
            <a:r>
              <a:rPr lang="zh-CN" altLang="en-US" sz="1800" dirty="0">
                <a:latin typeface="+mn-lt"/>
              </a:rPr>
              <a:t> </a:t>
            </a:r>
            <a:r>
              <a:rPr lang="en-US" altLang="zh-CN" sz="1800" dirty="0">
                <a:latin typeface="+mn-lt"/>
              </a:rPr>
              <a:t>finished, not verification yet</a:t>
            </a:r>
            <a:endParaRPr lang="en-US" sz="1800" dirty="0">
              <a:latin typeface="+mn-lt"/>
            </a:endParaRPr>
          </a:p>
          <a:p>
            <a:r>
              <a:rPr lang="en-US" sz="2000" b="1" dirty="0">
                <a:latin typeface="+mn-lt"/>
              </a:rPr>
              <a:t>Mid-Term Goals</a:t>
            </a:r>
            <a:endParaRPr lang="en-US" sz="2000" dirty="0">
              <a:latin typeface="+mn-lt"/>
            </a:endParaRPr>
          </a:p>
          <a:p>
            <a:pPr lvl="1"/>
            <a:r>
              <a:rPr lang="en-US" sz="1800" b="1" dirty="0">
                <a:latin typeface="+mn-lt"/>
              </a:rPr>
              <a:t>System Scale:</a:t>
            </a:r>
            <a:r>
              <a:rPr lang="en-US" sz="1800" dirty="0">
                <a:latin typeface="+mn-lt"/>
              </a:rPr>
              <a:t> Stable </a:t>
            </a:r>
            <a:r>
              <a:rPr lang="en-US" sz="1800" b="1" dirty="0">
                <a:latin typeface="+mn-lt"/>
              </a:rPr>
              <a:t>2-FPGA</a:t>
            </a:r>
            <a:r>
              <a:rPr lang="en-US" sz="1800" dirty="0">
                <a:latin typeface="+mn-lt"/>
              </a:rPr>
              <a:t> Emulation System</a:t>
            </a:r>
          </a:p>
          <a:p>
            <a:pPr lvl="1"/>
            <a:r>
              <a:rPr lang="en-US" sz="1800" b="1" dirty="0">
                <a:latin typeface="+mn-lt"/>
              </a:rPr>
              <a:t>Target Design:</a:t>
            </a:r>
            <a:r>
              <a:rPr lang="en-US" sz="1800" dirty="0">
                <a:latin typeface="+mn-lt"/>
              </a:rPr>
              <a:t> </a:t>
            </a:r>
            <a:r>
              <a:rPr lang="en-US" sz="1800" b="1" dirty="0">
                <a:latin typeface="+mn-lt"/>
              </a:rPr>
              <a:t>PicoRV32</a:t>
            </a:r>
            <a:r>
              <a:rPr lang="en-US" sz="1800" dirty="0">
                <a:latin typeface="+mn-lt"/>
              </a:rPr>
              <a:t> SoC (Small-scale)</a:t>
            </a:r>
          </a:p>
          <a:p>
            <a:pPr lvl="1"/>
            <a:r>
              <a:rPr lang="en-US" sz="1800" b="1" dirty="0">
                <a:latin typeface="+mn-lt"/>
              </a:rPr>
              <a:t>Workload:</a:t>
            </a:r>
            <a:r>
              <a:rPr lang="en-US" sz="1800" dirty="0">
                <a:latin typeface="+mn-lt"/>
              </a:rPr>
              <a:t> Bare-metal programs</a:t>
            </a:r>
          </a:p>
          <a:p>
            <a:pPr lvl="1"/>
            <a:r>
              <a:rPr lang="en-US" sz="1800" b="1" dirty="0">
                <a:latin typeface="+mn-lt"/>
              </a:rPr>
              <a:t>Debug Capability:</a:t>
            </a:r>
            <a:r>
              <a:rPr lang="en-US" sz="1800" dirty="0">
                <a:latin typeface="+mn-lt"/>
              </a:rPr>
              <a:t> </a:t>
            </a:r>
            <a:r>
              <a:rPr lang="en-US" sz="1800" b="1" dirty="0">
                <a:latin typeface="+mn-lt"/>
              </a:rPr>
              <a:t>Waveform Replay</a:t>
            </a:r>
            <a:endParaRPr lang="en-US" sz="1800" dirty="0">
              <a:latin typeface="+mn-lt"/>
            </a:endParaRPr>
          </a:p>
          <a:p>
            <a:r>
              <a:rPr lang="en-US" sz="2000" b="1" dirty="0">
                <a:latin typeface="+mn-lt"/>
              </a:rPr>
              <a:t>Final Goals</a:t>
            </a:r>
            <a:endParaRPr lang="en-US" sz="2000" dirty="0">
              <a:latin typeface="+mn-lt"/>
            </a:endParaRPr>
          </a:p>
          <a:p>
            <a:pPr lvl="1"/>
            <a:r>
              <a:rPr lang="en-US" sz="1800" b="1" dirty="0">
                <a:latin typeface="+mn-lt"/>
              </a:rPr>
              <a:t>System Scale:</a:t>
            </a:r>
            <a:r>
              <a:rPr lang="en-US" sz="1800" dirty="0">
                <a:latin typeface="+mn-lt"/>
              </a:rPr>
              <a:t> Scaled </a:t>
            </a:r>
            <a:r>
              <a:rPr lang="en-US" sz="1800" b="1" dirty="0">
                <a:latin typeface="+mn-lt"/>
              </a:rPr>
              <a:t>4-FPGA</a:t>
            </a:r>
            <a:r>
              <a:rPr lang="en-US" sz="1800" dirty="0">
                <a:latin typeface="+mn-lt"/>
              </a:rPr>
              <a:t> System running</a:t>
            </a:r>
          </a:p>
          <a:p>
            <a:pPr lvl="1"/>
            <a:r>
              <a:rPr lang="en-US" sz="1800" b="1" dirty="0">
                <a:latin typeface="+mn-lt"/>
              </a:rPr>
              <a:t>Target Design:</a:t>
            </a:r>
            <a:r>
              <a:rPr lang="en-US" sz="1800" dirty="0">
                <a:latin typeface="+mn-lt"/>
              </a:rPr>
              <a:t> Dual-core </a:t>
            </a:r>
            <a:r>
              <a:rPr lang="en-US" sz="1800" b="1" dirty="0" err="1">
                <a:latin typeface="+mn-lt"/>
              </a:rPr>
              <a:t>XiangShan</a:t>
            </a:r>
            <a:r>
              <a:rPr lang="en-US" sz="1800" b="1" dirty="0">
                <a:latin typeface="+mn-lt"/>
              </a:rPr>
              <a:t> (</a:t>
            </a:r>
            <a:r>
              <a:rPr lang="en-US" sz="1800" b="1" dirty="0" err="1">
                <a:latin typeface="+mn-lt"/>
              </a:rPr>
              <a:t>Kunminghu</a:t>
            </a:r>
            <a:r>
              <a:rPr lang="en-US" sz="1800" b="1" dirty="0">
                <a:latin typeface="+mn-lt"/>
              </a:rPr>
              <a:t>)</a:t>
            </a:r>
            <a:r>
              <a:rPr lang="en-US" sz="1800" dirty="0">
                <a:latin typeface="+mn-lt"/>
              </a:rPr>
              <a:t> </a:t>
            </a:r>
          </a:p>
          <a:p>
            <a:pPr lvl="1"/>
            <a:r>
              <a:rPr lang="en-US" sz="1800" b="1" dirty="0">
                <a:latin typeface="+mn-lt"/>
              </a:rPr>
              <a:t>Workload:</a:t>
            </a:r>
            <a:r>
              <a:rPr lang="en-US" sz="1800" dirty="0">
                <a:latin typeface="+mn-lt"/>
              </a:rPr>
              <a:t> Full-stack </a:t>
            </a:r>
            <a:r>
              <a:rPr lang="en-US" sz="1800" b="1" dirty="0">
                <a:latin typeface="+mn-lt"/>
              </a:rPr>
              <a:t>Linux OS</a:t>
            </a:r>
            <a:r>
              <a:rPr lang="en-US" sz="1800" dirty="0">
                <a:latin typeface="+mn-lt"/>
              </a:rPr>
              <a:t> &amp; User Applications</a:t>
            </a:r>
          </a:p>
          <a:p>
            <a:pPr lvl="1"/>
            <a:r>
              <a:rPr lang="en-US" sz="1800" b="1" dirty="0">
                <a:latin typeface="+mn-lt"/>
              </a:rPr>
              <a:t>Debug Capability:</a:t>
            </a:r>
            <a:r>
              <a:rPr lang="en-US" sz="1800" dirty="0">
                <a:latin typeface="+mn-lt"/>
              </a:rPr>
              <a:t> Waveform Replay &amp; Trace</a:t>
            </a:r>
          </a:p>
        </p:txBody>
      </p:sp>
      <p:sp>
        <p:nvSpPr>
          <p:cNvPr id="5" name="灯片编号占位符 4">
            <a:extLst>
              <a:ext uri="{FF2B5EF4-FFF2-40B4-BE49-F238E27FC236}">
                <a16:creationId xmlns:a16="http://schemas.microsoft.com/office/drawing/2014/main" id="{1E6E9A36-DABE-8CDF-C5F5-62797CC9EAF7}"/>
              </a:ext>
            </a:extLst>
          </p:cNvPr>
          <p:cNvSpPr>
            <a:spLocks noGrp="1"/>
          </p:cNvSpPr>
          <p:nvPr>
            <p:ph type="sldNum" sz="quarter" idx="12"/>
          </p:nvPr>
        </p:nvSpPr>
        <p:spPr/>
        <p:txBody>
          <a:bodyPr/>
          <a:lstStyle/>
          <a:p>
            <a:fld id="{07B19D4B-9808-1A4C-B845-D9471D0CA790}" type="slidenum">
              <a:rPr kumimoji="1" lang="zh-CN" altLang="en-US" smtClean="0"/>
              <a:t>17</a:t>
            </a:fld>
            <a:endParaRPr kumimoji="1" lang="zh-CN" altLang="en-US"/>
          </a:p>
        </p:txBody>
      </p:sp>
      <p:pic>
        <p:nvPicPr>
          <p:cNvPr id="6" name="Picture 5">
            <a:extLst>
              <a:ext uri="{FF2B5EF4-FFF2-40B4-BE49-F238E27FC236}">
                <a16:creationId xmlns:a16="http://schemas.microsoft.com/office/drawing/2014/main" id="{D13C5456-96C4-BFCF-C70D-AC3F9D9EE05D}"/>
              </a:ext>
            </a:extLst>
          </p:cNvPr>
          <p:cNvPicPr>
            <a:picLocks noChangeAspect="1"/>
          </p:cNvPicPr>
          <p:nvPr/>
        </p:nvPicPr>
        <p:blipFill>
          <a:blip r:embed="rId3"/>
          <a:stretch>
            <a:fillRect/>
          </a:stretch>
        </p:blipFill>
        <p:spPr>
          <a:xfrm>
            <a:off x="6493937" y="2466344"/>
            <a:ext cx="5462030" cy="3365384"/>
          </a:xfrm>
          <a:prstGeom prst="rect">
            <a:avLst/>
          </a:prstGeom>
        </p:spPr>
      </p:pic>
    </p:spTree>
    <p:extLst>
      <p:ext uri="{BB962C8B-B14F-4D97-AF65-F5344CB8AC3E}">
        <p14:creationId xmlns:p14="http://schemas.microsoft.com/office/powerpoint/2010/main" val="2511629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D26171-EEA5-0EAA-8509-169BE92BAEFD}"/>
              </a:ext>
            </a:extLst>
          </p:cNvPr>
          <p:cNvSpPr>
            <a:spLocks noGrp="1"/>
          </p:cNvSpPr>
          <p:nvPr>
            <p:ph type="ctrTitle"/>
          </p:nvPr>
        </p:nvSpPr>
        <p:spPr>
          <a:xfrm>
            <a:off x="0" y="1869066"/>
            <a:ext cx="12192000" cy="1936882"/>
          </a:xfrm>
        </p:spPr>
        <p:txBody>
          <a:bodyPr>
            <a:noAutofit/>
          </a:bodyPr>
          <a:lstStyle/>
          <a:p>
            <a:r>
              <a:rPr lang="en-US" altLang="zh-CN" sz="6000" dirty="0">
                <a:latin typeface="+mn-lt"/>
              </a:rPr>
              <a:t>Thank you</a:t>
            </a:r>
            <a:endParaRPr lang="zh-CN" altLang="en-US" sz="6000" dirty="0">
              <a:latin typeface="+mn-lt"/>
            </a:endParaRPr>
          </a:p>
        </p:txBody>
      </p:sp>
      <p:sp>
        <p:nvSpPr>
          <p:cNvPr id="4" name="文本框 3">
            <a:extLst>
              <a:ext uri="{FF2B5EF4-FFF2-40B4-BE49-F238E27FC236}">
                <a16:creationId xmlns:a16="http://schemas.microsoft.com/office/drawing/2014/main" id="{7EBF25D5-769F-1398-0AE8-3A1E9E021114}"/>
              </a:ext>
            </a:extLst>
          </p:cNvPr>
          <p:cNvSpPr txBox="1"/>
          <p:nvPr/>
        </p:nvSpPr>
        <p:spPr>
          <a:xfrm>
            <a:off x="5434598" y="6304001"/>
            <a:ext cx="1322798" cy="369332"/>
          </a:xfrm>
          <a:prstGeom prst="rect">
            <a:avLst/>
          </a:prstGeom>
          <a:noFill/>
        </p:spPr>
        <p:txBody>
          <a:bodyPr wrap="none" rtlCol="0">
            <a:spAutoFit/>
          </a:bodyPr>
          <a:lstStyle/>
          <a:p>
            <a:r>
              <a:rPr lang="en-US" altLang="zh-CN" dirty="0">
                <a:latin typeface="Noto Sans" panose="020B0502040504020204" pitchFamily="34" charset="0"/>
                <a:ea typeface="Noto Sans CJK SC" panose="020B0500000000000000" pitchFamily="34" charset="-122"/>
              </a:rPr>
              <a:t>2025.12.10</a:t>
            </a:r>
            <a:endParaRPr lang="zh-CN" altLang="en-US" dirty="0">
              <a:latin typeface="Noto Sans" panose="020B0502040504020204" pitchFamily="34" charset="0"/>
              <a:ea typeface="Noto Sans CJK SC" panose="020B0500000000000000" pitchFamily="34" charset="-122"/>
            </a:endParaRPr>
          </a:p>
        </p:txBody>
      </p:sp>
      <p:graphicFrame>
        <p:nvGraphicFramePr>
          <p:cNvPr id="6" name="表格 5">
            <a:extLst>
              <a:ext uri="{FF2B5EF4-FFF2-40B4-BE49-F238E27FC236}">
                <a16:creationId xmlns:a16="http://schemas.microsoft.com/office/drawing/2014/main" id="{A8249B18-D827-1034-C634-130B3003F53A}"/>
              </a:ext>
            </a:extLst>
          </p:cNvPr>
          <p:cNvGraphicFramePr>
            <a:graphicFrameLocks noGrp="1"/>
          </p:cNvGraphicFramePr>
          <p:nvPr>
            <p:extLst>
              <p:ext uri="{D42A27DB-BD31-4B8C-83A1-F6EECF244321}">
                <p14:modId xmlns:p14="http://schemas.microsoft.com/office/powerpoint/2010/main" val="1219502887"/>
              </p:ext>
            </p:extLst>
          </p:nvPr>
        </p:nvGraphicFramePr>
        <p:xfrm>
          <a:off x="2031998" y="4629596"/>
          <a:ext cx="8127999" cy="1371600"/>
        </p:xfrm>
        <a:graphic>
          <a:graphicData uri="http://schemas.openxmlformats.org/drawingml/2006/table">
            <a:tbl>
              <a:tblPr firstRow="1" bandRow="1">
                <a:effectLst/>
                <a:tableStyleId>{5C22544A-7EE6-4342-B048-85BDC9FD1C3A}</a:tableStyleId>
              </a:tblPr>
              <a:tblGrid>
                <a:gridCol w="2709333">
                  <a:extLst>
                    <a:ext uri="{9D8B030D-6E8A-4147-A177-3AD203B41FA5}">
                      <a16:colId xmlns:a16="http://schemas.microsoft.com/office/drawing/2014/main" val="3776854773"/>
                    </a:ext>
                  </a:extLst>
                </a:gridCol>
                <a:gridCol w="2709333">
                  <a:extLst>
                    <a:ext uri="{9D8B030D-6E8A-4147-A177-3AD203B41FA5}">
                      <a16:colId xmlns:a16="http://schemas.microsoft.com/office/drawing/2014/main" val="2475322704"/>
                    </a:ext>
                  </a:extLst>
                </a:gridCol>
                <a:gridCol w="2709333">
                  <a:extLst>
                    <a:ext uri="{9D8B030D-6E8A-4147-A177-3AD203B41FA5}">
                      <a16:colId xmlns:a16="http://schemas.microsoft.com/office/drawing/2014/main" val="1751818527"/>
                    </a:ext>
                  </a:extLst>
                </a:gridCol>
              </a:tblGrid>
              <a:tr h="370840">
                <a:tc>
                  <a:txBody>
                    <a:bodyPr/>
                    <a:lstStyle/>
                    <a:p>
                      <a:pPr algn="r"/>
                      <a:r>
                        <a:rPr lang="en-US" altLang="zh-CN" sz="2400" b="0" dirty="0">
                          <a:solidFill>
                            <a:schemeClr val="tx1"/>
                          </a:solidFill>
                          <a:effectLst/>
                          <a:latin typeface="+mn-lt"/>
                          <a:ea typeface="Noto Sans CJK SC" panose="020B0500000000000000" pitchFamily="34" charset="-122"/>
                        </a:rPr>
                        <a:t>Student</a:t>
                      </a:r>
                      <a:r>
                        <a:rPr lang="zh-CN" altLang="en-US" sz="2400" b="0" dirty="0">
                          <a:solidFill>
                            <a:schemeClr val="tx1"/>
                          </a:solidFill>
                          <a:effectLst/>
                          <a:latin typeface="+mn-lt"/>
                          <a:ea typeface="Noto Sans CJK SC" panose="020B0500000000000000" pitchFamily="34" charset="-122"/>
                        </a:rPr>
                        <a:t>：</a:t>
                      </a:r>
                      <a:endParaRPr lang="en-US" altLang="zh-CN" sz="2400" b="0" dirty="0">
                        <a:solidFill>
                          <a:schemeClr val="tx1"/>
                        </a:solidFill>
                        <a:effectLst/>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mn-lt"/>
                          <a:ea typeface="Noto Sans CJK SC" panose="020B0500000000000000" pitchFamily="34" charset="-122"/>
                        </a:rPr>
                        <a:t>Hu</a:t>
                      </a:r>
                      <a:r>
                        <a:rPr lang="zh-CN" altLang="en-US" sz="2400" b="0" dirty="0">
                          <a:solidFill>
                            <a:schemeClr val="tx1"/>
                          </a:solidFill>
                          <a:effectLst/>
                          <a:latin typeface="+mn-lt"/>
                          <a:ea typeface="Noto Sans CJK SC" panose="020B0500000000000000" pitchFamily="34" charset="-122"/>
                        </a:rPr>
                        <a:t> </a:t>
                      </a:r>
                      <a:r>
                        <a:rPr lang="en-US" altLang="zh-CN" sz="2400" b="0" dirty="0">
                          <a:solidFill>
                            <a:schemeClr val="tx1"/>
                          </a:solidFill>
                          <a:effectLst/>
                          <a:latin typeface="+mn-lt"/>
                          <a:ea typeface="Noto Sans CJK SC" panose="020B0500000000000000" pitchFamily="34" charset="-122"/>
                        </a:rPr>
                        <a:t>Guanghui</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baseline="0" dirty="0">
                          <a:solidFill>
                            <a:schemeClr val="tx1"/>
                          </a:solidFill>
                          <a:effectLst/>
                          <a:latin typeface="+mn-lt"/>
                          <a:ea typeface="Noto Sans CJK SC" panose="020B0500000000000000" pitchFamily="34" charset="-122"/>
                        </a:rPr>
                        <a:t>2024234318</a:t>
                      </a:r>
                      <a:endParaRPr lang="zh-CN" altLang="en-US" sz="2400" b="0" baseline="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003493"/>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mn-lt"/>
                          <a:ea typeface="Noto Sans CJK SC" panose="020B0500000000000000" pitchFamily="34" charset="-122"/>
                        </a:rPr>
                        <a:t>Academic mentor</a:t>
                      </a:r>
                      <a:r>
                        <a:rPr lang="zh-CN" altLang="en-US" sz="2400" b="0" dirty="0">
                          <a:solidFill>
                            <a:schemeClr val="tx1"/>
                          </a:solidFill>
                          <a:effectLst/>
                          <a:latin typeface="+mn-lt"/>
                          <a:ea typeface="Noto Sans CJK SC" panose="020B0500000000000000" pitchFamily="34" charset="-122"/>
                        </a:rPr>
                        <a:t>：</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mn-lt"/>
                          <a:ea typeface="Noto Sans CJK SC" panose="020B0500000000000000" pitchFamily="34" charset="-122"/>
                        </a:rPr>
                        <a:t>Ha</a:t>
                      </a:r>
                      <a:r>
                        <a:rPr lang="zh-CN" altLang="en-US" sz="2400" b="0" dirty="0">
                          <a:solidFill>
                            <a:schemeClr val="tx1"/>
                          </a:solidFill>
                          <a:effectLst/>
                          <a:latin typeface="+mn-lt"/>
                          <a:ea typeface="Noto Sans CJK SC" panose="020B0500000000000000" pitchFamily="34" charset="-122"/>
                        </a:rPr>
                        <a:t> </a:t>
                      </a:r>
                      <a:r>
                        <a:rPr lang="en-US" altLang="zh-CN" sz="2400" b="0" dirty="0" err="1">
                          <a:solidFill>
                            <a:schemeClr val="tx1"/>
                          </a:solidFill>
                          <a:effectLst/>
                          <a:latin typeface="+mn-lt"/>
                          <a:ea typeface="Noto Sans CJK SC" panose="020B0500000000000000" pitchFamily="34" charset="-122"/>
                        </a:rPr>
                        <a:t>Yajun</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mn-lt"/>
                          <a:ea typeface="Noto Sans CJK SC" panose="020B0500000000000000" pitchFamily="34" charset="-122"/>
                        </a:rPr>
                        <a:t>Professor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89398"/>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b="0" dirty="0">
                          <a:solidFill>
                            <a:schemeClr val="tx1"/>
                          </a:solidFill>
                          <a:effectLst/>
                          <a:latin typeface="+mn-lt"/>
                          <a:ea typeface="Noto Sans CJK SC" panose="020B0500000000000000" pitchFamily="34" charset="-122"/>
                        </a:rPr>
                        <a:t>Enterprise mentor</a:t>
                      </a:r>
                      <a:r>
                        <a:rPr lang="zh-CN" altLang="en-US" sz="2400" b="0" dirty="0">
                          <a:solidFill>
                            <a:schemeClr val="tx1"/>
                          </a:solidFill>
                          <a:effectLst/>
                          <a:latin typeface="+mn-lt"/>
                          <a:ea typeface="Noto Sans CJK SC" panose="020B0500000000000000" pitchFamily="34" charset="-122"/>
                        </a:rPr>
                        <a:t>：</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mn-lt"/>
                          <a:ea typeface="Noto Sans CJK SC" panose="020B0500000000000000" pitchFamily="34" charset="-122"/>
                        </a:rPr>
                        <a:t>Zhang</a:t>
                      </a:r>
                      <a:r>
                        <a:rPr lang="zh-CN" altLang="en-US" sz="2400" b="0" dirty="0">
                          <a:solidFill>
                            <a:schemeClr val="tx1"/>
                          </a:solidFill>
                          <a:effectLst/>
                          <a:latin typeface="+mn-lt"/>
                          <a:ea typeface="Noto Sans CJK SC" panose="020B0500000000000000" pitchFamily="34" charset="-122"/>
                        </a:rPr>
                        <a:t> </a:t>
                      </a:r>
                      <a:r>
                        <a:rPr lang="en-US" altLang="zh-CN" sz="2400" b="0" dirty="0">
                          <a:solidFill>
                            <a:schemeClr val="tx1"/>
                          </a:solidFill>
                          <a:effectLst/>
                          <a:latin typeface="+mn-lt"/>
                          <a:ea typeface="Noto Sans CJK SC" panose="020B0500000000000000" pitchFamily="34" charset="-122"/>
                        </a:rPr>
                        <a:t>Ke</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2400" b="0" dirty="0">
                          <a:solidFill>
                            <a:schemeClr val="tx1"/>
                          </a:solidFill>
                          <a:effectLst/>
                          <a:latin typeface="+mn-lt"/>
                          <a:ea typeface="Noto Sans CJK SC" panose="020B0500000000000000" pitchFamily="34" charset="-122"/>
                        </a:rPr>
                        <a:t>Professor</a:t>
                      </a:r>
                      <a:endParaRPr lang="zh-CN" altLang="en-US" sz="2400" b="0" dirty="0">
                        <a:latin typeface="+mn-lt"/>
                        <a:ea typeface="Noto Sans CJK SC" panose="020B0500000000000000"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997686"/>
                  </a:ext>
                </a:extLst>
              </a:tr>
            </a:tbl>
          </a:graphicData>
        </a:graphic>
      </p:graphicFrame>
    </p:spTree>
    <p:extLst>
      <p:ext uri="{BB962C8B-B14F-4D97-AF65-F5344CB8AC3E}">
        <p14:creationId xmlns:p14="http://schemas.microsoft.com/office/powerpoint/2010/main" val="16051235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9AD3241-154C-2740-9C14-854ABD765FCE}" vid="{BE3E2D31-4906-1341-844B-962DFDAE792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8634</TotalTime>
  <Words>3955</Words>
  <Application>Microsoft Macintosh PowerPoint</Application>
  <PresentationFormat>Widescreen</PresentationFormat>
  <Paragraphs>327</Paragraphs>
  <Slides>19</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 Unicode MS</vt:lpstr>
      <vt:lpstr>等线</vt:lpstr>
      <vt:lpstr>Arial</vt:lpstr>
      <vt:lpstr>Noto Sans</vt:lpstr>
      <vt:lpstr>Wingdings</vt:lpstr>
      <vt:lpstr>Office 主题​​</vt:lpstr>
      <vt:lpstr>Research and Implementation of Key Technology in  Multi-FPGA Hardware Emulation 多FPGA硬件仿真关键技术研究与实现</vt:lpstr>
      <vt:lpstr>Contents</vt:lpstr>
      <vt:lpstr>Intro: Challenges in Chip Verification</vt:lpstr>
      <vt:lpstr>Intro: Hardware Emulation for Verification</vt:lpstr>
      <vt:lpstr>Intro: FPGA for Hardware Emulation</vt:lpstr>
      <vt:lpstr>Intro: Existing Limitations in FPGA Hardware Emulation</vt:lpstr>
      <vt:lpstr>Related Work: Automated Circuit Partition</vt:lpstr>
      <vt:lpstr>Related Work: Boundary Interface in Integration</vt:lpstr>
      <vt:lpstr>Related Work: Scan Chain in Integration</vt:lpstr>
      <vt:lpstr>Related Work: Scalable &amp; Portable Interconnection</vt:lpstr>
      <vt:lpstr>Research Goal: The SMART Methodology</vt:lpstr>
      <vt:lpstr>Research Goal: SMART Workflow</vt:lpstr>
      <vt:lpstr>Phase I: Adaptive Granularity Circuit Partition</vt:lpstr>
      <vt:lpstr>Phase II: Scalable Replayable Integration</vt:lpstr>
      <vt:lpstr>Phase III: Scalable &amp; Portable Interconnection</vt:lpstr>
      <vt:lpstr>Component-Level Experiments</vt:lpstr>
      <vt:lpstr>System Experiment: Prototype &amp; Estimation</vt:lpstr>
      <vt:lpstr>Project Timeline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Chiplet Cache 相关工作总结</dc:title>
  <dc:creator>Congwu ZHANG</dc:creator>
  <cp:lastModifiedBy>Guanghui Hu</cp:lastModifiedBy>
  <cp:revision>4810</cp:revision>
  <dcterms:created xsi:type="dcterms:W3CDTF">2023-10-10T01:25:38Z</dcterms:created>
  <dcterms:modified xsi:type="dcterms:W3CDTF">2025-12-10T05:16:42Z</dcterms:modified>
</cp:coreProperties>
</file>