
<file path=[Content_Types].xml><?xml version="1.0" encoding="utf-8"?>
<Types xmlns="http://schemas.openxmlformats.org/package/2006/content-types">
  <Default Extension="jp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Masters/slideMaster3.xml" ContentType="application/vnd.openxmlformats-officedocument.presentationml.slideMaster+xml"/>
  <Override PartName="/ppt/slideMasters/slideMaster4.xml" ContentType="application/vnd.openxmlformats-officedocument.presentationml.slideMaster+xml"/>
  <Override PartName="/ppt/slideMasters/slideMaster5.xml" ContentType="application/vnd.openxmlformats-officedocument.presentationml.slideMaster+xml"/>
  <Override PartName="/ppt/slideMasters/slideMaster6.xml" ContentType="application/vnd.openxmlformats-officedocument.presentationml.slideMaster+xml"/>
  <Override PartName="/ppt/slideMasters/slideMaster7.xml" ContentType="application/vnd.openxmlformats-officedocument.presentationml.slideMaster+xml"/>
  <Override PartName="/ppt/slideMasters/slideMaster8.xml" ContentType="application/vnd.openxmlformats-officedocument.presentationml.slideMaster+xml"/>
  <Override PartName="/ppt/slideMasters/slideMaster9.xml" ContentType="application/vnd.openxmlformats-officedocument.presentationml.slideMaster+xml"/>
  <Override PartName="/ppt/slideMasters/slideMaster10.xml" ContentType="application/vnd.openxmlformats-officedocument.presentationml.slideMaster+xml"/>
  <Override PartName="/ppt/slideMasters/slideMaster11.xml" ContentType="application/vnd.openxmlformats-officedocument.presentationml.slideMaster+xml"/>
  <Override PartName="/ppt/slideMasters/slideMaster12.xml" ContentType="application/vnd.openxmlformats-officedocument.presentationml.slideMaster+xml"/>
  <Override PartName="/ppt/slideMasters/slideMaster13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theme/theme2.xml" ContentType="application/vnd.openxmlformats-officedocument.theme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theme/theme3.xml" ContentType="application/vnd.openxmlformats-officedocument.theme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theme/theme4.xml" ContentType="application/vnd.openxmlformats-officedocument.theme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theme/theme5.xml" ContentType="application/vnd.openxmlformats-officedocument.theme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theme/theme6.xml" ContentType="application/vnd.openxmlformats-officedocument.theme+xml"/>
  <Override PartName="/ppt/slideLayouts/slideLayout29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3.xml" ContentType="application/vnd.openxmlformats-officedocument.presentationml.slideLayout+xml"/>
  <Override PartName="/ppt/theme/theme7.xml" ContentType="application/vnd.openxmlformats-officedocument.theme+xml"/>
  <Override PartName="/ppt/slideLayouts/slideLayout34.xml" ContentType="application/vnd.openxmlformats-officedocument.presentationml.slideLayout+xml"/>
  <Override PartName="/ppt/slideLayouts/slideLayout35.xml" ContentType="application/vnd.openxmlformats-officedocument.presentationml.slideLayout+xml"/>
  <Override PartName="/ppt/slideLayouts/slideLayout36.xml" ContentType="application/vnd.openxmlformats-officedocument.presentationml.slideLayout+xml"/>
  <Override PartName="/ppt/slideLayouts/slideLayout37.xml" ContentType="application/vnd.openxmlformats-officedocument.presentationml.slideLayout+xml"/>
  <Override PartName="/ppt/slideLayouts/slideLayout38.xml" ContentType="application/vnd.openxmlformats-officedocument.presentationml.slideLayout+xml"/>
  <Override PartName="/ppt/theme/theme8.xml" ContentType="application/vnd.openxmlformats-officedocument.theme+xml"/>
  <Override PartName="/ppt/slideLayouts/slideLayout39.xml" ContentType="application/vnd.openxmlformats-officedocument.presentationml.slideLayout+xml"/>
  <Override PartName="/ppt/slideLayouts/slideLayout40.xml" ContentType="application/vnd.openxmlformats-officedocument.presentationml.slideLayout+xml"/>
  <Override PartName="/ppt/slideLayouts/slideLayout41.xml" ContentType="application/vnd.openxmlformats-officedocument.presentationml.slideLayout+xml"/>
  <Override PartName="/ppt/slideLayouts/slideLayout42.xml" ContentType="application/vnd.openxmlformats-officedocument.presentationml.slideLayout+xml"/>
  <Override PartName="/ppt/slideLayouts/slideLayout43.xml" ContentType="application/vnd.openxmlformats-officedocument.presentationml.slideLayout+xml"/>
  <Override PartName="/ppt/theme/theme9.xml" ContentType="application/vnd.openxmlformats-officedocument.theme+xml"/>
  <Override PartName="/ppt/slideLayouts/slideLayout44.xml" ContentType="application/vnd.openxmlformats-officedocument.presentationml.slideLayout+xml"/>
  <Override PartName="/ppt/slideLayouts/slideLayout45.xml" ContentType="application/vnd.openxmlformats-officedocument.presentationml.slideLayout+xml"/>
  <Override PartName="/ppt/slideLayouts/slideLayout46.xml" ContentType="application/vnd.openxmlformats-officedocument.presentationml.slideLayout+xml"/>
  <Override PartName="/ppt/slideLayouts/slideLayout47.xml" ContentType="application/vnd.openxmlformats-officedocument.presentationml.slideLayout+xml"/>
  <Override PartName="/ppt/slideLayouts/slideLayout48.xml" ContentType="application/vnd.openxmlformats-officedocument.presentationml.slideLayout+xml"/>
  <Override PartName="/ppt/theme/theme10.xml" ContentType="application/vnd.openxmlformats-officedocument.theme+xml"/>
  <Override PartName="/ppt/slideLayouts/slideLayout49.xml" ContentType="application/vnd.openxmlformats-officedocument.presentationml.slideLayout+xml"/>
  <Override PartName="/ppt/slideLayouts/slideLayout50.xml" ContentType="application/vnd.openxmlformats-officedocument.presentationml.slideLayout+xml"/>
  <Override PartName="/ppt/slideLayouts/slideLayout51.xml" ContentType="application/vnd.openxmlformats-officedocument.presentationml.slideLayout+xml"/>
  <Override PartName="/ppt/slideLayouts/slideLayout52.xml" ContentType="application/vnd.openxmlformats-officedocument.presentationml.slideLayout+xml"/>
  <Override PartName="/ppt/slideLayouts/slideLayout53.xml" ContentType="application/vnd.openxmlformats-officedocument.presentationml.slideLayout+xml"/>
  <Override PartName="/ppt/theme/theme11.xml" ContentType="application/vnd.openxmlformats-officedocument.theme+xml"/>
  <Override PartName="/ppt/slideLayouts/slideLayout54.xml" ContentType="application/vnd.openxmlformats-officedocument.presentationml.slideLayout+xml"/>
  <Override PartName="/ppt/slideLayouts/slideLayout55.xml" ContentType="application/vnd.openxmlformats-officedocument.presentationml.slideLayout+xml"/>
  <Override PartName="/ppt/slideLayouts/slideLayout56.xml" ContentType="application/vnd.openxmlformats-officedocument.presentationml.slideLayout+xml"/>
  <Override PartName="/ppt/slideLayouts/slideLayout57.xml" ContentType="application/vnd.openxmlformats-officedocument.presentationml.slideLayout+xml"/>
  <Override PartName="/ppt/slideLayouts/slideLayout58.xml" ContentType="application/vnd.openxmlformats-officedocument.presentationml.slideLayout+xml"/>
  <Override PartName="/ppt/theme/theme12.xml" ContentType="application/vnd.openxmlformats-officedocument.theme+xml"/>
  <Override PartName="/ppt/slideLayouts/slideLayout59.xml" ContentType="application/vnd.openxmlformats-officedocument.presentationml.slideLayout+xml"/>
  <Override PartName="/ppt/slideLayouts/slideLayout60.xml" ContentType="application/vnd.openxmlformats-officedocument.presentationml.slideLayout+xml"/>
  <Override PartName="/ppt/slideLayouts/slideLayout61.xml" ContentType="application/vnd.openxmlformats-officedocument.presentationml.slideLayout+xml"/>
  <Override PartName="/ppt/slideLayouts/slideLayout62.xml" ContentType="application/vnd.openxmlformats-officedocument.presentationml.slideLayout+xml"/>
  <Override PartName="/ppt/slideLayouts/slideLayout63.xml" ContentType="application/vnd.openxmlformats-officedocument.presentationml.slideLayout+xml"/>
  <Override PartName="/ppt/theme/theme13.xml" ContentType="application/vnd.openxmlformats-officedocument.theme+xml"/>
  <Override PartName="/ppt/theme/theme14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charts/chart1.xml" ContentType="application/vnd.openxmlformats-officedocument.drawingml.chart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  <p:sldMasterId id="2147483652" r:id="rId2"/>
    <p:sldMasterId id="2147483658" r:id="rId3"/>
    <p:sldMasterId id="2147483664" r:id="rId4"/>
    <p:sldMasterId id="2147483670" r:id="rId5"/>
    <p:sldMasterId id="2147483676" r:id="rId6"/>
    <p:sldMasterId id="2147483682" r:id="rId7"/>
    <p:sldMasterId id="2147483688" r:id="rId8"/>
    <p:sldMasterId id="2147483694" r:id="rId9"/>
    <p:sldMasterId id="2147483700" r:id="rId10"/>
    <p:sldMasterId id="2147483706" r:id="rId11"/>
    <p:sldMasterId id="2147483712" r:id="rId12"/>
    <p:sldMasterId id="2147483718" r:id="rId13"/>
  </p:sldMasterIdLst>
  <p:notesMasterIdLst>
    <p:notesMasterId r:id="rId28"/>
  </p:notesMasterIdLst>
  <p:sldIdLst>
    <p:sldId id="256" r:id="rId14"/>
    <p:sldId id="257" r:id="rId15"/>
    <p:sldId id="258" r:id="rId16"/>
    <p:sldId id="259" r:id="rId17"/>
    <p:sldId id="260" r:id="rId18"/>
    <p:sldId id="261" r:id="rId19"/>
    <p:sldId id="262" r:id="rId20"/>
    <p:sldId id="263" r:id="rId21"/>
    <p:sldId id="264" r:id="rId22"/>
    <p:sldId id="265" r:id="rId23"/>
    <p:sldId id="266" r:id="rId24"/>
    <p:sldId id="267" r:id="rId25"/>
    <p:sldId id="268" r:id="rId26"/>
    <p:sldId id="269" r:id="rId27"/>
  </p:sldIdLst>
  <p:sldSz cx="12192000" cy="6858000"/>
  <p:notesSz cx="6858000" cy="9144000"/>
  <p:defaultTextStyle>
    <a:defPPr>
      <a:defRPr lang="en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21392"/>
    <p:restoredTop sz="74695"/>
  </p:normalViewPr>
  <p:slideViewPr>
    <p:cSldViewPr snapToGrid="0">
      <p:cViewPr varScale="1">
        <p:scale>
          <a:sx n="83" d="100"/>
          <a:sy n="83" d="100"/>
        </p:scale>
        <p:origin x="512" y="19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Master" Target="slideMasters/slideMaster8.xml"/><Relationship Id="rId13" Type="http://schemas.openxmlformats.org/officeDocument/2006/relationships/slideMaster" Target="slideMasters/slideMaster13.xml"/><Relationship Id="rId18" Type="http://schemas.openxmlformats.org/officeDocument/2006/relationships/slide" Target="slides/slide5.xml"/><Relationship Id="rId26" Type="http://schemas.openxmlformats.org/officeDocument/2006/relationships/slide" Target="slides/slide13.xml"/><Relationship Id="rId3" Type="http://schemas.openxmlformats.org/officeDocument/2006/relationships/slideMaster" Target="slideMasters/slideMaster3.xml"/><Relationship Id="rId21" Type="http://schemas.openxmlformats.org/officeDocument/2006/relationships/slide" Target="slides/slide8.xml"/><Relationship Id="rId7" Type="http://schemas.openxmlformats.org/officeDocument/2006/relationships/slideMaster" Target="slideMasters/slideMaster7.xml"/><Relationship Id="rId12" Type="http://schemas.openxmlformats.org/officeDocument/2006/relationships/slideMaster" Target="slideMasters/slideMaster12.xml"/><Relationship Id="rId17" Type="http://schemas.openxmlformats.org/officeDocument/2006/relationships/slide" Target="slides/slide4.xml"/><Relationship Id="rId25" Type="http://schemas.openxmlformats.org/officeDocument/2006/relationships/slide" Target="slides/slide12.xml"/><Relationship Id="rId2" Type="http://schemas.openxmlformats.org/officeDocument/2006/relationships/slideMaster" Target="slideMasters/slideMaster2.xml"/><Relationship Id="rId16" Type="http://schemas.openxmlformats.org/officeDocument/2006/relationships/slide" Target="slides/slide3.xml"/><Relationship Id="rId20" Type="http://schemas.openxmlformats.org/officeDocument/2006/relationships/slide" Target="slides/slide7.xml"/><Relationship Id="rId29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Master" Target="slideMasters/slideMaster6.xml"/><Relationship Id="rId11" Type="http://schemas.openxmlformats.org/officeDocument/2006/relationships/slideMaster" Target="slideMasters/slideMaster11.xml"/><Relationship Id="rId24" Type="http://schemas.openxmlformats.org/officeDocument/2006/relationships/slide" Target="slides/slide11.xml"/><Relationship Id="rId32" Type="http://schemas.openxmlformats.org/officeDocument/2006/relationships/tableStyles" Target="tableStyles.xml"/><Relationship Id="rId5" Type="http://schemas.openxmlformats.org/officeDocument/2006/relationships/slideMaster" Target="slideMasters/slideMaster5.xml"/><Relationship Id="rId15" Type="http://schemas.openxmlformats.org/officeDocument/2006/relationships/slide" Target="slides/slide2.xml"/><Relationship Id="rId23" Type="http://schemas.openxmlformats.org/officeDocument/2006/relationships/slide" Target="slides/slide10.xml"/><Relationship Id="rId28" Type="http://schemas.openxmlformats.org/officeDocument/2006/relationships/notesMaster" Target="notesMasters/notesMaster1.xml"/><Relationship Id="rId10" Type="http://schemas.openxmlformats.org/officeDocument/2006/relationships/slideMaster" Target="slideMasters/slideMaster10.xml"/><Relationship Id="rId19" Type="http://schemas.openxmlformats.org/officeDocument/2006/relationships/slide" Target="slides/slide6.xml"/><Relationship Id="rId31" Type="http://schemas.openxmlformats.org/officeDocument/2006/relationships/theme" Target="theme/theme1.xml"/><Relationship Id="rId4" Type="http://schemas.openxmlformats.org/officeDocument/2006/relationships/slideMaster" Target="slideMasters/slideMaster4.xml"/><Relationship Id="rId9" Type="http://schemas.openxmlformats.org/officeDocument/2006/relationships/slideMaster" Target="slideMasters/slideMaster9.xml"/><Relationship Id="rId14" Type="http://schemas.openxmlformats.org/officeDocument/2006/relationships/slide" Target="slides/slide1.xml"/><Relationship Id="rId22" Type="http://schemas.openxmlformats.org/officeDocument/2006/relationships/slide" Target="slides/slide9.xml"/><Relationship Id="rId27" Type="http://schemas.openxmlformats.org/officeDocument/2006/relationships/slide" Target="slides/slide14.xml"/><Relationship Id="rId30" Type="http://schemas.openxmlformats.org/officeDocument/2006/relationships/viewProps" Target="viewProps.xml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v>Part 0</c:v>
          </c:tx>
          <c:spPr>
            <a:solidFill>
              <a:srgbClr val="183B56"/>
            </a:solidFill>
          </c:spPr>
          <c:invertIfNegative val="0"/>
          <c:dLbls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800">
                    <a:solidFill>
                      <a:srgbClr val="20354A"/>
                    </a:solidFill>
                    <a:latin typeface="Arial"/>
                    <a:ea typeface="Arial"/>
                  </a:defRPr>
                </a:pPr>
                <a:endParaRPr lang="en-CN"/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1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Lit>
              <c:ptCount val="3"/>
              <c:pt idx="0">
                <c:v>LUT</c:v>
              </c:pt>
              <c:pt idx="1">
                <c:v>FF</c:v>
              </c:pt>
              <c:pt idx="2">
                <c:v>BRAM</c:v>
              </c:pt>
            </c:strLit>
          </c:cat>
          <c:val>
            <c:numLit>
              <c:formatCode>General</c:formatCode>
              <c:ptCount val="3"/>
              <c:pt idx="0">
                <c:v>73.180000000000007</c:v>
              </c:pt>
              <c:pt idx="1">
                <c:v>17.66</c:v>
              </c:pt>
              <c:pt idx="2">
                <c:v>14.31</c:v>
              </c:pt>
            </c:numLit>
          </c:val>
          <c:extLst>
            <c:ext xmlns:c16="http://schemas.microsoft.com/office/drawing/2014/chart" uri="{C3380CC4-5D6E-409C-BE32-E72D297353CC}">
              <c16:uniqueId val="{00000000-2689-5540-BC46-5DDD97F2BC1F}"/>
            </c:ext>
          </c:extLst>
        </c:ser>
        <c:ser>
          <c:idx val="1"/>
          <c:order val="1"/>
          <c:tx>
            <c:v>Part 1</c:v>
          </c:tx>
          <c:spPr>
            <a:solidFill>
              <a:srgbClr val="008C95"/>
            </a:solidFill>
          </c:spPr>
          <c:invertIfNegative val="0"/>
          <c:dLbls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800">
                    <a:solidFill>
                      <a:srgbClr val="20354A"/>
                    </a:solidFill>
                    <a:latin typeface="Arial"/>
                    <a:ea typeface="Arial"/>
                  </a:defRPr>
                </a:pPr>
                <a:endParaRPr lang="en-CN"/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1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Lit>
              <c:ptCount val="3"/>
              <c:pt idx="0">
                <c:v>LUT</c:v>
              </c:pt>
              <c:pt idx="1">
                <c:v>FF</c:v>
              </c:pt>
              <c:pt idx="2">
                <c:v>BRAM</c:v>
              </c:pt>
            </c:strLit>
          </c:cat>
          <c:val>
            <c:numLit>
              <c:formatCode>General</c:formatCode>
              <c:ptCount val="3"/>
              <c:pt idx="0">
                <c:v>75.77</c:v>
              </c:pt>
              <c:pt idx="1">
                <c:v>8.17</c:v>
              </c:pt>
              <c:pt idx="2">
                <c:v>0</c:v>
              </c:pt>
            </c:numLit>
          </c:val>
          <c:extLst>
            <c:ext xmlns:c16="http://schemas.microsoft.com/office/drawing/2014/chart" uri="{C3380CC4-5D6E-409C-BE32-E72D297353CC}">
              <c16:uniqueId val="{00000001-2689-5540-BC46-5DDD97F2BC1F}"/>
            </c:ext>
          </c:extLst>
        </c:ser>
        <c:dLbls>
          <c:dLblPos val="outEnd"/>
          <c:showLegendKey val="0"/>
          <c:showVal val="1"/>
          <c:showCatName val="0"/>
          <c:showSerName val="0"/>
          <c:showPercent val="0"/>
          <c:showBubbleSize val="1"/>
        </c:dLbls>
        <c:gapWidth val="90"/>
        <c:overlap val="-15"/>
        <c:axId val="1"/>
        <c:axId val="2"/>
      </c:barChart>
      <c:catAx>
        <c:axId val="1"/>
        <c:scaling>
          <c:orientation val="minMax"/>
        </c:scaling>
        <c:delete val="0"/>
        <c:axPos val="b"/>
        <c:numFmt formatCode="General" sourceLinked="0"/>
        <c:majorTickMark val="out"/>
        <c:minorTickMark val="none"/>
        <c:tickLblPos val="nextTo"/>
        <c:txPr>
          <a:bodyPr/>
          <a:lstStyle/>
          <a:p>
            <a:pPr>
              <a:defRPr sz="1600">
                <a:solidFill>
                  <a:srgbClr val="20354A"/>
                </a:solidFill>
                <a:latin typeface="Arial"/>
                <a:ea typeface="Arial"/>
              </a:defRPr>
            </a:pPr>
            <a:endParaRPr lang="en-CN"/>
          </a:p>
        </c:txPr>
        <c:crossAx val="2"/>
        <c:crosses val="autoZero"/>
        <c:auto val="1"/>
        <c:lblAlgn val="ctr"/>
        <c:lblOffset val="100"/>
        <c:noMultiLvlLbl val="1"/>
      </c:catAx>
      <c:valAx>
        <c:axId val="2"/>
        <c:scaling>
          <c:orientation val="minMax"/>
          <c:max val="90"/>
          <c:min val="0"/>
        </c:scaling>
        <c:delete val="0"/>
        <c:axPos val="l"/>
        <c:majorGridlines>
          <c:spPr>
            <a:ln w="6350">
              <a:solidFill>
                <a:srgbClr val="DDE5EA"/>
              </a:solidFill>
            </a:ln>
          </c:spPr>
        </c:majorGridlines>
        <c:numFmt formatCode="0" sourceLinked="0"/>
        <c:majorTickMark val="out"/>
        <c:minorTickMark val="none"/>
        <c:tickLblPos val="nextTo"/>
        <c:txPr>
          <a:bodyPr/>
          <a:lstStyle/>
          <a:p>
            <a:pPr>
              <a:defRPr sz="1600">
                <a:solidFill>
                  <a:srgbClr val="20354A"/>
                </a:solidFill>
                <a:latin typeface="Arial"/>
                <a:ea typeface="Arial"/>
              </a:defRPr>
            </a:pPr>
            <a:endParaRPr lang="en-CN"/>
          </a:p>
        </c:txPr>
        <c:crossAx val="1"/>
        <c:crosses val="autoZero"/>
        <c:crossBetween val="between"/>
        <c:majorUnit val="20"/>
      </c:valAx>
      <c:spPr>
        <a:solidFill>
          <a:srgbClr val="FFFFFF"/>
        </a:solidFill>
      </c:spPr>
    </c:plotArea>
    <c:legend>
      <c:legendPos val="t"/>
      <c:overlay val="0"/>
      <c:txPr>
        <a:bodyPr/>
        <a:lstStyle/>
        <a:p>
          <a:pPr>
            <a:defRPr sz="1500">
              <a:solidFill>
                <a:srgbClr val="20354A"/>
              </a:solidFill>
              <a:latin typeface="Arial"/>
              <a:ea typeface="Arial"/>
            </a:defRPr>
          </a:pPr>
          <a:endParaRPr lang="en-CN"/>
        </a:p>
      </c:txPr>
    </c:legend>
    <c:plotVisOnly val="1"/>
    <c:dispBlanksAs val="gap"/>
    <c:showDLblsOverMax val="1"/>
  </c:chart>
  <c:spPr>
    <a:solidFill>
      <a:srgbClr val="FFFFFF"/>
    </a:solidFill>
  </c:spPr>
</c:chartSpace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14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kumimoji="1"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D8FC1EB5-D5BC-DE45-879B-24BB2CFFA33A}" type="datetimeFigureOut">
              <a:rPr kumimoji="1" lang="zh-CN" altLang="en-US" smtClean="0"/>
              <a:t>2026/10/29</a:t>
            </a:fld>
            <a:endParaRPr kumimoji="1" lang="zh-CN" altLang="en-US"/>
          </a:p>
        </p:txBody>
      </p:sp>
      <p:sp>
        <p:nvSpPr>
          <p:cNvPr id="4" name="幻灯片图像占位符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zh-CN" altLang="en-US"/>
          </a:p>
        </p:txBody>
      </p:sp>
      <p:sp>
        <p:nvSpPr>
          <p:cNvPr id="5" name="备注占位符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kumimoji="1" lang="zh-CN" altLang="en-US"/>
              <a:t>单击此处编辑母版文本样式</a:t>
            </a:r>
          </a:p>
          <a:p>
            <a:pPr lvl="1"/>
            <a:r>
              <a:rPr kumimoji="1" lang="zh-CN" altLang="en-US"/>
              <a:t>二级</a:t>
            </a:r>
          </a:p>
          <a:p>
            <a:pPr lvl="2"/>
            <a:r>
              <a:rPr kumimoji="1" lang="zh-CN" altLang="en-US"/>
              <a:t>三级</a:t>
            </a:r>
          </a:p>
          <a:p>
            <a:pPr lvl="3"/>
            <a:r>
              <a:rPr kumimoji="1" lang="zh-CN" altLang="en-US"/>
              <a:t>四级</a:t>
            </a:r>
          </a:p>
          <a:p>
            <a:pPr lvl="4"/>
            <a:r>
              <a:rPr kumimoji="1" lang="zh-CN" altLang="en-US"/>
              <a:t>五级</a:t>
            </a:r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kumimoji="1"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96977E10-6855-184D-B35B-F428F789FE47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273633366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6977E10-6855-184D-B35B-F428F789FE47}" type="slidenum">
              <a:rPr kumimoji="1" lang="zh-CN" altLang="en-US" smtClean="0"/>
              <a:t>1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2378949787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C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6977E10-6855-184D-B35B-F428F789FE47}" type="slidenum">
              <a:rPr kumimoji="1" lang="zh-CN" altLang="en-US" smtClean="0"/>
              <a:t>14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212690421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sv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sv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2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2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2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2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2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2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2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7.xml"/></Relationships>
</file>

<file path=ppt/slideLayouts/_rels/slideLayout3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7.xml"/></Relationships>
</file>

<file path=ppt/slideLayouts/_rels/slideLayout3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7.xml"/></Relationships>
</file>

<file path=ppt/slideLayouts/_rels/slideLayout3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7.xml"/></Relationships>
</file>

<file path=ppt/slideLayouts/_rels/slideLayout3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7.xml"/></Relationships>
</file>

<file path=ppt/slideLayouts/_rels/slideLayout3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8.xml"/></Relationships>
</file>

<file path=ppt/slideLayouts/_rels/slideLayout3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8.xml"/></Relationships>
</file>

<file path=ppt/slideLayouts/_rels/slideLayout3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8.xml"/></Relationships>
</file>

<file path=ppt/slideLayouts/_rels/slideLayout3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8.xml"/></Relationships>
</file>

<file path=ppt/slideLayouts/_rels/slideLayout3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8.xml"/></Relationships>
</file>

<file path=ppt/slideLayouts/_rels/slideLayout3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9.xml"/></Relationships>
</file>

<file path=ppt/slideLayouts/_rels/slideLayout4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9.xml"/></Relationships>
</file>

<file path=ppt/slideLayouts/_rels/slideLayout4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9.xml"/></Relationships>
</file>

<file path=ppt/slideLayouts/_rels/slideLayout4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9.xml"/></Relationships>
</file>

<file path=ppt/slideLayouts/_rels/slideLayout4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9.xml"/></Relationships>
</file>

<file path=ppt/slideLayouts/_rels/slideLayout4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0.xml"/></Relationships>
</file>

<file path=ppt/slideLayouts/_rels/slideLayout4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0.xml"/></Relationships>
</file>

<file path=ppt/slideLayouts/_rels/slideLayout4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0.xml"/></Relationships>
</file>

<file path=ppt/slideLayouts/_rels/slideLayout4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0.xml"/></Relationships>
</file>

<file path=ppt/slideLayouts/_rels/slideLayout4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0.xml"/></Relationships>
</file>

<file path=ppt/slideLayouts/_rels/slideLayout4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1.xml"/></Relationships>
</file>

<file path=ppt/slideLayouts/_rels/slideLayout5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1.xml"/></Relationships>
</file>

<file path=ppt/slideLayouts/_rels/slideLayout5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1.xml"/></Relationships>
</file>

<file path=ppt/slideLayouts/_rels/slideLayout5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1.xml"/></Relationships>
</file>

<file path=ppt/slideLayouts/_rels/slideLayout5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1.xml"/></Relationships>
</file>

<file path=ppt/slideLayouts/_rels/slideLayout5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2.xml"/></Relationships>
</file>

<file path=ppt/slideLayouts/_rels/slideLayout5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2.xml"/></Relationships>
</file>

<file path=ppt/slideLayouts/_rels/slideLayout5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2.xml"/></Relationships>
</file>

<file path=ppt/slideLayouts/_rels/slideLayout5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2.xml"/></Relationships>
</file>

<file path=ppt/slideLayouts/_rels/slideLayout5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2.xml"/></Relationships>
</file>

<file path=ppt/slideLayouts/_rels/slideLayout5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3.xml"/></Relationships>
</file>

<file path=ppt/slideLayouts/_rels/slideLayout6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3.xml"/></Relationships>
</file>

<file path=ppt/slideLayouts/_rels/slideLayout6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3.xml"/></Relationships>
</file>

<file path=ppt/slideLayouts/_rels/slideLayout6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3.xml"/></Relationships>
</file>

<file path=ppt/slideLayouts/_rels/slideLayout6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3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70394E34-A4E1-0A47-81AD-0FFDFACE2D27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0" y="2168639"/>
            <a:ext cx="12192000" cy="1936882"/>
          </a:xfrm>
          <a:noFill/>
        </p:spPr>
        <p:txBody>
          <a:bodyPr anchor="ctr">
            <a:normAutofit/>
          </a:bodyPr>
          <a:lstStyle>
            <a:lvl1pPr algn="ctr">
              <a:defRPr sz="4800" b="1" baseline="0">
                <a:solidFill>
                  <a:srgbClr val="183B56"/>
                </a:solidFill>
                <a:latin typeface="Arial" panose="020B0502040504020204" pitchFamily="34" charset="0"/>
                <a:ea typeface="Noto Sans CJK SC" panose="020B0500000000000000" pitchFamily="34" charset="-122"/>
              </a:defRPr>
            </a:lvl1pPr>
          </a:lstStyle>
          <a:p>
            <a:r>
              <a:rPr kumimoji="1" lang="en-US" altLang="zh-CN" dirty="0"/>
              <a:t>Click to edit thesis title style</a:t>
            </a:r>
            <a:endParaRPr kumimoji="1" lang="zh-CN" altLang="en-US" dirty="0"/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CF04E2E1-6F52-4247-B454-11914E0AE6B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4D87667-948B-4B5D-857A-C1426D142067}" type="datetime1">
              <a:rPr kumimoji="1" lang="en-US" altLang="zh-CN" smtClean="0"/>
              <a:t>10/29/26</a:t>
            </a:fld>
            <a:endParaRPr kumimoji="1"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F301D4FA-A75C-2F44-883E-4AC185027E0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08F299D7-B793-0341-BA66-F6DDDC6B335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7B19D4B-9808-1A4C-B845-D9471D0CA790}" type="slidenum">
              <a:rPr kumimoji="1" lang="zh-CN" altLang="en-US" smtClean="0"/>
              <a:t>‹#›</a:t>
            </a:fld>
            <a:endParaRPr kumimoji="1" lang="zh-CN" altLang="en-US"/>
          </a:p>
        </p:txBody>
      </p:sp>
      <p:cxnSp>
        <p:nvCxnSpPr>
          <p:cNvPr id="19" name="Straight Connector 18">
            <a:extLst>
              <a:ext uri="{FF2B5EF4-FFF2-40B4-BE49-F238E27FC236}">
                <a16:creationId xmlns:a16="http://schemas.microsoft.com/office/drawing/2014/main" id="{807348DA-3C8B-894A-88C1-DD8DB3668BBF}"/>
              </a:ext>
            </a:extLst>
          </p:cNvPr>
          <p:cNvCxnSpPr>
            <a:cxnSpLocks/>
          </p:cNvCxnSpPr>
          <p:nvPr userDrawn="1"/>
        </p:nvCxnSpPr>
        <p:spPr>
          <a:xfrm>
            <a:off x="0" y="2152782"/>
            <a:ext cx="12192000" cy="0"/>
          </a:xfrm>
          <a:prstGeom prst="line">
            <a:avLst/>
          </a:prstGeom>
          <a:ln w="19050">
            <a:solidFill>
              <a:srgbClr val="008C95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21" name="Straight Connector 20">
            <a:extLst>
              <a:ext uri="{FF2B5EF4-FFF2-40B4-BE49-F238E27FC236}">
                <a16:creationId xmlns:a16="http://schemas.microsoft.com/office/drawing/2014/main" id="{BC4B8A5C-1DD7-2741-8B92-2ABD8EAB5BB5}"/>
              </a:ext>
            </a:extLst>
          </p:cNvPr>
          <p:cNvCxnSpPr>
            <a:cxnSpLocks/>
          </p:cNvCxnSpPr>
          <p:nvPr userDrawn="1"/>
        </p:nvCxnSpPr>
        <p:spPr>
          <a:xfrm>
            <a:off x="0" y="4105521"/>
            <a:ext cx="12192000" cy="0"/>
          </a:xfrm>
          <a:prstGeom prst="line">
            <a:avLst/>
          </a:prstGeom>
          <a:ln w="19050">
            <a:solidFill>
              <a:srgbClr val="008C95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grpSp>
        <p:nvGrpSpPr>
          <p:cNvPr id="25" name="组合 24">
            <a:extLst>
              <a:ext uri="{FF2B5EF4-FFF2-40B4-BE49-F238E27FC236}">
                <a16:creationId xmlns:a16="http://schemas.microsoft.com/office/drawing/2014/main" id="{40F6F499-9268-48B1-0E1F-7474E513719E}"/>
              </a:ext>
            </a:extLst>
          </p:cNvPr>
          <p:cNvGrpSpPr/>
          <p:nvPr userDrawn="1"/>
        </p:nvGrpSpPr>
        <p:grpSpPr>
          <a:xfrm>
            <a:off x="2344895" y="163035"/>
            <a:ext cx="7502210" cy="702074"/>
            <a:chOff x="1710556" y="163035"/>
            <a:chExt cx="8770888" cy="820800"/>
          </a:xfrm>
        </p:grpSpPr>
        <p:pic>
          <p:nvPicPr>
            <p:cNvPr id="17" name="图形 16">
              <a:extLst>
                <a:ext uri="{FF2B5EF4-FFF2-40B4-BE49-F238E27FC236}">
                  <a16:creationId xmlns:a16="http://schemas.microsoft.com/office/drawing/2014/main" id="{89B545BD-DB44-DA80-F161-0D27802BEDD1}"/>
                </a:ext>
              </a:extLst>
            </p:cNvPr>
            <p:cNvPicPr>
              <a:picLocks noChangeAspect="1"/>
            </p:cNvPicPr>
            <p:nvPr userDrawn="1"/>
          </p:nvPicPr>
          <p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p:blipFill>
          <p:spPr>
            <a:xfrm>
              <a:off x="1710556" y="163035"/>
              <a:ext cx="3065676" cy="820800"/>
            </a:xfrm>
            <a:prstGeom prst="rect">
              <a:avLst/>
            </a:prstGeom>
          </p:spPr>
        </p:pic>
        <p:pic>
          <p:nvPicPr>
            <p:cNvPr id="24" name="图片 23">
              <a:extLst>
                <a:ext uri="{FF2B5EF4-FFF2-40B4-BE49-F238E27FC236}">
                  <a16:creationId xmlns:a16="http://schemas.microsoft.com/office/drawing/2014/main" id="{F64FA03D-454B-9320-C58F-1E11C182C9E6}"/>
                </a:ext>
              </a:extLst>
            </p:cNvPr>
            <p:cNvPicPr>
              <a:picLocks noChangeAspect="1"/>
            </p:cNvPicPr>
            <p:nvPr userDrawn="1"/>
          </p:nvPicPr>
          <p:blipFill>
            <a:blip r:embed="rId3"/>
            <a:stretch>
              <a:fillRect/>
            </a:stretch>
          </p:blipFill>
          <p:spPr>
            <a:xfrm>
              <a:off x="5061719" y="163860"/>
              <a:ext cx="5419725" cy="819150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185545262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26106A9A-4523-DB41-B2D8-8F07F5110EA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36033" y="136526"/>
            <a:ext cx="11561957" cy="878236"/>
          </a:xfrm>
        </p:spPr>
        <p:txBody>
          <a:bodyPr>
            <a:normAutofit/>
          </a:bodyPr>
          <a:lstStyle>
            <a:lvl1pPr>
              <a:defRPr sz="3200" b="1" baseline="0">
                <a:solidFill>
                  <a:srgbClr val="183B56"/>
                </a:solidFill>
                <a:latin typeface="Arial" panose="020B0502040504020204" pitchFamily="34" charset="0"/>
                <a:ea typeface="Noto Sans CJK SC" panose="020B0500000000000000" pitchFamily="34" charset="-122"/>
              </a:defRPr>
            </a:lvl1pPr>
          </a:lstStyle>
          <a:p>
            <a:r>
              <a:rPr kumimoji="1" lang="en-US" altLang="zh-CN" dirty="0"/>
              <a:t>Click to edit Master title style</a:t>
            </a:r>
            <a:endParaRPr kumimoji="1" lang="zh-CN" altLang="en-US" dirty="0"/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76300472-B359-3B42-A846-416180D8459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36033" y="1026272"/>
            <a:ext cx="11561956" cy="5318561"/>
          </a:xfrm>
        </p:spPr>
        <p:txBody>
          <a:bodyPr/>
          <a:lstStyle>
            <a:lvl1pPr indent="-300600">
              <a:lnSpc>
                <a:spcPct val="110000"/>
              </a:lnSpc>
              <a:buClr>
                <a:schemeClr val="accent2"/>
              </a:buClr>
              <a:defRPr sz="2400" baseline="0">
                <a:latin typeface="Arial" panose="020B0502040504020204" pitchFamily="34" charset="0"/>
                <a:ea typeface="Noto Sans CJK SC" panose="020B0500000000000000" pitchFamily="34" charset="-122"/>
              </a:defRPr>
            </a:lvl1pPr>
            <a:lvl2pPr indent="-300600">
              <a:lnSpc>
                <a:spcPct val="110000"/>
              </a:lnSpc>
              <a:buClr>
                <a:schemeClr val="accent6"/>
              </a:buClr>
              <a:defRPr sz="2200" baseline="0">
                <a:latin typeface="Arial" panose="020B0502040504020204" pitchFamily="34" charset="0"/>
                <a:ea typeface="Noto Sans CJK SC" panose="020B0500000000000000" pitchFamily="34" charset="-122"/>
              </a:defRPr>
            </a:lvl2pPr>
            <a:lvl3pPr>
              <a:lnSpc>
                <a:spcPct val="110000"/>
              </a:lnSpc>
              <a:defRPr sz="2000" baseline="0">
                <a:latin typeface="Arial" panose="020B0502040504020204" pitchFamily="34" charset="0"/>
                <a:ea typeface="Noto Sans CJK SC" panose="020B0500000000000000" pitchFamily="34" charset="-122"/>
              </a:defRPr>
            </a:lvl3pPr>
            <a:lvl4pPr>
              <a:lnSpc>
                <a:spcPct val="110000"/>
              </a:lnSpc>
              <a:defRPr baseline="0">
                <a:latin typeface="Arial" panose="020B0502040504020204" pitchFamily="34" charset="0"/>
                <a:ea typeface="Noto Sans CJK SC" panose="020B0500000000000000" pitchFamily="34" charset="-122"/>
              </a:defRPr>
            </a:lvl4pPr>
            <a:lvl5pPr>
              <a:lnSpc>
                <a:spcPct val="110000"/>
              </a:lnSpc>
              <a:defRPr baseline="0">
                <a:latin typeface="Arial" panose="020B0502040504020204" pitchFamily="34" charset="0"/>
                <a:ea typeface="Noto Sans CJK SC" panose="020B0500000000000000" pitchFamily="34" charset="-122"/>
              </a:defRPr>
            </a:lvl5pPr>
          </a:lstStyle>
          <a:p>
            <a:pPr lvl="0"/>
            <a:r>
              <a:rPr kumimoji="1" lang="en-US" altLang="zh-CN" dirty="0"/>
              <a:t>Click to edit Master text styles</a:t>
            </a:r>
          </a:p>
          <a:p>
            <a:pPr lvl="1"/>
            <a:r>
              <a:rPr kumimoji="1" lang="en-US" altLang="zh-CN" dirty="0"/>
              <a:t>Second level</a:t>
            </a:r>
          </a:p>
          <a:p>
            <a:pPr lvl="2"/>
            <a:r>
              <a:rPr kumimoji="1" lang="en-US" altLang="zh-CN" dirty="0"/>
              <a:t>Third level</a:t>
            </a:r>
          </a:p>
          <a:p>
            <a:pPr lvl="3"/>
            <a:r>
              <a:rPr kumimoji="1" lang="en-US" altLang="zh-CN" dirty="0"/>
              <a:t>Fourth level</a:t>
            </a:r>
          </a:p>
          <a:p>
            <a:pPr lvl="4"/>
            <a:r>
              <a:rPr kumimoji="1" lang="en-US" altLang="zh-CN" dirty="0"/>
              <a:t>Fifth level</a:t>
            </a:r>
            <a:endParaRPr kumimoji="1" lang="zh-CN" altLang="en-US" dirty="0"/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08D07A5A-91FF-494E-8D02-89709B05C2C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B34C70F-3263-4CD6-B96C-7BC8652CFC42}" type="datetime1">
              <a:rPr kumimoji="1" lang="en-US" altLang="zh-CN" smtClean="0"/>
              <a:t>10/29/26</a:t>
            </a:fld>
            <a:endParaRPr kumimoji="1"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E5CC6612-37BE-814F-ACA0-AE4950C232D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3947714" y="6367861"/>
            <a:ext cx="4114800" cy="365125"/>
          </a:xfrm>
        </p:spPr>
        <p:txBody>
          <a:bodyPr/>
          <a:lstStyle/>
          <a:p>
            <a:endParaRPr kumimoji="1"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47C18CA8-FF2C-BF49-A4D6-34924DCA1F4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030994" y="6367862"/>
            <a:ext cx="2743200" cy="365125"/>
          </a:xfrm>
        </p:spPr>
        <p:txBody>
          <a:bodyPr/>
          <a:lstStyle/>
          <a:p>
            <a:fld id="{07B19D4B-9808-1A4C-B845-D9471D0CA790}" type="slidenum">
              <a:rPr kumimoji="1" lang="zh-CN" altLang="en-US" smtClean="0"/>
              <a:t>‹#›</a:t>
            </a:fld>
            <a:endParaRPr kumimoji="1" lang="zh-CN" altLang="en-US"/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E619EE58-A2B4-1D47-95D9-98F374F7B60B}"/>
              </a:ext>
            </a:extLst>
          </p:cNvPr>
          <p:cNvCxnSpPr>
            <a:cxnSpLocks/>
          </p:cNvCxnSpPr>
          <p:nvPr userDrawn="1"/>
        </p:nvCxnSpPr>
        <p:spPr>
          <a:xfrm>
            <a:off x="236032" y="1014761"/>
            <a:ext cx="11561958" cy="0"/>
          </a:xfrm>
          <a:prstGeom prst="line">
            <a:avLst/>
          </a:prstGeom>
          <a:ln w="19050">
            <a:solidFill>
              <a:srgbClr val="008C95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8F0D88BD-6E18-6246-8AF7-B21FB95FBB25}"/>
              </a:ext>
            </a:extLst>
          </p:cNvPr>
          <p:cNvCxnSpPr>
            <a:cxnSpLocks/>
          </p:cNvCxnSpPr>
          <p:nvPr userDrawn="1"/>
        </p:nvCxnSpPr>
        <p:spPr>
          <a:xfrm>
            <a:off x="236032" y="6356349"/>
            <a:ext cx="11561957" cy="0"/>
          </a:xfrm>
          <a:prstGeom prst="line">
            <a:avLst/>
          </a:prstGeom>
          <a:ln w="19050">
            <a:solidFill>
              <a:srgbClr val="008C95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51772963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结束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70394E34-A4E1-0A47-81AD-0FFDFACE2D2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0" y="2205243"/>
            <a:ext cx="12192000" cy="1936882"/>
          </a:xfrm>
          <a:noFill/>
        </p:spPr>
        <p:txBody>
          <a:bodyPr anchor="ctr">
            <a:normAutofit/>
          </a:bodyPr>
          <a:lstStyle>
            <a:lvl1pPr algn="ctr">
              <a:defRPr sz="4800" b="1" baseline="0">
                <a:solidFill>
                  <a:srgbClr val="183B56"/>
                </a:solidFill>
                <a:latin typeface="Arial" panose="020B0502040504020204" pitchFamily="34" charset="0"/>
                <a:ea typeface="Noto Sans CJK SC" panose="020B0500000000000000" pitchFamily="34" charset="-122"/>
              </a:defRPr>
            </a:lvl1pPr>
          </a:lstStyle>
          <a:p>
            <a:r>
              <a:rPr kumimoji="1" lang="en-US" altLang="zh-CN" dirty="0"/>
              <a:t>Click to edit Master title style</a:t>
            </a:r>
            <a:endParaRPr kumimoji="1" lang="zh-CN" altLang="en-US" dirty="0"/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CF04E2E1-6F52-4247-B454-11914E0AE6B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4D87667-948B-4B5D-857A-C1426D142067}" type="datetime1">
              <a:rPr kumimoji="1" lang="en-US" altLang="zh-CN" smtClean="0"/>
              <a:t>10/29/26</a:t>
            </a:fld>
            <a:endParaRPr kumimoji="1"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F301D4FA-A75C-2F44-883E-4AC185027E0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08F299D7-B793-0341-BA66-F6DDDC6B335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7B19D4B-9808-1A4C-B845-D9471D0CA790}" type="slidenum">
              <a:rPr kumimoji="1" lang="zh-CN" altLang="en-US" smtClean="0"/>
              <a:t>‹#›</a:t>
            </a:fld>
            <a:endParaRPr kumimoji="1" lang="zh-CN" altLang="en-US"/>
          </a:p>
        </p:txBody>
      </p:sp>
      <p:grpSp>
        <p:nvGrpSpPr>
          <p:cNvPr id="25" name="组合 24">
            <a:extLst>
              <a:ext uri="{FF2B5EF4-FFF2-40B4-BE49-F238E27FC236}">
                <a16:creationId xmlns:a16="http://schemas.microsoft.com/office/drawing/2014/main" id="{40F6F499-9268-48B1-0E1F-7474E513719E}"/>
              </a:ext>
            </a:extLst>
          </p:cNvPr>
          <p:cNvGrpSpPr/>
          <p:nvPr userDrawn="1"/>
        </p:nvGrpSpPr>
        <p:grpSpPr>
          <a:xfrm>
            <a:off x="2344895" y="163035"/>
            <a:ext cx="7502210" cy="702074"/>
            <a:chOff x="1710556" y="163035"/>
            <a:chExt cx="8770888" cy="820800"/>
          </a:xfrm>
        </p:grpSpPr>
        <p:pic>
          <p:nvPicPr>
            <p:cNvPr id="17" name="图形 16">
              <a:extLst>
                <a:ext uri="{FF2B5EF4-FFF2-40B4-BE49-F238E27FC236}">
                  <a16:creationId xmlns:a16="http://schemas.microsoft.com/office/drawing/2014/main" id="{89B545BD-DB44-DA80-F161-0D27802BEDD1}"/>
                </a:ext>
              </a:extLst>
            </p:cNvPr>
            <p:cNvPicPr>
              <a:picLocks noChangeAspect="1"/>
            </p:cNvPicPr>
            <p:nvPr userDrawn="1"/>
          </p:nvPicPr>
          <p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p:blipFill>
          <p:spPr>
            <a:xfrm>
              <a:off x="1710556" y="163035"/>
              <a:ext cx="3065676" cy="820800"/>
            </a:xfrm>
            <a:prstGeom prst="rect">
              <a:avLst/>
            </a:prstGeom>
          </p:spPr>
        </p:pic>
        <p:pic>
          <p:nvPicPr>
            <p:cNvPr id="24" name="图片 23">
              <a:extLst>
                <a:ext uri="{FF2B5EF4-FFF2-40B4-BE49-F238E27FC236}">
                  <a16:creationId xmlns:a16="http://schemas.microsoft.com/office/drawing/2014/main" id="{F64FA03D-454B-9320-C58F-1E11C182C9E6}"/>
                </a:ext>
              </a:extLst>
            </p:cNvPr>
            <p:cNvPicPr>
              <a:picLocks noChangeAspect="1"/>
            </p:cNvPicPr>
            <p:nvPr userDrawn="1"/>
          </p:nvPicPr>
          <p:blipFill>
            <a:blip r:embed="rId3"/>
            <a:stretch>
              <a:fillRect/>
            </a:stretch>
          </p:blipFill>
          <p:spPr>
            <a:xfrm>
              <a:off x="5061719" y="163860"/>
              <a:ext cx="5419725" cy="819150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8118100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endParaRPr lang="en-US"/>
          </a:p>
        </p:txBody>
      </p:sp>
      <p:sp>
        <p:nvSpPr>
          <p:cNvPr id="3" name="Subtitle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/>
          <a:p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/>
          <a:lstStyle/>
          <a:p>
            <a:endParaRPr lang="en-US"/>
          </a:p>
        </p:txBody>
      </p:sp>
      <p:sp>
        <p:nvSpPr>
          <p:cNvPr id="3" name="Content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</p:spPr>
        <p:txBody>
          <a:bodyPr/>
          <a:lstStyle/>
          <a:p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twoColTx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/>
          <a:lstStyle/>
          <a:p>
            <a:endParaRPr lang="en-US"/>
          </a:p>
        </p:txBody>
      </p:sp>
      <p:sp>
        <p:nvSpPr>
          <p:cNvPr id="3" name="Content Left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endParaRPr lang="en-US"/>
          </a:p>
        </p:txBody>
      </p:sp>
      <p:sp>
        <p:nvSpPr>
          <p:cNvPr id="4" name="Content Right"/>
          <p:cNvSpPr>
            <a:spLocks noGrp="1"/>
          </p:cNvSpPr>
          <p:nvPr>
            <p:ph type="body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/>
          <a:lstStyle/>
          <a:p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endParaRPr lang="en-US"/>
          </a:p>
        </p:txBody>
      </p:sp>
      <p:sp>
        <p:nvSpPr>
          <p:cNvPr id="3" name="Subtitle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/>
          <a:p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/>
          <a:lstStyle/>
          <a:p>
            <a:endParaRPr lang="en-US"/>
          </a:p>
        </p:txBody>
      </p:sp>
      <p:sp>
        <p:nvSpPr>
          <p:cNvPr id="3" name="Content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</p:spPr>
        <p:txBody>
          <a:bodyPr/>
          <a:lstStyle/>
          <a:p>
            <a:endParaRPr lang="en-US"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twoColTx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/>
          <a:lstStyle/>
          <a:p>
            <a:endParaRPr lang="en-US"/>
          </a:p>
        </p:txBody>
      </p:sp>
      <p:sp>
        <p:nvSpPr>
          <p:cNvPr id="3" name="Content Left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endParaRPr lang="en-US"/>
          </a:p>
        </p:txBody>
      </p:sp>
      <p:sp>
        <p:nvSpPr>
          <p:cNvPr id="4" name="Content Right"/>
          <p:cNvSpPr>
            <a:spLocks noGrp="1"/>
          </p:cNvSpPr>
          <p:nvPr>
            <p:ph type="body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endParaRPr lang="en-US"/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/>
          <a:lstStyle/>
          <a:p>
            <a:endParaRPr lang="en-US"/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endParaRPr lang="en-US"/>
          </a:p>
        </p:txBody>
      </p:sp>
      <p:sp>
        <p:nvSpPr>
          <p:cNvPr id="3" name="Subtitle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/>
          <a:p>
            <a:endParaRPr lang="en-US"/>
          </a:p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/>
          <a:lstStyle/>
          <a:p>
            <a:endParaRPr lang="en-US"/>
          </a:p>
        </p:txBody>
      </p:sp>
      <p:sp>
        <p:nvSpPr>
          <p:cNvPr id="3" name="Content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</p:spPr>
        <p:txBody>
          <a:bodyPr/>
          <a:lstStyle/>
          <a:p>
            <a:endParaRPr lang="en-US"/>
          </a:p>
        </p:txBody>
      </p: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twoColTx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/>
          <a:lstStyle/>
          <a:p>
            <a:endParaRPr lang="en-US"/>
          </a:p>
        </p:txBody>
      </p:sp>
      <p:sp>
        <p:nvSpPr>
          <p:cNvPr id="3" name="Content Left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endParaRPr lang="en-US"/>
          </a:p>
        </p:txBody>
      </p:sp>
      <p:sp>
        <p:nvSpPr>
          <p:cNvPr id="4" name="Content Right"/>
          <p:cNvSpPr>
            <a:spLocks noGrp="1"/>
          </p:cNvSpPr>
          <p:nvPr>
            <p:ph type="body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endParaRPr lang="en-US"/>
          </a:p>
        </p:txBody>
      </p:sp>
    </p:spTree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/>
          <a:lstStyle/>
          <a:p>
            <a:endParaRPr lang="en-US"/>
          </a:p>
        </p:txBody>
      </p:sp>
    </p:spTree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endParaRPr lang="en-US"/>
          </a:p>
        </p:txBody>
      </p:sp>
      <p:sp>
        <p:nvSpPr>
          <p:cNvPr id="3" name="Subtitle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/>
          <a:p>
            <a:endParaRPr lang="en-US"/>
          </a:p>
        </p:txBody>
      </p:sp>
    </p:spTree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/>
          <a:lstStyle/>
          <a:p>
            <a:endParaRPr lang="en-US"/>
          </a:p>
        </p:txBody>
      </p:sp>
      <p:sp>
        <p:nvSpPr>
          <p:cNvPr id="3" name="Content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</p:spPr>
        <p:txBody>
          <a:bodyPr/>
          <a:lstStyle/>
          <a:p>
            <a:endParaRPr lang="en-US"/>
          </a:p>
        </p:txBody>
      </p:sp>
    </p:spTree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type="twoColTx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/>
          <a:lstStyle/>
          <a:p>
            <a:endParaRPr lang="en-US"/>
          </a:p>
        </p:txBody>
      </p:sp>
      <p:sp>
        <p:nvSpPr>
          <p:cNvPr id="3" name="Content Left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endParaRPr lang="en-US"/>
          </a:p>
        </p:txBody>
      </p:sp>
      <p:sp>
        <p:nvSpPr>
          <p:cNvPr id="4" name="Content Right"/>
          <p:cNvSpPr>
            <a:spLocks noGrp="1"/>
          </p:cNvSpPr>
          <p:nvPr>
            <p:ph type="body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endParaRPr lang="en-US"/>
          </a:p>
        </p:txBody>
      </p:sp>
    </p:spTree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/>
          <a:lstStyle/>
          <a:p>
            <a:endParaRPr lang="en-US"/>
          </a:p>
        </p:txBody>
      </p:sp>
    </p:spTree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endParaRPr lang="en-US"/>
          </a:p>
        </p:txBody>
      </p:sp>
      <p:sp>
        <p:nvSpPr>
          <p:cNvPr id="3" name="Subtitle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/>
          <a:p>
            <a:endParaRPr lang="en-US"/>
          </a:p>
        </p:txBody>
      </p:sp>
    </p:spTree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/>
          <a:lstStyle/>
          <a:p>
            <a:endParaRPr lang="en-US"/>
          </a:p>
        </p:txBody>
      </p:sp>
      <p:sp>
        <p:nvSpPr>
          <p:cNvPr id="3" name="Content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</p:spPr>
        <p:txBody>
          <a:bodyPr/>
          <a:lstStyle/>
          <a:p>
            <a:endParaRPr lang="en-US"/>
          </a:p>
        </p:txBody>
      </p:sp>
    </p:spTree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type="twoColTx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/>
          <a:lstStyle/>
          <a:p>
            <a:endParaRPr lang="en-US"/>
          </a:p>
        </p:txBody>
      </p:sp>
      <p:sp>
        <p:nvSpPr>
          <p:cNvPr id="3" name="Content Left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endParaRPr lang="en-US"/>
          </a:p>
        </p:txBody>
      </p:sp>
      <p:sp>
        <p:nvSpPr>
          <p:cNvPr id="4" name="Content Right"/>
          <p:cNvSpPr>
            <a:spLocks noGrp="1"/>
          </p:cNvSpPr>
          <p:nvPr>
            <p:ph type="body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endParaRPr lang="en-US"/>
          </a:p>
        </p:txBody>
      </p:sp>
    </p:spTree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/>
          <a:lstStyle/>
          <a:p>
            <a:endParaRPr lang="en-US"/>
          </a:p>
        </p:txBody>
      </p:sp>
    </p:spTree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endParaRPr lang="en-US"/>
          </a:p>
        </p:txBody>
      </p:sp>
      <p:sp>
        <p:nvSpPr>
          <p:cNvPr id="3" name="Subtitle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/>
          <a:p>
            <a:endParaRPr lang="en-US"/>
          </a:p>
        </p:txBody>
      </p:sp>
    </p:spTree>
  </p:cSld>
  <p:clrMapOvr>
    <a:masterClrMapping/>
  </p:clrMapOvr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/>
          <a:lstStyle/>
          <a:p>
            <a:endParaRPr lang="en-US"/>
          </a:p>
        </p:txBody>
      </p:sp>
      <p:sp>
        <p:nvSpPr>
          <p:cNvPr id="3" name="Content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</p:spPr>
        <p:txBody>
          <a:bodyPr/>
          <a:lstStyle/>
          <a:p>
            <a:endParaRPr lang="en-US"/>
          </a:p>
        </p:txBody>
      </p:sp>
    </p:spTree>
  </p:cSld>
  <p:clrMapOvr>
    <a:masterClrMapping/>
  </p:clrMapOvr>
</p:sldLayout>
</file>

<file path=ppt/slideLayouts/slideLayout32.xml><?xml version="1.0" encoding="utf-8"?>
<p:sldLayout xmlns:a="http://schemas.openxmlformats.org/drawingml/2006/main" xmlns:r="http://schemas.openxmlformats.org/officeDocument/2006/relationships" xmlns:p="http://schemas.openxmlformats.org/presentationml/2006/main" type="twoColTx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/>
          <a:lstStyle/>
          <a:p>
            <a:endParaRPr lang="en-US"/>
          </a:p>
        </p:txBody>
      </p:sp>
      <p:sp>
        <p:nvSpPr>
          <p:cNvPr id="3" name="Content Left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endParaRPr lang="en-US"/>
          </a:p>
        </p:txBody>
      </p:sp>
      <p:sp>
        <p:nvSpPr>
          <p:cNvPr id="4" name="Content Right"/>
          <p:cNvSpPr>
            <a:spLocks noGrp="1"/>
          </p:cNvSpPr>
          <p:nvPr>
            <p:ph type="body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endParaRPr lang="en-US"/>
          </a:p>
        </p:txBody>
      </p:sp>
    </p:spTree>
  </p:cSld>
  <p:clrMapOvr>
    <a:masterClrMapping/>
  </p:clrMapOvr>
</p:sldLayout>
</file>

<file path=ppt/slideLayouts/slideLayout33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/>
          <a:lstStyle/>
          <a:p>
            <a:endParaRPr lang="en-US"/>
          </a:p>
        </p:txBody>
      </p:sp>
    </p:spTree>
  </p:cSld>
  <p:clrMapOvr>
    <a:masterClrMapping/>
  </p:clrMapOvr>
</p:sldLayout>
</file>

<file path=ppt/slideLayouts/slideLayout34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3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endParaRPr lang="en-US"/>
          </a:p>
        </p:txBody>
      </p:sp>
      <p:sp>
        <p:nvSpPr>
          <p:cNvPr id="3" name="Subtitle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/>
          <a:p>
            <a:endParaRPr lang="en-US"/>
          </a:p>
        </p:txBody>
      </p:sp>
    </p:spTree>
  </p:cSld>
  <p:clrMapOvr>
    <a:masterClrMapping/>
  </p:clrMapOvr>
</p:sldLayout>
</file>

<file path=ppt/slideLayouts/slideLayout36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/>
          <a:lstStyle/>
          <a:p>
            <a:endParaRPr lang="en-US"/>
          </a:p>
        </p:txBody>
      </p:sp>
      <p:sp>
        <p:nvSpPr>
          <p:cNvPr id="3" name="Content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</p:spPr>
        <p:txBody>
          <a:bodyPr/>
          <a:lstStyle/>
          <a:p>
            <a:endParaRPr lang="en-US"/>
          </a:p>
        </p:txBody>
      </p:sp>
    </p:spTree>
  </p:cSld>
  <p:clrMapOvr>
    <a:masterClrMapping/>
  </p:clrMapOvr>
</p:sldLayout>
</file>

<file path=ppt/slideLayouts/slideLayout37.xml><?xml version="1.0" encoding="utf-8"?>
<p:sldLayout xmlns:a="http://schemas.openxmlformats.org/drawingml/2006/main" xmlns:r="http://schemas.openxmlformats.org/officeDocument/2006/relationships" xmlns:p="http://schemas.openxmlformats.org/presentationml/2006/main" type="twoColTx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/>
          <a:lstStyle/>
          <a:p>
            <a:endParaRPr lang="en-US"/>
          </a:p>
        </p:txBody>
      </p:sp>
      <p:sp>
        <p:nvSpPr>
          <p:cNvPr id="3" name="Content Left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endParaRPr lang="en-US"/>
          </a:p>
        </p:txBody>
      </p:sp>
      <p:sp>
        <p:nvSpPr>
          <p:cNvPr id="4" name="Content Right"/>
          <p:cNvSpPr>
            <a:spLocks noGrp="1"/>
          </p:cNvSpPr>
          <p:nvPr>
            <p:ph type="body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endParaRPr lang="en-US"/>
          </a:p>
        </p:txBody>
      </p:sp>
    </p:spTree>
  </p:cSld>
  <p:clrMapOvr>
    <a:masterClrMapping/>
  </p:clrMapOvr>
</p:sldLayout>
</file>

<file path=ppt/slideLayouts/slideLayout38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/>
          <a:lstStyle/>
          <a:p>
            <a:endParaRPr lang="en-US"/>
          </a:p>
        </p:txBody>
      </p:sp>
    </p:spTree>
  </p:cSld>
  <p:clrMapOvr>
    <a:masterClrMapping/>
  </p:clrMapOvr>
</p:sldLayout>
</file>

<file path=ppt/slideLayouts/slideLayout39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40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endParaRPr lang="en-US"/>
          </a:p>
        </p:txBody>
      </p:sp>
      <p:sp>
        <p:nvSpPr>
          <p:cNvPr id="3" name="Subtitle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/>
          <a:p>
            <a:endParaRPr lang="en-US"/>
          </a:p>
        </p:txBody>
      </p:sp>
    </p:spTree>
  </p:cSld>
  <p:clrMapOvr>
    <a:masterClrMapping/>
  </p:clrMapOvr>
</p:sldLayout>
</file>

<file path=ppt/slideLayouts/slideLayout41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/>
          <a:lstStyle/>
          <a:p>
            <a:endParaRPr lang="en-US"/>
          </a:p>
        </p:txBody>
      </p:sp>
      <p:sp>
        <p:nvSpPr>
          <p:cNvPr id="3" name="Content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</p:spPr>
        <p:txBody>
          <a:bodyPr/>
          <a:lstStyle/>
          <a:p>
            <a:endParaRPr lang="en-US"/>
          </a:p>
        </p:txBody>
      </p:sp>
    </p:spTree>
  </p:cSld>
  <p:clrMapOvr>
    <a:masterClrMapping/>
  </p:clrMapOvr>
</p:sldLayout>
</file>

<file path=ppt/slideLayouts/slideLayout42.xml><?xml version="1.0" encoding="utf-8"?>
<p:sldLayout xmlns:a="http://schemas.openxmlformats.org/drawingml/2006/main" xmlns:r="http://schemas.openxmlformats.org/officeDocument/2006/relationships" xmlns:p="http://schemas.openxmlformats.org/presentationml/2006/main" type="twoColTx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/>
          <a:lstStyle/>
          <a:p>
            <a:endParaRPr lang="en-US"/>
          </a:p>
        </p:txBody>
      </p:sp>
      <p:sp>
        <p:nvSpPr>
          <p:cNvPr id="3" name="Content Left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endParaRPr lang="en-US"/>
          </a:p>
        </p:txBody>
      </p:sp>
      <p:sp>
        <p:nvSpPr>
          <p:cNvPr id="4" name="Content Right"/>
          <p:cNvSpPr>
            <a:spLocks noGrp="1"/>
          </p:cNvSpPr>
          <p:nvPr>
            <p:ph type="body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endParaRPr lang="en-US"/>
          </a:p>
        </p:txBody>
      </p:sp>
    </p:spTree>
  </p:cSld>
  <p:clrMapOvr>
    <a:masterClrMapping/>
  </p:clrMapOvr>
</p:sldLayout>
</file>

<file path=ppt/slideLayouts/slideLayout43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/>
          <a:lstStyle/>
          <a:p>
            <a:endParaRPr lang="en-US"/>
          </a:p>
        </p:txBody>
      </p:sp>
    </p:spTree>
  </p:cSld>
  <p:clrMapOvr>
    <a:masterClrMapping/>
  </p:clrMapOvr>
</p:sldLayout>
</file>

<file path=ppt/slideLayouts/slideLayout44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4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endParaRPr lang="en-US"/>
          </a:p>
        </p:txBody>
      </p:sp>
      <p:sp>
        <p:nvSpPr>
          <p:cNvPr id="3" name="Subtitle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/>
          <a:p>
            <a:endParaRPr lang="en-US"/>
          </a:p>
        </p:txBody>
      </p:sp>
    </p:spTree>
  </p:cSld>
  <p:clrMapOvr>
    <a:masterClrMapping/>
  </p:clrMapOvr>
</p:sldLayout>
</file>

<file path=ppt/slideLayouts/slideLayout46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/>
          <a:lstStyle/>
          <a:p>
            <a:endParaRPr lang="en-US"/>
          </a:p>
        </p:txBody>
      </p:sp>
      <p:sp>
        <p:nvSpPr>
          <p:cNvPr id="3" name="Content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</p:spPr>
        <p:txBody>
          <a:bodyPr/>
          <a:lstStyle/>
          <a:p>
            <a:endParaRPr lang="en-US"/>
          </a:p>
        </p:txBody>
      </p:sp>
    </p:spTree>
  </p:cSld>
  <p:clrMapOvr>
    <a:masterClrMapping/>
  </p:clrMapOvr>
</p:sldLayout>
</file>

<file path=ppt/slideLayouts/slideLayout47.xml><?xml version="1.0" encoding="utf-8"?>
<p:sldLayout xmlns:a="http://schemas.openxmlformats.org/drawingml/2006/main" xmlns:r="http://schemas.openxmlformats.org/officeDocument/2006/relationships" xmlns:p="http://schemas.openxmlformats.org/presentationml/2006/main" type="twoColTx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/>
          <a:lstStyle/>
          <a:p>
            <a:endParaRPr lang="en-US"/>
          </a:p>
        </p:txBody>
      </p:sp>
      <p:sp>
        <p:nvSpPr>
          <p:cNvPr id="3" name="Content Left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endParaRPr lang="en-US"/>
          </a:p>
        </p:txBody>
      </p:sp>
      <p:sp>
        <p:nvSpPr>
          <p:cNvPr id="4" name="Content Right"/>
          <p:cNvSpPr>
            <a:spLocks noGrp="1"/>
          </p:cNvSpPr>
          <p:nvPr>
            <p:ph type="body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endParaRPr lang="en-US"/>
          </a:p>
        </p:txBody>
      </p:sp>
    </p:spTree>
  </p:cSld>
  <p:clrMapOvr>
    <a:masterClrMapping/>
  </p:clrMapOvr>
</p:sldLayout>
</file>

<file path=ppt/slideLayouts/slideLayout48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/>
          <a:lstStyle/>
          <a:p>
            <a:endParaRPr lang="en-US"/>
          </a:p>
        </p:txBody>
      </p:sp>
    </p:spTree>
  </p:cSld>
  <p:clrMapOvr>
    <a:masterClrMapping/>
  </p:clrMapOvr>
</p:sldLayout>
</file>

<file path=ppt/slideLayouts/slideLayout49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50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endParaRPr lang="en-US"/>
          </a:p>
        </p:txBody>
      </p:sp>
      <p:sp>
        <p:nvSpPr>
          <p:cNvPr id="3" name="Subtitle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/>
          <a:p>
            <a:endParaRPr lang="en-US"/>
          </a:p>
        </p:txBody>
      </p:sp>
    </p:spTree>
  </p:cSld>
  <p:clrMapOvr>
    <a:masterClrMapping/>
  </p:clrMapOvr>
</p:sldLayout>
</file>

<file path=ppt/slideLayouts/slideLayout51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/>
          <a:lstStyle/>
          <a:p>
            <a:endParaRPr lang="en-US"/>
          </a:p>
        </p:txBody>
      </p:sp>
      <p:sp>
        <p:nvSpPr>
          <p:cNvPr id="3" name="Content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</p:spPr>
        <p:txBody>
          <a:bodyPr/>
          <a:lstStyle/>
          <a:p>
            <a:endParaRPr lang="en-US"/>
          </a:p>
        </p:txBody>
      </p:sp>
    </p:spTree>
  </p:cSld>
  <p:clrMapOvr>
    <a:masterClrMapping/>
  </p:clrMapOvr>
</p:sldLayout>
</file>

<file path=ppt/slideLayouts/slideLayout52.xml><?xml version="1.0" encoding="utf-8"?>
<p:sldLayout xmlns:a="http://schemas.openxmlformats.org/drawingml/2006/main" xmlns:r="http://schemas.openxmlformats.org/officeDocument/2006/relationships" xmlns:p="http://schemas.openxmlformats.org/presentationml/2006/main" type="twoColTx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/>
          <a:lstStyle/>
          <a:p>
            <a:endParaRPr lang="en-US"/>
          </a:p>
        </p:txBody>
      </p:sp>
      <p:sp>
        <p:nvSpPr>
          <p:cNvPr id="3" name="Content Left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endParaRPr lang="en-US"/>
          </a:p>
        </p:txBody>
      </p:sp>
      <p:sp>
        <p:nvSpPr>
          <p:cNvPr id="4" name="Content Right"/>
          <p:cNvSpPr>
            <a:spLocks noGrp="1"/>
          </p:cNvSpPr>
          <p:nvPr>
            <p:ph type="body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endParaRPr lang="en-US"/>
          </a:p>
        </p:txBody>
      </p:sp>
    </p:spTree>
  </p:cSld>
  <p:clrMapOvr>
    <a:masterClrMapping/>
  </p:clrMapOvr>
</p:sldLayout>
</file>

<file path=ppt/slideLayouts/slideLayout53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/>
          <a:lstStyle/>
          <a:p>
            <a:endParaRPr lang="en-US"/>
          </a:p>
        </p:txBody>
      </p:sp>
    </p:spTree>
  </p:cSld>
  <p:clrMapOvr>
    <a:masterClrMapping/>
  </p:clrMapOvr>
</p:sldLayout>
</file>

<file path=ppt/slideLayouts/slideLayout54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5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endParaRPr lang="en-US"/>
          </a:p>
        </p:txBody>
      </p:sp>
      <p:sp>
        <p:nvSpPr>
          <p:cNvPr id="3" name="Subtitle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/>
          <a:p>
            <a:endParaRPr lang="en-US"/>
          </a:p>
        </p:txBody>
      </p:sp>
    </p:spTree>
  </p:cSld>
  <p:clrMapOvr>
    <a:masterClrMapping/>
  </p:clrMapOvr>
</p:sldLayout>
</file>

<file path=ppt/slideLayouts/slideLayout56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/>
          <a:lstStyle/>
          <a:p>
            <a:endParaRPr lang="en-US"/>
          </a:p>
        </p:txBody>
      </p:sp>
      <p:sp>
        <p:nvSpPr>
          <p:cNvPr id="3" name="Content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</p:spPr>
        <p:txBody>
          <a:bodyPr/>
          <a:lstStyle/>
          <a:p>
            <a:endParaRPr lang="en-US"/>
          </a:p>
        </p:txBody>
      </p:sp>
    </p:spTree>
  </p:cSld>
  <p:clrMapOvr>
    <a:masterClrMapping/>
  </p:clrMapOvr>
</p:sldLayout>
</file>

<file path=ppt/slideLayouts/slideLayout57.xml><?xml version="1.0" encoding="utf-8"?>
<p:sldLayout xmlns:a="http://schemas.openxmlformats.org/drawingml/2006/main" xmlns:r="http://schemas.openxmlformats.org/officeDocument/2006/relationships" xmlns:p="http://schemas.openxmlformats.org/presentationml/2006/main" type="twoColTx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/>
          <a:lstStyle/>
          <a:p>
            <a:endParaRPr lang="en-US"/>
          </a:p>
        </p:txBody>
      </p:sp>
      <p:sp>
        <p:nvSpPr>
          <p:cNvPr id="3" name="Content Left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endParaRPr lang="en-US"/>
          </a:p>
        </p:txBody>
      </p:sp>
      <p:sp>
        <p:nvSpPr>
          <p:cNvPr id="4" name="Content Right"/>
          <p:cNvSpPr>
            <a:spLocks noGrp="1"/>
          </p:cNvSpPr>
          <p:nvPr>
            <p:ph type="body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endParaRPr lang="en-US"/>
          </a:p>
        </p:txBody>
      </p:sp>
    </p:spTree>
  </p:cSld>
  <p:clrMapOvr>
    <a:masterClrMapping/>
  </p:clrMapOvr>
</p:sldLayout>
</file>

<file path=ppt/slideLayouts/slideLayout58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/>
          <a:lstStyle/>
          <a:p>
            <a:endParaRPr lang="en-US"/>
          </a:p>
        </p:txBody>
      </p:sp>
    </p:spTree>
  </p:cSld>
  <p:clrMapOvr>
    <a:masterClrMapping/>
  </p:clrMapOvr>
</p:sldLayout>
</file>

<file path=ppt/slideLayouts/slideLayout59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60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endParaRPr lang="en-US"/>
          </a:p>
        </p:txBody>
      </p:sp>
      <p:sp>
        <p:nvSpPr>
          <p:cNvPr id="3" name="Subtitle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/>
          <a:p>
            <a:endParaRPr lang="en-US"/>
          </a:p>
        </p:txBody>
      </p:sp>
    </p:spTree>
  </p:cSld>
  <p:clrMapOvr>
    <a:masterClrMapping/>
  </p:clrMapOvr>
</p:sldLayout>
</file>

<file path=ppt/slideLayouts/slideLayout61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/>
          <a:lstStyle/>
          <a:p>
            <a:endParaRPr lang="en-US"/>
          </a:p>
        </p:txBody>
      </p:sp>
      <p:sp>
        <p:nvSpPr>
          <p:cNvPr id="3" name="Content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</p:spPr>
        <p:txBody>
          <a:bodyPr/>
          <a:lstStyle/>
          <a:p>
            <a:endParaRPr lang="en-US"/>
          </a:p>
        </p:txBody>
      </p:sp>
    </p:spTree>
  </p:cSld>
  <p:clrMapOvr>
    <a:masterClrMapping/>
  </p:clrMapOvr>
</p:sldLayout>
</file>

<file path=ppt/slideLayouts/slideLayout62.xml><?xml version="1.0" encoding="utf-8"?>
<p:sldLayout xmlns:a="http://schemas.openxmlformats.org/drawingml/2006/main" xmlns:r="http://schemas.openxmlformats.org/officeDocument/2006/relationships" xmlns:p="http://schemas.openxmlformats.org/presentationml/2006/main" type="twoColTx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/>
          <a:lstStyle/>
          <a:p>
            <a:endParaRPr lang="en-US"/>
          </a:p>
        </p:txBody>
      </p:sp>
      <p:sp>
        <p:nvSpPr>
          <p:cNvPr id="3" name="Content Left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endParaRPr lang="en-US"/>
          </a:p>
        </p:txBody>
      </p:sp>
      <p:sp>
        <p:nvSpPr>
          <p:cNvPr id="4" name="Content Right"/>
          <p:cNvSpPr>
            <a:spLocks noGrp="1"/>
          </p:cNvSpPr>
          <p:nvPr>
            <p:ph type="body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endParaRPr lang="en-US"/>
          </a:p>
        </p:txBody>
      </p:sp>
    </p:spTree>
  </p:cSld>
  <p:clrMapOvr>
    <a:masterClrMapping/>
  </p:clrMapOvr>
</p:sldLayout>
</file>

<file path=ppt/slideLayouts/slideLayout63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/>
          <a:lstStyle/>
          <a:p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4" Type="http://schemas.openxmlformats.org/officeDocument/2006/relationships/theme" Target="../theme/theme1.xml"/></Relationships>
</file>

<file path=ppt/slideMasters/_rels/slideMaster2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6.xml"/><Relationship Id="rId2" Type="http://schemas.openxmlformats.org/officeDocument/2006/relationships/slideLayout" Target="../slideLayouts/slideLayout5.xml"/><Relationship Id="rId1" Type="http://schemas.openxmlformats.org/officeDocument/2006/relationships/slideLayout" Target="../slideLayouts/slideLayout4.xml"/><Relationship Id="rId6" Type="http://schemas.openxmlformats.org/officeDocument/2006/relationships/theme" Target="../theme/theme2.xml"/><Relationship Id="rId5" Type="http://schemas.openxmlformats.org/officeDocument/2006/relationships/slideLayout" Target="../slideLayouts/slideLayout8.xml"/><Relationship Id="rId4" Type="http://schemas.openxmlformats.org/officeDocument/2006/relationships/slideLayout" Target="../slideLayouts/slideLayout7.xml"/></Relationships>
</file>

<file path=ppt/slideMasters/_rels/slideMaster3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11.xml"/><Relationship Id="rId2" Type="http://schemas.openxmlformats.org/officeDocument/2006/relationships/slideLayout" Target="../slideLayouts/slideLayout10.xml"/><Relationship Id="rId1" Type="http://schemas.openxmlformats.org/officeDocument/2006/relationships/slideLayout" Target="../slideLayouts/slideLayout9.xml"/><Relationship Id="rId6" Type="http://schemas.openxmlformats.org/officeDocument/2006/relationships/theme" Target="../theme/theme3.xml"/><Relationship Id="rId5" Type="http://schemas.openxmlformats.org/officeDocument/2006/relationships/slideLayout" Target="../slideLayouts/slideLayout13.xml"/><Relationship Id="rId4" Type="http://schemas.openxmlformats.org/officeDocument/2006/relationships/slideLayout" Target="../slideLayouts/slideLayout12.xml"/></Relationships>
</file>

<file path=ppt/slideMasters/_rels/slideMaster4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16.xml"/><Relationship Id="rId2" Type="http://schemas.openxmlformats.org/officeDocument/2006/relationships/slideLayout" Target="../slideLayouts/slideLayout15.xml"/><Relationship Id="rId1" Type="http://schemas.openxmlformats.org/officeDocument/2006/relationships/slideLayout" Target="../slideLayouts/slideLayout14.xml"/><Relationship Id="rId6" Type="http://schemas.openxmlformats.org/officeDocument/2006/relationships/theme" Target="../theme/theme4.xml"/><Relationship Id="rId5" Type="http://schemas.openxmlformats.org/officeDocument/2006/relationships/slideLayout" Target="../slideLayouts/slideLayout18.xml"/><Relationship Id="rId4" Type="http://schemas.openxmlformats.org/officeDocument/2006/relationships/slideLayout" Target="../slideLayouts/slideLayout17.xml"/></Relationships>
</file>

<file path=ppt/slideMasters/_rels/slideMaster5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21.xml"/><Relationship Id="rId2" Type="http://schemas.openxmlformats.org/officeDocument/2006/relationships/slideLayout" Target="../slideLayouts/slideLayout20.xml"/><Relationship Id="rId1" Type="http://schemas.openxmlformats.org/officeDocument/2006/relationships/slideLayout" Target="../slideLayouts/slideLayout19.xml"/><Relationship Id="rId6" Type="http://schemas.openxmlformats.org/officeDocument/2006/relationships/theme" Target="../theme/theme5.xml"/><Relationship Id="rId5" Type="http://schemas.openxmlformats.org/officeDocument/2006/relationships/slideLayout" Target="../slideLayouts/slideLayout23.xml"/><Relationship Id="rId4" Type="http://schemas.openxmlformats.org/officeDocument/2006/relationships/slideLayout" Target="../slideLayouts/slideLayout22.xml"/></Relationships>
</file>

<file path=ppt/slideMasters/_rels/slideMaster6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26.xml"/><Relationship Id="rId2" Type="http://schemas.openxmlformats.org/officeDocument/2006/relationships/slideLayout" Target="../slideLayouts/slideLayout25.xml"/><Relationship Id="rId1" Type="http://schemas.openxmlformats.org/officeDocument/2006/relationships/slideLayout" Target="../slideLayouts/slideLayout24.xml"/><Relationship Id="rId6" Type="http://schemas.openxmlformats.org/officeDocument/2006/relationships/theme" Target="../theme/theme6.xml"/><Relationship Id="rId5" Type="http://schemas.openxmlformats.org/officeDocument/2006/relationships/slideLayout" Target="../slideLayouts/slideLayout28.xml"/><Relationship Id="rId4" Type="http://schemas.openxmlformats.org/officeDocument/2006/relationships/slideLayout" Target="../slideLayouts/slideLayout27.xml"/></Relationships>
</file>

<file path=ppt/slideMasters/_rels/slideMaster7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1.xml"/><Relationship Id="rId2" Type="http://schemas.openxmlformats.org/officeDocument/2006/relationships/slideLayout" Target="../slideLayouts/slideLayout30.xml"/><Relationship Id="rId1" Type="http://schemas.openxmlformats.org/officeDocument/2006/relationships/slideLayout" Target="../slideLayouts/slideLayout29.xml"/><Relationship Id="rId6" Type="http://schemas.openxmlformats.org/officeDocument/2006/relationships/theme" Target="../theme/theme7.xml"/><Relationship Id="rId5" Type="http://schemas.openxmlformats.org/officeDocument/2006/relationships/slideLayout" Target="../slideLayouts/slideLayout33.xml"/><Relationship Id="rId4" Type="http://schemas.openxmlformats.org/officeDocument/2006/relationships/slideLayout" Target="../slideLayouts/slideLayout32.xml"/></Relationships>
</file>

<file path=ppt/slideMasters/_rels/slideMaster8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6.xml"/><Relationship Id="rId2" Type="http://schemas.openxmlformats.org/officeDocument/2006/relationships/slideLayout" Target="../slideLayouts/slideLayout35.xml"/><Relationship Id="rId1" Type="http://schemas.openxmlformats.org/officeDocument/2006/relationships/slideLayout" Target="../slideLayouts/slideLayout34.xml"/><Relationship Id="rId6" Type="http://schemas.openxmlformats.org/officeDocument/2006/relationships/theme" Target="../theme/theme8.xml"/><Relationship Id="rId5" Type="http://schemas.openxmlformats.org/officeDocument/2006/relationships/slideLayout" Target="../slideLayouts/slideLayout38.xml"/><Relationship Id="rId4" Type="http://schemas.openxmlformats.org/officeDocument/2006/relationships/slideLayout" Target="../slideLayouts/slideLayout37.xml"/></Relationships>
</file>

<file path=ppt/slideMasters/_rels/slideMaster9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41.xml"/><Relationship Id="rId2" Type="http://schemas.openxmlformats.org/officeDocument/2006/relationships/slideLayout" Target="../slideLayouts/slideLayout40.xml"/><Relationship Id="rId1" Type="http://schemas.openxmlformats.org/officeDocument/2006/relationships/slideLayout" Target="../slideLayouts/slideLayout39.xml"/><Relationship Id="rId6" Type="http://schemas.openxmlformats.org/officeDocument/2006/relationships/theme" Target="../theme/theme9.xml"/><Relationship Id="rId5" Type="http://schemas.openxmlformats.org/officeDocument/2006/relationships/slideLayout" Target="../slideLayouts/slideLayout43.xml"/><Relationship Id="rId4" Type="http://schemas.openxmlformats.org/officeDocument/2006/relationships/slideLayout" Target="../slideLayouts/slideLayout42.xml"/></Relationships>
</file>

<file path=ppt/slideMasters/_rels/slideMaster10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46.xml"/><Relationship Id="rId2" Type="http://schemas.openxmlformats.org/officeDocument/2006/relationships/slideLayout" Target="../slideLayouts/slideLayout45.xml"/><Relationship Id="rId1" Type="http://schemas.openxmlformats.org/officeDocument/2006/relationships/slideLayout" Target="../slideLayouts/slideLayout44.xml"/><Relationship Id="rId6" Type="http://schemas.openxmlformats.org/officeDocument/2006/relationships/theme" Target="../theme/theme10.xml"/><Relationship Id="rId5" Type="http://schemas.openxmlformats.org/officeDocument/2006/relationships/slideLayout" Target="../slideLayouts/slideLayout48.xml"/><Relationship Id="rId4" Type="http://schemas.openxmlformats.org/officeDocument/2006/relationships/slideLayout" Target="../slideLayouts/slideLayout47.xml"/></Relationships>
</file>

<file path=ppt/slideMasters/_rels/slideMaster1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51.xml"/><Relationship Id="rId2" Type="http://schemas.openxmlformats.org/officeDocument/2006/relationships/slideLayout" Target="../slideLayouts/slideLayout50.xml"/><Relationship Id="rId1" Type="http://schemas.openxmlformats.org/officeDocument/2006/relationships/slideLayout" Target="../slideLayouts/slideLayout49.xml"/><Relationship Id="rId6" Type="http://schemas.openxmlformats.org/officeDocument/2006/relationships/theme" Target="../theme/theme11.xml"/><Relationship Id="rId5" Type="http://schemas.openxmlformats.org/officeDocument/2006/relationships/slideLayout" Target="../slideLayouts/slideLayout53.xml"/><Relationship Id="rId4" Type="http://schemas.openxmlformats.org/officeDocument/2006/relationships/slideLayout" Target="../slideLayouts/slideLayout52.xml"/></Relationships>
</file>

<file path=ppt/slideMasters/_rels/slideMaster12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56.xml"/><Relationship Id="rId2" Type="http://schemas.openxmlformats.org/officeDocument/2006/relationships/slideLayout" Target="../slideLayouts/slideLayout55.xml"/><Relationship Id="rId1" Type="http://schemas.openxmlformats.org/officeDocument/2006/relationships/slideLayout" Target="../slideLayouts/slideLayout54.xml"/><Relationship Id="rId6" Type="http://schemas.openxmlformats.org/officeDocument/2006/relationships/theme" Target="../theme/theme12.xml"/><Relationship Id="rId5" Type="http://schemas.openxmlformats.org/officeDocument/2006/relationships/slideLayout" Target="../slideLayouts/slideLayout58.xml"/><Relationship Id="rId4" Type="http://schemas.openxmlformats.org/officeDocument/2006/relationships/slideLayout" Target="../slideLayouts/slideLayout57.xml"/></Relationships>
</file>

<file path=ppt/slideMasters/_rels/slideMaster13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61.xml"/><Relationship Id="rId2" Type="http://schemas.openxmlformats.org/officeDocument/2006/relationships/slideLayout" Target="../slideLayouts/slideLayout60.xml"/><Relationship Id="rId1" Type="http://schemas.openxmlformats.org/officeDocument/2006/relationships/slideLayout" Target="../slideLayouts/slideLayout59.xml"/><Relationship Id="rId6" Type="http://schemas.openxmlformats.org/officeDocument/2006/relationships/theme" Target="../theme/theme13.xml"/><Relationship Id="rId5" Type="http://schemas.openxmlformats.org/officeDocument/2006/relationships/slideLayout" Target="../slideLayouts/slideLayout63.xml"/><Relationship Id="rId4" Type="http://schemas.openxmlformats.org/officeDocument/2006/relationships/slideLayout" Target="../slideLayouts/slideLayout6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占位符 1">
            <a:extLst>
              <a:ext uri="{FF2B5EF4-FFF2-40B4-BE49-F238E27FC236}">
                <a16:creationId xmlns:a16="http://schemas.microsoft.com/office/drawing/2014/main" id="{C2B0DFF1-1291-DE47-8F2C-1E391F2D666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36033" y="136525"/>
            <a:ext cx="11117765" cy="103435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kumimoji="1"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BCEAAFEB-AE17-2F4B-AE1E-FEE09F45134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236033" y="1362731"/>
            <a:ext cx="11117764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kumimoji="1" lang="zh-CN" altLang="en-US"/>
              <a:t>单击此处编辑母版文本样式</a:t>
            </a:r>
          </a:p>
          <a:p>
            <a:pPr lvl="1"/>
            <a:r>
              <a:rPr kumimoji="1" lang="zh-CN" altLang="en-US"/>
              <a:t>二级</a:t>
            </a:r>
          </a:p>
          <a:p>
            <a:pPr lvl="2"/>
            <a:r>
              <a:rPr kumimoji="1" lang="zh-CN" altLang="en-US"/>
              <a:t>三级</a:t>
            </a:r>
          </a:p>
          <a:p>
            <a:pPr lvl="3"/>
            <a:r>
              <a:rPr kumimoji="1" lang="zh-CN" altLang="en-US"/>
              <a:t>四级</a:t>
            </a:r>
          </a:p>
          <a:p>
            <a:pPr lvl="4"/>
            <a:r>
              <a:rPr kumimoji="1"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C69475FE-666F-8749-974E-F6CE0EDFA06E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236034" y="6356349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 baseline="0">
                <a:solidFill>
                  <a:schemeClr val="tx1">
                    <a:tint val="75000"/>
                  </a:schemeClr>
                </a:solidFill>
                <a:latin typeface="Arial" panose="020B0604020202020204" pitchFamily="34" charset="-128"/>
                <a:ea typeface="黑体" panose="02010609060101010101" pitchFamily="49" charset="-122"/>
              </a:defRPr>
            </a:lvl1pPr>
          </a:lstStyle>
          <a:p>
            <a:fld id="{AAF4E1C2-A3E4-429C-9E3F-465F66A51149}" type="datetime1">
              <a:rPr kumimoji="1" lang="en-US" altLang="zh-CN" smtClean="0"/>
              <a:t>10/29/26</a:t>
            </a:fld>
            <a:endParaRPr kumimoji="1"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D5E43BA4-0202-9344-9BD6-F0D7117826F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3737516" y="6356349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 baseline="0">
                <a:solidFill>
                  <a:schemeClr val="tx1">
                    <a:tint val="75000"/>
                  </a:schemeClr>
                </a:solidFill>
                <a:latin typeface="Arial" panose="020B0604020202020204" pitchFamily="34" charset="-128"/>
                <a:ea typeface="黑体" panose="02010609060101010101" pitchFamily="49" charset="-122"/>
              </a:defRPr>
            </a:lvl1pPr>
          </a:lstStyle>
          <a:p>
            <a:endParaRPr kumimoji="1"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4E7E7285-2177-D44F-9A26-A9580302A15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07B19D4B-9808-1A4C-B845-D9471D0CA790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298100126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3600" kern="1200" baseline="0">
          <a:solidFill>
            <a:schemeClr val="tx1"/>
          </a:solidFill>
          <a:latin typeface="Arial" panose="020B0604020202020204" pitchFamily="34" charset="-128"/>
          <a:ea typeface="黑体" panose="02010609060101010101" pitchFamily="49" charset="-122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Wingdings" pitchFamily="2" charset="2"/>
        <a:buChar char="§"/>
        <a:defRPr sz="2800" kern="1200" baseline="0">
          <a:solidFill>
            <a:schemeClr val="tx1"/>
          </a:solidFill>
          <a:latin typeface="Arial" panose="020B0604020202020204" pitchFamily="34" charset="-128"/>
          <a:ea typeface="黑体" panose="02010609060101010101" pitchFamily="49" charset="-122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Wingdings" pitchFamily="2" charset="2"/>
        <a:buChar char="Ø"/>
        <a:defRPr sz="2400" kern="1200" baseline="0">
          <a:solidFill>
            <a:schemeClr val="tx1"/>
          </a:solidFill>
          <a:latin typeface="Arial" panose="020B0604020202020204" pitchFamily="34" charset="-128"/>
          <a:ea typeface="黑体" panose="02010609060101010101" pitchFamily="49" charset="-122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 baseline="0">
          <a:solidFill>
            <a:schemeClr val="tx1"/>
          </a:solidFill>
          <a:latin typeface="Arial" panose="020B0604020202020204" pitchFamily="34" charset="-128"/>
          <a:ea typeface="黑体" panose="02010609060101010101" pitchFamily="49" charset="-122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 baseline="0">
          <a:solidFill>
            <a:schemeClr val="tx1"/>
          </a:solidFill>
          <a:latin typeface="Arial" panose="020B0604020202020204" pitchFamily="34" charset="-128"/>
          <a:ea typeface="黑体" panose="02010609060101010101" pitchFamily="49" charset="-122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 baseline="0">
          <a:solidFill>
            <a:schemeClr val="tx1"/>
          </a:solidFill>
          <a:latin typeface="Arial" panose="020B0604020202020204" pitchFamily="34" charset="-128"/>
          <a:ea typeface="黑体" panose="02010609060101010101" pitchFamily="49" charset="-122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Arial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Arial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Arial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Arial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Arial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Arial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Arial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Arial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Arial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Arial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Arial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Arial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Arial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53" r:id="rId1"/>
    <p:sldLayoutId id="2147483654" r:id="rId2"/>
    <p:sldLayoutId id="2147483655" r:id="rId3"/>
    <p:sldLayoutId id="2147483656" r:id="rId4"/>
    <p:sldLayoutId id="2147483657" r:id="rId5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3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59" r:id="rId1"/>
    <p:sldLayoutId id="2147483660" r:id="rId2"/>
    <p:sldLayoutId id="2147483661" r:id="rId3"/>
    <p:sldLayoutId id="2147483662" r:id="rId4"/>
    <p:sldLayoutId id="2147483663" r:id="rId5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4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65" r:id="rId1"/>
    <p:sldLayoutId id="2147483666" r:id="rId2"/>
    <p:sldLayoutId id="2147483667" r:id="rId3"/>
    <p:sldLayoutId id="2147483668" r:id="rId4"/>
    <p:sldLayoutId id="2147483669" r:id="rId5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5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71" r:id="rId1"/>
    <p:sldLayoutId id="2147483672" r:id="rId2"/>
    <p:sldLayoutId id="2147483673" r:id="rId3"/>
    <p:sldLayoutId id="2147483674" r:id="rId4"/>
    <p:sldLayoutId id="2147483675" r:id="rId5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6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77" r:id="rId1"/>
    <p:sldLayoutId id="2147483678" r:id="rId2"/>
    <p:sldLayoutId id="2147483679" r:id="rId3"/>
    <p:sldLayoutId id="2147483680" r:id="rId4"/>
    <p:sldLayoutId id="2147483681" r:id="rId5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7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83" r:id="rId1"/>
    <p:sldLayoutId id="2147483684" r:id="rId2"/>
    <p:sldLayoutId id="2147483685" r:id="rId3"/>
    <p:sldLayoutId id="2147483686" r:id="rId4"/>
    <p:sldLayoutId id="2147483687" r:id="rId5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8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89" r:id="rId1"/>
    <p:sldLayoutId id="2147483690" r:id="rId2"/>
    <p:sldLayoutId id="2147483691" r:id="rId3"/>
    <p:sldLayoutId id="2147483692" r:id="rId4"/>
    <p:sldLayoutId id="2147483693" r:id="rId5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9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95" r:id="rId1"/>
    <p:sldLayoutId id="2147483696" r:id="rId2"/>
    <p:sldLayoutId id="2147483697" r:id="rId3"/>
    <p:sldLayoutId id="2147483698" r:id="rId4"/>
    <p:sldLayoutId id="2147483699" r:id="rId5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10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701" r:id="rId1"/>
    <p:sldLayoutId id="2147483702" r:id="rId2"/>
    <p:sldLayoutId id="2147483703" r:id="rId3"/>
    <p:sldLayoutId id="2147483704" r:id="rId4"/>
    <p:sldLayoutId id="2147483705" r:id="rId5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1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707" r:id="rId1"/>
    <p:sldLayoutId id="2147483708" r:id="rId2"/>
    <p:sldLayoutId id="2147483709" r:id="rId3"/>
    <p:sldLayoutId id="2147483710" r:id="rId4"/>
    <p:sldLayoutId id="2147483711" r:id="rId5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1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713" r:id="rId1"/>
    <p:sldLayoutId id="2147483714" r:id="rId2"/>
    <p:sldLayoutId id="2147483715" r:id="rId3"/>
    <p:sldLayoutId id="2147483716" r:id="rId4"/>
    <p:sldLayoutId id="2147483717" r:id="rId5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13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719" r:id="rId1"/>
    <p:sldLayoutId id="2147483720" r:id="rId2"/>
    <p:sldLayoutId id="2147483721" r:id="rId3"/>
    <p:sldLayoutId id="2147483722" r:id="rId4"/>
    <p:sldLayoutId id="2147483723" r:id="rId5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4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9.xml"/><Relationship Id="rId4" Type="http://schemas.openxmlformats.org/officeDocument/2006/relationships/image" Target="../media/image4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4.xml"/><Relationship Id="rId5" Type="http://schemas.openxmlformats.org/officeDocument/2006/relationships/image" Target="../media/image3.png"/><Relationship Id="rId4" Type="http://schemas.openxmlformats.org/officeDocument/2006/relationships/image" Target="../media/image5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7" Type="http://schemas.openxmlformats.org/officeDocument/2006/relationships/image" Target="../media/image8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9.xml"/><Relationship Id="rId6" Type="http://schemas.openxmlformats.org/officeDocument/2006/relationships/image" Target="../media/image5.png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4.xml"/><Relationship Id="rId5" Type="http://schemas.openxmlformats.org/officeDocument/2006/relationships/image" Target="../media/image9.png"/><Relationship Id="rId4" Type="http://schemas.openxmlformats.org/officeDocument/2006/relationships/image" Target="../media/image5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7" Type="http://schemas.openxmlformats.org/officeDocument/2006/relationships/image" Target="../media/image3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9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8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34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39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chart" Target="../charts/chart1.xml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44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49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jp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54.xml"/><Relationship Id="rId4" Type="http://schemas.openxmlformats.org/officeDocument/2006/relationships/image" Target="../media/image14.png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59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标题 5">
            <a:extLst>
              <a:ext uri="{FF2B5EF4-FFF2-40B4-BE49-F238E27FC236}">
                <a16:creationId xmlns:a16="http://schemas.microsoft.com/office/drawing/2014/main" id="{7E89A815-281D-7EB0-BE02-A896DFB0F90C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>
            <a:noAutofit/>
          </a:bodyPr>
          <a:lstStyle/>
          <a:p>
            <a:r>
              <a:rPr kumimoji="1" lang="en-US" altLang="zh-CN" sz="3200" dirty="0">
                <a:cs typeface="+mn-cs"/>
              </a:rPr>
              <a:t>Research and Implementation of Key Technology in </a:t>
            </a:r>
            <a:br>
              <a:rPr kumimoji="1" lang="en-US" altLang="zh-CN" sz="3200" dirty="0">
                <a:cs typeface="+mn-cs"/>
              </a:rPr>
            </a:br>
            <a:r>
              <a:rPr kumimoji="1" lang="en-US" altLang="zh-CN" sz="3200" dirty="0">
                <a:cs typeface="+mn-cs"/>
              </a:rPr>
              <a:t>Multi-FPGA Hardware Emulation</a:t>
            </a:r>
            <a:br>
              <a:rPr kumimoji="1" lang="en-US" altLang="zh-CN" sz="3200" dirty="0">
                <a:cs typeface="+mn-cs"/>
              </a:rPr>
            </a:br>
            <a:r>
              <a:rPr kumimoji="1" lang="zh-CN" altLang="en-US" sz="3200" dirty="0">
                <a:cs typeface="+mn-cs"/>
              </a:rPr>
              <a:t>多</a:t>
            </a:r>
            <a:r>
              <a:rPr kumimoji="1" lang="en-US" altLang="zh-CN" sz="3200" dirty="0">
                <a:cs typeface="+mn-cs"/>
              </a:rPr>
              <a:t>FPGA</a:t>
            </a:r>
            <a:r>
              <a:rPr kumimoji="1" lang="zh-CN" altLang="en-US" sz="3200" dirty="0">
                <a:cs typeface="+mn-cs"/>
              </a:rPr>
              <a:t>硬件仿真关键技术研究与实现</a:t>
            </a: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BDE7984E-F309-04BD-1011-33A86C05AAB8}"/>
              </a:ext>
            </a:extLst>
          </p:cNvPr>
          <p:cNvSpPr txBox="1"/>
          <p:nvPr/>
        </p:nvSpPr>
        <p:spPr>
          <a:xfrm>
            <a:off x="5434598" y="6304001"/>
            <a:ext cx="132279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dirty="0">
                <a:solidFill>
                  <a:srgbClr val="607184"/>
                </a:solidFill>
                <a:latin typeface="Arial" panose="020B0502040504020204" pitchFamily="34" charset="0"/>
                <a:ea typeface="Noto Sans CJK SC" panose="020B0500000000000000" pitchFamily="34" charset="-122"/>
              </a:rPr>
              <a:t>2026.10.30</a:t>
            </a:r>
            <a:endParaRPr lang="zh-CN" altLang="en-US" dirty="0">
              <a:latin typeface="Arial" panose="020B0502040504020204" pitchFamily="34" charset="0"/>
              <a:ea typeface="Noto Sans CJK SC" panose="020B0500000000000000" pitchFamily="34" charset="-122"/>
            </a:endParaRPr>
          </a:p>
        </p:txBody>
      </p:sp>
      <p:graphicFrame>
        <p:nvGraphicFramePr>
          <p:cNvPr id="9" name="表格 8">
            <a:extLst>
              <a:ext uri="{FF2B5EF4-FFF2-40B4-BE49-F238E27FC236}">
                <a16:creationId xmlns:a16="http://schemas.microsoft.com/office/drawing/2014/main" id="{8EE4F672-4FB0-DA03-8B3A-C56252FA112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185780886"/>
              </p:ext>
            </p:extLst>
          </p:nvPr>
        </p:nvGraphicFramePr>
        <p:xfrm>
          <a:off x="1581354" y="4518961"/>
          <a:ext cx="9029286" cy="1371600"/>
        </p:xfrm>
        <a:graphic>
          <a:graphicData uri="http://schemas.openxmlformats.org/drawingml/2006/table">
            <a:tbl>
              <a:tblPr firstRow="1" bandRow="1">
                <a:effectLst/>
                <a:tableStyleId>{5C22544A-7EE6-4342-B048-85BDC9FD1C3A}</a:tableStyleId>
              </a:tblPr>
              <a:tblGrid>
                <a:gridCol w="3009762">
                  <a:extLst>
                    <a:ext uri="{9D8B030D-6E8A-4147-A177-3AD203B41FA5}">
                      <a16:colId xmlns:a16="http://schemas.microsoft.com/office/drawing/2014/main" val="3776854773"/>
                    </a:ext>
                  </a:extLst>
                </a:gridCol>
                <a:gridCol w="3009762">
                  <a:extLst>
                    <a:ext uri="{9D8B030D-6E8A-4147-A177-3AD203B41FA5}">
                      <a16:colId xmlns:a16="http://schemas.microsoft.com/office/drawing/2014/main" val="2475322704"/>
                    </a:ext>
                  </a:extLst>
                </a:gridCol>
                <a:gridCol w="3009762">
                  <a:extLst>
                    <a:ext uri="{9D8B030D-6E8A-4147-A177-3AD203B41FA5}">
                      <a16:colId xmlns:a16="http://schemas.microsoft.com/office/drawing/2014/main" val="1751818527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r"/>
                      <a:r>
                        <a:rPr lang="en-US" altLang="zh-CN" sz="2400" b="0" dirty="0">
                          <a:solidFill>
                            <a:schemeClr val="tx1"/>
                          </a:solidFill>
                          <a:effectLst/>
                          <a:latin typeface="Arial"/>
                          <a:ea typeface="Noto Sans CJK SC" panose="020B0500000000000000" pitchFamily="34" charset="-122"/>
                        </a:rPr>
                        <a:t>Student</a:t>
                      </a:r>
                      <a:r>
                        <a:rPr lang="zh-CN" altLang="en-US" sz="2400" b="0" dirty="0">
                          <a:solidFill>
                            <a:schemeClr val="tx1"/>
                          </a:solidFill>
                          <a:effectLst/>
                          <a:latin typeface="Arial"/>
                          <a:ea typeface="Noto Sans CJK SC" panose="020B0500000000000000" pitchFamily="34" charset="-122"/>
                        </a:rPr>
                        <a:t>：</a:t>
                      </a:r>
                      <a:endParaRPr lang="en-US" altLang="zh-CN" sz="2400" b="0" dirty="0">
                        <a:solidFill>
                          <a:schemeClr val="tx1"/>
                        </a:solidFill>
                        <a:effectLst/>
                        <a:latin typeface="Arial"/>
                        <a:ea typeface="Noto Sans CJK SC" panose="020B0500000000000000" pitchFamily="34" charset="-122"/>
                      </a:endParaRP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2400" b="0" dirty="0">
                          <a:solidFill>
                            <a:schemeClr val="tx1"/>
                          </a:solidFill>
                          <a:effectLst/>
                          <a:latin typeface="Arial"/>
                          <a:ea typeface="Noto Sans CJK SC" panose="020B0500000000000000" pitchFamily="34" charset="-122"/>
                        </a:rPr>
                        <a:t>Hu</a:t>
                      </a:r>
                      <a:r>
                        <a:rPr lang="zh-CN" altLang="en-US" sz="2400" b="0" dirty="0">
                          <a:solidFill>
                            <a:schemeClr val="tx1"/>
                          </a:solidFill>
                          <a:effectLst/>
                          <a:latin typeface="Arial"/>
                          <a:ea typeface="Noto Sans CJK SC" panose="020B0500000000000000" pitchFamily="34" charset="-122"/>
                        </a:rPr>
                        <a:t> </a:t>
                      </a:r>
                      <a:r>
                        <a:rPr lang="en-US" altLang="zh-CN" sz="2400" b="0" dirty="0">
                          <a:solidFill>
                            <a:schemeClr val="tx1"/>
                          </a:solidFill>
                          <a:effectLst/>
                          <a:latin typeface="Arial"/>
                          <a:ea typeface="Noto Sans CJK SC" panose="020B0500000000000000" pitchFamily="34" charset="-122"/>
                        </a:rPr>
                        <a:t>Guanghui</a:t>
                      </a:r>
                      <a:endParaRPr lang="zh-CN" altLang="en-US" sz="2400" b="0" dirty="0">
                        <a:latin typeface="Arial"/>
                        <a:ea typeface="Noto Sans CJK SC" panose="020B0500000000000000" pitchFamily="34" charset="-122"/>
                      </a:endParaRP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2400" b="0" baseline="0" dirty="0">
                          <a:solidFill>
                            <a:schemeClr val="tx1"/>
                          </a:solidFill>
                          <a:effectLst/>
                          <a:latin typeface="Arial"/>
                          <a:ea typeface="Noto Sans CJK SC" panose="020B0500000000000000" pitchFamily="34" charset="-122"/>
                        </a:rPr>
                        <a:t>2024234318</a:t>
                      </a:r>
                      <a:endParaRPr lang="zh-CN" altLang="en-US" sz="2400" b="0" baseline="0" dirty="0">
                        <a:latin typeface="Arial"/>
                        <a:ea typeface="Noto Sans CJK SC" panose="020B0500000000000000" pitchFamily="34" charset="-122"/>
                      </a:endParaRP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77700349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indent="0" algn="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CN" sz="2400" b="0" dirty="0">
                          <a:solidFill>
                            <a:schemeClr val="tx1"/>
                          </a:solidFill>
                          <a:effectLst/>
                          <a:latin typeface="Arial"/>
                          <a:ea typeface="Noto Sans CJK SC" panose="020B0500000000000000" pitchFamily="34" charset="-122"/>
                        </a:rPr>
                        <a:t>Academic mentor</a:t>
                      </a:r>
                      <a:r>
                        <a:rPr lang="zh-CN" altLang="en-US" sz="2400" b="0" dirty="0">
                          <a:solidFill>
                            <a:schemeClr val="tx1"/>
                          </a:solidFill>
                          <a:effectLst/>
                          <a:latin typeface="Arial"/>
                          <a:ea typeface="Noto Sans CJK SC" panose="020B0500000000000000" pitchFamily="34" charset="-122"/>
                        </a:rPr>
                        <a:t>：</a:t>
                      </a:r>
                      <a:endParaRPr lang="zh-CN" altLang="en-US" sz="2400" b="0" dirty="0">
                        <a:latin typeface="Arial"/>
                        <a:ea typeface="Noto Sans CJK SC" panose="020B0500000000000000" pitchFamily="34" charset="-122"/>
                      </a:endParaRP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2400" b="0" dirty="0">
                          <a:solidFill>
                            <a:schemeClr val="tx1"/>
                          </a:solidFill>
                          <a:effectLst/>
                          <a:latin typeface="Arial"/>
                          <a:ea typeface="Noto Sans CJK SC" panose="020B0500000000000000" pitchFamily="34" charset="-122"/>
                        </a:rPr>
                        <a:t>Ha</a:t>
                      </a:r>
                      <a:r>
                        <a:rPr lang="zh-CN" altLang="en-US" sz="2400" b="0" dirty="0">
                          <a:solidFill>
                            <a:schemeClr val="tx1"/>
                          </a:solidFill>
                          <a:effectLst/>
                          <a:latin typeface="Arial"/>
                          <a:ea typeface="Noto Sans CJK SC" panose="020B0500000000000000" pitchFamily="34" charset="-122"/>
                        </a:rPr>
                        <a:t> </a:t>
                      </a:r>
                      <a:r>
                        <a:rPr lang="en-US" altLang="zh-CN" sz="2400" b="0" dirty="0" err="1">
                          <a:solidFill>
                            <a:schemeClr val="tx1"/>
                          </a:solidFill>
                          <a:effectLst/>
                          <a:latin typeface="Arial"/>
                          <a:ea typeface="Noto Sans CJK SC" panose="020B0500000000000000" pitchFamily="34" charset="-122"/>
                        </a:rPr>
                        <a:t>Yajun</a:t>
                      </a:r>
                      <a:endParaRPr lang="zh-CN" altLang="en-US" sz="2400" b="0" dirty="0">
                        <a:latin typeface="Arial"/>
                        <a:ea typeface="Noto Sans CJK SC" panose="020B0500000000000000" pitchFamily="34" charset="-122"/>
                      </a:endParaRP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CN" sz="2400" b="0" dirty="0">
                          <a:solidFill>
                            <a:schemeClr val="tx1"/>
                          </a:solidFill>
                          <a:effectLst/>
                          <a:latin typeface="Arial"/>
                          <a:ea typeface="Noto Sans CJK SC" panose="020B0500000000000000" pitchFamily="34" charset="-122"/>
                        </a:rPr>
                        <a:t>Professor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76499768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indent="0" algn="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CN" sz="2400" b="0" dirty="0">
                          <a:solidFill>
                            <a:schemeClr val="tx1"/>
                          </a:solidFill>
                          <a:effectLst/>
                          <a:latin typeface="Arial"/>
                          <a:ea typeface="Noto Sans CJK SC" panose="020B0500000000000000" pitchFamily="34" charset="-122"/>
                        </a:rPr>
                        <a:t>Enterprise mentor</a:t>
                      </a:r>
                      <a:r>
                        <a:rPr lang="zh-CN" altLang="en-US" sz="2400" b="0" dirty="0">
                          <a:solidFill>
                            <a:schemeClr val="tx1"/>
                          </a:solidFill>
                          <a:effectLst/>
                          <a:latin typeface="Arial"/>
                          <a:ea typeface="Noto Sans CJK SC" panose="020B0500000000000000" pitchFamily="34" charset="-122"/>
                        </a:rPr>
                        <a:t>：</a:t>
                      </a:r>
                      <a:endParaRPr lang="zh-CN" altLang="en-US" sz="2400" b="0" dirty="0">
                        <a:latin typeface="Arial"/>
                        <a:ea typeface="Noto Sans CJK SC" panose="020B0500000000000000" pitchFamily="34" charset="-122"/>
                      </a:endParaRP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2400" b="0" dirty="0">
                          <a:solidFill>
                            <a:schemeClr val="tx1"/>
                          </a:solidFill>
                          <a:effectLst/>
                          <a:latin typeface="Arial"/>
                          <a:ea typeface="Noto Sans CJK SC" panose="020B0500000000000000" pitchFamily="34" charset="-122"/>
                        </a:rPr>
                        <a:t>Zhang</a:t>
                      </a:r>
                      <a:r>
                        <a:rPr lang="zh-CN" altLang="en-US" sz="2400" b="0" dirty="0">
                          <a:solidFill>
                            <a:schemeClr val="tx1"/>
                          </a:solidFill>
                          <a:effectLst/>
                          <a:latin typeface="Arial"/>
                          <a:ea typeface="Noto Sans CJK SC" panose="020B0500000000000000" pitchFamily="34" charset="-122"/>
                        </a:rPr>
                        <a:t> </a:t>
                      </a:r>
                      <a:r>
                        <a:rPr lang="en-US" altLang="zh-CN" sz="2400" b="0" dirty="0">
                          <a:solidFill>
                            <a:schemeClr val="tx1"/>
                          </a:solidFill>
                          <a:effectLst/>
                          <a:latin typeface="Arial"/>
                          <a:ea typeface="Noto Sans CJK SC" panose="020B0500000000000000" pitchFamily="34" charset="-122"/>
                        </a:rPr>
                        <a:t>Ke</a:t>
                      </a:r>
                      <a:endParaRPr lang="zh-CN" altLang="en-US" sz="2400" b="0" dirty="0">
                        <a:latin typeface="Arial"/>
                        <a:ea typeface="Noto Sans CJK SC" panose="020B0500000000000000" pitchFamily="34" charset="-122"/>
                      </a:endParaRP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2400" b="0" dirty="0">
                          <a:solidFill>
                            <a:schemeClr val="tx1"/>
                          </a:solidFill>
                          <a:effectLst/>
                          <a:latin typeface="Arial"/>
                          <a:ea typeface="Noto Sans CJK SC" panose="020B0500000000000000" pitchFamily="34" charset="-122"/>
                        </a:rPr>
                        <a:t>Professor</a:t>
                      </a:r>
                      <a:endParaRPr lang="zh-CN" altLang="en-US" sz="2400" b="0" dirty="0">
                        <a:latin typeface="Arial"/>
                        <a:ea typeface="Noto Sans CJK SC" panose="020B0500000000000000" pitchFamily="34" charset="-122"/>
                      </a:endParaRP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169195710"/>
                  </a:ext>
                </a:extLst>
              </a:tr>
            </a:tbl>
          </a:graphicData>
        </a:graphic>
      </p:graphicFrame>
      <p:sp>
        <p:nvSpPr>
          <p:cNvPr id="10" name="文本框 9">
            <a:extLst>
              <a:ext uri="{FF2B5EF4-FFF2-40B4-BE49-F238E27FC236}">
                <a16:creationId xmlns:a16="http://schemas.microsoft.com/office/drawing/2014/main" id="{15FC0B23-12B0-DCD3-871F-A0FAF13175EA}"/>
              </a:ext>
            </a:extLst>
          </p:cNvPr>
          <p:cNvSpPr txBox="1"/>
          <p:nvPr/>
        </p:nvSpPr>
        <p:spPr>
          <a:xfrm>
            <a:off x="3040377" y="1577729"/>
            <a:ext cx="611124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kumimoji="1" lang="zh-CN" altLang="en-US" sz="2400" b="1" dirty="0">
                <a:solidFill>
                  <a:srgbClr val="183B56"/>
                </a:solidFill>
                <a:latin typeface="Arial" panose="020B0502040504020204" pitchFamily="34" charset="0"/>
                <a:ea typeface="Noto Sans CJK SC" panose="020B0500000000000000" pitchFamily="34" charset="-122"/>
              </a:rPr>
              <a:t>硕士研究生中期答辩</a:t>
            </a:r>
          </a:p>
        </p:txBody>
      </p:sp>
    </p:spTree>
    <p:extLst>
      <p:ext uri="{BB962C8B-B14F-4D97-AF65-F5344CB8AC3E}">
        <p14:creationId xmlns:p14="http://schemas.microsoft.com/office/powerpoint/2010/main" val="124415294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00.Title"/>
          <p:cNvSpPr>
            <a:spLocks noGrp="1"/>
          </p:cNvSpPr>
          <p:nvPr>
            <p:ph type="title"/>
          </p:nvPr>
        </p:nvSpPr>
        <p:spPr>
          <a:xfrm>
            <a:off x="320040" y="128016"/>
            <a:ext cx="11558016" cy="493776"/>
          </a:xfrm>
          <a:noFill/>
          <a:ln>
            <a:noFill/>
          </a:ln>
        </p:spPr>
        <p:txBody>
          <a:bodyPr lIns="0" tIns="0" rIns="0" bIns="0">
            <a:noAutofit/>
          </a:bodyPr>
          <a:lstStyle/>
          <a:p>
            <a:r>
              <a:rPr lang="en-US" sz="3200" b="1">
                <a:solidFill>
                  <a:srgbClr val="183B56"/>
                </a:solidFill>
                <a:latin typeface="Arial"/>
                <a:ea typeface="Arial"/>
              </a:rPr>
              <a:t>Contents</a:t>
            </a:r>
          </a:p>
        </p:txBody>
      </p:sp>
      <p:sp>
        <p:nvSpPr>
          <p:cNvPr id="100000" name="S00.TitleRule"/>
          <p:cNvSpPr/>
          <p:nvPr/>
        </p:nvSpPr>
        <p:spPr>
          <a:xfrm>
            <a:off x="320040" y="713232"/>
            <a:ext cx="11558016" cy="25400"/>
          </a:xfrm>
          <a:prstGeom prst="rect">
            <a:avLst/>
          </a:prstGeom>
          <a:solidFill>
            <a:srgbClr val="008C95"/>
          </a:solidFill>
          <a:ln>
            <a:noFill/>
          </a:ln>
        </p:spPr>
        <p:txBody>
          <a:bodyPr lIns="0" tIns="0" rIns="0" bIns="0">
            <a:noAutofit/>
          </a:bodyPr>
          <a:lstStyle/>
          <a:p>
            <a:endParaRPr lang="en-US" sz="1800">
              <a:solidFill>
                <a:srgbClr val="20354A"/>
              </a:solidFill>
              <a:latin typeface="Arial"/>
              <a:ea typeface="Arial"/>
            </a:endParaRPr>
          </a:p>
        </p:txBody>
      </p:sp>
      <p:sp>
        <p:nvSpPr>
          <p:cNvPr id="100001" name="S00.NarrativePath"/>
          <p:cNvSpPr/>
          <p:nvPr/>
        </p:nvSpPr>
        <p:spPr>
          <a:xfrm>
            <a:off x="982980" y="1536192"/>
            <a:ext cx="22860" cy="3785616"/>
          </a:xfrm>
          <a:prstGeom prst="rect">
            <a:avLst/>
          </a:prstGeom>
          <a:solidFill>
            <a:srgbClr val="BDCBD4"/>
          </a:solidFill>
          <a:ln>
            <a:noFill/>
          </a:ln>
        </p:spPr>
        <p:txBody>
          <a:bodyPr lIns="0" tIns="0" rIns="0" bIns="0">
            <a:noAutofit/>
          </a:bodyPr>
          <a:lstStyle/>
          <a:p>
            <a:endParaRPr lang="en-US" sz="1800">
              <a:solidFill>
                <a:srgbClr val="20354A"/>
              </a:solidFill>
              <a:latin typeface="Arial"/>
              <a:ea typeface="Arial"/>
            </a:endParaRPr>
          </a:p>
        </p:txBody>
      </p:sp>
      <p:sp>
        <p:nvSpPr>
          <p:cNvPr id="100002" name="S00.Section1.Number"/>
          <p:cNvSpPr/>
          <p:nvPr/>
        </p:nvSpPr>
        <p:spPr>
          <a:xfrm>
            <a:off x="704088" y="1316736"/>
            <a:ext cx="585216" cy="585216"/>
          </a:xfrm>
          <a:prstGeom prst="ellipse">
            <a:avLst/>
          </a:prstGeom>
          <a:solidFill>
            <a:srgbClr val="008C95"/>
          </a:solidFill>
          <a:ln>
            <a:noFill/>
          </a:ln>
        </p:spPr>
        <p:txBody>
          <a:bodyPr lIns="0" tIns="0" rIns="0" bIns="0" anchor="ctr">
            <a:noAutofit/>
          </a:bodyPr>
          <a:lstStyle/>
          <a:p>
            <a:pPr algn="ctr"/>
            <a:r>
              <a:rPr lang="en-US" sz="2200" b="1">
                <a:solidFill>
                  <a:srgbClr val="FFFFFF"/>
                </a:solidFill>
                <a:latin typeface="Arial"/>
                <a:ea typeface="Arial"/>
              </a:rPr>
              <a:t>01</a:t>
            </a:r>
          </a:p>
        </p:txBody>
      </p:sp>
      <p:sp>
        <p:nvSpPr>
          <p:cNvPr id="100003" name="S00.Section1.Heading"/>
          <p:cNvSpPr txBox="1"/>
          <p:nvPr/>
        </p:nvSpPr>
        <p:spPr>
          <a:xfrm>
            <a:off x="1682496" y="1280160"/>
            <a:ext cx="9738360" cy="475488"/>
          </a:xfrm>
          <a:prstGeom prst="rect">
            <a:avLst/>
          </a:prstGeom>
          <a:noFill/>
          <a:ln>
            <a:noFill/>
          </a:ln>
        </p:spPr>
        <p:txBody>
          <a:bodyPr lIns="0" tIns="0" rIns="0" bIns="0">
            <a:noAutofit/>
          </a:bodyPr>
          <a:lstStyle/>
          <a:p>
            <a:r>
              <a:rPr lang="en-US" sz="2700" b="1">
                <a:solidFill>
                  <a:srgbClr val="183B56"/>
                </a:solidFill>
                <a:latin typeface="Arial"/>
                <a:ea typeface="Arial"/>
              </a:rPr>
              <a:t>Background &amp; Research Goal</a:t>
            </a:r>
          </a:p>
        </p:txBody>
      </p:sp>
      <p:sp>
        <p:nvSpPr>
          <p:cNvPr id="100004" name="S00.Section1.Description"/>
          <p:cNvSpPr txBox="1"/>
          <p:nvPr/>
        </p:nvSpPr>
        <p:spPr>
          <a:xfrm>
            <a:off x="1682496" y="1865376"/>
            <a:ext cx="9738360" cy="438912"/>
          </a:xfrm>
          <a:prstGeom prst="rect">
            <a:avLst/>
          </a:prstGeom>
          <a:noFill/>
          <a:ln>
            <a:noFill/>
          </a:ln>
        </p:spPr>
        <p:txBody>
          <a:bodyPr lIns="0" tIns="0" rIns="0" bIns="0">
            <a:noAutofit/>
          </a:bodyPr>
          <a:lstStyle/>
          <a:p>
            <a:r>
              <a:rPr lang="en-US" sz="1900" dirty="0">
                <a:solidFill>
                  <a:srgbClr val="607184"/>
                </a:solidFill>
                <a:latin typeface="Arial"/>
                <a:ea typeface="Arial"/>
              </a:rPr>
              <a:t>Motivation, research gap and REMUS overview</a:t>
            </a:r>
          </a:p>
        </p:txBody>
      </p:sp>
      <p:sp>
        <p:nvSpPr>
          <p:cNvPr id="100005" name="S00.Section2.Number"/>
          <p:cNvSpPr/>
          <p:nvPr/>
        </p:nvSpPr>
        <p:spPr>
          <a:xfrm>
            <a:off x="704088" y="2578608"/>
            <a:ext cx="585216" cy="585216"/>
          </a:xfrm>
          <a:prstGeom prst="ellipse">
            <a:avLst/>
          </a:prstGeom>
          <a:solidFill>
            <a:srgbClr val="008C95"/>
          </a:solidFill>
          <a:ln>
            <a:noFill/>
          </a:ln>
        </p:spPr>
        <p:txBody>
          <a:bodyPr lIns="0" tIns="0" rIns="0" bIns="0" anchor="ctr">
            <a:noAutofit/>
          </a:bodyPr>
          <a:lstStyle/>
          <a:p>
            <a:pPr algn="ctr"/>
            <a:r>
              <a:rPr lang="en-US" sz="2200" b="1">
                <a:solidFill>
                  <a:srgbClr val="FFFFFF"/>
                </a:solidFill>
                <a:latin typeface="Arial"/>
                <a:ea typeface="Arial"/>
              </a:rPr>
              <a:t>02</a:t>
            </a:r>
          </a:p>
        </p:txBody>
      </p:sp>
      <p:sp>
        <p:nvSpPr>
          <p:cNvPr id="100006" name="S00.Section2.Heading"/>
          <p:cNvSpPr txBox="1"/>
          <p:nvPr/>
        </p:nvSpPr>
        <p:spPr>
          <a:xfrm>
            <a:off x="1682496" y="2542032"/>
            <a:ext cx="9738360" cy="475488"/>
          </a:xfrm>
          <a:prstGeom prst="rect">
            <a:avLst/>
          </a:prstGeom>
          <a:noFill/>
          <a:ln>
            <a:noFill/>
          </a:ln>
        </p:spPr>
        <p:txBody>
          <a:bodyPr lIns="0" tIns="0" rIns="0" bIns="0">
            <a:noAutofit/>
          </a:bodyPr>
          <a:lstStyle/>
          <a:p>
            <a:r>
              <a:rPr lang="en-US" sz="2700" b="1" dirty="0">
                <a:solidFill>
                  <a:srgbClr val="183B56"/>
                </a:solidFill>
                <a:latin typeface="Arial"/>
                <a:ea typeface="Arial"/>
              </a:rPr>
              <a:t>Research Progress</a:t>
            </a:r>
          </a:p>
        </p:txBody>
      </p:sp>
      <p:sp>
        <p:nvSpPr>
          <p:cNvPr id="100007" name="S00.Section2.Description"/>
          <p:cNvSpPr txBox="1"/>
          <p:nvPr/>
        </p:nvSpPr>
        <p:spPr>
          <a:xfrm>
            <a:off x="1682496" y="3127248"/>
            <a:ext cx="9738360" cy="438912"/>
          </a:xfrm>
          <a:prstGeom prst="rect">
            <a:avLst/>
          </a:prstGeom>
          <a:noFill/>
          <a:ln>
            <a:noFill/>
          </a:ln>
        </p:spPr>
        <p:txBody>
          <a:bodyPr lIns="0" tIns="0" rIns="0" bIns="0">
            <a:noAutofit/>
          </a:bodyPr>
          <a:lstStyle/>
          <a:p>
            <a:r>
              <a:rPr lang="en-US" sz="1900">
                <a:solidFill>
                  <a:srgbClr val="607184"/>
                </a:solidFill>
                <a:latin typeface="Arial"/>
                <a:ea typeface="Arial"/>
              </a:rPr>
              <a:t>Execution &amp; pause · State &amp; replay · Partitioning · Runtime</a:t>
            </a:r>
          </a:p>
        </p:txBody>
      </p:sp>
      <p:sp>
        <p:nvSpPr>
          <p:cNvPr id="100008" name="S00.Section3.Number"/>
          <p:cNvSpPr/>
          <p:nvPr/>
        </p:nvSpPr>
        <p:spPr>
          <a:xfrm>
            <a:off x="704088" y="3840480"/>
            <a:ext cx="585216" cy="585216"/>
          </a:xfrm>
          <a:prstGeom prst="ellipse">
            <a:avLst/>
          </a:prstGeom>
          <a:solidFill>
            <a:srgbClr val="008C95"/>
          </a:solidFill>
          <a:ln>
            <a:noFill/>
          </a:ln>
        </p:spPr>
        <p:txBody>
          <a:bodyPr lIns="0" tIns="0" rIns="0" bIns="0" anchor="ctr">
            <a:noAutofit/>
          </a:bodyPr>
          <a:lstStyle/>
          <a:p>
            <a:pPr algn="ctr"/>
            <a:r>
              <a:rPr lang="en-US" sz="2200" b="1">
                <a:solidFill>
                  <a:srgbClr val="FFFFFF"/>
                </a:solidFill>
                <a:latin typeface="Arial"/>
                <a:ea typeface="Arial"/>
              </a:rPr>
              <a:t>03</a:t>
            </a:r>
          </a:p>
        </p:txBody>
      </p:sp>
      <p:sp>
        <p:nvSpPr>
          <p:cNvPr id="100009" name="S00.Section3.Heading"/>
          <p:cNvSpPr txBox="1"/>
          <p:nvPr/>
        </p:nvSpPr>
        <p:spPr>
          <a:xfrm>
            <a:off x="1682496" y="3803904"/>
            <a:ext cx="9738360" cy="475488"/>
          </a:xfrm>
          <a:prstGeom prst="rect">
            <a:avLst/>
          </a:prstGeom>
          <a:noFill/>
          <a:ln>
            <a:noFill/>
          </a:ln>
        </p:spPr>
        <p:txBody>
          <a:bodyPr lIns="0" tIns="0" rIns="0" bIns="0">
            <a:noAutofit/>
          </a:bodyPr>
          <a:lstStyle/>
          <a:p>
            <a:r>
              <a:rPr lang="en-US" sz="2700" b="1" dirty="0">
                <a:solidFill>
                  <a:srgbClr val="183B56"/>
                </a:solidFill>
                <a:latin typeface="Arial"/>
                <a:ea typeface="Arial"/>
              </a:rPr>
              <a:t>Prototype &amp; Evaluation</a:t>
            </a:r>
          </a:p>
        </p:txBody>
      </p:sp>
      <p:sp>
        <p:nvSpPr>
          <p:cNvPr id="100010" name="S00.Section3.Description"/>
          <p:cNvSpPr txBox="1"/>
          <p:nvPr/>
        </p:nvSpPr>
        <p:spPr>
          <a:xfrm>
            <a:off x="1682496" y="4389120"/>
            <a:ext cx="9738360" cy="438912"/>
          </a:xfrm>
          <a:prstGeom prst="rect">
            <a:avLst/>
          </a:prstGeom>
          <a:noFill/>
          <a:ln>
            <a:noFill/>
          </a:ln>
        </p:spPr>
        <p:txBody>
          <a:bodyPr lIns="0" tIns="0" rIns="0" bIns="0">
            <a:noAutofit/>
          </a:bodyPr>
          <a:lstStyle/>
          <a:p>
            <a:r>
              <a:rPr lang="en-US" sz="1900">
                <a:solidFill>
                  <a:srgbClr val="607184"/>
                </a:solidFill>
                <a:latin typeface="Arial"/>
                <a:ea typeface="Arial"/>
              </a:rPr>
              <a:t>Dual-FPGA platform, workloads and experimental results</a:t>
            </a:r>
          </a:p>
        </p:txBody>
      </p:sp>
      <p:sp>
        <p:nvSpPr>
          <p:cNvPr id="100011" name="S00.Section4.Number"/>
          <p:cNvSpPr/>
          <p:nvPr/>
        </p:nvSpPr>
        <p:spPr>
          <a:xfrm>
            <a:off x="704088" y="5102352"/>
            <a:ext cx="585216" cy="585216"/>
          </a:xfrm>
          <a:prstGeom prst="ellipse">
            <a:avLst/>
          </a:prstGeom>
          <a:solidFill>
            <a:srgbClr val="008C95"/>
          </a:solidFill>
          <a:ln>
            <a:noFill/>
          </a:ln>
        </p:spPr>
        <p:txBody>
          <a:bodyPr lIns="0" tIns="0" rIns="0" bIns="0" anchor="ctr">
            <a:noAutofit/>
          </a:bodyPr>
          <a:lstStyle/>
          <a:p>
            <a:pPr algn="ctr"/>
            <a:r>
              <a:rPr lang="en-US" sz="2200" b="1">
                <a:solidFill>
                  <a:srgbClr val="FFFFFF"/>
                </a:solidFill>
                <a:latin typeface="Arial"/>
                <a:ea typeface="Arial"/>
              </a:rPr>
              <a:t>04</a:t>
            </a:r>
          </a:p>
        </p:txBody>
      </p:sp>
      <p:sp>
        <p:nvSpPr>
          <p:cNvPr id="100012" name="S00.Section4.Heading"/>
          <p:cNvSpPr txBox="1"/>
          <p:nvPr/>
        </p:nvSpPr>
        <p:spPr>
          <a:xfrm>
            <a:off x="1682496" y="5065776"/>
            <a:ext cx="9738360" cy="475488"/>
          </a:xfrm>
          <a:prstGeom prst="rect">
            <a:avLst/>
          </a:prstGeom>
          <a:noFill/>
          <a:ln>
            <a:noFill/>
          </a:ln>
        </p:spPr>
        <p:txBody>
          <a:bodyPr lIns="0" tIns="0" rIns="0" bIns="0">
            <a:noAutofit/>
          </a:bodyPr>
          <a:lstStyle/>
          <a:p>
            <a:r>
              <a:rPr lang="en-US" sz="2700" b="1">
                <a:solidFill>
                  <a:srgbClr val="183B56"/>
                </a:solidFill>
                <a:latin typeface="Arial"/>
                <a:ea typeface="Arial"/>
              </a:rPr>
              <a:t>Current Challenges &amp; Future Work</a:t>
            </a:r>
          </a:p>
        </p:txBody>
      </p:sp>
      <p:sp>
        <p:nvSpPr>
          <p:cNvPr id="100013" name="S00.Section4.Description"/>
          <p:cNvSpPr txBox="1"/>
          <p:nvPr/>
        </p:nvSpPr>
        <p:spPr>
          <a:xfrm>
            <a:off x="1682496" y="5650992"/>
            <a:ext cx="9738360" cy="438912"/>
          </a:xfrm>
          <a:prstGeom prst="rect">
            <a:avLst/>
          </a:prstGeom>
          <a:noFill/>
          <a:ln>
            <a:noFill/>
          </a:ln>
        </p:spPr>
        <p:txBody>
          <a:bodyPr lIns="0" tIns="0" rIns="0" bIns="0">
            <a:noAutofit/>
          </a:bodyPr>
          <a:lstStyle/>
          <a:p>
            <a:r>
              <a:rPr lang="en-US" sz="1900">
                <a:solidFill>
                  <a:srgbClr val="607184"/>
                </a:solidFill>
                <a:latin typeface="Arial"/>
                <a:ea typeface="Arial"/>
              </a:rPr>
              <a:t>Remaining limitations and the next research steps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01.Title"/>
          <p:cNvSpPr>
            <a:spLocks noGrp="1"/>
          </p:cNvSpPr>
          <p:nvPr>
            <p:ph type="title"/>
          </p:nvPr>
        </p:nvSpPr>
        <p:spPr>
          <a:xfrm>
            <a:off x="320040" y="128016"/>
            <a:ext cx="11558016" cy="493776"/>
          </a:xfrm>
          <a:noFill/>
          <a:ln>
            <a:noFill/>
          </a:ln>
        </p:spPr>
        <p:txBody>
          <a:bodyPr lIns="0" tIns="0" rIns="0" bIns="0">
            <a:noAutofit/>
          </a:bodyPr>
          <a:lstStyle/>
          <a:p>
            <a:r>
              <a:rPr lang="en-US" sz="3200" b="1" dirty="0">
                <a:solidFill>
                  <a:srgbClr val="183B56"/>
                </a:solidFill>
                <a:latin typeface="Arial"/>
                <a:ea typeface="Arial"/>
              </a:rPr>
              <a:t>Intro: From RTL Simulation to Multi-FPGA Prototyping</a:t>
            </a:r>
          </a:p>
        </p:txBody>
      </p:sp>
      <p:sp>
        <p:nvSpPr>
          <p:cNvPr id="100000" name="S01.TitleRule"/>
          <p:cNvSpPr/>
          <p:nvPr/>
        </p:nvSpPr>
        <p:spPr>
          <a:xfrm>
            <a:off x="320040" y="713232"/>
            <a:ext cx="11558016" cy="25400"/>
          </a:xfrm>
          <a:prstGeom prst="rect">
            <a:avLst/>
          </a:prstGeom>
          <a:solidFill>
            <a:srgbClr val="008C95"/>
          </a:solidFill>
          <a:ln>
            <a:noFill/>
          </a:ln>
        </p:spPr>
        <p:txBody>
          <a:bodyPr lIns="0" tIns="0" rIns="0" bIns="0">
            <a:noAutofit/>
          </a:bodyPr>
          <a:lstStyle/>
          <a:p>
            <a:endParaRPr lang="en-US" sz="1800">
              <a:solidFill>
                <a:srgbClr val="20354A"/>
              </a:solidFill>
              <a:latin typeface="Arial"/>
              <a:ea typeface="Arial"/>
            </a:endParaRPr>
          </a:p>
        </p:txBody>
      </p:sp>
      <p:sp>
        <p:nvSpPr>
          <p:cNvPr id="100001" name="S01.Stage1.Panel"/>
          <p:cNvSpPr/>
          <p:nvPr/>
        </p:nvSpPr>
        <p:spPr>
          <a:xfrm>
            <a:off x="320040" y="969264"/>
            <a:ext cx="11558016" cy="1600200"/>
          </a:xfrm>
          <a:prstGeom prst="roundRect">
            <a:avLst>
              <a:gd name="adj" fmla="val 10000"/>
            </a:avLst>
          </a:prstGeom>
          <a:solidFill>
            <a:srgbClr val="EAF4F3"/>
          </a:solidFill>
          <a:ln>
            <a:noFill/>
          </a:ln>
        </p:spPr>
        <p:txBody>
          <a:bodyPr lIns="0" tIns="0" rIns="0" bIns="0">
            <a:noAutofit/>
          </a:bodyPr>
          <a:lstStyle/>
          <a:p>
            <a:endParaRPr lang="en-US" sz="1800">
              <a:solidFill>
                <a:srgbClr val="20354A"/>
              </a:solidFill>
              <a:latin typeface="Arial"/>
              <a:ea typeface="Arial"/>
            </a:endParaRPr>
          </a:p>
        </p:txBody>
      </p:sp>
      <p:sp>
        <p:nvSpPr>
          <p:cNvPr id="100002" name="S01.Stage1.Divider"/>
          <p:cNvSpPr/>
          <p:nvPr/>
        </p:nvSpPr>
        <p:spPr>
          <a:xfrm>
            <a:off x="4585716" y="1124712"/>
            <a:ext cx="8230" cy="1289304"/>
          </a:xfrm>
          <a:prstGeom prst="rect">
            <a:avLst/>
          </a:prstGeom>
          <a:solidFill>
            <a:srgbClr val="BDCBD4"/>
          </a:solidFill>
          <a:ln>
            <a:noFill/>
          </a:ln>
        </p:spPr>
        <p:txBody>
          <a:bodyPr lIns="0" tIns="0" rIns="0" bIns="0">
            <a:noAutofit/>
          </a:bodyPr>
          <a:lstStyle/>
          <a:p>
            <a:endParaRPr lang="en-US" sz="1800">
              <a:solidFill>
                <a:srgbClr val="20354A"/>
              </a:solidFill>
              <a:latin typeface="Arial"/>
              <a:ea typeface="Arial"/>
            </a:endParaRPr>
          </a:p>
        </p:txBody>
      </p:sp>
      <p:sp>
        <p:nvSpPr>
          <p:cNvPr id="100003" name="S01.Stage1.Heading"/>
          <p:cNvSpPr txBox="1"/>
          <p:nvPr/>
        </p:nvSpPr>
        <p:spPr>
          <a:xfrm>
            <a:off x="5047488" y="1152144"/>
            <a:ext cx="6492240" cy="365760"/>
          </a:xfrm>
          <a:prstGeom prst="rect">
            <a:avLst/>
          </a:prstGeom>
          <a:noFill/>
          <a:ln>
            <a:noFill/>
          </a:ln>
        </p:spPr>
        <p:txBody>
          <a:bodyPr lIns="0" tIns="0" rIns="0" bIns="0">
            <a:noAutofit/>
          </a:bodyPr>
          <a:lstStyle/>
          <a:p>
            <a:r>
              <a:rPr lang="en-US" sz="2200" b="1">
                <a:solidFill>
                  <a:srgbClr val="183B56"/>
                </a:solidFill>
                <a:latin typeface="Arial"/>
                <a:ea typeface="Arial"/>
              </a:rPr>
              <a:t>RTL Simulation</a:t>
            </a:r>
          </a:p>
        </p:txBody>
      </p:sp>
      <p:sp>
        <p:nvSpPr>
          <p:cNvPr id="100004" name="S01.Stage1.Bullet1"/>
          <p:cNvSpPr/>
          <p:nvPr/>
        </p:nvSpPr>
        <p:spPr>
          <a:xfrm>
            <a:off x="5166360" y="1632204"/>
            <a:ext cx="96012" cy="96012"/>
          </a:xfrm>
          <a:prstGeom prst="ellipse">
            <a:avLst/>
          </a:prstGeom>
          <a:solidFill>
            <a:srgbClr val="008C95"/>
          </a:solidFill>
          <a:ln>
            <a:noFill/>
          </a:ln>
        </p:spPr>
        <p:txBody>
          <a:bodyPr lIns="0" tIns="0" rIns="0" bIns="0">
            <a:noAutofit/>
          </a:bodyPr>
          <a:lstStyle/>
          <a:p>
            <a:endParaRPr lang="en-US" sz="1800">
              <a:solidFill>
                <a:srgbClr val="20354A"/>
              </a:solidFill>
              <a:latin typeface="Arial"/>
              <a:ea typeface="Arial"/>
            </a:endParaRPr>
          </a:p>
        </p:txBody>
      </p:sp>
      <p:sp>
        <p:nvSpPr>
          <p:cNvPr id="100005" name="S01.Stage1.Text1"/>
          <p:cNvSpPr txBox="1"/>
          <p:nvPr/>
        </p:nvSpPr>
        <p:spPr>
          <a:xfrm>
            <a:off x="5468112" y="1554480"/>
            <a:ext cx="6126480" cy="292608"/>
          </a:xfrm>
          <a:prstGeom prst="rect">
            <a:avLst/>
          </a:prstGeom>
          <a:noFill/>
          <a:ln>
            <a:noFill/>
          </a:ln>
        </p:spPr>
        <p:txBody>
          <a:bodyPr lIns="0" tIns="0" rIns="0" bIns="0">
            <a:noAutofit/>
          </a:bodyPr>
          <a:lstStyle/>
          <a:p>
            <a:r>
              <a:rPr lang="en-US" sz="1800">
                <a:solidFill>
                  <a:srgbClr val="20354A"/>
                </a:solidFill>
                <a:latin typeface="Arial"/>
                <a:ea typeface="Arial"/>
              </a:rPr>
              <a:t>Full visibility</a:t>
            </a:r>
          </a:p>
        </p:txBody>
      </p:sp>
      <p:sp>
        <p:nvSpPr>
          <p:cNvPr id="100006" name="S01.Stage1.Bullet2"/>
          <p:cNvSpPr/>
          <p:nvPr/>
        </p:nvSpPr>
        <p:spPr>
          <a:xfrm>
            <a:off x="5166360" y="1924812"/>
            <a:ext cx="96012" cy="96012"/>
          </a:xfrm>
          <a:prstGeom prst="ellipse">
            <a:avLst/>
          </a:prstGeom>
          <a:solidFill>
            <a:srgbClr val="008C95"/>
          </a:solidFill>
          <a:ln>
            <a:noFill/>
          </a:ln>
        </p:spPr>
        <p:txBody>
          <a:bodyPr lIns="0" tIns="0" rIns="0" bIns="0">
            <a:noAutofit/>
          </a:bodyPr>
          <a:lstStyle/>
          <a:p>
            <a:endParaRPr lang="en-US" sz="1800">
              <a:solidFill>
                <a:srgbClr val="20354A"/>
              </a:solidFill>
              <a:latin typeface="Arial"/>
              <a:ea typeface="Arial"/>
            </a:endParaRPr>
          </a:p>
        </p:txBody>
      </p:sp>
      <p:sp>
        <p:nvSpPr>
          <p:cNvPr id="100007" name="S01.Stage1.Text2"/>
          <p:cNvSpPr txBox="1"/>
          <p:nvPr/>
        </p:nvSpPr>
        <p:spPr>
          <a:xfrm>
            <a:off x="5468112" y="1847088"/>
            <a:ext cx="6126480" cy="292608"/>
          </a:xfrm>
          <a:prstGeom prst="rect">
            <a:avLst/>
          </a:prstGeom>
          <a:noFill/>
          <a:ln>
            <a:noFill/>
          </a:ln>
        </p:spPr>
        <p:txBody>
          <a:bodyPr lIns="0" tIns="0" rIns="0" bIns="0">
            <a:noAutofit/>
          </a:bodyPr>
          <a:lstStyle/>
          <a:p>
            <a:r>
              <a:rPr lang="en-US" sz="1800">
                <a:solidFill>
                  <a:srgbClr val="20354A"/>
                </a:solidFill>
                <a:latin typeface="Arial"/>
                <a:ea typeface="Arial"/>
              </a:rPr>
              <a:t>Flexible debugging</a:t>
            </a:r>
          </a:p>
        </p:txBody>
      </p:sp>
      <p:sp>
        <p:nvSpPr>
          <p:cNvPr id="100008" name="S01.Stage1.Bullet3"/>
          <p:cNvSpPr/>
          <p:nvPr/>
        </p:nvSpPr>
        <p:spPr>
          <a:xfrm>
            <a:off x="5166360" y="2217420"/>
            <a:ext cx="96012" cy="96012"/>
          </a:xfrm>
          <a:prstGeom prst="ellipse">
            <a:avLst/>
          </a:prstGeom>
          <a:solidFill>
            <a:srgbClr val="008C95"/>
          </a:solidFill>
          <a:ln>
            <a:noFill/>
          </a:ln>
        </p:spPr>
        <p:txBody>
          <a:bodyPr lIns="0" tIns="0" rIns="0" bIns="0">
            <a:noAutofit/>
          </a:bodyPr>
          <a:lstStyle/>
          <a:p>
            <a:endParaRPr lang="en-US" sz="1800">
              <a:solidFill>
                <a:srgbClr val="20354A"/>
              </a:solidFill>
              <a:latin typeface="Arial"/>
              <a:ea typeface="Arial"/>
            </a:endParaRPr>
          </a:p>
        </p:txBody>
      </p:sp>
      <p:sp>
        <p:nvSpPr>
          <p:cNvPr id="100009" name="S01.Stage1.Text3"/>
          <p:cNvSpPr txBox="1"/>
          <p:nvPr/>
        </p:nvSpPr>
        <p:spPr>
          <a:xfrm>
            <a:off x="5468112" y="2139696"/>
            <a:ext cx="6126480" cy="292608"/>
          </a:xfrm>
          <a:prstGeom prst="rect">
            <a:avLst/>
          </a:prstGeom>
          <a:noFill/>
          <a:ln>
            <a:noFill/>
          </a:ln>
        </p:spPr>
        <p:txBody>
          <a:bodyPr lIns="0" tIns="0" rIns="0" bIns="0">
            <a:noAutofit/>
          </a:bodyPr>
          <a:lstStyle/>
          <a:p>
            <a:r>
              <a:rPr lang="en-US" sz="1800">
                <a:solidFill>
                  <a:srgbClr val="20354A"/>
                </a:solidFill>
                <a:latin typeface="Arial"/>
                <a:ea typeface="Arial"/>
              </a:rPr>
              <a:t>Low performance</a:t>
            </a:r>
          </a:p>
        </p:txBody>
      </p:sp>
      <p:sp>
        <p:nvSpPr>
          <p:cNvPr id="100010" name="S01.Stage2.Panel"/>
          <p:cNvSpPr/>
          <p:nvPr/>
        </p:nvSpPr>
        <p:spPr>
          <a:xfrm>
            <a:off x="320040" y="2999232"/>
            <a:ext cx="11558016" cy="1600200"/>
          </a:xfrm>
          <a:prstGeom prst="roundRect">
            <a:avLst>
              <a:gd name="adj" fmla="val 10000"/>
            </a:avLst>
          </a:prstGeom>
          <a:solidFill>
            <a:srgbClr val="F1F5F8"/>
          </a:solidFill>
          <a:ln>
            <a:noFill/>
          </a:ln>
        </p:spPr>
        <p:txBody>
          <a:bodyPr lIns="0" tIns="0" rIns="0" bIns="0">
            <a:noAutofit/>
          </a:bodyPr>
          <a:lstStyle/>
          <a:p>
            <a:endParaRPr lang="en-US" sz="1800">
              <a:solidFill>
                <a:srgbClr val="20354A"/>
              </a:solidFill>
              <a:latin typeface="Arial"/>
              <a:ea typeface="Arial"/>
            </a:endParaRPr>
          </a:p>
        </p:txBody>
      </p:sp>
      <p:sp>
        <p:nvSpPr>
          <p:cNvPr id="100011" name="S01.Stage2.Divider"/>
          <p:cNvSpPr/>
          <p:nvPr/>
        </p:nvSpPr>
        <p:spPr>
          <a:xfrm>
            <a:off x="4585716" y="3154680"/>
            <a:ext cx="8230" cy="1289304"/>
          </a:xfrm>
          <a:prstGeom prst="rect">
            <a:avLst/>
          </a:prstGeom>
          <a:solidFill>
            <a:srgbClr val="BDCBD4"/>
          </a:solidFill>
          <a:ln>
            <a:noFill/>
          </a:ln>
        </p:spPr>
        <p:txBody>
          <a:bodyPr lIns="0" tIns="0" rIns="0" bIns="0">
            <a:noAutofit/>
          </a:bodyPr>
          <a:lstStyle/>
          <a:p>
            <a:endParaRPr lang="en-US" sz="1800">
              <a:solidFill>
                <a:srgbClr val="20354A"/>
              </a:solidFill>
              <a:latin typeface="Arial"/>
              <a:ea typeface="Arial"/>
            </a:endParaRPr>
          </a:p>
        </p:txBody>
      </p:sp>
      <p:sp>
        <p:nvSpPr>
          <p:cNvPr id="100012" name="S01.Stage2.Heading"/>
          <p:cNvSpPr txBox="1"/>
          <p:nvPr/>
        </p:nvSpPr>
        <p:spPr>
          <a:xfrm>
            <a:off x="5047488" y="3182112"/>
            <a:ext cx="6492240" cy="365760"/>
          </a:xfrm>
          <a:prstGeom prst="rect">
            <a:avLst/>
          </a:prstGeom>
          <a:noFill/>
          <a:ln>
            <a:noFill/>
          </a:ln>
        </p:spPr>
        <p:txBody>
          <a:bodyPr lIns="0" tIns="0" rIns="0" bIns="0">
            <a:noAutofit/>
          </a:bodyPr>
          <a:lstStyle/>
          <a:p>
            <a:r>
              <a:rPr lang="en-US" sz="2200" b="1">
                <a:solidFill>
                  <a:srgbClr val="183B56"/>
                </a:solidFill>
                <a:latin typeface="Arial"/>
                <a:ea typeface="Arial"/>
              </a:rPr>
              <a:t>FPGA Prototyping</a:t>
            </a:r>
          </a:p>
        </p:txBody>
      </p:sp>
      <p:sp>
        <p:nvSpPr>
          <p:cNvPr id="100013" name="S01.Stage2.Bullet1"/>
          <p:cNvSpPr/>
          <p:nvPr/>
        </p:nvSpPr>
        <p:spPr>
          <a:xfrm>
            <a:off x="5166360" y="3662172"/>
            <a:ext cx="96012" cy="96012"/>
          </a:xfrm>
          <a:prstGeom prst="ellipse">
            <a:avLst/>
          </a:prstGeom>
          <a:solidFill>
            <a:srgbClr val="008C95"/>
          </a:solidFill>
          <a:ln>
            <a:noFill/>
          </a:ln>
        </p:spPr>
        <p:txBody>
          <a:bodyPr lIns="0" tIns="0" rIns="0" bIns="0">
            <a:noAutofit/>
          </a:bodyPr>
          <a:lstStyle/>
          <a:p>
            <a:endParaRPr lang="en-US" sz="1800">
              <a:solidFill>
                <a:srgbClr val="20354A"/>
              </a:solidFill>
              <a:latin typeface="Arial"/>
              <a:ea typeface="Arial"/>
            </a:endParaRPr>
          </a:p>
        </p:txBody>
      </p:sp>
      <p:sp>
        <p:nvSpPr>
          <p:cNvPr id="100014" name="S01.Stage2.Text1"/>
          <p:cNvSpPr txBox="1"/>
          <p:nvPr/>
        </p:nvSpPr>
        <p:spPr>
          <a:xfrm>
            <a:off x="5468112" y="3584448"/>
            <a:ext cx="6126480" cy="292608"/>
          </a:xfrm>
          <a:prstGeom prst="rect">
            <a:avLst/>
          </a:prstGeom>
          <a:noFill/>
          <a:ln>
            <a:noFill/>
          </a:ln>
        </p:spPr>
        <p:txBody>
          <a:bodyPr lIns="0" tIns="0" rIns="0" bIns="0">
            <a:noAutofit/>
          </a:bodyPr>
          <a:lstStyle/>
          <a:p>
            <a:r>
              <a:rPr lang="en-US" sz="1800">
                <a:solidFill>
                  <a:srgbClr val="20354A"/>
                </a:solidFill>
                <a:latin typeface="Arial"/>
                <a:ea typeface="Arial"/>
              </a:rPr>
              <a:t>MHz-level execution</a:t>
            </a:r>
          </a:p>
        </p:txBody>
      </p:sp>
      <p:sp>
        <p:nvSpPr>
          <p:cNvPr id="100015" name="S01.Stage2.Bullet2"/>
          <p:cNvSpPr/>
          <p:nvPr/>
        </p:nvSpPr>
        <p:spPr>
          <a:xfrm>
            <a:off x="5166360" y="3954780"/>
            <a:ext cx="96012" cy="96012"/>
          </a:xfrm>
          <a:prstGeom prst="ellipse">
            <a:avLst/>
          </a:prstGeom>
          <a:solidFill>
            <a:srgbClr val="008C95"/>
          </a:solidFill>
          <a:ln>
            <a:noFill/>
          </a:ln>
        </p:spPr>
        <p:txBody>
          <a:bodyPr lIns="0" tIns="0" rIns="0" bIns="0">
            <a:noAutofit/>
          </a:bodyPr>
          <a:lstStyle/>
          <a:p>
            <a:endParaRPr lang="en-US" sz="1800">
              <a:solidFill>
                <a:srgbClr val="20354A"/>
              </a:solidFill>
              <a:latin typeface="Arial"/>
              <a:ea typeface="Arial"/>
            </a:endParaRPr>
          </a:p>
        </p:txBody>
      </p:sp>
      <p:sp>
        <p:nvSpPr>
          <p:cNvPr id="100016" name="S01.Stage2.Text2"/>
          <p:cNvSpPr txBox="1"/>
          <p:nvPr/>
        </p:nvSpPr>
        <p:spPr>
          <a:xfrm>
            <a:off x="5468112" y="3877056"/>
            <a:ext cx="6126480" cy="292608"/>
          </a:xfrm>
          <a:prstGeom prst="rect">
            <a:avLst/>
          </a:prstGeom>
          <a:noFill/>
          <a:ln>
            <a:noFill/>
          </a:ln>
        </p:spPr>
        <p:txBody>
          <a:bodyPr lIns="0" tIns="0" rIns="0" bIns="0">
            <a:noAutofit/>
          </a:bodyPr>
          <a:lstStyle/>
          <a:p>
            <a:r>
              <a:rPr lang="en-US" sz="1800" dirty="0">
                <a:solidFill>
                  <a:srgbClr val="20354A"/>
                </a:solidFill>
                <a:latin typeface="Arial"/>
                <a:ea typeface="Arial"/>
              </a:rPr>
              <a:t>Long software workloads</a:t>
            </a:r>
          </a:p>
        </p:txBody>
      </p:sp>
      <p:sp>
        <p:nvSpPr>
          <p:cNvPr id="100017" name="S01.Stage2.Bullet3"/>
          <p:cNvSpPr/>
          <p:nvPr/>
        </p:nvSpPr>
        <p:spPr>
          <a:xfrm>
            <a:off x="5166360" y="4247388"/>
            <a:ext cx="96012" cy="96012"/>
          </a:xfrm>
          <a:prstGeom prst="ellipse">
            <a:avLst/>
          </a:prstGeom>
          <a:solidFill>
            <a:srgbClr val="008C95"/>
          </a:solidFill>
          <a:ln>
            <a:noFill/>
          </a:ln>
        </p:spPr>
        <p:txBody>
          <a:bodyPr lIns="0" tIns="0" rIns="0" bIns="0">
            <a:noAutofit/>
          </a:bodyPr>
          <a:lstStyle/>
          <a:p>
            <a:endParaRPr lang="en-US" sz="1800">
              <a:solidFill>
                <a:srgbClr val="20354A"/>
              </a:solidFill>
              <a:latin typeface="Arial"/>
              <a:ea typeface="Arial"/>
            </a:endParaRPr>
          </a:p>
        </p:txBody>
      </p:sp>
      <p:sp>
        <p:nvSpPr>
          <p:cNvPr id="100018" name="S01.Stage2.Text3"/>
          <p:cNvSpPr txBox="1"/>
          <p:nvPr/>
        </p:nvSpPr>
        <p:spPr>
          <a:xfrm>
            <a:off x="5468112" y="4169664"/>
            <a:ext cx="6126480" cy="292608"/>
          </a:xfrm>
          <a:prstGeom prst="rect">
            <a:avLst/>
          </a:prstGeom>
          <a:noFill/>
          <a:ln>
            <a:noFill/>
          </a:ln>
        </p:spPr>
        <p:txBody>
          <a:bodyPr lIns="0" tIns="0" rIns="0" bIns="0">
            <a:noAutofit/>
          </a:bodyPr>
          <a:lstStyle/>
          <a:p>
            <a:r>
              <a:rPr lang="en-US" sz="1800" dirty="0">
                <a:solidFill>
                  <a:srgbClr val="20354A"/>
                </a:solidFill>
                <a:latin typeface="Arial"/>
                <a:ea typeface="Arial"/>
              </a:rPr>
              <a:t>Limited by single-FPGA capacity</a:t>
            </a:r>
          </a:p>
        </p:txBody>
      </p:sp>
      <p:sp>
        <p:nvSpPr>
          <p:cNvPr id="100019" name="S01.Stage3.Panel"/>
          <p:cNvSpPr/>
          <p:nvPr/>
        </p:nvSpPr>
        <p:spPr>
          <a:xfrm>
            <a:off x="320040" y="5020056"/>
            <a:ext cx="11558016" cy="1554480"/>
          </a:xfrm>
          <a:prstGeom prst="roundRect">
            <a:avLst>
              <a:gd name="adj" fmla="val 10000"/>
            </a:avLst>
          </a:prstGeom>
          <a:solidFill>
            <a:srgbClr val="FCF4E8"/>
          </a:solidFill>
          <a:ln>
            <a:noFill/>
          </a:ln>
        </p:spPr>
        <p:txBody>
          <a:bodyPr lIns="0" tIns="0" rIns="0" bIns="0">
            <a:noAutofit/>
          </a:bodyPr>
          <a:lstStyle/>
          <a:p>
            <a:endParaRPr lang="en-US" sz="1800">
              <a:solidFill>
                <a:srgbClr val="20354A"/>
              </a:solidFill>
              <a:latin typeface="Arial"/>
              <a:ea typeface="Arial"/>
            </a:endParaRPr>
          </a:p>
        </p:txBody>
      </p:sp>
      <p:sp>
        <p:nvSpPr>
          <p:cNvPr id="100020" name="S01.Stage3.Divider"/>
          <p:cNvSpPr/>
          <p:nvPr/>
        </p:nvSpPr>
        <p:spPr>
          <a:xfrm>
            <a:off x="4585716" y="5175504"/>
            <a:ext cx="8230" cy="1243584"/>
          </a:xfrm>
          <a:prstGeom prst="rect">
            <a:avLst/>
          </a:prstGeom>
          <a:solidFill>
            <a:srgbClr val="BDCBD4"/>
          </a:solidFill>
          <a:ln>
            <a:noFill/>
          </a:ln>
        </p:spPr>
        <p:txBody>
          <a:bodyPr lIns="0" tIns="0" rIns="0" bIns="0">
            <a:noAutofit/>
          </a:bodyPr>
          <a:lstStyle/>
          <a:p>
            <a:endParaRPr lang="en-US" sz="1800">
              <a:solidFill>
                <a:srgbClr val="20354A"/>
              </a:solidFill>
              <a:latin typeface="Arial"/>
              <a:ea typeface="Arial"/>
            </a:endParaRPr>
          </a:p>
        </p:txBody>
      </p:sp>
      <p:sp>
        <p:nvSpPr>
          <p:cNvPr id="100021" name="S01.Stage3.Heading"/>
          <p:cNvSpPr txBox="1"/>
          <p:nvPr/>
        </p:nvSpPr>
        <p:spPr>
          <a:xfrm>
            <a:off x="5047488" y="5202936"/>
            <a:ext cx="6492240" cy="365760"/>
          </a:xfrm>
          <a:prstGeom prst="rect">
            <a:avLst/>
          </a:prstGeom>
          <a:noFill/>
          <a:ln>
            <a:noFill/>
          </a:ln>
        </p:spPr>
        <p:txBody>
          <a:bodyPr lIns="0" tIns="0" rIns="0" bIns="0">
            <a:noAutofit/>
          </a:bodyPr>
          <a:lstStyle/>
          <a:p>
            <a:r>
              <a:rPr lang="en-US" sz="2200" b="1">
                <a:solidFill>
                  <a:srgbClr val="183B56"/>
                </a:solidFill>
                <a:latin typeface="Arial"/>
                <a:ea typeface="Arial"/>
              </a:rPr>
              <a:t>Multi-FPGA Prototyping</a:t>
            </a:r>
          </a:p>
        </p:txBody>
      </p:sp>
      <p:sp>
        <p:nvSpPr>
          <p:cNvPr id="100022" name="S01.Stage3.Bullet1"/>
          <p:cNvSpPr/>
          <p:nvPr/>
        </p:nvSpPr>
        <p:spPr>
          <a:xfrm>
            <a:off x="5166360" y="5682996"/>
            <a:ext cx="96012" cy="96012"/>
          </a:xfrm>
          <a:prstGeom prst="ellipse">
            <a:avLst/>
          </a:prstGeom>
          <a:solidFill>
            <a:srgbClr val="008C95"/>
          </a:solidFill>
          <a:ln>
            <a:noFill/>
          </a:ln>
        </p:spPr>
        <p:txBody>
          <a:bodyPr lIns="0" tIns="0" rIns="0" bIns="0">
            <a:noAutofit/>
          </a:bodyPr>
          <a:lstStyle/>
          <a:p>
            <a:endParaRPr lang="en-US" sz="1800">
              <a:solidFill>
                <a:srgbClr val="20354A"/>
              </a:solidFill>
              <a:latin typeface="Arial"/>
              <a:ea typeface="Arial"/>
            </a:endParaRPr>
          </a:p>
        </p:txBody>
      </p:sp>
      <p:sp>
        <p:nvSpPr>
          <p:cNvPr id="100023" name="S01.Stage3.Text1"/>
          <p:cNvSpPr txBox="1"/>
          <p:nvPr/>
        </p:nvSpPr>
        <p:spPr>
          <a:xfrm>
            <a:off x="5468112" y="5605272"/>
            <a:ext cx="6126480" cy="292608"/>
          </a:xfrm>
          <a:prstGeom prst="rect">
            <a:avLst/>
          </a:prstGeom>
          <a:noFill/>
          <a:ln>
            <a:noFill/>
          </a:ln>
        </p:spPr>
        <p:txBody>
          <a:bodyPr lIns="0" tIns="0" rIns="0" bIns="0">
            <a:noAutofit/>
          </a:bodyPr>
          <a:lstStyle/>
          <a:p>
            <a:r>
              <a:rPr lang="en-US" sz="1800">
                <a:solidFill>
                  <a:srgbClr val="20354A"/>
                </a:solidFill>
                <a:latin typeface="Arial"/>
                <a:ea typeface="Arial"/>
              </a:rPr>
              <a:t>Partition large designs</a:t>
            </a:r>
          </a:p>
        </p:txBody>
      </p:sp>
      <p:sp>
        <p:nvSpPr>
          <p:cNvPr id="100024" name="S01.Stage3.Bullet2"/>
          <p:cNvSpPr/>
          <p:nvPr/>
        </p:nvSpPr>
        <p:spPr>
          <a:xfrm>
            <a:off x="5166360" y="5975604"/>
            <a:ext cx="96012" cy="96012"/>
          </a:xfrm>
          <a:prstGeom prst="ellipse">
            <a:avLst/>
          </a:prstGeom>
          <a:solidFill>
            <a:srgbClr val="008C95"/>
          </a:solidFill>
          <a:ln>
            <a:noFill/>
          </a:ln>
        </p:spPr>
        <p:txBody>
          <a:bodyPr lIns="0" tIns="0" rIns="0" bIns="0">
            <a:noAutofit/>
          </a:bodyPr>
          <a:lstStyle/>
          <a:p>
            <a:endParaRPr lang="en-US" sz="1800">
              <a:solidFill>
                <a:srgbClr val="20354A"/>
              </a:solidFill>
              <a:latin typeface="Arial"/>
              <a:ea typeface="Arial"/>
            </a:endParaRPr>
          </a:p>
        </p:txBody>
      </p:sp>
      <p:sp>
        <p:nvSpPr>
          <p:cNvPr id="100025" name="S01.Stage3.Text2"/>
          <p:cNvSpPr txBox="1"/>
          <p:nvPr/>
        </p:nvSpPr>
        <p:spPr>
          <a:xfrm>
            <a:off x="5468112" y="5897880"/>
            <a:ext cx="6126480" cy="292608"/>
          </a:xfrm>
          <a:prstGeom prst="rect">
            <a:avLst/>
          </a:prstGeom>
          <a:noFill/>
          <a:ln>
            <a:noFill/>
          </a:ln>
        </p:spPr>
        <p:txBody>
          <a:bodyPr lIns="0" tIns="0" rIns="0" bIns="0">
            <a:noAutofit/>
          </a:bodyPr>
          <a:lstStyle/>
          <a:p>
            <a:r>
              <a:rPr lang="en-US" sz="1800">
                <a:solidFill>
                  <a:srgbClr val="20354A"/>
                </a:solidFill>
                <a:latin typeface="Arial"/>
                <a:ea typeface="Arial"/>
              </a:rPr>
              <a:t>Extend capacity</a:t>
            </a:r>
          </a:p>
        </p:txBody>
      </p:sp>
      <p:sp>
        <p:nvSpPr>
          <p:cNvPr id="100026" name="S01.Stage3.Bullet3"/>
          <p:cNvSpPr/>
          <p:nvPr/>
        </p:nvSpPr>
        <p:spPr>
          <a:xfrm>
            <a:off x="5166360" y="6268212"/>
            <a:ext cx="96012" cy="96012"/>
          </a:xfrm>
          <a:prstGeom prst="ellipse">
            <a:avLst/>
          </a:prstGeom>
          <a:solidFill>
            <a:srgbClr val="008C95"/>
          </a:solidFill>
          <a:ln>
            <a:noFill/>
          </a:ln>
        </p:spPr>
        <p:txBody>
          <a:bodyPr lIns="0" tIns="0" rIns="0" bIns="0">
            <a:noAutofit/>
          </a:bodyPr>
          <a:lstStyle/>
          <a:p>
            <a:endParaRPr lang="en-US" sz="1800">
              <a:solidFill>
                <a:srgbClr val="20354A"/>
              </a:solidFill>
              <a:latin typeface="Arial"/>
              <a:ea typeface="Arial"/>
            </a:endParaRPr>
          </a:p>
        </p:txBody>
      </p:sp>
      <p:sp>
        <p:nvSpPr>
          <p:cNvPr id="100027" name="S01.Stage3.Text3"/>
          <p:cNvSpPr txBox="1"/>
          <p:nvPr/>
        </p:nvSpPr>
        <p:spPr>
          <a:xfrm>
            <a:off x="5468112" y="6190488"/>
            <a:ext cx="6126480" cy="292608"/>
          </a:xfrm>
          <a:prstGeom prst="rect">
            <a:avLst/>
          </a:prstGeom>
          <a:noFill/>
          <a:ln>
            <a:noFill/>
          </a:ln>
        </p:spPr>
        <p:txBody>
          <a:bodyPr lIns="0" tIns="0" rIns="0" bIns="0">
            <a:noAutofit/>
          </a:bodyPr>
          <a:lstStyle/>
          <a:p>
            <a:r>
              <a:rPr lang="en-US" sz="1800">
                <a:solidFill>
                  <a:srgbClr val="20354A"/>
                </a:solidFill>
                <a:latin typeface="Arial"/>
                <a:ea typeface="Arial"/>
              </a:rPr>
              <a:t>Enable large-scale SoC execution</a:t>
            </a:r>
          </a:p>
        </p:txBody>
      </p:sp>
      <p:sp>
        <p:nvSpPr>
          <p:cNvPr id="100028" name="S01.Progress1"/>
          <p:cNvSpPr/>
          <p:nvPr/>
        </p:nvSpPr>
        <p:spPr>
          <a:xfrm>
            <a:off x="5824728" y="2574036"/>
            <a:ext cx="557784" cy="416052"/>
          </a:xfrm>
          <a:prstGeom prst="downArrow">
            <a:avLst>
              <a:gd name="adj1" fmla="val 48000"/>
              <a:gd name="adj2" fmla="val 55000"/>
            </a:avLst>
          </a:prstGeom>
          <a:solidFill>
            <a:srgbClr val="DF973E"/>
          </a:solidFill>
          <a:ln>
            <a:noFill/>
          </a:ln>
        </p:spPr>
        <p:txBody>
          <a:bodyPr lIns="0" tIns="0" rIns="0" bIns="0">
            <a:noAutofit/>
          </a:bodyPr>
          <a:lstStyle/>
          <a:p>
            <a:endParaRPr lang="en-US" sz="1800">
              <a:solidFill>
                <a:srgbClr val="20354A"/>
              </a:solidFill>
              <a:latin typeface="Arial"/>
              <a:ea typeface="Arial"/>
            </a:endParaRPr>
          </a:p>
        </p:txBody>
      </p:sp>
      <p:sp>
        <p:nvSpPr>
          <p:cNvPr id="100029" name="S01.Progress2"/>
          <p:cNvSpPr/>
          <p:nvPr/>
        </p:nvSpPr>
        <p:spPr>
          <a:xfrm>
            <a:off x="5824728" y="4604004"/>
            <a:ext cx="557784" cy="406908"/>
          </a:xfrm>
          <a:prstGeom prst="downArrow">
            <a:avLst>
              <a:gd name="adj1" fmla="val 48000"/>
              <a:gd name="adj2" fmla="val 55000"/>
            </a:avLst>
          </a:prstGeom>
          <a:solidFill>
            <a:srgbClr val="91A5B5"/>
          </a:solidFill>
          <a:ln>
            <a:noFill/>
          </a:ln>
        </p:spPr>
        <p:txBody>
          <a:bodyPr lIns="0" tIns="0" rIns="0" bIns="0">
            <a:noAutofit/>
          </a:bodyPr>
          <a:lstStyle/>
          <a:p>
            <a:endParaRPr lang="en-US" sz="1800">
              <a:solidFill>
                <a:srgbClr val="20354A"/>
              </a:solidFill>
              <a:latin typeface="Arial"/>
              <a:ea typeface="Arial"/>
            </a:endParaRPr>
          </a:p>
        </p:txBody>
      </p:sp>
      <p:pic>
        <p:nvPicPr>
          <p:cNvPr id="100030" name="S01.Monitor" descr="Waveform monitor"/>
          <p:cNvPicPr>
            <a:picLocks noChangeAspect="1"/>
          </p:cNvPicPr>
          <p:nvPr/>
        </p:nvPicPr>
        <p:blipFill>
          <a:blip r:embed="rId3"/>
          <a:srcRect l="12280" t="25518" r="12200" b="19936"/>
          <a:stretch>
            <a:fillRect/>
          </a:stretch>
        </p:blipFill>
        <p:spPr>
          <a:xfrm>
            <a:off x="1737360" y="1175004"/>
            <a:ext cx="1682496" cy="1215235"/>
          </a:xfrm>
          <a:prstGeom prst="rect">
            <a:avLst/>
          </a:prstGeom>
        </p:spPr>
      </p:pic>
      <p:pic>
        <p:nvPicPr>
          <p:cNvPr id="100031" name="S01.SingleFPGA" descr="FPGA chip"/>
          <p:cNvPicPr>
            <a:picLocks noChangeAspect="1"/>
          </p:cNvPicPr>
          <p:nvPr/>
        </p:nvPicPr>
        <p:blipFill>
          <a:blip r:embed="rId4"/>
          <a:srcRect l="21371" t="23684" r="21291" b="20972"/>
          <a:stretch>
            <a:fillRect/>
          </a:stretch>
        </p:blipFill>
        <p:spPr>
          <a:xfrm>
            <a:off x="1965960" y="3209544"/>
            <a:ext cx="1225296" cy="1182692"/>
          </a:xfrm>
          <a:prstGeom prst="rect">
            <a:avLst/>
          </a:prstGeom>
        </p:spPr>
      </p:pic>
      <p:pic>
        <p:nvPicPr>
          <p:cNvPr id="100032" name="S01.MultiFPGA.Left" descr="FPGA chip"/>
          <p:cNvPicPr>
            <a:picLocks noChangeAspect="1"/>
          </p:cNvPicPr>
          <p:nvPr/>
        </p:nvPicPr>
        <p:blipFill>
          <a:blip r:embed="rId4"/>
          <a:srcRect l="21371" t="23684" r="21291" b="20972"/>
          <a:stretch>
            <a:fillRect/>
          </a:stretch>
        </p:blipFill>
        <p:spPr>
          <a:xfrm>
            <a:off x="1024128" y="5321808"/>
            <a:ext cx="1024128" cy="988519"/>
          </a:xfrm>
          <a:prstGeom prst="rect">
            <a:avLst/>
          </a:prstGeom>
        </p:spPr>
      </p:pic>
      <p:pic>
        <p:nvPicPr>
          <p:cNvPr id="100033" name="S01.MultiFPGA.Right" descr="FPGA chip"/>
          <p:cNvPicPr>
            <a:picLocks noChangeAspect="1"/>
          </p:cNvPicPr>
          <p:nvPr/>
        </p:nvPicPr>
        <p:blipFill>
          <a:blip r:embed="rId4"/>
          <a:srcRect l="21371" t="23684" r="21291" b="20972"/>
          <a:stretch>
            <a:fillRect/>
          </a:stretch>
        </p:blipFill>
        <p:spPr>
          <a:xfrm>
            <a:off x="3035808" y="5321808"/>
            <a:ext cx="1024128" cy="988519"/>
          </a:xfrm>
          <a:prstGeom prst="rect">
            <a:avLst/>
          </a:prstGeom>
        </p:spPr>
      </p:pic>
      <p:sp>
        <p:nvSpPr>
          <p:cNvPr id="100034" name="S01.MultiFPGA.Link"/>
          <p:cNvSpPr/>
          <p:nvPr/>
        </p:nvSpPr>
        <p:spPr>
          <a:xfrm>
            <a:off x="2093976" y="5655564"/>
            <a:ext cx="896112" cy="310896"/>
          </a:xfrm>
          <a:prstGeom prst="leftRightArrow">
            <a:avLst>
              <a:gd name="adj1" fmla="val 44000"/>
              <a:gd name="adj2" fmla="val 28000"/>
            </a:avLst>
          </a:prstGeom>
          <a:solidFill>
            <a:srgbClr val="DF973E"/>
          </a:solidFill>
          <a:ln>
            <a:noFill/>
          </a:ln>
        </p:spPr>
        <p:txBody>
          <a:bodyPr lIns="0" tIns="0" rIns="0" bIns="0">
            <a:noAutofit/>
          </a:bodyPr>
          <a:lstStyle/>
          <a:p>
            <a:endParaRPr lang="en-US" sz="1800" dirty="0">
              <a:solidFill>
                <a:srgbClr val="20354A"/>
              </a:solidFill>
              <a:latin typeface="Arial"/>
              <a:ea typeface="Arial"/>
            </a:endParaRPr>
          </a:p>
        </p:txBody>
      </p:sp>
      <p:sp>
        <p:nvSpPr>
          <p:cNvPr id="100035" name="S01.PageNumber"/>
          <p:cNvSpPr txBox="1"/>
          <p:nvPr/>
        </p:nvSpPr>
        <p:spPr>
          <a:xfrm>
            <a:off x="11631168" y="6629400"/>
            <a:ext cx="228600" cy="182880"/>
          </a:xfrm>
          <a:prstGeom prst="rect">
            <a:avLst/>
          </a:prstGeom>
          <a:noFill/>
          <a:ln>
            <a:noFill/>
          </a:ln>
        </p:spPr>
        <p:txBody>
          <a:bodyPr lIns="0" tIns="0" rIns="0" bIns="0">
            <a:noAutofit/>
          </a:bodyPr>
          <a:lstStyle/>
          <a:p>
            <a:pPr algn="r"/>
            <a:r>
              <a:rPr lang="en-US" sz="1000">
                <a:solidFill>
                  <a:srgbClr val="607184"/>
                </a:solidFill>
                <a:latin typeface="Arial"/>
                <a:ea typeface="Arial"/>
              </a:rPr>
              <a:t>1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02.Title"/>
          <p:cNvSpPr>
            <a:spLocks noGrp="1"/>
          </p:cNvSpPr>
          <p:nvPr>
            <p:ph type="title"/>
          </p:nvPr>
        </p:nvSpPr>
        <p:spPr>
          <a:xfrm>
            <a:off x="320040" y="128016"/>
            <a:ext cx="11558016" cy="493776"/>
          </a:xfrm>
          <a:noFill/>
          <a:ln>
            <a:noFill/>
          </a:ln>
        </p:spPr>
        <p:txBody>
          <a:bodyPr lIns="0" tIns="0" rIns="0" bIns="0">
            <a:noAutofit/>
          </a:bodyPr>
          <a:lstStyle/>
          <a:p>
            <a:r>
              <a:rPr lang="en-US" sz="3000" b="1" dirty="0">
                <a:solidFill>
                  <a:srgbClr val="183B56"/>
                </a:solidFill>
                <a:latin typeface="Arial"/>
                <a:ea typeface="Arial"/>
              </a:rPr>
              <a:t>Motivation: Multi-FPGA Prototyping Is Fast, but Hard to Debug</a:t>
            </a:r>
          </a:p>
        </p:txBody>
      </p:sp>
      <p:sp>
        <p:nvSpPr>
          <p:cNvPr id="100000" name="S02.TitleRule"/>
          <p:cNvSpPr/>
          <p:nvPr/>
        </p:nvSpPr>
        <p:spPr>
          <a:xfrm>
            <a:off x="320040" y="713232"/>
            <a:ext cx="11558016" cy="25400"/>
          </a:xfrm>
          <a:prstGeom prst="rect">
            <a:avLst/>
          </a:prstGeom>
          <a:solidFill>
            <a:srgbClr val="008C95"/>
          </a:solidFill>
          <a:ln>
            <a:noFill/>
          </a:ln>
        </p:spPr>
        <p:txBody>
          <a:bodyPr lIns="0" tIns="0" rIns="0" bIns="0">
            <a:noAutofit/>
          </a:bodyPr>
          <a:lstStyle/>
          <a:p>
            <a:endParaRPr lang="en-US" sz="1800">
              <a:solidFill>
                <a:srgbClr val="20354A"/>
              </a:solidFill>
              <a:latin typeface="Arial"/>
              <a:ea typeface="Arial"/>
            </a:endParaRPr>
          </a:p>
        </p:txBody>
      </p:sp>
      <p:sp>
        <p:nvSpPr>
          <p:cNvPr id="100001" name="S02.Prototype.Panel"/>
          <p:cNvSpPr/>
          <p:nvPr/>
        </p:nvSpPr>
        <p:spPr>
          <a:xfrm>
            <a:off x="320040" y="969264"/>
            <a:ext cx="5687568" cy="5605272"/>
          </a:xfrm>
          <a:prstGeom prst="roundRect">
            <a:avLst>
              <a:gd name="adj" fmla="val 3000"/>
            </a:avLst>
          </a:prstGeom>
          <a:solidFill>
            <a:srgbClr val="FCF4E8"/>
          </a:solidFill>
          <a:ln>
            <a:noFill/>
          </a:ln>
        </p:spPr>
        <p:txBody>
          <a:bodyPr lIns="0" tIns="0" rIns="0" bIns="0">
            <a:noAutofit/>
          </a:bodyPr>
          <a:lstStyle/>
          <a:p>
            <a:endParaRPr lang="en-US" sz="1800">
              <a:solidFill>
                <a:srgbClr val="20354A"/>
              </a:solidFill>
              <a:latin typeface="Arial"/>
              <a:ea typeface="Arial"/>
            </a:endParaRPr>
          </a:p>
        </p:txBody>
      </p:sp>
      <p:sp>
        <p:nvSpPr>
          <p:cNvPr id="100002" name="S02.Prototype.Heading"/>
          <p:cNvSpPr txBox="1"/>
          <p:nvPr/>
        </p:nvSpPr>
        <p:spPr>
          <a:xfrm>
            <a:off x="502920" y="1207008"/>
            <a:ext cx="5321808" cy="384048"/>
          </a:xfrm>
          <a:prstGeom prst="rect">
            <a:avLst/>
          </a:prstGeom>
          <a:noFill/>
          <a:ln>
            <a:noFill/>
          </a:ln>
        </p:spPr>
        <p:txBody>
          <a:bodyPr lIns="0" tIns="0" rIns="0" bIns="0">
            <a:noAutofit/>
          </a:bodyPr>
          <a:lstStyle/>
          <a:p>
            <a:pPr algn="ctr"/>
            <a:r>
              <a:rPr lang="en-US" sz="2200" b="1">
                <a:solidFill>
                  <a:srgbClr val="183B56"/>
                </a:solidFill>
                <a:latin typeface="Arial"/>
                <a:ea typeface="Arial"/>
              </a:rPr>
              <a:t>Multi-FPGA Prototyping</a:t>
            </a:r>
          </a:p>
        </p:txBody>
      </p:sp>
      <p:sp>
        <p:nvSpPr>
          <p:cNvPr id="100004" name="S02.Prototype.Divider"/>
          <p:cNvSpPr/>
          <p:nvPr/>
        </p:nvSpPr>
        <p:spPr>
          <a:xfrm>
            <a:off x="530352" y="4453128"/>
            <a:ext cx="5266944" cy="10973"/>
          </a:xfrm>
          <a:prstGeom prst="rect">
            <a:avLst/>
          </a:prstGeom>
          <a:solidFill>
            <a:srgbClr val="BDCBD4"/>
          </a:solidFill>
          <a:ln>
            <a:noFill/>
          </a:ln>
        </p:spPr>
        <p:txBody>
          <a:bodyPr lIns="0" tIns="0" rIns="0" bIns="0">
            <a:noAutofit/>
          </a:bodyPr>
          <a:lstStyle/>
          <a:p>
            <a:endParaRPr lang="en-US" sz="1800">
              <a:solidFill>
                <a:srgbClr val="20354A"/>
              </a:solidFill>
              <a:latin typeface="Arial"/>
              <a:ea typeface="Arial"/>
            </a:endParaRPr>
          </a:p>
        </p:txBody>
      </p:sp>
      <p:sp>
        <p:nvSpPr>
          <p:cNvPr id="100005" name="S02.Replay.Panel"/>
          <p:cNvSpPr/>
          <p:nvPr/>
        </p:nvSpPr>
        <p:spPr>
          <a:xfrm>
            <a:off x="6190488" y="969264"/>
            <a:ext cx="5687568" cy="5605272"/>
          </a:xfrm>
          <a:prstGeom prst="roundRect">
            <a:avLst>
              <a:gd name="adj" fmla="val 3000"/>
            </a:avLst>
          </a:prstGeom>
          <a:solidFill>
            <a:srgbClr val="EAF4F3"/>
          </a:solidFill>
          <a:ln>
            <a:noFill/>
          </a:ln>
        </p:spPr>
        <p:txBody>
          <a:bodyPr lIns="0" tIns="0" rIns="0" bIns="0">
            <a:noAutofit/>
          </a:bodyPr>
          <a:lstStyle/>
          <a:p>
            <a:endParaRPr lang="en-US" sz="1800">
              <a:solidFill>
                <a:srgbClr val="20354A"/>
              </a:solidFill>
              <a:latin typeface="Arial"/>
              <a:ea typeface="Arial"/>
            </a:endParaRPr>
          </a:p>
        </p:txBody>
      </p:sp>
      <p:sp>
        <p:nvSpPr>
          <p:cNvPr id="100006" name="S02.Replay.Heading"/>
          <p:cNvSpPr txBox="1"/>
          <p:nvPr/>
        </p:nvSpPr>
        <p:spPr>
          <a:xfrm>
            <a:off x="6373368" y="1207008"/>
            <a:ext cx="5321808" cy="384048"/>
          </a:xfrm>
          <a:prstGeom prst="rect">
            <a:avLst/>
          </a:prstGeom>
          <a:noFill/>
          <a:ln>
            <a:noFill/>
          </a:ln>
        </p:spPr>
        <p:txBody>
          <a:bodyPr lIns="0" tIns="0" rIns="0" bIns="0">
            <a:noAutofit/>
          </a:bodyPr>
          <a:lstStyle/>
          <a:p>
            <a:pPr algn="ctr"/>
            <a:r>
              <a:rPr lang="en-US" sz="2200" b="1" dirty="0" err="1">
                <a:solidFill>
                  <a:srgbClr val="183B56"/>
                </a:solidFill>
                <a:latin typeface="Arial"/>
                <a:ea typeface="Arial"/>
              </a:rPr>
              <a:t>Replayable</a:t>
            </a:r>
            <a:r>
              <a:rPr lang="en-US" sz="2200" b="1" dirty="0">
                <a:solidFill>
                  <a:srgbClr val="183B56"/>
                </a:solidFill>
                <a:latin typeface="Arial"/>
                <a:ea typeface="Arial"/>
              </a:rPr>
              <a:t> Multi-FPGA Emulation</a:t>
            </a:r>
          </a:p>
        </p:txBody>
      </p:sp>
      <p:sp>
        <p:nvSpPr>
          <p:cNvPr id="100008" name="S02.Replay.Divider"/>
          <p:cNvSpPr/>
          <p:nvPr/>
        </p:nvSpPr>
        <p:spPr>
          <a:xfrm>
            <a:off x="6400800" y="4453128"/>
            <a:ext cx="5266944" cy="10973"/>
          </a:xfrm>
          <a:prstGeom prst="rect">
            <a:avLst/>
          </a:prstGeom>
          <a:solidFill>
            <a:srgbClr val="BDCBD4"/>
          </a:solidFill>
          <a:ln>
            <a:noFill/>
          </a:ln>
        </p:spPr>
        <p:txBody>
          <a:bodyPr lIns="0" tIns="0" rIns="0" bIns="0">
            <a:noAutofit/>
          </a:bodyPr>
          <a:lstStyle/>
          <a:p>
            <a:endParaRPr lang="en-US" sz="1800">
              <a:solidFill>
                <a:srgbClr val="20354A"/>
              </a:solidFill>
              <a:latin typeface="Arial"/>
              <a:ea typeface="Arial"/>
            </a:endParaRPr>
          </a:p>
        </p:txBody>
      </p:sp>
      <p:sp>
        <p:nvSpPr>
          <p:cNvPr id="100009" name="S02.Prototype.Item1.Badge"/>
          <p:cNvSpPr/>
          <p:nvPr/>
        </p:nvSpPr>
        <p:spPr>
          <a:xfrm>
            <a:off x="795528" y="1887885"/>
            <a:ext cx="310896" cy="310896"/>
          </a:xfrm>
          <a:prstGeom prst="ellipse">
            <a:avLst/>
          </a:prstGeom>
          <a:solidFill>
            <a:srgbClr val="008C95"/>
          </a:solidFill>
          <a:ln>
            <a:noFill/>
          </a:ln>
        </p:spPr>
        <p:txBody>
          <a:bodyPr lIns="0" tIns="0" rIns="0" bIns="0">
            <a:noAutofit/>
          </a:bodyPr>
          <a:lstStyle/>
          <a:p>
            <a:endParaRPr lang="en-US" sz="1800">
              <a:solidFill>
                <a:srgbClr val="20354A"/>
              </a:solidFill>
              <a:latin typeface="Arial"/>
              <a:ea typeface="Arial"/>
            </a:endParaRPr>
          </a:p>
        </p:txBody>
      </p:sp>
      <p:sp>
        <p:nvSpPr>
          <p:cNvPr id="100010" name="S02.Prototype.Item1.CheckShort"/>
          <p:cNvSpPr/>
          <p:nvPr/>
        </p:nvSpPr>
        <p:spPr>
          <a:xfrm rot="2700000">
            <a:off x="868680" y="2047905"/>
            <a:ext cx="96012" cy="39319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lIns="0" tIns="0" rIns="0" bIns="0">
            <a:noAutofit/>
          </a:bodyPr>
          <a:lstStyle/>
          <a:p>
            <a:endParaRPr lang="en-US" sz="1800">
              <a:solidFill>
                <a:srgbClr val="20354A"/>
              </a:solidFill>
              <a:latin typeface="Arial"/>
              <a:ea typeface="Arial"/>
            </a:endParaRPr>
          </a:p>
        </p:txBody>
      </p:sp>
      <p:sp>
        <p:nvSpPr>
          <p:cNvPr id="100011" name="S02.Prototype.Item1.CheckLong"/>
          <p:cNvSpPr/>
          <p:nvPr/>
        </p:nvSpPr>
        <p:spPr>
          <a:xfrm rot="18900000">
            <a:off x="909828" y="2022302"/>
            <a:ext cx="146304" cy="39319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lIns="0" tIns="0" rIns="0" bIns="0">
            <a:noAutofit/>
          </a:bodyPr>
          <a:lstStyle/>
          <a:p>
            <a:endParaRPr lang="en-US" sz="1800">
              <a:solidFill>
                <a:srgbClr val="20354A"/>
              </a:solidFill>
              <a:latin typeface="Arial"/>
              <a:ea typeface="Arial"/>
            </a:endParaRPr>
          </a:p>
        </p:txBody>
      </p:sp>
      <p:sp>
        <p:nvSpPr>
          <p:cNvPr id="100012" name="S02.Prototype.Text1"/>
          <p:cNvSpPr txBox="1"/>
          <p:nvPr/>
        </p:nvSpPr>
        <p:spPr>
          <a:xfrm>
            <a:off x="1280160" y="1890628"/>
            <a:ext cx="4572000" cy="310896"/>
          </a:xfrm>
          <a:prstGeom prst="rect">
            <a:avLst/>
          </a:prstGeom>
          <a:noFill/>
          <a:ln>
            <a:noFill/>
          </a:ln>
        </p:spPr>
        <p:txBody>
          <a:bodyPr lIns="0" tIns="0" rIns="0" bIns="0">
            <a:noAutofit/>
          </a:bodyPr>
          <a:lstStyle/>
          <a:p>
            <a:r>
              <a:rPr lang="en-US" sz="1800">
                <a:solidFill>
                  <a:srgbClr val="20354A"/>
                </a:solidFill>
                <a:latin typeface="Arial"/>
                <a:ea typeface="Arial"/>
              </a:rPr>
              <a:t>Large design capacity</a:t>
            </a:r>
          </a:p>
        </p:txBody>
      </p:sp>
      <p:sp>
        <p:nvSpPr>
          <p:cNvPr id="100013" name="S02.Prototype.Item2.Badge"/>
          <p:cNvSpPr/>
          <p:nvPr/>
        </p:nvSpPr>
        <p:spPr>
          <a:xfrm>
            <a:off x="795528" y="2345085"/>
            <a:ext cx="310896" cy="310896"/>
          </a:xfrm>
          <a:prstGeom prst="ellipse">
            <a:avLst/>
          </a:prstGeom>
          <a:solidFill>
            <a:srgbClr val="008C95"/>
          </a:solidFill>
          <a:ln>
            <a:noFill/>
          </a:ln>
        </p:spPr>
        <p:txBody>
          <a:bodyPr lIns="0" tIns="0" rIns="0" bIns="0">
            <a:noAutofit/>
          </a:bodyPr>
          <a:lstStyle/>
          <a:p>
            <a:endParaRPr lang="en-US" sz="1800">
              <a:solidFill>
                <a:srgbClr val="20354A"/>
              </a:solidFill>
              <a:latin typeface="Arial"/>
              <a:ea typeface="Arial"/>
            </a:endParaRPr>
          </a:p>
        </p:txBody>
      </p:sp>
      <p:sp>
        <p:nvSpPr>
          <p:cNvPr id="100014" name="S02.Prototype.Item2.CheckShort"/>
          <p:cNvSpPr/>
          <p:nvPr/>
        </p:nvSpPr>
        <p:spPr>
          <a:xfrm rot="2700000">
            <a:off x="868680" y="2505105"/>
            <a:ext cx="96012" cy="39319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lIns="0" tIns="0" rIns="0" bIns="0">
            <a:noAutofit/>
          </a:bodyPr>
          <a:lstStyle/>
          <a:p>
            <a:endParaRPr lang="en-US" sz="1800">
              <a:solidFill>
                <a:srgbClr val="20354A"/>
              </a:solidFill>
              <a:latin typeface="Arial"/>
              <a:ea typeface="Arial"/>
            </a:endParaRPr>
          </a:p>
        </p:txBody>
      </p:sp>
      <p:sp>
        <p:nvSpPr>
          <p:cNvPr id="100015" name="S02.Prototype.Item2.CheckLong"/>
          <p:cNvSpPr/>
          <p:nvPr/>
        </p:nvSpPr>
        <p:spPr>
          <a:xfrm rot="18900000">
            <a:off x="909828" y="2479502"/>
            <a:ext cx="146304" cy="39319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lIns="0" tIns="0" rIns="0" bIns="0">
            <a:noAutofit/>
          </a:bodyPr>
          <a:lstStyle/>
          <a:p>
            <a:endParaRPr lang="en-US" sz="1800">
              <a:solidFill>
                <a:srgbClr val="20354A"/>
              </a:solidFill>
              <a:latin typeface="Arial"/>
              <a:ea typeface="Arial"/>
            </a:endParaRPr>
          </a:p>
        </p:txBody>
      </p:sp>
      <p:sp>
        <p:nvSpPr>
          <p:cNvPr id="100016" name="S02.Prototype.Text2"/>
          <p:cNvSpPr txBox="1"/>
          <p:nvPr/>
        </p:nvSpPr>
        <p:spPr>
          <a:xfrm>
            <a:off x="1280160" y="2347828"/>
            <a:ext cx="4572000" cy="310896"/>
          </a:xfrm>
          <a:prstGeom prst="rect">
            <a:avLst/>
          </a:prstGeom>
          <a:noFill/>
          <a:ln>
            <a:noFill/>
          </a:ln>
        </p:spPr>
        <p:txBody>
          <a:bodyPr lIns="0" tIns="0" rIns="0" bIns="0">
            <a:noAutofit/>
          </a:bodyPr>
          <a:lstStyle/>
          <a:p>
            <a:r>
              <a:rPr lang="en-US" sz="1800">
                <a:solidFill>
                  <a:srgbClr val="20354A"/>
                </a:solidFill>
                <a:latin typeface="Arial"/>
                <a:ea typeface="Arial"/>
              </a:rPr>
              <a:t>High execution speed</a:t>
            </a:r>
          </a:p>
        </p:txBody>
      </p:sp>
      <p:sp>
        <p:nvSpPr>
          <p:cNvPr id="100017" name="S02.Prototype.Item3.Badge"/>
          <p:cNvSpPr/>
          <p:nvPr/>
        </p:nvSpPr>
        <p:spPr>
          <a:xfrm>
            <a:off x="795528" y="2802285"/>
            <a:ext cx="310896" cy="310896"/>
          </a:xfrm>
          <a:prstGeom prst="ellipse">
            <a:avLst/>
          </a:prstGeom>
          <a:solidFill>
            <a:srgbClr val="008C95"/>
          </a:solidFill>
          <a:ln>
            <a:noFill/>
          </a:ln>
        </p:spPr>
        <p:txBody>
          <a:bodyPr lIns="0" tIns="0" rIns="0" bIns="0">
            <a:noAutofit/>
          </a:bodyPr>
          <a:lstStyle/>
          <a:p>
            <a:endParaRPr lang="en-US" sz="1800">
              <a:solidFill>
                <a:srgbClr val="20354A"/>
              </a:solidFill>
              <a:latin typeface="Arial"/>
              <a:ea typeface="Arial"/>
            </a:endParaRPr>
          </a:p>
        </p:txBody>
      </p:sp>
      <p:sp>
        <p:nvSpPr>
          <p:cNvPr id="100018" name="S02.Prototype.Item3.CheckShort"/>
          <p:cNvSpPr/>
          <p:nvPr/>
        </p:nvSpPr>
        <p:spPr>
          <a:xfrm rot="2700000">
            <a:off x="868680" y="2962305"/>
            <a:ext cx="96012" cy="39319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lIns="0" tIns="0" rIns="0" bIns="0">
            <a:noAutofit/>
          </a:bodyPr>
          <a:lstStyle/>
          <a:p>
            <a:endParaRPr lang="en-US" sz="1800">
              <a:solidFill>
                <a:srgbClr val="20354A"/>
              </a:solidFill>
              <a:latin typeface="Arial"/>
              <a:ea typeface="Arial"/>
            </a:endParaRPr>
          </a:p>
        </p:txBody>
      </p:sp>
      <p:sp>
        <p:nvSpPr>
          <p:cNvPr id="100019" name="S02.Prototype.Item3.CheckLong"/>
          <p:cNvSpPr/>
          <p:nvPr/>
        </p:nvSpPr>
        <p:spPr>
          <a:xfrm rot="18900000">
            <a:off x="909828" y="2936702"/>
            <a:ext cx="146304" cy="39319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lIns="0" tIns="0" rIns="0" bIns="0">
            <a:noAutofit/>
          </a:bodyPr>
          <a:lstStyle/>
          <a:p>
            <a:endParaRPr lang="en-US" sz="1800">
              <a:solidFill>
                <a:srgbClr val="20354A"/>
              </a:solidFill>
              <a:latin typeface="Arial"/>
              <a:ea typeface="Arial"/>
            </a:endParaRPr>
          </a:p>
        </p:txBody>
      </p:sp>
      <p:sp>
        <p:nvSpPr>
          <p:cNvPr id="100020" name="S02.Prototype.Text3"/>
          <p:cNvSpPr txBox="1"/>
          <p:nvPr/>
        </p:nvSpPr>
        <p:spPr>
          <a:xfrm>
            <a:off x="1280160" y="2805028"/>
            <a:ext cx="4572000" cy="310896"/>
          </a:xfrm>
          <a:prstGeom prst="rect">
            <a:avLst/>
          </a:prstGeom>
          <a:noFill/>
          <a:ln>
            <a:noFill/>
          </a:ln>
        </p:spPr>
        <p:txBody>
          <a:bodyPr lIns="0" tIns="0" rIns="0" bIns="0">
            <a:noAutofit/>
          </a:bodyPr>
          <a:lstStyle/>
          <a:p>
            <a:r>
              <a:rPr lang="en-US" sz="1800">
                <a:solidFill>
                  <a:srgbClr val="20354A"/>
                </a:solidFill>
                <a:latin typeface="Arial"/>
                <a:ea typeface="Arial"/>
              </a:rPr>
              <a:t>Long software workloads</a:t>
            </a:r>
          </a:p>
        </p:txBody>
      </p:sp>
      <p:sp>
        <p:nvSpPr>
          <p:cNvPr id="100021" name="S02.Prototype.Item4.Badge"/>
          <p:cNvSpPr/>
          <p:nvPr/>
        </p:nvSpPr>
        <p:spPr>
          <a:xfrm>
            <a:off x="795528" y="3259485"/>
            <a:ext cx="310896" cy="310896"/>
          </a:xfrm>
          <a:prstGeom prst="ellipse">
            <a:avLst/>
          </a:prstGeom>
          <a:solidFill>
            <a:srgbClr val="DF973E"/>
          </a:solidFill>
          <a:ln>
            <a:noFill/>
          </a:ln>
        </p:spPr>
        <p:txBody>
          <a:bodyPr lIns="0" tIns="0" rIns="0" bIns="0">
            <a:noAutofit/>
          </a:bodyPr>
          <a:lstStyle/>
          <a:p>
            <a:endParaRPr lang="en-US" sz="1800">
              <a:solidFill>
                <a:srgbClr val="20354A"/>
              </a:solidFill>
              <a:latin typeface="Arial"/>
              <a:ea typeface="Arial"/>
            </a:endParaRPr>
          </a:p>
        </p:txBody>
      </p:sp>
      <p:sp>
        <p:nvSpPr>
          <p:cNvPr id="100022" name="S02.Prototype.Item4.Minus"/>
          <p:cNvSpPr/>
          <p:nvPr/>
        </p:nvSpPr>
        <p:spPr>
          <a:xfrm>
            <a:off x="868680" y="3395731"/>
            <a:ext cx="164592" cy="39319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lIns="0" tIns="0" rIns="0" bIns="0">
            <a:noAutofit/>
          </a:bodyPr>
          <a:lstStyle/>
          <a:p>
            <a:endParaRPr lang="en-US" sz="1800">
              <a:solidFill>
                <a:srgbClr val="20354A"/>
              </a:solidFill>
              <a:latin typeface="Arial"/>
              <a:ea typeface="Arial"/>
            </a:endParaRPr>
          </a:p>
        </p:txBody>
      </p:sp>
      <p:sp>
        <p:nvSpPr>
          <p:cNvPr id="100023" name="S02.Prototype.Text4"/>
          <p:cNvSpPr txBox="1"/>
          <p:nvPr/>
        </p:nvSpPr>
        <p:spPr>
          <a:xfrm>
            <a:off x="1280160" y="3262228"/>
            <a:ext cx="4572000" cy="310896"/>
          </a:xfrm>
          <a:prstGeom prst="rect">
            <a:avLst/>
          </a:prstGeom>
          <a:noFill/>
          <a:ln>
            <a:noFill/>
          </a:ln>
        </p:spPr>
        <p:txBody>
          <a:bodyPr lIns="0" tIns="0" rIns="0" bIns="0">
            <a:noAutofit/>
          </a:bodyPr>
          <a:lstStyle/>
          <a:p>
            <a:r>
              <a:rPr lang="en-US" sz="1800">
                <a:solidFill>
                  <a:srgbClr val="20354A"/>
                </a:solidFill>
                <a:latin typeface="Arial"/>
                <a:ea typeface="Arial"/>
              </a:rPr>
              <a:t>Limited visibility</a:t>
            </a:r>
          </a:p>
        </p:txBody>
      </p:sp>
      <p:sp>
        <p:nvSpPr>
          <p:cNvPr id="100024" name="S02.Prototype.Item5.Badge"/>
          <p:cNvSpPr/>
          <p:nvPr/>
        </p:nvSpPr>
        <p:spPr>
          <a:xfrm>
            <a:off x="795528" y="3716685"/>
            <a:ext cx="310896" cy="310896"/>
          </a:xfrm>
          <a:prstGeom prst="ellipse">
            <a:avLst/>
          </a:prstGeom>
          <a:solidFill>
            <a:srgbClr val="DF973E"/>
          </a:solidFill>
          <a:ln>
            <a:noFill/>
          </a:ln>
        </p:spPr>
        <p:txBody>
          <a:bodyPr lIns="0" tIns="0" rIns="0" bIns="0">
            <a:noAutofit/>
          </a:bodyPr>
          <a:lstStyle/>
          <a:p>
            <a:endParaRPr lang="en-US" sz="1800">
              <a:solidFill>
                <a:srgbClr val="20354A"/>
              </a:solidFill>
              <a:latin typeface="Arial"/>
              <a:ea typeface="Arial"/>
            </a:endParaRPr>
          </a:p>
        </p:txBody>
      </p:sp>
      <p:sp>
        <p:nvSpPr>
          <p:cNvPr id="100025" name="S02.Prototype.Item5.Minus"/>
          <p:cNvSpPr/>
          <p:nvPr/>
        </p:nvSpPr>
        <p:spPr>
          <a:xfrm>
            <a:off x="868680" y="3852931"/>
            <a:ext cx="164592" cy="39319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lIns="0" tIns="0" rIns="0" bIns="0">
            <a:noAutofit/>
          </a:bodyPr>
          <a:lstStyle/>
          <a:p>
            <a:endParaRPr lang="en-US" sz="1800">
              <a:solidFill>
                <a:srgbClr val="20354A"/>
              </a:solidFill>
              <a:latin typeface="Arial"/>
              <a:ea typeface="Arial"/>
            </a:endParaRPr>
          </a:p>
        </p:txBody>
      </p:sp>
      <p:sp>
        <p:nvSpPr>
          <p:cNvPr id="100026" name="S02.Prototype.Text5"/>
          <p:cNvSpPr txBox="1"/>
          <p:nvPr/>
        </p:nvSpPr>
        <p:spPr>
          <a:xfrm>
            <a:off x="1280160" y="3719428"/>
            <a:ext cx="4572000" cy="310896"/>
          </a:xfrm>
          <a:prstGeom prst="rect">
            <a:avLst/>
          </a:prstGeom>
          <a:noFill/>
          <a:ln>
            <a:noFill/>
          </a:ln>
        </p:spPr>
        <p:txBody>
          <a:bodyPr lIns="0" tIns="0" rIns="0" bIns="0">
            <a:noAutofit/>
          </a:bodyPr>
          <a:lstStyle/>
          <a:p>
            <a:r>
              <a:rPr lang="en-US" sz="1800">
                <a:solidFill>
                  <a:srgbClr val="20354A"/>
                </a:solidFill>
                <a:latin typeface="Arial"/>
                <a:ea typeface="Arial"/>
              </a:rPr>
              <a:t>Limited full-state replay</a:t>
            </a:r>
          </a:p>
        </p:txBody>
      </p:sp>
      <p:sp>
        <p:nvSpPr>
          <p:cNvPr id="100027" name="S02.Replay.Item1.Badge"/>
          <p:cNvSpPr/>
          <p:nvPr/>
        </p:nvSpPr>
        <p:spPr>
          <a:xfrm>
            <a:off x="6640656" y="1887881"/>
            <a:ext cx="310896" cy="310896"/>
          </a:xfrm>
          <a:prstGeom prst="ellipse">
            <a:avLst/>
          </a:prstGeom>
          <a:solidFill>
            <a:srgbClr val="008C95"/>
          </a:solidFill>
          <a:ln>
            <a:noFill/>
          </a:ln>
        </p:spPr>
        <p:txBody>
          <a:bodyPr lIns="0" tIns="0" rIns="0" bIns="0">
            <a:noAutofit/>
          </a:bodyPr>
          <a:lstStyle/>
          <a:p>
            <a:endParaRPr lang="en-US" sz="1800">
              <a:solidFill>
                <a:srgbClr val="20354A"/>
              </a:solidFill>
              <a:latin typeface="Arial"/>
              <a:ea typeface="Arial"/>
            </a:endParaRPr>
          </a:p>
        </p:txBody>
      </p:sp>
      <p:sp>
        <p:nvSpPr>
          <p:cNvPr id="100028" name="S02.Replay.Item1.CheckShort"/>
          <p:cNvSpPr/>
          <p:nvPr/>
        </p:nvSpPr>
        <p:spPr>
          <a:xfrm rot="2700000">
            <a:off x="6713808" y="2047901"/>
            <a:ext cx="96012" cy="39319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lIns="0" tIns="0" rIns="0" bIns="0">
            <a:noAutofit/>
          </a:bodyPr>
          <a:lstStyle/>
          <a:p>
            <a:endParaRPr lang="en-US" sz="1800">
              <a:solidFill>
                <a:srgbClr val="20354A"/>
              </a:solidFill>
              <a:latin typeface="Arial"/>
              <a:ea typeface="Arial"/>
            </a:endParaRPr>
          </a:p>
        </p:txBody>
      </p:sp>
      <p:sp>
        <p:nvSpPr>
          <p:cNvPr id="100029" name="S02.Replay.Item1.CheckLong"/>
          <p:cNvSpPr/>
          <p:nvPr/>
        </p:nvSpPr>
        <p:spPr>
          <a:xfrm rot="18900000">
            <a:off x="6754956" y="2022298"/>
            <a:ext cx="146304" cy="39319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lIns="0" tIns="0" rIns="0" bIns="0">
            <a:noAutofit/>
          </a:bodyPr>
          <a:lstStyle/>
          <a:p>
            <a:endParaRPr lang="en-US" sz="1800">
              <a:solidFill>
                <a:srgbClr val="20354A"/>
              </a:solidFill>
              <a:latin typeface="Arial"/>
              <a:ea typeface="Arial"/>
            </a:endParaRPr>
          </a:p>
        </p:txBody>
      </p:sp>
      <p:sp>
        <p:nvSpPr>
          <p:cNvPr id="100030" name="S02.Replay.Text1"/>
          <p:cNvSpPr txBox="1"/>
          <p:nvPr/>
        </p:nvSpPr>
        <p:spPr>
          <a:xfrm>
            <a:off x="7125288" y="1890624"/>
            <a:ext cx="4572000" cy="310896"/>
          </a:xfrm>
          <a:prstGeom prst="rect">
            <a:avLst/>
          </a:prstGeom>
          <a:noFill/>
          <a:ln>
            <a:noFill/>
          </a:ln>
        </p:spPr>
        <p:txBody>
          <a:bodyPr lIns="0" tIns="0" rIns="0" bIns="0">
            <a:noAutofit/>
          </a:bodyPr>
          <a:lstStyle/>
          <a:p>
            <a:r>
              <a:rPr lang="en-US" sz="1800" dirty="0">
                <a:solidFill>
                  <a:srgbClr val="20354A"/>
                </a:solidFill>
                <a:latin typeface="Arial"/>
                <a:ea typeface="Arial"/>
              </a:rPr>
              <a:t>Run large RTL designs</a:t>
            </a:r>
          </a:p>
        </p:txBody>
      </p:sp>
      <p:sp>
        <p:nvSpPr>
          <p:cNvPr id="100031" name="S02.Replay.Item2.Badge"/>
          <p:cNvSpPr/>
          <p:nvPr/>
        </p:nvSpPr>
        <p:spPr>
          <a:xfrm>
            <a:off x="6640656" y="2281073"/>
            <a:ext cx="310896" cy="310896"/>
          </a:xfrm>
          <a:prstGeom prst="ellipse">
            <a:avLst/>
          </a:prstGeom>
          <a:solidFill>
            <a:srgbClr val="008C95"/>
          </a:solidFill>
          <a:ln>
            <a:noFill/>
          </a:ln>
        </p:spPr>
        <p:txBody>
          <a:bodyPr lIns="0" tIns="0" rIns="0" bIns="0">
            <a:noAutofit/>
          </a:bodyPr>
          <a:lstStyle/>
          <a:p>
            <a:endParaRPr lang="en-US" sz="1800">
              <a:solidFill>
                <a:srgbClr val="20354A"/>
              </a:solidFill>
              <a:latin typeface="Arial"/>
              <a:ea typeface="Arial"/>
            </a:endParaRPr>
          </a:p>
        </p:txBody>
      </p:sp>
      <p:sp>
        <p:nvSpPr>
          <p:cNvPr id="100032" name="S02.Replay.Item2.CheckShort"/>
          <p:cNvSpPr/>
          <p:nvPr/>
        </p:nvSpPr>
        <p:spPr>
          <a:xfrm rot="2700000">
            <a:off x="6713808" y="2441093"/>
            <a:ext cx="96012" cy="39319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lIns="0" tIns="0" rIns="0" bIns="0">
            <a:noAutofit/>
          </a:bodyPr>
          <a:lstStyle/>
          <a:p>
            <a:endParaRPr lang="en-US" sz="1800">
              <a:solidFill>
                <a:srgbClr val="20354A"/>
              </a:solidFill>
              <a:latin typeface="Arial"/>
              <a:ea typeface="Arial"/>
            </a:endParaRPr>
          </a:p>
        </p:txBody>
      </p:sp>
      <p:sp>
        <p:nvSpPr>
          <p:cNvPr id="100033" name="S02.Replay.Item2.CheckLong"/>
          <p:cNvSpPr/>
          <p:nvPr/>
        </p:nvSpPr>
        <p:spPr>
          <a:xfrm rot="18900000">
            <a:off x="6754956" y="2415490"/>
            <a:ext cx="146304" cy="39319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lIns="0" tIns="0" rIns="0" bIns="0">
            <a:noAutofit/>
          </a:bodyPr>
          <a:lstStyle/>
          <a:p>
            <a:endParaRPr lang="en-US" sz="1800">
              <a:solidFill>
                <a:srgbClr val="20354A"/>
              </a:solidFill>
              <a:latin typeface="Arial"/>
              <a:ea typeface="Arial"/>
            </a:endParaRPr>
          </a:p>
        </p:txBody>
      </p:sp>
      <p:sp>
        <p:nvSpPr>
          <p:cNvPr id="100034" name="S02.Replay.Text2"/>
          <p:cNvSpPr txBox="1"/>
          <p:nvPr/>
        </p:nvSpPr>
        <p:spPr>
          <a:xfrm>
            <a:off x="7125288" y="2283816"/>
            <a:ext cx="4572000" cy="310896"/>
          </a:xfrm>
          <a:prstGeom prst="rect">
            <a:avLst/>
          </a:prstGeom>
          <a:noFill/>
          <a:ln>
            <a:noFill/>
          </a:ln>
        </p:spPr>
        <p:txBody>
          <a:bodyPr lIns="0" tIns="0" rIns="0" bIns="0">
            <a:noAutofit/>
          </a:bodyPr>
          <a:lstStyle/>
          <a:p>
            <a:r>
              <a:rPr lang="en-US" sz="1800">
                <a:solidFill>
                  <a:srgbClr val="20354A"/>
                </a:solidFill>
                <a:latin typeface="Arial"/>
                <a:ea typeface="Arial"/>
              </a:rPr>
              <a:t>Cycle-consistent global pause</a:t>
            </a:r>
          </a:p>
        </p:txBody>
      </p:sp>
      <p:sp>
        <p:nvSpPr>
          <p:cNvPr id="100035" name="S02.Replay.Item3.Badge"/>
          <p:cNvSpPr/>
          <p:nvPr/>
        </p:nvSpPr>
        <p:spPr>
          <a:xfrm>
            <a:off x="6640656" y="2674265"/>
            <a:ext cx="310896" cy="310896"/>
          </a:xfrm>
          <a:prstGeom prst="ellipse">
            <a:avLst/>
          </a:prstGeom>
          <a:solidFill>
            <a:srgbClr val="008C95"/>
          </a:solidFill>
          <a:ln>
            <a:noFill/>
          </a:ln>
        </p:spPr>
        <p:txBody>
          <a:bodyPr lIns="0" tIns="0" rIns="0" bIns="0">
            <a:noAutofit/>
          </a:bodyPr>
          <a:lstStyle/>
          <a:p>
            <a:endParaRPr lang="en-US" sz="1800">
              <a:solidFill>
                <a:srgbClr val="20354A"/>
              </a:solidFill>
              <a:latin typeface="Arial"/>
              <a:ea typeface="Arial"/>
            </a:endParaRPr>
          </a:p>
        </p:txBody>
      </p:sp>
      <p:sp>
        <p:nvSpPr>
          <p:cNvPr id="100036" name="S02.Replay.Item3.CheckShort"/>
          <p:cNvSpPr/>
          <p:nvPr/>
        </p:nvSpPr>
        <p:spPr>
          <a:xfrm rot="2700000">
            <a:off x="6713808" y="2834285"/>
            <a:ext cx="96012" cy="39319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lIns="0" tIns="0" rIns="0" bIns="0">
            <a:noAutofit/>
          </a:bodyPr>
          <a:lstStyle/>
          <a:p>
            <a:endParaRPr lang="en-US" sz="1800">
              <a:solidFill>
                <a:srgbClr val="20354A"/>
              </a:solidFill>
              <a:latin typeface="Arial"/>
              <a:ea typeface="Arial"/>
            </a:endParaRPr>
          </a:p>
        </p:txBody>
      </p:sp>
      <p:sp>
        <p:nvSpPr>
          <p:cNvPr id="100037" name="S02.Replay.Item3.CheckLong"/>
          <p:cNvSpPr/>
          <p:nvPr/>
        </p:nvSpPr>
        <p:spPr>
          <a:xfrm rot="18900000">
            <a:off x="6754956" y="2808682"/>
            <a:ext cx="146304" cy="39319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lIns="0" tIns="0" rIns="0" bIns="0">
            <a:noAutofit/>
          </a:bodyPr>
          <a:lstStyle/>
          <a:p>
            <a:endParaRPr lang="en-US" sz="1800">
              <a:solidFill>
                <a:srgbClr val="20354A"/>
              </a:solidFill>
              <a:latin typeface="Arial"/>
              <a:ea typeface="Arial"/>
            </a:endParaRPr>
          </a:p>
        </p:txBody>
      </p:sp>
      <p:sp>
        <p:nvSpPr>
          <p:cNvPr id="100038" name="S02.Replay.Text3"/>
          <p:cNvSpPr txBox="1"/>
          <p:nvPr/>
        </p:nvSpPr>
        <p:spPr>
          <a:xfrm>
            <a:off x="7125288" y="2677008"/>
            <a:ext cx="4572000" cy="310896"/>
          </a:xfrm>
          <a:prstGeom prst="rect">
            <a:avLst/>
          </a:prstGeom>
          <a:noFill/>
          <a:ln>
            <a:noFill/>
          </a:ln>
        </p:spPr>
        <p:txBody>
          <a:bodyPr lIns="0" tIns="0" rIns="0" bIns="0">
            <a:noAutofit/>
          </a:bodyPr>
          <a:lstStyle/>
          <a:p>
            <a:r>
              <a:rPr lang="en-US" sz="1800">
                <a:solidFill>
                  <a:srgbClr val="20354A"/>
                </a:solidFill>
                <a:latin typeface="Arial"/>
                <a:ea typeface="Arial"/>
              </a:rPr>
              <a:t>Full-state extraction</a:t>
            </a:r>
          </a:p>
        </p:txBody>
      </p:sp>
      <p:sp>
        <p:nvSpPr>
          <p:cNvPr id="100039" name="S02.Replay.Item4.Badge"/>
          <p:cNvSpPr/>
          <p:nvPr/>
        </p:nvSpPr>
        <p:spPr>
          <a:xfrm>
            <a:off x="6640656" y="3067457"/>
            <a:ext cx="310896" cy="310896"/>
          </a:xfrm>
          <a:prstGeom prst="ellipse">
            <a:avLst/>
          </a:prstGeom>
          <a:solidFill>
            <a:srgbClr val="008C95"/>
          </a:solidFill>
          <a:ln>
            <a:noFill/>
          </a:ln>
        </p:spPr>
        <p:txBody>
          <a:bodyPr lIns="0" tIns="0" rIns="0" bIns="0">
            <a:noAutofit/>
          </a:bodyPr>
          <a:lstStyle/>
          <a:p>
            <a:endParaRPr lang="en-US" sz="1800">
              <a:solidFill>
                <a:srgbClr val="20354A"/>
              </a:solidFill>
              <a:latin typeface="Arial"/>
              <a:ea typeface="Arial"/>
            </a:endParaRPr>
          </a:p>
        </p:txBody>
      </p:sp>
      <p:sp>
        <p:nvSpPr>
          <p:cNvPr id="100040" name="S02.Replay.Item4.CheckShort"/>
          <p:cNvSpPr/>
          <p:nvPr/>
        </p:nvSpPr>
        <p:spPr>
          <a:xfrm rot="2700000">
            <a:off x="6713808" y="3227477"/>
            <a:ext cx="96012" cy="39319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lIns="0" tIns="0" rIns="0" bIns="0">
            <a:noAutofit/>
          </a:bodyPr>
          <a:lstStyle/>
          <a:p>
            <a:endParaRPr lang="en-US" sz="1800">
              <a:solidFill>
                <a:srgbClr val="20354A"/>
              </a:solidFill>
              <a:latin typeface="Arial"/>
              <a:ea typeface="Arial"/>
            </a:endParaRPr>
          </a:p>
        </p:txBody>
      </p:sp>
      <p:sp>
        <p:nvSpPr>
          <p:cNvPr id="100041" name="S02.Replay.Item4.CheckLong"/>
          <p:cNvSpPr/>
          <p:nvPr/>
        </p:nvSpPr>
        <p:spPr>
          <a:xfrm rot="18900000">
            <a:off x="6754956" y="3201874"/>
            <a:ext cx="146304" cy="39319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lIns="0" tIns="0" rIns="0" bIns="0">
            <a:noAutofit/>
          </a:bodyPr>
          <a:lstStyle/>
          <a:p>
            <a:endParaRPr lang="en-US" sz="1800">
              <a:solidFill>
                <a:srgbClr val="20354A"/>
              </a:solidFill>
              <a:latin typeface="Arial"/>
              <a:ea typeface="Arial"/>
            </a:endParaRPr>
          </a:p>
        </p:txBody>
      </p:sp>
      <p:sp>
        <p:nvSpPr>
          <p:cNvPr id="100042" name="S02.Replay.Text4"/>
          <p:cNvSpPr txBox="1"/>
          <p:nvPr/>
        </p:nvSpPr>
        <p:spPr>
          <a:xfrm>
            <a:off x="7125288" y="3084268"/>
            <a:ext cx="4572000" cy="310896"/>
          </a:xfrm>
          <a:prstGeom prst="rect">
            <a:avLst/>
          </a:prstGeom>
          <a:noFill/>
          <a:ln>
            <a:noFill/>
          </a:ln>
        </p:spPr>
        <p:txBody>
          <a:bodyPr lIns="0" tIns="0" rIns="0" bIns="0">
            <a:noAutofit/>
          </a:bodyPr>
          <a:lstStyle/>
          <a:p>
            <a:r>
              <a:rPr lang="en-US" sz="1800" dirty="0">
                <a:solidFill>
                  <a:srgbClr val="20354A"/>
                </a:solidFill>
                <a:latin typeface="Arial"/>
                <a:ea typeface="Arial"/>
              </a:rPr>
              <a:t>State restore</a:t>
            </a:r>
          </a:p>
        </p:txBody>
      </p:sp>
      <p:sp>
        <p:nvSpPr>
          <p:cNvPr id="100043" name="S02.Replay.Item5.Badge"/>
          <p:cNvSpPr/>
          <p:nvPr/>
        </p:nvSpPr>
        <p:spPr>
          <a:xfrm>
            <a:off x="6640656" y="3460649"/>
            <a:ext cx="310896" cy="310896"/>
          </a:xfrm>
          <a:prstGeom prst="ellipse">
            <a:avLst/>
          </a:prstGeom>
          <a:solidFill>
            <a:srgbClr val="008C95"/>
          </a:solidFill>
          <a:ln>
            <a:noFill/>
          </a:ln>
        </p:spPr>
        <p:txBody>
          <a:bodyPr lIns="0" tIns="0" rIns="0" bIns="0">
            <a:noAutofit/>
          </a:bodyPr>
          <a:lstStyle/>
          <a:p>
            <a:endParaRPr lang="en-US" sz="1800">
              <a:solidFill>
                <a:srgbClr val="20354A"/>
              </a:solidFill>
              <a:latin typeface="Arial"/>
              <a:ea typeface="Arial"/>
            </a:endParaRPr>
          </a:p>
        </p:txBody>
      </p:sp>
      <p:sp>
        <p:nvSpPr>
          <p:cNvPr id="100044" name="S02.Replay.Item5.CheckShort"/>
          <p:cNvSpPr/>
          <p:nvPr/>
        </p:nvSpPr>
        <p:spPr>
          <a:xfrm rot="2700000">
            <a:off x="6713808" y="3620669"/>
            <a:ext cx="96012" cy="39319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lIns="0" tIns="0" rIns="0" bIns="0">
            <a:noAutofit/>
          </a:bodyPr>
          <a:lstStyle/>
          <a:p>
            <a:endParaRPr lang="en-US" sz="1800">
              <a:solidFill>
                <a:srgbClr val="20354A"/>
              </a:solidFill>
              <a:latin typeface="Arial"/>
              <a:ea typeface="Arial"/>
            </a:endParaRPr>
          </a:p>
        </p:txBody>
      </p:sp>
      <p:sp>
        <p:nvSpPr>
          <p:cNvPr id="100045" name="S02.Replay.Item5.CheckLong"/>
          <p:cNvSpPr/>
          <p:nvPr/>
        </p:nvSpPr>
        <p:spPr>
          <a:xfrm rot="18900000">
            <a:off x="6754956" y="3595066"/>
            <a:ext cx="146304" cy="39319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lIns="0" tIns="0" rIns="0" bIns="0">
            <a:noAutofit/>
          </a:bodyPr>
          <a:lstStyle/>
          <a:p>
            <a:endParaRPr lang="en-US" sz="1800">
              <a:solidFill>
                <a:srgbClr val="20354A"/>
              </a:solidFill>
              <a:latin typeface="Arial"/>
              <a:ea typeface="Arial"/>
            </a:endParaRPr>
          </a:p>
        </p:txBody>
      </p:sp>
      <p:sp>
        <p:nvSpPr>
          <p:cNvPr id="100046" name="S02.Replay.Text5"/>
          <p:cNvSpPr txBox="1"/>
          <p:nvPr/>
        </p:nvSpPr>
        <p:spPr>
          <a:xfrm>
            <a:off x="7125288" y="3463392"/>
            <a:ext cx="4572000" cy="310896"/>
          </a:xfrm>
          <a:prstGeom prst="rect">
            <a:avLst/>
          </a:prstGeom>
          <a:noFill/>
          <a:ln>
            <a:noFill/>
          </a:ln>
        </p:spPr>
        <p:txBody>
          <a:bodyPr lIns="0" tIns="0" rIns="0" bIns="0">
            <a:noAutofit/>
          </a:bodyPr>
          <a:lstStyle/>
          <a:p>
            <a:r>
              <a:rPr lang="en-US" sz="1800" dirty="0">
                <a:solidFill>
                  <a:srgbClr val="20354A"/>
                </a:solidFill>
                <a:latin typeface="Arial"/>
                <a:ea typeface="Arial"/>
              </a:rPr>
              <a:t>Deterministic replay</a:t>
            </a:r>
          </a:p>
        </p:txBody>
      </p:sp>
      <p:sp>
        <p:nvSpPr>
          <p:cNvPr id="100047" name="S02.Replay.Item6.Badge"/>
          <p:cNvSpPr/>
          <p:nvPr/>
        </p:nvSpPr>
        <p:spPr>
          <a:xfrm>
            <a:off x="6640656" y="3853841"/>
            <a:ext cx="310896" cy="310896"/>
          </a:xfrm>
          <a:prstGeom prst="ellipse">
            <a:avLst/>
          </a:prstGeom>
          <a:solidFill>
            <a:srgbClr val="008C95"/>
          </a:solidFill>
          <a:ln>
            <a:noFill/>
          </a:ln>
        </p:spPr>
        <p:txBody>
          <a:bodyPr lIns="0" tIns="0" rIns="0" bIns="0">
            <a:noAutofit/>
          </a:bodyPr>
          <a:lstStyle/>
          <a:p>
            <a:endParaRPr lang="en-US" sz="1800">
              <a:solidFill>
                <a:srgbClr val="20354A"/>
              </a:solidFill>
              <a:latin typeface="Arial"/>
              <a:ea typeface="Arial"/>
            </a:endParaRPr>
          </a:p>
        </p:txBody>
      </p:sp>
      <p:sp>
        <p:nvSpPr>
          <p:cNvPr id="100048" name="S02.Replay.Item6.CheckShort"/>
          <p:cNvSpPr/>
          <p:nvPr/>
        </p:nvSpPr>
        <p:spPr>
          <a:xfrm rot="2700000">
            <a:off x="6713808" y="4013861"/>
            <a:ext cx="96012" cy="39319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lIns="0" tIns="0" rIns="0" bIns="0">
            <a:noAutofit/>
          </a:bodyPr>
          <a:lstStyle/>
          <a:p>
            <a:endParaRPr lang="en-US" sz="1800">
              <a:solidFill>
                <a:srgbClr val="20354A"/>
              </a:solidFill>
              <a:latin typeface="Arial"/>
              <a:ea typeface="Arial"/>
            </a:endParaRPr>
          </a:p>
        </p:txBody>
      </p:sp>
      <p:sp>
        <p:nvSpPr>
          <p:cNvPr id="100049" name="S02.Replay.Item6.CheckLong"/>
          <p:cNvSpPr/>
          <p:nvPr/>
        </p:nvSpPr>
        <p:spPr>
          <a:xfrm rot="18900000">
            <a:off x="6754956" y="3988258"/>
            <a:ext cx="146304" cy="39319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lIns="0" tIns="0" rIns="0" bIns="0">
            <a:noAutofit/>
          </a:bodyPr>
          <a:lstStyle/>
          <a:p>
            <a:endParaRPr lang="en-US" sz="1800">
              <a:solidFill>
                <a:srgbClr val="20354A"/>
              </a:solidFill>
              <a:latin typeface="Arial"/>
              <a:ea typeface="Arial"/>
            </a:endParaRPr>
          </a:p>
        </p:txBody>
      </p:sp>
      <p:sp>
        <p:nvSpPr>
          <p:cNvPr id="100050" name="S02.Replay.Text6"/>
          <p:cNvSpPr txBox="1"/>
          <p:nvPr/>
        </p:nvSpPr>
        <p:spPr>
          <a:xfrm>
            <a:off x="7125288" y="3856584"/>
            <a:ext cx="4572000" cy="310896"/>
          </a:xfrm>
          <a:prstGeom prst="rect">
            <a:avLst/>
          </a:prstGeom>
          <a:noFill/>
          <a:ln>
            <a:noFill/>
          </a:ln>
        </p:spPr>
        <p:txBody>
          <a:bodyPr lIns="0" tIns="0" rIns="0" bIns="0">
            <a:noAutofit/>
          </a:bodyPr>
          <a:lstStyle/>
          <a:p>
            <a:r>
              <a:rPr lang="en-US" sz="1800" dirty="0">
                <a:solidFill>
                  <a:srgbClr val="20354A"/>
                </a:solidFill>
                <a:latin typeface="Arial"/>
                <a:ea typeface="Arial"/>
              </a:rPr>
              <a:t>Waveform reconstruction</a:t>
            </a:r>
          </a:p>
        </p:txBody>
      </p:sp>
      <p:pic>
        <p:nvPicPr>
          <p:cNvPr id="100051" name="S02.Prototype.FPGA1" descr="FPGA chip"/>
          <p:cNvPicPr>
            <a:picLocks noChangeAspect="1"/>
          </p:cNvPicPr>
          <p:nvPr/>
        </p:nvPicPr>
        <p:blipFill>
          <a:blip r:embed="rId3"/>
          <a:srcRect l="21371" t="23684" r="21291" b="20972"/>
          <a:stretch>
            <a:fillRect/>
          </a:stretch>
        </p:blipFill>
        <p:spPr>
          <a:xfrm>
            <a:off x="996696" y="4901184"/>
            <a:ext cx="859536" cy="829650"/>
          </a:xfrm>
          <a:prstGeom prst="rect">
            <a:avLst/>
          </a:prstGeom>
        </p:spPr>
      </p:pic>
      <p:pic>
        <p:nvPicPr>
          <p:cNvPr id="100052" name="S02.Prototype.FPGA2" descr="FPGA chip"/>
          <p:cNvPicPr>
            <a:picLocks noChangeAspect="1"/>
          </p:cNvPicPr>
          <p:nvPr/>
        </p:nvPicPr>
        <p:blipFill>
          <a:blip r:embed="rId3"/>
          <a:srcRect l="21371" t="23684" r="21291" b="20972"/>
          <a:stretch>
            <a:fillRect/>
          </a:stretch>
        </p:blipFill>
        <p:spPr>
          <a:xfrm>
            <a:off x="2734056" y="4901184"/>
            <a:ext cx="859536" cy="829650"/>
          </a:xfrm>
          <a:prstGeom prst="rect">
            <a:avLst/>
          </a:prstGeom>
        </p:spPr>
      </p:pic>
      <p:pic>
        <p:nvPicPr>
          <p:cNvPr id="100053" name="S02.Prototype.FPGA3" descr="FPGA chip"/>
          <p:cNvPicPr>
            <a:picLocks noChangeAspect="1"/>
          </p:cNvPicPr>
          <p:nvPr/>
        </p:nvPicPr>
        <p:blipFill>
          <a:blip r:embed="rId3"/>
          <a:srcRect l="21371" t="23684" r="21291" b="20972"/>
          <a:stretch>
            <a:fillRect/>
          </a:stretch>
        </p:blipFill>
        <p:spPr>
          <a:xfrm>
            <a:off x="4471416" y="4901184"/>
            <a:ext cx="859536" cy="829650"/>
          </a:xfrm>
          <a:prstGeom prst="rect">
            <a:avLst/>
          </a:prstGeom>
        </p:spPr>
      </p:pic>
      <p:sp>
        <p:nvSpPr>
          <p:cNvPr id="100054" name="S02.Prototype.Run"/>
          <p:cNvSpPr txBox="1"/>
          <p:nvPr/>
        </p:nvSpPr>
        <p:spPr>
          <a:xfrm>
            <a:off x="2432304" y="4599432"/>
            <a:ext cx="1463040" cy="274320"/>
          </a:xfrm>
          <a:prstGeom prst="rect">
            <a:avLst/>
          </a:prstGeom>
          <a:noFill/>
          <a:ln>
            <a:noFill/>
          </a:ln>
        </p:spPr>
        <p:txBody>
          <a:bodyPr lIns="0" tIns="0" rIns="0" bIns="0">
            <a:noAutofit/>
          </a:bodyPr>
          <a:lstStyle/>
          <a:p>
            <a:pPr algn="ctr"/>
            <a:r>
              <a:rPr lang="en-US" sz="1800" b="1">
                <a:solidFill>
                  <a:srgbClr val="183B56"/>
                </a:solidFill>
                <a:latin typeface="Arial"/>
                <a:ea typeface="Arial"/>
              </a:rPr>
              <a:t>Run</a:t>
            </a:r>
          </a:p>
        </p:txBody>
      </p:sp>
      <p:sp>
        <p:nvSpPr>
          <p:cNvPr id="100057" name="S02.Prototype.VisibilityArrow"/>
          <p:cNvSpPr/>
          <p:nvPr/>
        </p:nvSpPr>
        <p:spPr>
          <a:xfrm>
            <a:off x="3026664" y="5779008"/>
            <a:ext cx="274320" cy="274320"/>
          </a:xfrm>
          <a:prstGeom prst="downArrow">
            <a:avLst/>
          </a:prstGeom>
          <a:solidFill>
            <a:srgbClr val="91A5B5"/>
          </a:solidFill>
          <a:ln>
            <a:noFill/>
          </a:ln>
        </p:spPr>
        <p:txBody>
          <a:bodyPr lIns="0" tIns="0" rIns="0" bIns="0">
            <a:noAutofit/>
          </a:bodyPr>
          <a:lstStyle/>
          <a:p>
            <a:endParaRPr lang="en-US" sz="1800">
              <a:solidFill>
                <a:srgbClr val="20354A"/>
              </a:solidFill>
              <a:latin typeface="Arial"/>
              <a:ea typeface="Arial"/>
            </a:endParaRPr>
          </a:p>
        </p:txBody>
      </p:sp>
      <p:sp>
        <p:nvSpPr>
          <p:cNvPr id="100058" name="S02.Prototype.Visibility"/>
          <p:cNvSpPr/>
          <p:nvPr/>
        </p:nvSpPr>
        <p:spPr>
          <a:xfrm>
            <a:off x="1920240" y="6071616"/>
            <a:ext cx="2487168" cy="365760"/>
          </a:xfrm>
          <a:prstGeom prst="roundRect">
            <a:avLst>
              <a:gd name="adj" fmla="val 15000"/>
            </a:avLst>
          </a:prstGeom>
          <a:solidFill>
            <a:srgbClr val="E0E7EC"/>
          </a:solidFill>
          <a:ln>
            <a:noFill/>
          </a:ln>
        </p:spPr>
        <p:txBody>
          <a:bodyPr lIns="0" tIns="0" rIns="0" bIns="0" anchor="ctr">
            <a:noAutofit/>
          </a:bodyPr>
          <a:lstStyle/>
          <a:p>
            <a:pPr algn="ctr"/>
            <a:r>
              <a:rPr lang="en-US" sz="1800" b="1" dirty="0">
                <a:solidFill>
                  <a:srgbClr val="183B56"/>
                </a:solidFill>
                <a:latin typeface="Arial"/>
                <a:ea typeface="Arial"/>
              </a:rPr>
              <a:t>Limited visibility</a:t>
            </a:r>
          </a:p>
        </p:txBody>
      </p:sp>
      <p:sp>
        <p:nvSpPr>
          <p:cNvPr id="100059" name="S02.Workflow.Run"/>
          <p:cNvSpPr/>
          <p:nvPr/>
        </p:nvSpPr>
        <p:spPr>
          <a:xfrm>
            <a:off x="6382512" y="5074920"/>
            <a:ext cx="950976" cy="466344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 w="15240">
            <a:solidFill>
              <a:srgbClr val="008C95"/>
            </a:solidFill>
          </a:ln>
        </p:spPr>
        <p:txBody>
          <a:bodyPr lIns="0" tIns="0" rIns="0" bIns="0" anchor="ctr">
            <a:noAutofit/>
          </a:bodyPr>
          <a:lstStyle/>
          <a:p>
            <a:pPr algn="ctr"/>
            <a:r>
              <a:rPr lang="en-US" sz="1600" b="1">
                <a:solidFill>
                  <a:srgbClr val="183B56"/>
                </a:solidFill>
                <a:latin typeface="Arial"/>
                <a:ea typeface="Arial"/>
              </a:rPr>
              <a:t>Run</a:t>
            </a:r>
          </a:p>
        </p:txBody>
      </p:sp>
      <p:sp>
        <p:nvSpPr>
          <p:cNvPr id="100060" name="S02.Workflow.Pause"/>
          <p:cNvSpPr/>
          <p:nvPr/>
        </p:nvSpPr>
        <p:spPr>
          <a:xfrm>
            <a:off x="7470648" y="5074920"/>
            <a:ext cx="950976" cy="466344"/>
          </a:xfrm>
          <a:prstGeom prst="roundRect">
            <a:avLst>
              <a:gd name="adj" fmla="val 14000"/>
            </a:avLst>
          </a:prstGeom>
          <a:solidFill>
            <a:srgbClr val="FFF0D8"/>
          </a:solidFill>
          <a:ln w="15240">
            <a:solidFill>
              <a:srgbClr val="DF973E"/>
            </a:solidFill>
          </a:ln>
        </p:spPr>
        <p:txBody>
          <a:bodyPr lIns="0" tIns="0" rIns="0" bIns="0" anchor="ctr">
            <a:noAutofit/>
          </a:bodyPr>
          <a:lstStyle/>
          <a:p>
            <a:pPr algn="ctr"/>
            <a:r>
              <a:rPr lang="en-US" sz="1600" b="1">
                <a:solidFill>
                  <a:srgbClr val="183B56"/>
                </a:solidFill>
                <a:latin typeface="Arial"/>
                <a:ea typeface="Arial"/>
              </a:rPr>
              <a:t>Pause</a:t>
            </a:r>
          </a:p>
        </p:txBody>
      </p:sp>
      <p:sp>
        <p:nvSpPr>
          <p:cNvPr id="100061" name="S02.Workflow.Dump"/>
          <p:cNvSpPr/>
          <p:nvPr/>
        </p:nvSpPr>
        <p:spPr>
          <a:xfrm>
            <a:off x="8558784" y="5074920"/>
            <a:ext cx="950976" cy="466344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 w="15240">
            <a:solidFill>
              <a:srgbClr val="008C95"/>
            </a:solidFill>
          </a:ln>
        </p:spPr>
        <p:txBody>
          <a:bodyPr lIns="0" tIns="0" rIns="0" bIns="0" anchor="ctr">
            <a:noAutofit/>
          </a:bodyPr>
          <a:lstStyle/>
          <a:p>
            <a:pPr algn="ctr"/>
            <a:r>
              <a:rPr lang="en-US" sz="1600" b="1">
                <a:solidFill>
                  <a:srgbClr val="183B56"/>
                </a:solidFill>
                <a:latin typeface="Arial"/>
                <a:ea typeface="Arial"/>
              </a:rPr>
              <a:t>Dump</a:t>
            </a:r>
          </a:p>
        </p:txBody>
      </p:sp>
      <p:sp>
        <p:nvSpPr>
          <p:cNvPr id="100062" name="S02.Workflow.Restore"/>
          <p:cNvSpPr/>
          <p:nvPr/>
        </p:nvSpPr>
        <p:spPr>
          <a:xfrm>
            <a:off x="9646920" y="5074920"/>
            <a:ext cx="950976" cy="466344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 w="15240">
            <a:solidFill>
              <a:srgbClr val="008C95"/>
            </a:solidFill>
          </a:ln>
        </p:spPr>
        <p:txBody>
          <a:bodyPr lIns="0" tIns="0" rIns="0" bIns="0" anchor="ctr">
            <a:noAutofit/>
          </a:bodyPr>
          <a:lstStyle/>
          <a:p>
            <a:pPr algn="ctr"/>
            <a:r>
              <a:rPr lang="en-US" sz="1600" b="1">
                <a:solidFill>
                  <a:srgbClr val="183B56"/>
                </a:solidFill>
                <a:latin typeface="Arial"/>
                <a:ea typeface="Arial"/>
              </a:rPr>
              <a:t>Restore</a:t>
            </a:r>
          </a:p>
        </p:txBody>
      </p:sp>
      <p:sp>
        <p:nvSpPr>
          <p:cNvPr id="100063" name="S02.Workflow.Replay"/>
          <p:cNvSpPr/>
          <p:nvPr/>
        </p:nvSpPr>
        <p:spPr>
          <a:xfrm>
            <a:off x="10735056" y="5074920"/>
            <a:ext cx="950976" cy="466344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 w="15240">
            <a:solidFill>
              <a:srgbClr val="008C95"/>
            </a:solidFill>
          </a:ln>
        </p:spPr>
        <p:txBody>
          <a:bodyPr lIns="0" tIns="0" rIns="0" bIns="0" anchor="ctr">
            <a:noAutofit/>
          </a:bodyPr>
          <a:lstStyle/>
          <a:p>
            <a:pPr algn="ctr"/>
            <a:r>
              <a:rPr lang="en-US" sz="1600" b="1">
                <a:solidFill>
                  <a:srgbClr val="183B56"/>
                </a:solidFill>
                <a:latin typeface="Arial"/>
                <a:ea typeface="Arial"/>
              </a:rPr>
              <a:t>Replay</a:t>
            </a:r>
          </a:p>
        </p:txBody>
      </p:sp>
      <p:cxnSp>
        <p:nvCxnSpPr>
          <p:cNvPr id="100064" name="S02.Workflow.RunToPause"/>
          <p:cNvCxnSpPr>
            <a:stCxn id="100059" idx="0"/>
            <a:endCxn id="100060" idx="0"/>
          </p:cNvCxnSpPr>
          <p:nvPr/>
        </p:nvCxnSpPr>
        <p:spPr>
          <a:xfrm>
            <a:off x="7333488" y="5308092"/>
            <a:ext cx="137160" cy="0"/>
          </a:xfrm>
          <a:prstGeom prst="straightConnector1">
            <a:avLst/>
          </a:prstGeom>
          <a:ln w="22860">
            <a:solidFill>
              <a:srgbClr val="183B56"/>
            </a:solidFill>
            <a:tailEnd type="triangle"/>
          </a:ln>
        </p:spPr>
      </p:cxnSp>
      <p:cxnSp>
        <p:nvCxnSpPr>
          <p:cNvPr id="100065" name="S02.Workflow.PauseToDump"/>
          <p:cNvCxnSpPr>
            <a:stCxn id="100060" idx="0"/>
            <a:endCxn id="100061" idx="0"/>
          </p:cNvCxnSpPr>
          <p:nvPr/>
        </p:nvCxnSpPr>
        <p:spPr>
          <a:xfrm>
            <a:off x="8421624" y="5308092"/>
            <a:ext cx="137160" cy="0"/>
          </a:xfrm>
          <a:prstGeom prst="straightConnector1">
            <a:avLst/>
          </a:prstGeom>
          <a:ln w="22860">
            <a:solidFill>
              <a:srgbClr val="183B56"/>
            </a:solidFill>
            <a:tailEnd type="triangle"/>
          </a:ln>
        </p:spPr>
      </p:cxnSp>
      <p:cxnSp>
        <p:nvCxnSpPr>
          <p:cNvPr id="100066" name="S02.Workflow.DumpToRestore"/>
          <p:cNvCxnSpPr>
            <a:stCxn id="100061" idx="0"/>
            <a:endCxn id="100062" idx="0"/>
          </p:cNvCxnSpPr>
          <p:nvPr/>
        </p:nvCxnSpPr>
        <p:spPr>
          <a:xfrm>
            <a:off x="9509760" y="5308092"/>
            <a:ext cx="137160" cy="0"/>
          </a:xfrm>
          <a:prstGeom prst="straightConnector1">
            <a:avLst/>
          </a:prstGeom>
          <a:ln w="22860">
            <a:solidFill>
              <a:srgbClr val="183B56"/>
            </a:solidFill>
            <a:tailEnd type="triangle"/>
          </a:ln>
        </p:spPr>
      </p:cxnSp>
      <p:cxnSp>
        <p:nvCxnSpPr>
          <p:cNvPr id="100067" name="S02.Workflow.RestoreToReplay"/>
          <p:cNvCxnSpPr>
            <a:stCxn id="100062" idx="0"/>
            <a:endCxn id="100063" idx="0"/>
          </p:cNvCxnSpPr>
          <p:nvPr/>
        </p:nvCxnSpPr>
        <p:spPr>
          <a:xfrm>
            <a:off x="10597896" y="5308092"/>
            <a:ext cx="137160" cy="0"/>
          </a:xfrm>
          <a:prstGeom prst="straightConnector1">
            <a:avLst/>
          </a:prstGeom>
          <a:ln w="22860">
            <a:solidFill>
              <a:srgbClr val="183B56"/>
            </a:solidFill>
            <a:tailEnd type="triangle"/>
          </a:ln>
        </p:spPr>
      </p:cxnSp>
      <p:cxnSp>
        <p:nvCxnSpPr>
          <p:cNvPr id="100068" name="S02.Workflow.ReturnTop"/>
          <p:cNvCxnSpPr/>
          <p:nvPr/>
        </p:nvCxnSpPr>
        <p:spPr>
          <a:xfrm>
            <a:off x="6858000" y="4773168"/>
            <a:ext cx="4352544" cy="0"/>
          </a:xfrm>
          <a:prstGeom prst="straightConnector1">
            <a:avLst/>
          </a:prstGeom>
          <a:ln w="31750">
            <a:solidFill>
              <a:srgbClr val="DF973E"/>
            </a:solidFill>
          </a:ln>
        </p:spPr>
      </p:cxnSp>
      <p:cxnSp>
        <p:nvCxnSpPr>
          <p:cNvPr id="100069" name="S02.Workflow.ReturnRight"/>
          <p:cNvCxnSpPr/>
          <p:nvPr/>
        </p:nvCxnSpPr>
        <p:spPr>
          <a:xfrm>
            <a:off x="11210544" y="4773168"/>
            <a:ext cx="0" cy="301752"/>
          </a:xfrm>
          <a:prstGeom prst="straightConnector1">
            <a:avLst/>
          </a:prstGeom>
          <a:ln w="31750">
            <a:solidFill>
              <a:srgbClr val="DF973E"/>
            </a:solidFill>
          </a:ln>
        </p:spPr>
      </p:cxnSp>
      <p:cxnSp>
        <p:nvCxnSpPr>
          <p:cNvPr id="100070" name="S02.Workflow.ReturnLeft"/>
          <p:cNvCxnSpPr/>
          <p:nvPr/>
        </p:nvCxnSpPr>
        <p:spPr>
          <a:xfrm>
            <a:off x="6858000" y="4773168"/>
            <a:ext cx="0" cy="301752"/>
          </a:xfrm>
          <a:prstGeom prst="straightConnector1">
            <a:avLst/>
          </a:prstGeom>
          <a:ln w="31750">
            <a:solidFill>
              <a:srgbClr val="DF973E"/>
            </a:solidFill>
            <a:tailEnd type="triangle"/>
          </a:ln>
        </p:spPr>
      </p:cxnSp>
      <p:pic>
        <p:nvPicPr>
          <p:cNvPr id="100071" name="S02.Workflow.Snapshot" descr="Global snapshot"/>
          <p:cNvPicPr>
            <a:picLocks noChangeAspect="1"/>
          </p:cNvPicPr>
          <p:nvPr/>
        </p:nvPicPr>
        <p:blipFill>
          <a:blip r:embed="rId4"/>
          <a:srcRect l="16746" t="16427" r="16746" b="11961"/>
          <a:stretch>
            <a:fillRect/>
          </a:stretch>
        </p:blipFill>
        <p:spPr>
          <a:xfrm>
            <a:off x="8782812" y="5742432"/>
            <a:ext cx="502920" cy="541513"/>
          </a:xfrm>
          <a:prstGeom prst="rect">
            <a:avLst/>
          </a:prstGeom>
        </p:spPr>
      </p:pic>
      <p:pic>
        <p:nvPicPr>
          <p:cNvPr id="100072" name="S02.Workflow.Waveform" descr="Waveform monitor"/>
          <p:cNvPicPr>
            <a:picLocks noChangeAspect="1"/>
          </p:cNvPicPr>
          <p:nvPr/>
        </p:nvPicPr>
        <p:blipFill>
          <a:blip r:embed="rId5"/>
          <a:srcRect l="12280" t="25518" r="12200" b="19936"/>
          <a:stretch>
            <a:fillRect/>
          </a:stretch>
        </p:blipFill>
        <p:spPr>
          <a:xfrm>
            <a:off x="10844784" y="5751576"/>
            <a:ext cx="731520" cy="528363"/>
          </a:xfrm>
          <a:prstGeom prst="rect">
            <a:avLst/>
          </a:prstGeom>
        </p:spPr>
      </p:pic>
      <p:cxnSp>
        <p:nvCxnSpPr>
          <p:cNvPr id="100073" name="S02.Workflow.DumpOutput"/>
          <p:cNvCxnSpPr>
            <a:stCxn id="100061" idx="0"/>
            <a:endCxn id="100071" idx="0"/>
          </p:cNvCxnSpPr>
          <p:nvPr/>
        </p:nvCxnSpPr>
        <p:spPr>
          <a:xfrm>
            <a:off x="9034272" y="5541264"/>
            <a:ext cx="0" cy="201168"/>
          </a:xfrm>
          <a:prstGeom prst="straightConnector1">
            <a:avLst/>
          </a:prstGeom>
          <a:ln w="22860">
            <a:solidFill>
              <a:srgbClr val="183B56"/>
            </a:solidFill>
            <a:tailEnd type="triangle"/>
          </a:ln>
        </p:spPr>
      </p:cxnSp>
      <p:cxnSp>
        <p:nvCxnSpPr>
          <p:cNvPr id="100074" name="S02.Workflow.ReplayOutput"/>
          <p:cNvCxnSpPr>
            <a:stCxn id="100063" idx="0"/>
            <a:endCxn id="100072" idx="0"/>
          </p:cNvCxnSpPr>
          <p:nvPr/>
        </p:nvCxnSpPr>
        <p:spPr>
          <a:xfrm>
            <a:off x="11210544" y="5541264"/>
            <a:ext cx="0" cy="210312"/>
          </a:xfrm>
          <a:prstGeom prst="straightConnector1">
            <a:avLst/>
          </a:prstGeom>
          <a:ln w="22860">
            <a:solidFill>
              <a:srgbClr val="183B56"/>
            </a:solidFill>
            <a:tailEnd type="triangle"/>
          </a:ln>
        </p:spPr>
      </p:cxnSp>
      <p:sp>
        <p:nvSpPr>
          <p:cNvPr id="100075" name="S02.Workflow.SnapshotLabel"/>
          <p:cNvSpPr txBox="1"/>
          <p:nvPr/>
        </p:nvSpPr>
        <p:spPr>
          <a:xfrm>
            <a:off x="8119872" y="6336792"/>
            <a:ext cx="1828800" cy="228600"/>
          </a:xfrm>
          <a:prstGeom prst="rect">
            <a:avLst/>
          </a:prstGeom>
          <a:noFill/>
          <a:ln>
            <a:noFill/>
          </a:ln>
        </p:spPr>
        <p:txBody>
          <a:bodyPr lIns="0" tIns="0" rIns="0" bIns="0">
            <a:noAutofit/>
          </a:bodyPr>
          <a:lstStyle/>
          <a:p>
            <a:pPr algn="ctr"/>
            <a:r>
              <a:rPr lang="en-US" sz="1400">
                <a:solidFill>
                  <a:srgbClr val="183B56"/>
                </a:solidFill>
                <a:latin typeface="Arial"/>
                <a:ea typeface="Arial"/>
              </a:rPr>
              <a:t>Global snapshot</a:t>
            </a:r>
          </a:p>
        </p:txBody>
      </p:sp>
      <p:sp>
        <p:nvSpPr>
          <p:cNvPr id="100076" name="S02.Workflow.WaveformLabel"/>
          <p:cNvSpPr txBox="1"/>
          <p:nvPr/>
        </p:nvSpPr>
        <p:spPr>
          <a:xfrm>
            <a:off x="10625328" y="6336792"/>
            <a:ext cx="1170432" cy="228600"/>
          </a:xfrm>
          <a:prstGeom prst="rect">
            <a:avLst/>
          </a:prstGeom>
          <a:noFill/>
          <a:ln>
            <a:noFill/>
          </a:ln>
        </p:spPr>
        <p:txBody>
          <a:bodyPr lIns="0" tIns="0" rIns="0" bIns="0">
            <a:noAutofit/>
          </a:bodyPr>
          <a:lstStyle/>
          <a:p>
            <a:pPr algn="ctr"/>
            <a:r>
              <a:rPr lang="en-US" sz="1400">
                <a:solidFill>
                  <a:srgbClr val="183B56"/>
                </a:solidFill>
                <a:latin typeface="Arial"/>
                <a:ea typeface="Arial"/>
              </a:rPr>
              <a:t>Waveform</a:t>
            </a:r>
          </a:p>
        </p:txBody>
      </p:sp>
      <p:sp>
        <p:nvSpPr>
          <p:cNvPr id="100077" name="S02.PageNumber"/>
          <p:cNvSpPr txBox="1"/>
          <p:nvPr/>
        </p:nvSpPr>
        <p:spPr>
          <a:xfrm>
            <a:off x="11631168" y="6629400"/>
            <a:ext cx="228600" cy="182880"/>
          </a:xfrm>
          <a:prstGeom prst="rect">
            <a:avLst/>
          </a:prstGeom>
          <a:noFill/>
          <a:ln>
            <a:noFill/>
          </a:ln>
        </p:spPr>
        <p:txBody>
          <a:bodyPr lIns="0" tIns="0" rIns="0" bIns="0">
            <a:noAutofit/>
          </a:bodyPr>
          <a:lstStyle/>
          <a:p>
            <a:pPr algn="r"/>
            <a:r>
              <a:rPr lang="en-US" sz="1000">
                <a:solidFill>
                  <a:srgbClr val="607184"/>
                </a:solidFill>
                <a:latin typeface="Arial"/>
                <a:ea typeface="Arial"/>
              </a:rPr>
              <a:t>2</a:t>
            </a:r>
          </a:p>
        </p:txBody>
      </p:sp>
      <p:sp>
        <p:nvSpPr>
          <p:cNvPr id="4" name="S01.MultiFPGA.Link">
            <a:extLst>
              <a:ext uri="{FF2B5EF4-FFF2-40B4-BE49-F238E27FC236}">
                <a16:creationId xmlns:a16="http://schemas.microsoft.com/office/drawing/2014/main" id="{EF9F6CEB-9EEC-694B-0E36-438D57F1643D}"/>
              </a:ext>
            </a:extLst>
          </p:cNvPr>
          <p:cNvSpPr/>
          <p:nvPr/>
        </p:nvSpPr>
        <p:spPr>
          <a:xfrm>
            <a:off x="1892103" y="5152629"/>
            <a:ext cx="829549" cy="287803"/>
          </a:xfrm>
          <a:prstGeom prst="leftRightArrow">
            <a:avLst>
              <a:gd name="adj1" fmla="val 44000"/>
              <a:gd name="adj2" fmla="val 28000"/>
            </a:avLst>
          </a:prstGeom>
          <a:solidFill>
            <a:srgbClr val="DF973E"/>
          </a:solidFill>
          <a:ln>
            <a:noFill/>
          </a:ln>
        </p:spPr>
        <p:txBody>
          <a:bodyPr lIns="0" tIns="0" rIns="0" bIns="0">
            <a:noAutofit/>
          </a:bodyPr>
          <a:lstStyle/>
          <a:p>
            <a:endParaRPr lang="en-US" sz="1800" dirty="0">
              <a:solidFill>
                <a:srgbClr val="20354A"/>
              </a:solidFill>
              <a:latin typeface="Arial"/>
              <a:ea typeface="Arial"/>
            </a:endParaRPr>
          </a:p>
        </p:txBody>
      </p:sp>
      <p:sp>
        <p:nvSpPr>
          <p:cNvPr id="5" name="S01.MultiFPGA.Link">
            <a:extLst>
              <a:ext uri="{FF2B5EF4-FFF2-40B4-BE49-F238E27FC236}">
                <a16:creationId xmlns:a16="http://schemas.microsoft.com/office/drawing/2014/main" id="{EC527D50-C046-76E5-02C4-B7F7A00B1B6D}"/>
              </a:ext>
            </a:extLst>
          </p:cNvPr>
          <p:cNvSpPr/>
          <p:nvPr/>
        </p:nvSpPr>
        <p:spPr>
          <a:xfrm>
            <a:off x="3641867" y="5164190"/>
            <a:ext cx="829549" cy="287803"/>
          </a:xfrm>
          <a:prstGeom prst="leftRightArrow">
            <a:avLst>
              <a:gd name="adj1" fmla="val 44000"/>
              <a:gd name="adj2" fmla="val 28000"/>
            </a:avLst>
          </a:prstGeom>
          <a:solidFill>
            <a:srgbClr val="DF973E"/>
          </a:solidFill>
          <a:ln>
            <a:noFill/>
          </a:ln>
        </p:spPr>
        <p:txBody>
          <a:bodyPr lIns="0" tIns="0" rIns="0" bIns="0">
            <a:noAutofit/>
          </a:bodyPr>
          <a:lstStyle/>
          <a:p>
            <a:endParaRPr lang="en-US" sz="1800" dirty="0">
              <a:solidFill>
                <a:srgbClr val="20354A"/>
              </a:solidFill>
              <a:latin typeface="Arial"/>
              <a:ea typeface="Arial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03.Title"/>
          <p:cNvSpPr>
            <a:spLocks noGrp="1"/>
          </p:cNvSpPr>
          <p:nvPr>
            <p:ph type="title"/>
          </p:nvPr>
        </p:nvSpPr>
        <p:spPr>
          <a:xfrm>
            <a:off x="320040" y="128016"/>
            <a:ext cx="11558016" cy="493776"/>
          </a:xfrm>
          <a:noFill/>
          <a:ln>
            <a:noFill/>
          </a:ln>
        </p:spPr>
        <p:txBody>
          <a:bodyPr lIns="0" tIns="0" rIns="0" bIns="0">
            <a:noAutofit/>
          </a:bodyPr>
          <a:lstStyle/>
          <a:p>
            <a:r>
              <a:rPr lang="en-US" sz="3000" b="1" dirty="0">
                <a:solidFill>
                  <a:srgbClr val="183B56"/>
                </a:solidFill>
                <a:latin typeface="Arial"/>
                <a:ea typeface="Arial"/>
              </a:rPr>
              <a:t>Key Challenges of </a:t>
            </a:r>
            <a:r>
              <a:rPr lang="en-US" sz="3000" b="1" dirty="0" err="1">
                <a:solidFill>
                  <a:srgbClr val="183B56"/>
                </a:solidFill>
                <a:latin typeface="Arial"/>
                <a:ea typeface="Arial"/>
              </a:rPr>
              <a:t>Replayable</a:t>
            </a:r>
            <a:r>
              <a:rPr lang="en-US" sz="3000" b="1" dirty="0">
                <a:solidFill>
                  <a:srgbClr val="183B56"/>
                </a:solidFill>
                <a:latin typeface="Arial"/>
                <a:ea typeface="Arial"/>
              </a:rPr>
              <a:t> Multi-FPGA Emulation</a:t>
            </a:r>
          </a:p>
        </p:txBody>
      </p:sp>
      <p:sp>
        <p:nvSpPr>
          <p:cNvPr id="100000" name="S03.TitleRule"/>
          <p:cNvSpPr/>
          <p:nvPr/>
        </p:nvSpPr>
        <p:spPr>
          <a:xfrm>
            <a:off x="320040" y="713232"/>
            <a:ext cx="11558016" cy="25400"/>
          </a:xfrm>
          <a:prstGeom prst="rect">
            <a:avLst/>
          </a:prstGeom>
          <a:solidFill>
            <a:srgbClr val="008C95"/>
          </a:solidFill>
          <a:ln>
            <a:noFill/>
          </a:ln>
        </p:spPr>
        <p:txBody>
          <a:bodyPr lIns="0" tIns="0" rIns="0" bIns="0">
            <a:noAutofit/>
          </a:bodyPr>
          <a:lstStyle/>
          <a:p>
            <a:endParaRPr lang="en-US" sz="1800">
              <a:solidFill>
                <a:srgbClr val="20354A"/>
              </a:solidFill>
              <a:latin typeface="Arial"/>
              <a:ea typeface="Arial"/>
            </a:endParaRPr>
          </a:p>
        </p:txBody>
      </p:sp>
      <p:sp>
        <p:nvSpPr>
          <p:cNvPr id="100001" name="S03.Cycle.Panel"/>
          <p:cNvSpPr/>
          <p:nvPr/>
        </p:nvSpPr>
        <p:spPr>
          <a:xfrm>
            <a:off x="320040" y="939720"/>
            <a:ext cx="5687568" cy="2404872"/>
          </a:xfrm>
          <a:prstGeom prst="roundRect">
            <a:avLst>
              <a:gd name="adj" fmla="val 6500"/>
            </a:avLst>
          </a:prstGeom>
          <a:solidFill>
            <a:srgbClr val="EAF4F3"/>
          </a:solidFill>
          <a:ln>
            <a:noFill/>
          </a:ln>
        </p:spPr>
        <p:txBody>
          <a:bodyPr lIns="0" tIns="0" rIns="0" bIns="0">
            <a:noAutofit/>
          </a:bodyPr>
          <a:lstStyle/>
          <a:p>
            <a:endParaRPr lang="en-US" sz="1800">
              <a:solidFill>
                <a:srgbClr val="20354A"/>
              </a:solidFill>
              <a:latin typeface="Arial"/>
              <a:ea typeface="Arial"/>
            </a:endParaRPr>
          </a:p>
        </p:txBody>
      </p:sp>
      <p:sp>
        <p:nvSpPr>
          <p:cNvPr id="100002" name="S03.Cycle.Divider"/>
          <p:cNvSpPr/>
          <p:nvPr/>
        </p:nvSpPr>
        <p:spPr>
          <a:xfrm>
            <a:off x="2313432" y="1252728"/>
            <a:ext cx="8230" cy="1947672"/>
          </a:xfrm>
          <a:prstGeom prst="rect">
            <a:avLst/>
          </a:prstGeom>
          <a:solidFill>
            <a:srgbClr val="BDCBD4"/>
          </a:solidFill>
          <a:ln>
            <a:noFill/>
          </a:ln>
        </p:spPr>
        <p:txBody>
          <a:bodyPr lIns="0" tIns="0" rIns="0" bIns="0">
            <a:noAutofit/>
          </a:bodyPr>
          <a:lstStyle/>
          <a:p>
            <a:endParaRPr lang="en-US" sz="1800">
              <a:solidFill>
                <a:srgbClr val="20354A"/>
              </a:solidFill>
              <a:latin typeface="Arial"/>
              <a:ea typeface="Arial"/>
            </a:endParaRPr>
          </a:p>
        </p:txBody>
      </p:sp>
      <p:sp>
        <p:nvSpPr>
          <p:cNvPr id="100003" name="S03.Cycle.Heading"/>
          <p:cNvSpPr txBox="1"/>
          <p:nvPr/>
        </p:nvSpPr>
        <p:spPr>
          <a:xfrm>
            <a:off x="2504542" y="1234440"/>
            <a:ext cx="3264408" cy="640080"/>
          </a:xfrm>
          <a:prstGeom prst="rect">
            <a:avLst/>
          </a:prstGeom>
          <a:noFill/>
          <a:ln>
            <a:noFill/>
          </a:ln>
        </p:spPr>
        <p:txBody>
          <a:bodyPr lIns="0" tIns="0" rIns="0" bIns="0">
            <a:noAutofit/>
          </a:bodyPr>
          <a:lstStyle/>
          <a:p>
            <a:r>
              <a:rPr lang="en-US" sz="2000" b="1" dirty="0">
                <a:solidFill>
                  <a:srgbClr val="183B56"/>
                </a:solidFill>
                <a:latin typeface="Arial"/>
                <a:ea typeface="Arial"/>
              </a:rPr>
              <a:t>Cycle-Accurate Execution</a:t>
            </a:r>
          </a:p>
        </p:txBody>
      </p:sp>
      <p:sp>
        <p:nvSpPr>
          <p:cNvPr id="100004" name="S03.Cycle.Bullet1"/>
          <p:cNvSpPr/>
          <p:nvPr/>
        </p:nvSpPr>
        <p:spPr>
          <a:xfrm>
            <a:off x="2569464" y="1968420"/>
            <a:ext cx="91440" cy="91440"/>
          </a:xfrm>
          <a:prstGeom prst="ellipse">
            <a:avLst/>
          </a:prstGeom>
          <a:solidFill>
            <a:srgbClr val="008C95"/>
          </a:solidFill>
          <a:ln>
            <a:noFill/>
          </a:ln>
        </p:spPr>
        <p:txBody>
          <a:bodyPr lIns="0" tIns="0" rIns="0" bIns="0">
            <a:noAutofit/>
          </a:bodyPr>
          <a:lstStyle/>
          <a:p>
            <a:endParaRPr lang="en-US" sz="1800">
              <a:solidFill>
                <a:srgbClr val="20354A"/>
              </a:solidFill>
              <a:latin typeface="Arial"/>
              <a:ea typeface="Arial"/>
            </a:endParaRPr>
          </a:p>
        </p:txBody>
      </p:sp>
      <p:sp>
        <p:nvSpPr>
          <p:cNvPr id="100005" name="S03.Cycle.Text1"/>
          <p:cNvSpPr txBox="1"/>
          <p:nvPr/>
        </p:nvSpPr>
        <p:spPr>
          <a:xfrm>
            <a:off x="2807208" y="1890696"/>
            <a:ext cx="3017520" cy="557784"/>
          </a:xfrm>
          <a:prstGeom prst="rect">
            <a:avLst/>
          </a:prstGeom>
          <a:noFill/>
          <a:ln>
            <a:noFill/>
          </a:ln>
        </p:spPr>
        <p:txBody>
          <a:bodyPr lIns="0" tIns="0" rIns="0" bIns="0">
            <a:noAutofit/>
          </a:bodyPr>
          <a:lstStyle/>
          <a:p>
            <a:r>
              <a:rPr lang="en-US" sz="1700" dirty="0">
                <a:solidFill>
                  <a:srgbClr val="20354A"/>
                </a:solidFill>
                <a:latin typeface="Arial"/>
                <a:ea typeface="Arial"/>
              </a:rPr>
              <a:t>Align DUT cycles across</a:t>
            </a:r>
          </a:p>
          <a:p>
            <a:r>
              <a:rPr lang="en-US" sz="1700" dirty="0">
                <a:solidFill>
                  <a:srgbClr val="20354A"/>
                </a:solidFill>
                <a:latin typeface="Arial"/>
                <a:ea typeface="Arial"/>
              </a:rPr>
              <a:t>partitions</a:t>
            </a:r>
          </a:p>
        </p:txBody>
      </p:sp>
      <p:sp>
        <p:nvSpPr>
          <p:cNvPr id="100006" name="S03.Cycle.Bullet2"/>
          <p:cNvSpPr/>
          <p:nvPr/>
        </p:nvSpPr>
        <p:spPr>
          <a:xfrm>
            <a:off x="2569464" y="2674620"/>
            <a:ext cx="91440" cy="91440"/>
          </a:xfrm>
          <a:prstGeom prst="ellipse">
            <a:avLst/>
          </a:prstGeom>
          <a:solidFill>
            <a:srgbClr val="008C95"/>
          </a:solidFill>
          <a:ln>
            <a:noFill/>
          </a:ln>
        </p:spPr>
        <p:txBody>
          <a:bodyPr lIns="0" tIns="0" rIns="0" bIns="0">
            <a:noAutofit/>
          </a:bodyPr>
          <a:lstStyle/>
          <a:p>
            <a:endParaRPr lang="en-US" sz="1800">
              <a:solidFill>
                <a:srgbClr val="20354A"/>
              </a:solidFill>
              <a:latin typeface="Arial"/>
              <a:ea typeface="Arial"/>
            </a:endParaRPr>
          </a:p>
        </p:txBody>
      </p:sp>
      <p:sp>
        <p:nvSpPr>
          <p:cNvPr id="100007" name="S03.Cycle.Text2"/>
          <p:cNvSpPr txBox="1"/>
          <p:nvPr/>
        </p:nvSpPr>
        <p:spPr>
          <a:xfrm>
            <a:off x="2807208" y="2596896"/>
            <a:ext cx="3017520" cy="557784"/>
          </a:xfrm>
          <a:prstGeom prst="rect">
            <a:avLst/>
          </a:prstGeom>
          <a:noFill/>
          <a:ln>
            <a:noFill/>
          </a:ln>
        </p:spPr>
        <p:txBody>
          <a:bodyPr lIns="0" tIns="0" rIns="0" bIns="0">
            <a:noAutofit/>
          </a:bodyPr>
          <a:lstStyle/>
          <a:p>
            <a:r>
              <a:rPr lang="en-US" sz="1700">
                <a:solidFill>
                  <a:srgbClr val="20354A"/>
                </a:solidFill>
                <a:latin typeface="Arial"/>
                <a:ea typeface="Arial"/>
              </a:rPr>
              <a:t>Account for cross-FPGA</a:t>
            </a:r>
          </a:p>
          <a:p>
            <a:r>
              <a:rPr lang="en-US" sz="1700">
                <a:solidFill>
                  <a:srgbClr val="20354A"/>
                </a:solidFill>
                <a:latin typeface="Arial"/>
                <a:ea typeface="Arial"/>
              </a:rPr>
              <a:t>communication latency</a:t>
            </a:r>
          </a:p>
        </p:txBody>
      </p:sp>
      <p:sp>
        <p:nvSpPr>
          <p:cNvPr id="100008" name="S03.Pause.Panel"/>
          <p:cNvSpPr/>
          <p:nvPr/>
        </p:nvSpPr>
        <p:spPr>
          <a:xfrm>
            <a:off x="6190488" y="946638"/>
            <a:ext cx="5687568" cy="2404872"/>
          </a:xfrm>
          <a:prstGeom prst="roundRect">
            <a:avLst>
              <a:gd name="adj" fmla="val 6500"/>
            </a:avLst>
          </a:prstGeom>
          <a:solidFill>
            <a:srgbClr val="F1F5F8"/>
          </a:solidFill>
          <a:ln>
            <a:noFill/>
          </a:ln>
        </p:spPr>
        <p:txBody>
          <a:bodyPr lIns="0" tIns="0" rIns="0" bIns="0">
            <a:noAutofit/>
          </a:bodyPr>
          <a:lstStyle/>
          <a:p>
            <a:endParaRPr lang="en-US" sz="1800">
              <a:solidFill>
                <a:srgbClr val="20354A"/>
              </a:solidFill>
              <a:latin typeface="Arial"/>
              <a:ea typeface="Arial"/>
            </a:endParaRPr>
          </a:p>
        </p:txBody>
      </p:sp>
      <p:sp>
        <p:nvSpPr>
          <p:cNvPr id="100009" name="S03.Pause.Divider"/>
          <p:cNvSpPr/>
          <p:nvPr/>
        </p:nvSpPr>
        <p:spPr>
          <a:xfrm>
            <a:off x="8183880" y="1175238"/>
            <a:ext cx="8230" cy="1947672"/>
          </a:xfrm>
          <a:prstGeom prst="rect">
            <a:avLst/>
          </a:prstGeom>
          <a:solidFill>
            <a:srgbClr val="BDCBD4"/>
          </a:solidFill>
          <a:ln>
            <a:noFill/>
          </a:ln>
        </p:spPr>
        <p:txBody>
          <a:bodyPr lIns="0" tIns="0" rIns="0" bIns="0">
            <a:noAutofit/>
          </a:bodyPr>
          <a:lstStyle/>
          <a:p>
            <a:endParaRPr lang="en-US" sz="1800">
              <a:solidFill>
                <a:srgbClr val="20354A"/>
              </a:solidFill>
              <a:latin typeface="Arial"/>
              <a:ea typeface="Arial"/>
            </a:endParaRPr>
          </a:p>
        </p:txBody>
      </p:sp>
      <p:sp>
        <p:nvSpPr>
          <p:cNvPr id="100010" name="S03.Pause.Heading"/>
          <p:cNvSpPr txBox="1"/>
          <p:nvPr/>
        </p:nvSpPr>
        <p:spPr>
          <a:xfrm>
            <a:off x="8403336" y="1156950"/>
            <a:ext cx="3264408" cy="640080"/>
          </a:xfrm>
          <a:prstGeom prst="rect">
            <a:avLst/>
          </a:prstGeom>
          <a:noFill/>
          <a:ln>
            <a:noFill/>
          </a:ln>
        </p:spPr>
        <p:txBody>
          <a:bodyPr lIns="0" tIns="0" rIns="0" bIns="0">
            <a:noAutofit/>
          </a:bodyPr>
          <a:lstStyle/>
          <a:p>
            <a:r>
              <a:rPr lang="en-US" sz="2000" b="1">
                <a:solidFill>
                  <a:srgbClr val="183B56"/>
                </a:solidFill>
                <a:latin typeface="Arial"/>
                <a:ea typeface="Arial"/>
              </a:rPr>
              <a:t>Cycle-Consistent</a:t>
            </a:r>
          </a:p>
          <a:p>
            <a:r>
              <a:rPr lang="en-US" sz="2000" b="1">
                <a:solidFill>
                  <a:srgbClr val="183B56"/>
                </a:solidFill>
                <a:latin typeface="Arial"/>
                <a:ea typeface="Arial"/>
              </a:rPr>
              <a:t>Global Pause</a:t>
            </a:r>
          </a:p>
        </p:txBody>
      </p:sp>
      <p:sp>
        <p:nvSpPr>
          <p:cNvPr id="100011" name="S03.Pause.Bullet1"/>
          <p:cNvSpPr/>
          <p:nvPr/>
        </p:nvSpPr>
        <p:spPr>
          <a:xfrm>
            <a:off x="8439912" y="1975338"/>
            <a:ext cx="91440" cy="91440"/>
          </a:xfrm>
          <a:prstGeom prst="ellipse">
            <a:avLst/>
          </a:prstGeom>
          <a:solidFill>
            <a:srgbClr val="008C95"/>
          </a:solidFill>
          <a:ln>
            <a:noFill/>
          </a:ln>
        </p:spPr>
        <p:txBody>
          <a:bodyPr lIns="0" tIns="0" rIns="0" bIns="0">
            <a:noAutofit/>
          </a:bodyPr>
          <a:lstStyle/>
          <a:p>
            <a:endParaRPr lang="en-US" sz="1800">
              <a:solidFill>
                <a:srgbClr val="20354A"/>
              </a:solidFill>
              <a:latin typeface="Arial"/>
              <a:ea typeface="Arial"/>
            </a:endParaRPr>
          </a:p>
        </p:txBody>
      </p:sp>
      <p:sp>
        <p:nvSpPr>
          <p:cNvPr id="100012" name="S03.Pause.Text1"/>
          <p:cNvSpPr txBox="1"/>
          <p:nvPr/>
        </p:nvSpPr>
        <p:spPr>
          <a:xfrm>
            <a:off x="8677656" y="1897614"/>
            <a:ext cx="3017520" cy="557784"/>
          </a:xfrm>
          <a:prstGeom prst="rect">
            <a:avLst/>
          </a:prstGeom>
          <a:noFill/>
          <a:ln>
            <a:noFill/>
          </a:ln>
        </p:spPr>
        <p:txBody>
          <a:bodyPr lIns="0" tIns="0" rIns="0" bIns="0">
            <a:noAutofit/>
          </a:bodyPr>
          <a:lstStyle/>
          <a:p>
            <a:r>
              <a:rPr lang="en-US" sz="1700">
                <a:solidFill>
                  <a:srgbClr val="20354A"/>
                </a:solidFill>
                <a:latin typeface="Arial"/>
                <a:ea typeface="Arial"/>
              </a:rPr>
              <a:t>Stop partitions at the</a:t>
            </a:r>
          </a:p>
          <a:p>
            <a:r>
              <a:rPr lang="en-US" sz="1700">
                <a:solidFill>
                  <a:srgbClr val="20354A"/>
                </a:solidFill>
                <a:latin typeface="Arial"/>
                <a:ea typeface="Arial"/>
              </a:rPr>
              <a:t>same logical cycle</a:t>
            </a:r>
          </a:p>
        </p:txBody>
      </p:sp>
      <p:sp>
        <p:nvSpPr>
          <p:cNvPr id="100013" name="S03.Pause.Bullet2"/>
          <p:cNvSpPr/>
          <p:nvPr/>
        </p:nvSpPr>
        <p:spPr>
          <a:xfrm>
            <a:off x="8439912" y="2597130"/>
            <a:ext cx="91440" cy="91440"/>
          </a:xfrm>
          <a:prstGeom prst="ellipse">
            <a:avLst/>
          </a:prstGeom>
          <a:solidFill>
            <a:srgbClr val="008C95"/>
          </a:solidFill>
          <a:ln>
            <a:noFill/>
          </a:ln>
        </p:spPr>
        <p:txBody>
          <a:bodyPr lIns="0" tIns="0" rIns="0" bIns="0">
            <a:noAutofit/>
          </a:bodyPr>
          <a:lstStyle/>
          <a:p>
            <a:endParaRPr lang="en-US" sz="1800">
              <a:solidFill>
                <a:srgbClr val="20354A"/>
              </a:solidFill>
              <a:latin typeface="Arial"/>
              <a:ea typeface="Arial"/>
            </a:endParaRPr>
          </a:p>
        </p:txBody>
      </p:sp>
      <p:sp>
        <p:nvSpPr>
          <p:cNvPr id="100014" name="S03.Pause.Text2"/>
          <p:cNvSpPr txBox="1"/>
          <p:nvPr/>
        </p:nvSpPr>
        <p:spPr>
          <a:xfrm>
            <a:off x="8677656" y="2519406"/>
            <a:ext cx="3017520" cy="557784"/>
          </a:xfrm>
          <a:prstGeom prst="rect">
            <a:avLst/>
          </a:prstGeom>
          <a:noFill/>
          <a:ln>
            <a:noFill/>
          </a:ln>
        </p:spPr>
        <p:txBody>
          <a:bodyPr lIns="0" tIns="0" rIns="0" bIns="0">
            <a:noAutofit/>
          </a:bodyPr>
          <a:lstStyle/>
          <a:p>
            <a:r>
              <a:rPr lang="en-US" sz="1700" dirty="0">
                <a:solidFill>
                  <a:srgbClr val="20354A"/>
                </a:solidFill>
                <a:ea typeface="Arial"/>
              </a:rPr>
              <a:t>Internal states from different cycle</a:t>
            </a:r>
            <a:r>
              <a:rPr lang="zh-CN" altLang="en-US" sz="1700" dirty="0">
                <a:solidFill>
                  <a:srgbClr val="20354A"/>
                </a:solidFill>
                <a:ea typeface="Arial"/>
              </a:rPr>
              <a:t> </a:t>
            </a:r>
            <a:r>
              <a:rPr lang="en-US" altLang="zh-CN" sz="1700" dirty="0">
                <a:solidFill>
                  <a:srgbClr val="20354A"/>
                </a:solidFill>
                <a:ea typeface="Arial"/>
              </a:rPr>
              <a:t>can not be replayed</a:t>
            </a:r>
            <a:endParaRPr lang="en-US" sz="1700" dirty="0">
              <a:solidFill>
                <a:srgbClr val="20354A"/>
              </a:solidFill>
              <a:latin typeface="Arial"/>
              <a:ea typeface="Arial"/>
            </a:endParaRPr>
          </a:p>
        </p:txBody>
      </p:sp>
      <p:sp>
        <p:nvSpPr>
          <p:cNvPr id="100015" name="S03.State.Panel"/>
          <p:cNvSpPr/>
          <p:nvPr/>
        </p:nvSpPr>
        <p:spPr>
          <a:xfrm>
            <a:off x="320040" y="3644892"/>
            <a:ext cx="5687568" cy="2404872"/>
          </a:xfrm>
          <a:prstGeom prst="roundRect">
            <a:avLst>
              <a:gd name="adj" fmla="val 6500"/>
            </a:avLst>
          </a:prstGeom>
          <a:solidFill>
            <a:srgbClr val="FCF4E8"/>
          </a:solidFill>
          <a:ln>
            <a:noFill/>
          </a:ln>
        </p:spPr>
        <p:txBody>
          <a:bodyPr lIns="0" tIns="0" rIns="0" bIns="0">
            <a:noAutofit/>
          </a:bodyPr>
          <a:lstStyle/>
          <a:p>
            <a:endParaRPr lang="en-US" sz="1800">
              <a:solidFill>
                <a:srgbClr val="20354A"/>
              </a:solidFill>
              <a:latin typeface="Arial"/>
              <a:ea typeface="Arial"/>
            </a:endParaRPr>
          </a:p>
        </p:txBody>
      </p:sp>
      <p:sp>
        <p:nvSpPr>
          <p:cNvPr id="100016" name="S03.State.Divider"/>
          <p:cNvSpPr/>
          <p:nvPr/>
        </p:nvSpPr>
        <p:spPr>
          <a:xfrm>
            <a:off x="2313432" y="3873492"/>
            <a:ext cx="8230" cy="1947672"/>
          </a:xfrm>
          <a:prstGeom prst="rect">
            <a:avLst/>
          </a:prstGeom>
          <a:solidFill>
            <a:srgbClr val="BDCBD4"/>
          </a:solidFill>
          <a:ln>
            <a:noFill/>
          </a:ln>
        </p:spPr>
        <p:txBody>
          <a:bodyPr lIns="0" tIns="0" rIns="0" bIns="0">
            <a:noAutofit/>
          </a:bodyPr>
          <a:lstStyle/>
          <a:p>
            <a:endParaRPr lang="en-US" sz="1800">
              <a:solidFill>
                <a:srgbClr val="20354A"/>
              </a:solidFill>
              <a:latin typeface="Arial"/>
              <a:ea typeface="Arial"/>
            </a:endParaRPr>
          </a:p>
        </p:txBody>
      </p:sp>
      <p:sp>
        <p:nvSpPr>
          <p:cNvPr id="100017" name="S03.State.Heading"/>
          <p:cNvSpPr txBox="1"/>
          <p:nvPr/>
        </p:nvSpPr>
        <p:spPr>
          <a:xfrm>
            <a:off x="2532888" y="3855204"/>
            <a:ext cx="3264408" cy="640080"/>
          </a:xfrm>
          <a:prstGeom prst="rect">
            <a:avLst/>
          </a:prstGeom>
          <a:noFill/>
          <a:ln>
            <a:noFill/>
          </a:ln>
        </p:spPr>
        <p:txBody>
          <a:bodyPr lIns="0" tIns="0" rIns="0" bIns="0">
            <a:noAutofit/>
          </a:bodyPr>
          <a:lstStyle/>
          <a:p>
            <a:r>
              <a:rPr lang="en-US" sz="2000" b="1" dirty="0">
                <a:solidFill>
                  <a:srgbClr val="183B56"/>
                </a:solidFill>
                <a:latin typeface="Arial"/>
                <a:ea typeface="Arial"/>
              </a:rPr>
              <a:t>Distributed State</a:t>
            </a:r>
          </a:p>
          <a:p>
            <a:r>
              <a:rPr lang="en-US" sz="2000" b="1" dirty="0">
                <a:solidFill>
                  <a:srgbClr val="183B56"/>
                </a:solidFill>
                <a:latin typeface="Arial"/>
                <a:ea typeface="Arial"/>
              </a:rPr>
              <a:t>Management</a:t>
            </a:r>
          </a:p>
        </p:txBody>
      </p:sp>
      <p:sp>
        <p:nvSpPr>
          <p:cNvPr id="100018" name="S03.State.Bullet1"/>
          <p:cNvSpPr/>
          <p:nvPr/>
        </p:nvSpPr>
        <p:spPr>
          <a:xfrm>
            <a:off x="2569464" y="4828340"/>
            <a:ext cx="91440" cy="91440"/>
          </a:xfrm>
          <a:prstGeom prst="ellipse">
            <a:avLst/>
          </a:prstGeom>
          <a:solidFill>
            <a:srgbClr val="008C95"/>
          </a:solidFill>
          <a:ln>
            <a:noFill/>
          </a:ln>
        </p:spPr>
        <p:txBody>
          <a:bodyPr lIns="0" tIns="0" rIns="0" bIns="0">
            <a:noAutofit/>
          </a:bodyPr>
          <a:lstStyle/>
          <a:p>
            <a:endParaRPr lang="en-US" sz="1800">
              <a:solidFill>
                <a:srgbClr val="20354A"/>
              </a:solidFill>
              <a:latin typeface="Arial"/>
              <a:ea typeface="Arial"/>
            </a:endParaRPr>
          </a:p>
        </p:txBody>
      </p:sp>
      <p:sp>
        <p:nvSpPr>
          <p:cNvPr id="100019" name="S03.State.Text1"/>
          <p:cNvSpPr txBox="1"/>
          <p:nvPr/>
        </p:nvSpPr>
        <p:spPr>
          <a:xfrm>
            <a:off x="2807208" y="4750616"/>
            <a:ext cx="3017520" cy="557784"/>
          </a:xfrm>
          <a:prstGeom prst="rect">
            <a:avLst/>
          </a:prstGeom>
          <a:noFill/>
          <a:ln>
            <a:noFill/>
          </a:ln>
        </p:spPr>
        <p:txBody>
          <a:bodyPr lIns="0" tIns="0" rIns="0" bIns="0">
            <a:noAutofit/>
          </a:bodyPr>
          <a:lstStyle/>
          <a:p>
            <a:r>
              <a:rPr lang="en-US" sz="1700" dirty="0">
                <a:solidFill>
                  <a:srgbClr val="20354A"/>
                </a:solidFill>
                <a:latin typeface="Arial"/>
                <a:ea typeface="Arial"/>
              </a:rPr>
              <a:t>Extract local states</a:t>
            </a:r>
          </a:p>
        </p:txBody>
      </p:sp>
      <p:sp>
        <p:nvSpPr>
          <p:cNvPr id="100020" name="S03.State.Bullet2"/>
          <p:cNvSpPr/>
          <p:nvPr/>
        </p:nvSpPr>
        <p:spPr>
          <a:xfrm>
            <a:off x="2569464" y="5295384"/>
            <a:ext cx="91440" cy="91440"/>
          </a:xfrm>
          <a:prstGeom prst="ellipse">
            <a:avLst/>
          </a:prstGeom>
          <a:solidFill>
            <a:srgbClr val="008C95"/>
          </a:solidFill>
          <a:ln>
            <a:noFill/>
          </a:ln>
        </p:spPr>
        <p:txBody>
          <a:bodyPr lIns="0" tIns="0" rIns="0" bIns="0">
            <a:noAutofit/>
          </a:bodyPr>
          <a:lstStyle/>
          <a:p>
            <a:endParaRPr lang="en-US" sz="1800">
              <a:solidFill>
                <a:srgbClr val="20354A"/>
              </a:solidFill>
              <a:latin typeface="Arial"/>
              <a:ea typeface="Arial"/>
            </a:endParaRPr>
          </a:p>
        </p:txBody>
      </p:sp>
      <p:sp>
        <p:nvSpPr>
          <p:cNvPr id="100021" name="S03.State.Text2"/>
          <p:cNvSpPr txBox="1"/>
          <p:nvPr/>
        </p:nvSpPr>
        <p:spPr>
          <a:xfrm>
            <a:off x="2807208" y="5217660"/>
            <a:ext cx="3017520" cy="557784"/>
          </a:xfrm>
          <a:prstGeom prst="rect">
            <a:avLst/>
          </a:prstGeom>
          <a:noFill/>
          <a:ln>
            <a:noFill/>
          </a:ln>
        </p:spPr>
        <p:txBody>
          <a:bodyPr lIns="0" tIns="0" rIns="0" bIns="0">
            <a:noAutofit/>
          </a:bodyPr>
          <a:lstStyle/>
          <a:p>
            <a:r>
              <a:rPr lang="en-US" sz="1700" dirty="0">
                <a:solidFill>
                  <a:srgbClr val="20354A"/>
                </a:solidFill>
                <a:latin typeface="Arial"/>
                <a:ea typeface="Arial"/>
              </a:rPr>
              <a:t>Form a global snapshot</a:t>
            </a:r>
          </a:p>
          <a:p>
            <a:r>
              <a:rPr lang="en-US" sz="1700" dirty="0">
                <a:solidFill>
                  <a:srgbClr val="20354A"/>
                </a:solidFill>
                <a:latin typeface="Arial"/>
                <a:ea typeface="Arial"/>
              </a:rPr>
              <a:t>for restore and replay</a:t>
            </a:r>
          </a:p>
        </p:txBody>
      </p:sp>
      <p:sp>
        <p:nvSpPr>
          <p:cNvPr id="100022" name="S03.Partition.Panel"/>
          <p:cNvSpPr/>
          <p:nvPr/>
        </p:nvSpPr>
        <p:spPr>
          <a:xfrm>
            <a:off x="6190488" y="3644892"/>
            <a:ext cx="5687568" cy="2404872"/>
          </a:xfrm>
          <a:prstGeom prst="roundRect">
            <a:avLst>
              <a:gd name="adj" fmla="val 6500"/>
            </a:avLst>
          </a:prstGeom>
          <a:solidFill>
            <a:srgbClr val="EAF4F3"/>
          </a:solidFill>
          <a:ln>
            <a:noFill/>
          </a:ln>
        </p:spPr>
        <p:txBody>
          <a:bodyPr lIns="0" tIns="0" rIns="0" bIns="0">
            <a:noAutofit/>
          </a:bodyPr>
          <a:lstStyle/>
          <a:p>
            <a:endParaRPr lang="en-US" sz="1800">
              <a:solidFill>
                <a:srgbClr val="20354A"/>
              </a:solidFill>
              <a:latin typeface="Arial"/>
              <a:ea typeface="Arial"/>
            </a:endParaRPr>
          </a:p>
        </p:txBody>
      </p:sp>
      <p:sp>
        <p:nvSpPr>
          <p:cNvPr id="100023" name="S03.Partition.Divider"/>
          <p:cNvSpPr/>
          <p:nvPr/>
        </p:nvSpPr>
        <p:spPr>
          <a:xfrm>
            <a:off x="8183880" y="3873492"/>
            <a:ext cx="8230" cy="1947672"/>
          </a:xfrm>
          <a:prstGeom prst="rect">
            <a:avLst/>
          </a:prstGeom>
          <a:solidFill>
            <a:srgbClr val="BDCBD4"/>
          </a:solidFill>
          <a:ln>
            <a:noFill/>
          </a:ln>
        </p:spPr>
        <p:txBody>
          <a:bodyPr lIns="0" tIns="0" rIns="0" bIns="0">
            <a:noAutofit/>
          </a:bodyPr>
          <a:lstStyle/>
          <a:p>
            <a:endParaRPr lang="en-US" sz="1800">
              <a:solidFill>
                <a:srgbClr val="20354A"/>
              </a:solidFill>
              <a:latin typeface="Arial"/>
              <a:ea typeface="Arial"/>
            </a:endParaRPr>
          </a:p>
        </p:txBody>
      </p:sp>
      <p:sp>
        <p:nvSpPr>
          <p:cNvPr id="100024" name="S03.Partition.Heading"/>
          <p:cNvSpPr txBox="1"/>
          <p:nvPr/>
        </p:nvSpPr>
        <p:spPr>
          <a:xfrm>
            <a:off x="8403336" y="3855204"/>
            <a:ext cx="3264408" cy="640080"/>
          </a:xfrm>
          <a:prstGeom prst="rect">
            <a:avLst/>
          </a:prstGeom>
          <a:noFill/>
          <a:ln>
            <a:noFill/>
          </a:ln>
        </p:spPr>
        <p:txBody>
          <a:bodyPr lIns="0" tIns="0" rIns="0" bIns="0">
            <a:noAutofit/>
          </a:bodyPr>
          <a:lstStyle/>
          <a:p>
            <a:r>
              <a:rPr lang="en-US" sz="2000" b="1" dirty="0">
                <a:solidFill>
                  <a:srgbClr val="183B56"/>
                </a:solidFill>
                <a:latin typeface="Arial"/>
                <a:ea typeface="Arial"/>
              </a:rPr>
              <a:t>Automated Partitioning</a:t>
            </a:r>
          </a:p>
        </p:txBody>
      </p:sp>
      <p:sp>
        <p:nvSpPr>
          <p:cNvPr id="100025" name="S03.Partition.Bullet1"/>
          <p:cNvSpPr/>
          <p:nvPr/>
        </p:nvSpPr>
        <p:spPr>
          <a:xfrm>
            <a:off x="8439912" y="4504781"/>
            <a:ext cx="91440" cy="91440"/>
          </a:xfrm>
          <a:prstGeom prst="ellipse">
            <a:avLst/>
          </a:prstGeom>
          <a:solidFill>
            <a:srgbClr val="008C95"/>
          </a:solidFill>
          <a:ln>
            <a:noFill/>
          </a:ln>
        </p:spPr>
        <p:txBody>
          <a:bodyPr lIns="0" tIns="0" rIns="0" bIns="0">
            <a:noAutofit/>
          </a:bodyPr>
          <a:lstStyle/>
          <a:p>
            <a:endParaRPr lang="en-US" sz="1800">
              <a:solidFill>
                <a:srgbClr val="20354A"/>
              </a:solidFill>
              <a:latin typeface="Arial"/>
              <a:ea typeface="Arial"/>
            </a:endParaRPr>
          </a:p>
        </p:txBody>
      </p:sp>
      <p:sp>
        <p:nvSpPr>
          <p:cNvPr id="100026" name="S03.Partition.Text1"/>
          <p:cNvSpPr txBox="1"/>
          <p:nvPr/>
        </p:nvSpPr>
        <p:spPr>
          <a:xfrm>
            <a:off x="8677656" y="4427057"/>
            <a:ext cx="3017520" cy="557784"/>
          </a:xfrm>
          <a:prstGeom prst="rect">
            <a:avLst/>
          </a:prstGeom>
          <a:noFill/>
          <a:ln>
            <a:noFill/>
          </a:ln>
        </p:spPr>
        <p:txBody>
          <a:bodyPr lIns="0" tIns="0" rIns="0" bIns="0">
            <a:noAutofit/>
          </a:bodyPr>
          <a:lstStyle/>
          <a:p>
            <a:r>
              <a:rPr lang="en-US" sz="1700" dirty="0">
                <a:solidFill>
                  <a:srgbClr val="20354A"/>
                </a:solidFill>
                <a:latin typeface="Arial"/>
                <a:ea typeface="Arial"/>
              </a:rPr>
              <a:t>Balance resources and</a:t>
            </a:r>
          </a:p>
          <a:p>
            <a:r>
              <a:rPr lang="en-US" sz="1700" dirty="0">
                <a:solidFill>
                  <a:srgbClr val="20354A"/>
                </a:solidFill>
                <a:latin typeface="Arial"/>
                <a:ea typeface="Arial"/>
              </a:rPr>
              <a:t>cut size</a:t>
            </a:r>
          </a:p>
        </p:txBody>
      </p:sp>
      <p:sp>
        <p:nvSpPr>
          <p:cNvPr id="100027" name="S03.Partition.Bullet2"/>
          <p:cNvSpPr/>
          <p:nvPr/>
        </p:nvSpPr>
        <p:spPr>
          <a:xfrm>
            <a:off x="8439912" y="5126573"/>
            <a:ext cx="91440" cy="91440"/>
          </a:xfrm>
          <a:prstGeom prst="ellipse">
            <a:avLst/>
          </a:prstGeom>
          <a:solidFill>
            <a:srgbClr val="008C95"/>
          </a:solidFill>
          <a:ln>
            <a:noFill/>
          </a:ln>
        </p:spPr>
        <p:txBody>
          <a:bodyPr lIns="0" tIns="0" rIns="0" bIns="0">
            <a:noAutofit/>
          </a:bodyPr>
          <a:lstStyle/>
          <a:p>
            <a:endParaRPr lang="en-US" sz="1800">
              <a:solidFill>
                <a:srgbClr val="20354A"/>
              </a:solidFill>
              <a:latin typeface="Arial"/>
              <a:ea typeface="Arial"/>
            </a:endParaRPr>
          </a:p>
        </p:txBody>
      </p:sp>
      <p:sp>
        <p:nvSpPr>
          <p:cNvPr id="100028" name="S03.Partition.Text2"/>
          <p:cNvSpPr txBox="1"/>
          <p:nvPr/>
        </p:nvSpPr>
        <p:spPr>
          <a:xfrm>
            <a:off x="8677656" y="5048849"/>
            <a:ext cx="3017520" cy="749808"/>
          </a:xfrm>
          <a:prstGeom prst="rect">
            <a:avLst/>
          </a:prstGeom>
          <a:noFill/>
          <a:ln>
            <a:noFill/>
          </a:ln>
        </p:spPr>
        <p:txBody>
          <a:bodyPr lIns="0" tIns="0" rIns="0" bIns="0">
            <a:noAutofit/>
          </a:bodyPr>
          <a:lstStyle/>
          <a:p>
            <a:r>
              <a:rPr lang="en-US" sz="1700" dirty="0">
                <a:solidFill>
                  <a:srgbClr val="20354A"/>
                </a:solidFill>
                <a:latin typeface="Arial"/>
                <a:ea typeface="Arial"/>
              </a:rPr>
              <a:t>Limit Maximum Path-Cut Number through granularity</a:t>
            </a:r>
          </a:p>
        </p:txBody>
      </p:sp>
      <p:pic>
        <p:nvPicPr>
          <p:cNvPr id="100029" name="S03.Cycle.Left" descr="FPGA chip"/>
          <p:cNvPicPr>
            <a:picLocks noChangeAspect="1"/>
          </p:cNvPicPr>
          <p:nvPr/>
        </p:nvPicPr>
        <p:blipFill>
          <a:blip r:embed="rId3"/>
          <a:srcRect l="21371" t="23684" r="21291" b="20972"/>
          <a:stretch>
            <a:fillRect/>
          </a:stretch>
        </p:blipFill>
        <p:spPr>
          <a:xfrm>
            <a:off x="502920" y="2029968"/>
            <a:ext cx="603504" cy="582519"/>
          </a:xfrm>
          <a:prstGeom prst="rect">
            <a:avLst/>
          </a:prstGeom>
        </p:spPr>
      </p:pic>
      <p:pic>
        <p:nvPicPr>
          <p:cNvPr id="100030" name="S03.Cycle.Right" descr="FPGA chip"/>
          <p:cNvPicPr>
            <a:picLocks noChangeAspect="1"/>
          </p:cNvPicPr>
          <p:nvPr/>
        </p:nvPicPr>
        <p:blipFill>
          <a:blip r:embed="rId3"/>
          <a:srcRect l="21371" t="23684" r="21291" b="20972"/>
          <a:stretch>
            <a:fillRect/>
          </a:stretch>
        </p:blipFill>
        <p:spPr>
          <a:xfrm>
            <a:off x="1618488" y="2029968"/>
            <a:ext cx="603504" cy="582519"/>
          </a:xfrm>
          <a:prstGeom prst="rect">
            <a:avLst/>
          </a:prstGeom>
        </p:spPr>
      </p:pic>
      <p:pic>
        <p:nvPicPr>
          <p:cNvPr id="100031" name="S03.Cycle.Clock" descr="Logical cycle progression"/>
          <p:cNvPicPr>
            <a:picLocks noChangeAspect="1"/>
          </p:cNvPicPr>
          <p:nvPr/>
        </p:nvPicPr>
        <p:blipFill>
          <a:blip r:embed="rId4"/>
          <a:srcRect l="13078" t="10047" r="12918" b="10526"/>
          <a:stretch>
            <a:fillRect/>
          </a:stretch>
        </p:blipFill>
        <p:spPr>
          <a:xfrm>
            <a:off x="1143000" y="1435608"/>
            <a:ext cx="438912" cy="471073"/>
          </a:xfrm>
          <a:prstGeom prst="rect">
            <a:avLst/>
          </a:prstGeom>
        </p:spPr>
      </p:pic>
      <p:cxnSp>
        <p:nvCxnSpPr>
          <p:cNvPr id="100032" name="S03.Cycle.Pulse0"/>
          <p:cNvCxnSpPr/>
          <p:nvPr/>
        </p:nvCxnSpPr>
        <p:spPr>
          <a:xfrm>
            <a:off x="1133856" y="2377440"/>
            <a:ext cx="82296" cy="0"/>
          </a:xfrm>
          <a:prstGeom prst="straightConnector1">
            <a:avLst/>
          </a:prstGeom>
          <a:ln w="29210">
            <a:solidFill>
              <a:srgbClr val="DF973E"/>
            </a:solidFill>
          </a:ln>
        </p:spPr>
      </p:cxnSp>
      <p:cxnSp>
        <p:nvCxnSpPr>
          <p:cNvPr id="100033" name="S03.Cycle.Pulse1"/>
          <p:cNvCxnSpPr/>
          <p:nvPr/>
        </p:nvCxnSpPr>
        <p:spPr>
          <a:xfrm>
            <a:off x="1216152" y="2148840"/>
            <a:ext cx="0" cy="228600"/>
          </a:xfrm>
          <a:prstGeom prst="straightConnector1">
            <a:avLst/>
          </a:prstGeom>
          <a:ln w="29210">
            <a:solidFill>
              <a:srgbClr val="DF973E"/>
            </a:solidFill>
          </a:ln>
        </p:spPr>
      </p:cxnSp>
      <p:cxnSp>
        <p:nvCxnSpPr>
          <p:cNvPr id="100034" name="S03.Cycle.Pulse2"/>
          <p:cNvCxnSpPr/>
          <p:nvPr/>
        </p:nvCxnSpPr>
        <p:spPr>
          <a:xfrm>
            <a:off x="1216152" y="2148840"/>
            <a:ext cx="118872" cy="0"/>
          </a:xfrm>
          <a:prstGeom prst="straightConnector1">
            <a:avLst/>
          </a:prstGeom>
          <a:ln w="29210">
            <a:solidFill>
              <a:srgbClr val="DF973E"/>
            </a:solidFill>
          </a:ln>
        </p:spPr>
      </p:cxnSp>
      <p:cxnSp>
        <p:nvCxnSpPr>
          <p:cNvPr id="100035" name="S03.Cycle.Pulse3"/>
          <p:cNvCxnSpPr/>
          <p:nvPr/>
        </p:nvCxnSpPr>
        <p:spPr>
          <a:xfrm>
            <a:off x="1335024" y="2148840"/>
            <a:ext cx="0" cy="228600"/>
          </a:xfrm>
          <a:prstGeom prst="straightConnector1">
            <a:avLst/>
          </a:prstGeom>
          <a:ln w="29210">
            <a:solidFill>
              <a:srgbClr val="DF973E"/>
            </a:solidFill>
          </a:ln>
        </p:spPr>
      </p:cxnSp>
      <p:cxnSp>
        <p:nvCxnSpPr>
          <p:cNvPr id="100036" name="S03.Cycle.Pulse4"/>
          <p:cNvCxnSpPr/>
          <p:nvPr/>
        </p:nvCxnSpPr>
        <p:spPr>
          <a:xfrm>
            <a:off x="1335024" y="2377440"/>
            <a:ext cx="118872" cy="0"/>
          </a:xfrm>
          <a:prstGeom prst="straightConnector1">
            <a:avLst/>
          </a:prstGeom>
          <a:ln w="29210">
            <a:solidFill>
              <a:srgbClr val="DF973E"/>
            </a:solidFill>
          </a:ln>
        </p:spPr>
      </p:cxnSp>
      <p:cxnSp>
        <p:nvCxnSpPr>
          <p:cNvPr id="100037" name="S03.Cycle.Pulse5"/>
          <p:cNvCxnSpPr/>
          <p:nvPr/>
        </p:nvCxnSpPr>
        <p:spPr>
          <a:xfrm>
            <a:off x="1453896" y="2148840"/>
            <a:ext cx="0" cy="228600"/>
          </a:xfrm>
          <a:prstGeom prst="straightConnector1">
            <a:avLst/>
          </a:prstGeom>
          <a:ln w="29210">
            <a:solidFill>
              <a:srgbClr val="DF973E"/>
            </a:solidFill>
          </a:ln>
        </p:spPr>
      </p:cxnSp>
      <p:cxnSp>
        <p:nvCxnSpPr>
          <p:cNvPr id="100038" name="S03.Cycle.Pulse6"/>
          <p:cNvCxnSpPr/>
          <p:nvPr/>
        </p:nvCxnSpPr>
        <p:spPr>
          <a:xfrm>
            <a:off x="1453896" y="2148840"/>
            <a:ext cx="109728" cy="0"/>
          </a:xfrm>
          <a:prstGeom prst="straightConnector1">
            <a:avLst/>
          </a:prstGeom>
          <a:ln w="29210">
            <a:solidFill>
              <a:srgbClr val="DF973E"/>
            </a:solidFill>
          </a:ln>
        </p:spPr>
      </p:cxnSp>
      <p:cxnSp>
        <p:nvCxnSpPr>
          <p:cNvPr id="100039" name="S03.Cycle.Pulse7"/>
          <p:cNvCxnSpPr/>
          <p:nvPr/>
        </p:nvCxnSpPr>
        <p:spPr>
          <a:xfrm>
            <a:off x="1563624" y="2148840"/>
            <a:ext cx="0" cy="228600"/>
          </a:xfrm>
          <a:prstGeom prst="straightConnector1">
            <a:avLst/>
          </a:prstGeom>
          <a:ln w="29210">
            <a:solidFill>
              <a:srgbClr val="DF973E"/>
            </a:solidFill>
          </a:ln>
        </p:spPr>
      </p:cxnSp>
      <p:cxnSp>
        <p:nvCxnSpPr>
          <p:cNvPr id="100040" name="S03.Cycle.Pulse8"/>
          <p:cNvCxnSpPr/>
          <p:nvPr/>
        </p:nvCxnSpPr>
        <p:spPr>
          <a:xfrm>
            <a:off x="1563624" y="2377440"/>
            <a:ext cx="27432" cy="0"/>
          </a:xfrm>
          <a:prstGeom prst="straightConnector1">
            <a:avLst/>
          </a:prstGeom>
          <a:ln w="29210">
            <a:solidFill>
              <a:srgbClr val="DF973E"/>
            </a:solidFill>
          </a:ln>
        </p:spPr>
      </p:cxnSp>
      <p:sp>
        <p:nvSpPr>
          <p:cNvPr id="100041" name="S03.Cycle.Label"/>
          <p:cNvSpPr txBox="1"/>
          <p:nvPr/>
        </p:nvSpPr>
        <p:spPr>
          <a:xfrm>
            <a:off x="475488" y="2862072"/>
            <a:ext cx="1773936" cy="256032"/>
          </a:xfrm>
          <a:prstGeom prst="rect">
            <a:avLst/>
          </a:prstGeom>
          <a:noFill/>
          <a:ln>
            <a:noFill/>
          </a:ln>
        </p:spPr>
        <p:txBody>
          <a:bodyPr lIns="0" tIns="0" rIns="0" bIns="0">
            <a:noAutofit/>
          </a:bodyPr>
          <a:lstStyle/>
          <a:p>
            <a:pPr algn="ctr"/>
            <a:r>
              <a:rPr lang="en-US" sz="1400" dirty="0">
                <a:solidFill>
                  <a:srgbClr val="183B56"/>
                </a:solidFill>
                <a:latin typeface="Arial"/>
                <a:ea typeface="Arial"/>
              </a:rPr>
              <a:t>Same DUT cycle n</a:t>
            </a:r>
          </a:p>
        </p:txBody>
      </p:sp>
      <p:pic>
        <p:nvPicPr>
          <p:cNvPr id="100042" name="S03.Pause.Top" descr="FPGA chip"/>
          <p:cNvPicPr>
            <a:picLocks noChangeAspect="1"/>
          </p:cNvPicPr>
          <p:nvPr/>
        </p:nvPicPr>
        <p:blipFill>
          <a:blip r:embed="rId3"/>
          <a:srcRect l="21371" t="23684" r="21291" b="20972"/>
          <a:stretch>
            <a:fillRect/>
          </a:stretch>
        </p:blipFill>
        <p:spPr>
          <a:xfrm>
            <a:off x="6922008" y="1275822"/>
            <a:ext cx="539496" cy="520737"/>
          </a:xfrm>
          <a:prstGeom prst="rect">
            <a:avLst/>
          </a:prstGeom>
        </p:spPr>
      </p:pic>
      <p:pic>
        <p:nvPicPr>
          <p:cNvPr id="100043" name="S03.Pause.Left" descr="FPGA chip"/>
          <p:cNvPicPr>
            <a:picLocks noChangeAspect="1"/>
          </p:cNvPicPr>
          <p:nvPr/>
        </p:nvPicPr>
        <p:blipFill>
          <a:blip r:embed="rId3"/>
          <a:srcRect l="21371" t="23684" r="21291" b="20972"/>
          <a:stretch>
            <a:fillRect/>
          </a:stretch>
        </p:blipFill>
        <p:spPr>
          <a:xfrm>
            <a:off x="6409944" y="2336526"/>
            <a:ext cx="539496" cy="520737"/>
          </a:xfrm>
          <a:prstGeom prst="rect">
            <a:avLst/>
          </a:prstGeom>
        </p:spPr>
      </p:pic>
      <p:pic>
        <p:nvPicPr>
          <p:cNvPr id="100044" name="S03.Pause.Right" descr="FPGA chip"/>
          <p:cNvPicPr>
            <a:picLocks noChangeAspect="1"/>
          </p:cNvPicPr>
          <p:nvPr/>
        </p:nvPicPr>
        <p:blipFill>
          <a:blip r:embed="rId3"/>
          <a:srcRect l="21371" t="23684" r="21291" b="20972"/>
          <a:stretch>
            <a:fillRect/>
          </a:stretch>
        </p:blipFill>
        <p:spPr>
          <a:xfrm>
            <a:off x="7434072" y="2336526"/>
            <a:ext cx="539496" cy="520737"/>
          </a:xfrm>
          <a:prstGeom prst="rect">
            <a:avLst/>
          </a:prstGeom>
        </p:spPr>
      </p:pic>
      <p:cxnSp>
        <p:nvCxnSpPr>
          <p:cNvPr id="100045" name="S03.Pause.SyncLeft"/>
          <p:cNvCxnSpPr>
            <a:stCxn id="100042" idx="0"/>
            <a:endCxn id="100043" idx="0"/>
          </p:cNvCxnSpPr>
          <p:nvPr/>
        </p:nvCxnSpPr>
        <p:spPr>
          <a:xfrm flipH="1">
            <a:off x="6679692" y="1796559"/>
            <a:ext cx="512064" cy="539967"/>
          </a:xfrm>
          <a:prstGeom prst="straightConnector1">
            <a:avLst/>
          </a:prstGeom>
          <a:ln w="25400">
            <a:solidFill>
              <a:srgbClr val="DF973E"/>
            </a:solidFill>
          </a:ln>
        </p:spPr>
      </p:cxnSp>
      <p:cxnSp>
        <p:nvCxnSpPr>
          <p:cNvPr id="100046" name="S03.Pause.SyncRight"/>
          <p:cNvCxnSpPr>
            <a:stCxn id="100042" idx="0"/>
            <a:endCxn id="100044" idx="0"/>
          </p:cNvCxnSpPr>
          <p:nvPr/>
        </p:nvCxnSpPr>
        <p:spPr>
          <a:xfrm>
            <a:off x="7191756" y="1796559"/>
            <a:ext cx="512064" cy="539967"/>
          </a:xfrm>
          <a:prstGeom prst="straightConnector1">
            <a:avLst/>
          </a:prstGeom>
          <a:ln w="25400">
            <a:solidFill>
              <a:srgbClr val="DF973E"/>
            </a:solidFill>
          </a:ln>
        </p:spPr>
      </p:cxnSp>
      <p:cxnSp>
        <p:nvCxnSpPr>
          <p:cNvPr id="100047" name="S03.Pause.SyncBottom"/>
          <p:cNvCxnSpPr>
            <a:stCxn id="100043" idx="0"/>
            <a:endCxn id="100044" idx="0"/>
          </p:cNvCxnSpPr>
          <p:nvPr/>
        </p:nvCxnSpPr>
        <p:spPr>
          <a:xfrm>
            <a:off x="6949440" y="2596894"/>
            <a:ext cx="484632" cy="0"/>
          </a:xfrm>
          <a:prstGeom prst="straightConnector1">
            <a:avLst/>
          </a:prstGeom>
          <a:ln w="25400">
            <a:solidFill>
              <a:srgbClr val="DF973E"/>
            </a:solidFill>
          </a:ln>
        </p:spPr>
      </p:cxnSp>
      <p:pic>
        <p:nvPicPr>
          <p:cNvPr id="100048" name="S03.Pause.Symbol" descr="Coordinated pause"/>
          <p:cNvPicPr>
            <a:picLocks noChangeAspect="1"/>
          </p:cNvPicPr>
          <p:nvPr/>
        </p:nvPicPr>
        <p:blipFill>
          <a:blip r:embed="rId5"/>
          <a:srcRect l="11164" t="11323" r="10765" b="10606"/>
          <a:stretch>
            <a:fillRect/>
          </a:stretch>
        </p:blipFill>
        <p:spPr>
          <a:xfrm>
            <a:off x="6967728" y="2020006"/>
            <a:ext cx="448056" cy="448056"/>
          </a:xfrm>
          <a:prstGeom prst="rect">
            <a:avLst/>
          </a:prstGeom>
        </p:spPr>
      </p:pic>
      <p:sp>
        <p:nvSpPr>
          <p:cNvPr id="100049" name="S03.Pause.Label"/>
          <p:cNvSpPr txBox="1"/>
          <p:nvPr/>
        </p:nvSpPr>
        <p:spPr>
          <a:xfrm>
            <a:off x="6373368" y="2985750"/>
            <a:ext cx="1645920" cy="256032"/>
          </a:xfrm>
          <a:prstGeom prst="rect">
            <a:avLst/>
          </a:prstGeom>
          <a:noFill/>
          <a:ln>
            <a:noFill/>
          </a:ln>
        </p:spPr>
        <p:txBody>
          <a:bodyPr lIns="0" tIns="0" rIns="0" bIns="0">
            <a:noAutofit/>
          </a:bodyPr>
          <a:lstStyle/>
          <a:p>
            <a:pPr algn="ctr"/>
            <a:r>
              <a:rPr lang="en-US" sz="1300">
                <a:solidFill>
                  <a:srgbClr val="183B56"/>
                </a:solidFill>
                <a:latin typeface="Arial"/>
                <a:ea typeface="Arial"/>
              </a:rPr>
              <a:t>Same DUT cycle n</a:t>
            </a:r>
          </a:p>
        </p:txBody>
      </p:sp>
      <p:pic>
        <p:nvPicPr>
          <p:cNvPr id="100050" name="S03.State.FPGA1" descr="FPGA chip"/>
          <p:cNvPicPr>
            <a:picLocks noChangeAspect="1"/>
          </p:cNvPicPr>
          <p:nvPr/>
        </p:nvPicPr>
        <p:blipFill>
          <a:blip r:embed="rId3"/>
          <a:srcRect l="21371" t="23684" r="21291" b="20972"/>
          <a:stretch>
            <a:fillRect/>
          </a:stretch>
        </p:blipFill>
        <p:spPr>
          <a:xfrm>
            <a:off x="484632" y="4220964"/>
            <a:ext cx="502920" cy="485433"/>
          </a:xfrm>
          <a:prstGeom prst="rect">
            <a:avLst/>
          </a:prstGeom>
        </p:spPr>
      </p:pic>
      <p:pic>
        <p:nvPicPr>
          <p:cNvPr id="100051" name="S03.State.FPGA2" descr="FPGA chip"/>
          <p:cNvPicPr>
            <a:picLocks noChangeAspect="1"/>
          </p:cNvPicPr>
          <p:nvPr/>
        </p:nvPicPr>
        <p:blipFill>
          <a:blip r:embed="rId3"/>
          <a:srcRect l="21371" t="23684" r="21291" b="20972"/>
          <a:stretch>
            <a:fillRect/>
          </a:stretch>
        </p:blipFill>
        <p:spPr>
          <a:xfrm>
            <a:off x="1106424" y="4220964"/>
            <a:ext cx="502920" cy="485433"/>
          </a:xfrm>
          <a:prstGeom prst="rect">
            <a:avLst/>
          </a:prstGeom>
        </p:spPr>
      </p:pic>
      <p:pic>
        <p:nvPicPr>
          <p:cNvPr id="100052" name="S03.State.FPGA3" descr="FPGA chip"/>
          <p:cNvPicPr>
            <a:picLocks noChangeAspect="1"/>
          </p:cNvPicPr>
          <p:nvPr/>
        </p:nvPicPr>
        <p:blipFill>
          <a:blip r:embed="rId3"/>
          <a:srcRect l="21371" t="23684" r="21291" b="20972"/>
          <a:stretch>
            <a:fillRect/>
          </a:stretch>
        </p:blipFill>
        <p:spPr>
          <a:xfrm>
            <a:off x="1728216" y="4220964"/>
            <a:ext cx="502920" cy="485433"/>
          </a:xfrm>
          <a:prstGeom prst="rect">
            <a:avLst/>
          </a:prstGeom>
        </p:spPr>
      </p:pic>
      <p:sp>
        <p:nvSpPr>
          <p:cNvPr id="100053" name="S03.State.LocalLabel"/>
          <p:cNvSpPr txBox="1"/>
          <p:nvPr/>
        </p:nvSpPr>
        <p:spPr>
          <a:xfrm>
            <a:off x="475488" y="3855204"/>
            <a:ext cx="1773936" cy="246888"/>
          </a:xfrm>
          <a:prstGeom prst="rect">
            <a:avLst/>
          </a:prstGeom>
          <a:noFill/>
          <a:ln>
            <a:noFill/>
          </a:ln>
        </p:spPr>
        <p:txBody>
          <a:bodyPr lIns="0" tIns="0" rIns="0" bIns="0">
            <a:noAutofit/>
          </a:bodyPr>
          <a:lstStyle/>
          <a:p>
            <a:pPr algn="ctr"/>
            <a:r>
              <a:rPr lang="en-US" sz="1400">
                <a:solidFill>
                  <a:srgbClr val="183B56"/>
                </a:solidFill>
                <a:latin typeface="Arial"/>
                <a:ea typeface="Arial"/>
              </a:rPr>
              <a:t>Local states</a:t>
            </a:r>
          </a:p>
        </p:txBody>
      </p:sp>
      <p:pic>
        <p:nvPicPr>
          <p:cNvPr id="100054" name="S03.State.Snapshot" descr="Global snapshot"/>
          <p:cNvPicPr>
            <a:picLocks noChangeAspect="1"/>
          </p:cNvPicPr>
          <p:nvPr/>
        </p:nvPicPr>
        <p:blipFill>
          <a:blip r:embed="rId6"/>
          <a:srcRect l="16746" t="16427" r="16746" b="11961"/>
          <a:stretch>
            <a:fillRect/>
          </a:stretch>
        </p:blipFill>
        <p:spPr>
          <a:xfrm>
            <a:off x="1129284" y="5162796"/>
            <a:ext cx="457200" cy="492285"/>
          </a:xfrm>
          <a:prstGeom prst="rect">
            <a:avLst/>
          </a:prstGeom>
        </p:spPr>
      </p:pic>
      <p:cxnSp>
        <p:nvCxnSpPr>
          <p:cNvPr id="100055" name="S03.State.Drop1"/>
          <p:cNvCxnSpPr/>
          <p:nvPr/>
        </p:nvCxnSpPr>
        <p:spPr>
          <a:xfrm>
            <a:off x="736092" y="4705596"/>
            <a:ext cx="0" cy="320040"/>
          </a:xfrm>
          <a:prstGeom prst="straightConnector1">
            <a:avLst/>
          </a:prstGeom>
          <a:ln w="25400">
            <a:solidFill>
              <a:srgbClr val="008C95"/>
            </a:solidFill>
          </a:ln>
        </p:spPr>
      </p:cxnSp>
      <p:cxnSp>
        <p:nvCxnSpPr>
          <p:cNvPr id="100056" name="S03.State.Drop2"/>
          <p:cNvCxnSpPr/>
          <p:nvPr/>
        </p:nvCxnSpPr>
        <p:spPr>
          <a:xfrm>
            <a:off x="1357884" y="4705596"/>
            <a:ext cx="0" cy="320040"/>
          </a:xfrm>
          <a:prstGeom prst="straightConnector1">
            <a:avLst/>
          </a:prstGeom>
          <a:ln w="25400">
            <a:solidFill>
              <a:srgbClr val="008C95"/>
            </a:solidFill>
          </a:ln>
        </p:spPr>
      </p:cxnSp>
      <p:cxnSp>
        <p:nvCxnSpPr>
          <p:cNvPr id="100057" name="S03.State.Drop3"/>
          <p:cNvCxnSpPr/>
          <p:nvPr/>
        </p:nvCxnSpPr>
        <p:spPr>
          <a:xfrm>
            <a:off x="1979676" y="4705596"/>
            <a:ext cx="0" cy="320040"/>
          </a:xfrm>
          <a:prstGeom prst="straightConnector1">
            <a:avLst/>
          </a:prstGeom>
          <a:ln w="25400">
            <a:solidFill>
              <a:srgbClr val="008C95"/>
            </a:solidFill>
          </a:ln>
        </p:spPr>
      </p:cxnSp>
      <p:cxnSp>
        <p:nvCxnSpPr>
          <p:cNvPr id="100058" name="S03.State.Bus"/>
          <p:cNvCxnSpPr/>
          <p:nvPr/>
        </p:nvCxnSpPr>
        <p:spPr>
          <a:xfrm>
            <a:off x="736092" y="5025636"/>
            <a:ext cx="1243584" cy="0"/>
          </a:xfrm>
          <a:prstGeom prst="straightConnector1">
            <a:avLst/>
          </a:prstGeom>
          <a:ln w="25400">
            <a:solidFill>
              <a:srgbClr val="008C95"/>
            </a:solidFill>
          </a:ln>
        </p:spPr>
      </p:cxnSp>
      <p:cxnSp>
        <p:nvCxnSpPr>
          <p:cNvPr id="100059" name="S03.State.Aggregate"/>
          <p:cNvCxnSpPr/>
          <p:nvPr/>
        </p:nvCxnSpPr>
        <p:spPr>
          <a:xfrm>
            <a:off x="1357884" y="5025636"/>
            <a:ext cx="0" cy="137160"/>
          </a:xfrm>
          <a:prstGeom prst="straightConnector1">
            <a:avLst/>
          </a:prstGeom>
          <a:ln w="25400">
            <a:solidFill>
              <a:srgbClr val="008C95"/>
            </a:solidFill>
            <a:tailEnd type="triangle"/>
          </a:ln>
        </p:spPr>
      </p:cxnSp>
      <p:sp>
        <p:nvSpPr>
          <p:cNvPr id="100060" name="S03.State.GlobalLabel"/>
          <p:cNvSpPr txBox="1"/>
          <p:nvPr/>
        </p:nvSpPr>
        <p:spPr>
          <a:xfrm>
            <a:off x="475488" y="5729724"/>
            <a:ext cx="1773936" cy="228600"/>
          </a:xfrm>
          <a:prstGeom prst="rect">
            <a:avLst/>
          </a:prstGeom>
          <a:noFill/>
          <a:ln>
            <a:noFill/>
          </a:ln>
        </p:spPr>
        <p:txBody>
          <a:bodyPr lIns="0" tIns="0" rIns="0" bIns="0">
            <a:noAutofit/>
          </a:bodyPr>
          <a:lstStyle/>
          <a:p>
            <a:pPr algn="ctr"/>
            <a:r>
              <a:rPr lang="en-US" sz="1300">
                <a:solidFill>
                  <a:srgbClr val="183B56"/>
                </a:solidFill>
                <a:latin typeface="Arial"/>
                <a:ea typeface="Arial"/>
              </a:rPr>
              <a:t>Global snapshot</a:t>
            </a:r>
          </a:p>
        </p:txBody>
      </p:sp>
      <p:pic>
        <p:nvPicPr>
          <p:cNvPr id="100061" name="S03.Partition.Circuit" descr="Circuit partitioning"/>
          <p:cNvPicPr>
            <a:picLocks noChangeAspect="1"/>
          </p:cNvPicPr>
          <p:nvPr/>
        </p:nvPicPr>
        <p:blipFill>
          <a:blip r:embed="rId7"/>
          <a:srcRect l="15869" t="18660" r="15789" b="18660"/>
          <a:stretch>
            <a:fillRect/>
          </a:stretch>
        </p:blipFill>
        <p:spPr>
          <a:xfrm>
            <a:off x="6455664" y="4074660"/>
            <a:ext cx="1481328" cy="1358605"/>
          </a:xfrm>
          <a:prstGeom prst="rect">
            <a:avLst/>
          </a:prstGeom>
        </p:spPr>
      </p:pic>
      <p:sp>
        <p:nvSpPr>
          <p:cNvPr id="100062" name="S03.Partition.Label"/>
          <p:cNvSpPr txBox="1"/>
          <p:nvPr/>
        </p:nvSpPr>
        <p:spPr>
          <a:xfrm>
            <a:off x="6373368" y="5638280"/>
            <a:ext cx="1682496" cy="246888"/>
          </a:xfrm>
          <a:prstGeom prst="rect">
            <a:avLst/>
          </a:prstGeom>
          <a:noFill/>
          <a:ln>
            <a:noFill/>
          </a:ln>
        </p:spPr>
        <p:txBody>
          <a:bodyPr lIns="0" tIns="0" rIns="0" bIns="0">
            <a:noAutofit/>
          </a:bodyPr>
          <a:lstStyle/>
          <a:p>
            <a:pPr algn="ctr"/>
            <a:r>
              <a:rPr lang="en-US" sz="1300" dirty="0">
                <a:solidFill>
                  <a:srgbClr val="183B56"/>
                </a:solidFill>
                <a:latin typeface="Arial"/>
                <a:ea typeface="Arial"/>
              </a:rPr>
              <a:t>Partitioned design</a:t>
            </a:r>
          </a:p>
        </p:txBody>
      </p:sp>
      <p:sp>
        <p:nvSpPr>
          <p:cNvPr id="100063" name="S03.Takeaway"/>
          <p:cNvSpPr txBox="1"/>
          <p:nvPr/>
        </p:nvSpPr>
        <p:spPr>
          <a:xfrm>
            <a:off x="804672" y="6309360"/>
            <a:ext cx="11155680" cy="320040"/>
          </a:xfrm>
          <a:prstGeom prst="rect">
            <a:avLst/>
          </a:prstGeom>
          <a:noFill/>
          <a:ln>
            <a:noFill/>
          </a:ln>
        </p:spPr>
        <p:txBody>
          <a:bodyPr lIns="0" tIns="0" rIns="0" bIns="0">
            <a:noAutofit/>
          </a:bodyPr>
          <a:lstStyle/>
          <a:p>
            <a:r>
              <a:rPr lang="en-US" b="1" dirty="0">
                <a:solidFill>
                  <a:srgbClr val="183B56"/>
                </a:solidFill>
                <a:ea typeface="Arial"/>
              </a:rPr>
              <a:t>Academe</a:t>
            </a:r>
            <a:r>
              <a:rPr lang="zh-CN" altLang="en-US" b="1" dirty="0">
                <a:solidFill>
                  <a:srgbClr val="183B56"/>
                </a:solidFill>
                <a:ea typeface="Arial"/>
              </a:rPr>
              <a:t> </a:t>
            </a:r>
            <a:r>
              <a:rPr lang="en-US" b="1" dirty="0">
                <a:solidFill>
                  <a:srgbClr val="183B56"/>
                </a:solidFill>
                <a:ea typeface="Arial"/>
              </a:rPr>
              <a:t>have made progress in individual fields, still gaps in Multi-FPGA Emulation system.</a:t>
            </a:r>
            <a:endParaRPr lang="en-US" b="1" dirty="0">
              <a:solidFill>
                <a:srgbClr val="183B56"/>
              </a:solidFill>
              <a:latin typeface="Arial"/>
              <a:ea typeface="Arial"/>
            </a:endParaRPr>
          </a:p>
        </p:txBody>
      </p:sp>
      <p:sp>
        <p:nvSpPr>
          <p:cNvPr id="100064" name="S03.PageNumber"/>
          <p:cNvSpPr txBox="1"/>
          <p:nvPr/>
        </p:nvSpPr>
        <p:spPr>
          <a:xfrm>
            <a:off x="11631168" y="6629400"/>
            <a:ext cx="228600" cy="182880"/>
          </a:xfrm>
          <a:prstGeom prst="rect">
            <a:avLst/>
          </a:prstGeom>
          <a:noFill/>
          <a:ln>
            <a:noFill/>
          </a:ln>
        </p:spPr>
        <p:txBody>
          <a:bodyPr lIns="0" tIns="0" rIns="0" bIns="0">
            <a:noAutofit/>
          </a:bodyPr>
          <a:lstStyle/>
          <a:p>
            <a:pPr algn="r"/>
            <a:r>
              <a:rPr lang="en-US" sz="1000">
                <a:solidFill>
                  <a:srgbClr val="607184"/>
                </a:solidFill>
                <a:latin typeface="Arial"/>
                <a:ea typeface="Arial"/>
              </a:rPr>
              <a:t>3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04.Title"/>
          <p:cNvSpPr>
            <a:spLocks noGrp="1"/>
          </p:cNvSpPr>
          <p:nvPr>
            <p:ph type="title"/>
          </p:nvPr>
        </p:nvSpPr>
        <p:spPr>
          <a:xfrm>
            <a:off x="320040" y="128016"/>
            <a:ext cx="11558016" cy="493776"/>
          </a:xfrm>
          <a:noFill/>
          <a:ln>
            <a:noFill/>
          </a:ln>
        </p:spPr>
        <p:txBody>
          <a:bodyPr lIns="0" tIns="0" rIns="0" bIns="0">
            <a:noAutofit/>
          </a:bodyPr>
          <a:lstStyle/>
          <a:p>
            <a:r>
              <a:rPr lang="en-US" sz="3200" b="1" dirty="0">
                <a:solidFill>
                  <a:srgbClr val="183B56"/>
                </a:solidFill>
                <a:latin typeface="Arial"/>
                <a:ea typeface="Arial"/>
              </a:rPr>
              <a:t>Research Gap and Goal</a:t>
            </a:r>
          </a:p>
        </p:txBody>
      </p:sp>
      <p:sp>
        <p:nvSpPr>
          <p:cNvPr id="100000" name="S04.TitleRule"/>
          <p:cNvSpPr/>
          <p:nvPr/>
        </p:nvSpPr>
        <p:spPr>
          <a:xfrm>
            <a:off x="320040" y="713232"/>
            <a:ext cx="11558016" cy="25400"/>
          </a:xfrm>
          <a:prstGeom prst="rect">
            <a:avLst/>
          </a:prstGeom>
          <a:solidFill>
            <a:srgbClr val="008C95"/>
          </a:solidFill>
          <a:ln>
            <a:noFill/>
          </a:ln>
        </p:spPr>
        <p:txBody>
          <a:bodyPr lIns="0" tIns="0" rIns="0" bIns="0">
            <a:noAutofit/>
          </a:bodyPr>
          <a:lstStyle/>
          <a:p>
            <a:endParaRPr lang="en-US" sz="1800">
              <a:solidFill>
                <a:srgbClr val="20354A"/>
              </a:solidFill>
              <a:latin typeface="Arial"/>
              <a:ea typeface="Arial"/>
            </a:endParaRPr>
          </a:p>
        </p:txBody>
      </p:sp>
      <p:sp>
        <p:nvSpPr>
          <p:cNvPr id="100001" name="S04.Prototype.Panel"/>
          <p:cNvSpPr/>
          <p:nvPr/>
        </p:nvSpPr>
        <p:spPr>
          <a:xfrm>
            <a:off x="320040" y="969264"/>
            <a:ext cx="3712464" cy="4892040"/>
          </a:xfrm>
          <a:prstGeom prst="roundRect">
            <a:avLst>
              <a:gd name="adj" fmla="val 4500"/>
            </a:avLst>
          </a:prstGeom>
          <a:solidFill>
            <a:srgbClr val="EAF4F3"/>
          </a:solidFill>
          <a:ln>
            <a:noFill/>
          </a:ln>
        </p:spPr>
        <p:txBody>
          <a:bodyPr lIns="0" tIns="0" rIns="0" bIns="0">
            <a:noAutofit/>
          </a:bodyPr>
          <a:lstStyle/>
          <a:p>
            <a:endParaRPr lang="en-US" sz="1800">
              <a:solidFill>
                <a:srgbClr val="20354A"/>
              </a:solidFill>
              <a:latin typeface="Arial"/>
              <a:ea typeface="Arial"/>
            </a:endParaRPr>
          </a:p>
        </p:txBody>
      </p:sp>
      <p:sp>
        <p:nvSpPr>
          <p:cNvPr id="100002" name="S04.Prototype.Heading"/>
          <p:cNvSpPr txBox="1"/>
          <p:nvPr/>
        </p:nvSpPr>
        <p:spPr>
          <a:xfrm>
            <a:off x="448056" y="1115568"/>
            <a:ext cx="3456432" cy="640080"/>
          </a:xfrm>
          <a:prstGeom prst="rect">
            <a:avLst/>
          </a:prstGeom>
          <a:noFill/>
          <a:ln>
            <a:noFill/>
          </a:ln>
        </p:spPr>
        <p:txBody>
          <a:bodyPr lIns="0" tIns="0" rIns="0" bIns="0">
            <a:noAutofit/>
          </a:bodyPr>
          <a:lstStyle/>
          <a:p>
            <a:pPr algn="ctr"/>
            <a:r>
              <a:rPr lang="en-US" sz="2100" b="1">
                <a:solidFill>
                  <a:srgbClr val="183B56"/>
                </a:solidFill>
                <a:latin typeface="Arial"/>
                <a:ea typeface="Arial"/>
              </a:rPr>
              <a:t>Multi-FPGA</a:t>
            </a:r>
          </a:p>
          <a:p>
            <a:pPr algn="ctr"/>
            <a:r>
              <a:rPr lang="en-US" sz="2100" b="1">
                <a:solidFill>
                  <a:srgbClr val="183B56"/>
                </a:solidFill>
                <a:latin typeface="Arial"/>
                <a:ea typeface="Arial"/>
              </a:rPr>
              <a:t>Prototyping</a:t>
            </a:r>
          </a:p>
        </p:txBody>
      </p:sp>
      <p:sp>
        <p:nvSpPr>
          <p:cNvPr id="100003" name="S04.Prototype.Qualifier"/>
          <p:cNvSpPr txBox="1"/>
          <p:nvPr/>
        </p:nvSpPr>
        <p:spPr>
          <a:xfrm>
            <a:off x="484632" y="1865376"/>
            <a:ext cx="3383280" cy="246888"/>
          </a:xfrm>
          <a:prstGeom prst="rect">
            <a:avLst/>
          </a:prstGeom>
          <a:noFill/>
          <a:ln>
            <a:noFill/>
          </a:ln>
        </p:spPr>
        <p:txBody>
          <a:bodyPr lIns="0" tIns="0" rIns="0" bIns="0">
            <a:noAutofit/>
          </a:bodyPr>
          <a:lstStyle/>
          <a:p>
            <a:pPr algn="ctr"/>
            <a:r>
              <a:rPr lang="en-US" sz="1400" b="0" dirty="0" err="1">
                <a:solidFill>
                  <a:srgbClr val="607184"/>
                </a:solidFill>
                <a:latin typeface="Arial"/>
                <a:ea typeface="Arial"/>
              </a:rPr>
              <a:t>FireAxe</a:t>
            </a:r>
            <a:r>
              <a:rPr lang="zh-CN" altLang="en-US" sz="1400" dirty="0">
                <a:solidFill>
                  <a:srgbClr val="607184"/>
                </a:solidFill>
                <a:latin typeface="Arial"/>
                <a:ea typeface="Arial"/>
              </a:rPr>
              <a:t>、</a:t>
            </a:r>
            <a:r>
              <a:rPr lang="en-US" altLang="zh-CN" sz="1400" dirty="0">
                <a:solidFill>
                  <a:srgbClr val="607184"/>
                </a:solidFill>
                <a:latin typeface="Arial"/>
                <a:ea typeface="Arial"/>
              </a:rPr>
              <a:t>DUOHUAFEN</a:t>
            </a:r>
            <a:endParaRPr lang="en-US" sz="1400" b="0" dirty="0">
              <a:solidFill>
                <a:srgbClr val="607184"/>
              </a:solidFill>
              <a:latin typeface="Arial"/>
              <a:ea typeface="Arial"/>
            </a:endParaRPr>
          </a:p>
        </p:txBody>
      </p:sp>
      <p:sp>
        <p:nvSpPr>
          <p:cNvPr id="100004" name="S04.Prototype.Divider"/>
          <p:cNvSpPr/>
          <p:nvPr/>
        </p:nvSpPr>
        <p:spPr>
          <a:xfrm>
            <a:off x="502920" y="3182112"/>
            <a:ext cx="3346704" cy="10973"/>
          </a:xfrm>
          <a:prstGeom prst="rect">
            <a:avLst/>
          </a:prstGeom>
          <a:solidFill>
            <a:srgbClr val="BDCBD4"/>
          </a:solidFill>
          <a:ln>
            <a:noFill/>
          </a:ln>
        </p:spPr>
        <p:txBody>
          <a:bodyPr lIns="0" tIns="0" rIns="0" bIns="0">
            <a:noAutofit/>
          </a:bodyPr>
          <a:lstStyle/>
          <a:p>
            <a:endParaRPr lang="en-US" sz="1800">
              <a:solidFill>
                <a:srgbClr val="20354A"/>
              </a:solidFill>
              <a:latin typeface="Arial"/>
              <a:ea typeface="Arial"/>
            </a:endParaRPr>
          </a:p>
        </p:txBody>
      </p:sp>
      <p:sp>
        <p:nvSpPr>
          <p:cNvPr id="100005" name="S04.Prototype.Status1"/>
          <p:cNvSpPr/>
          <p:nvPr/>
        </p:nvSpPr>
        <p:spPr>
          <a:xfrm>
            <a:off x="548640" y="3449400"/>
            <a:ext cx="265176" cy="265176"/>
          </a:xfrm>
          <a:prstGeom prst="ellipse">
            <a:avLst/>
          </a:prstGeom>
          <a:solidFill>
            <a:srgbClr val="008C95"/>
          </a:solidFill>
          <a:ln>
            <a:noFill/>
          </a:ln>
        </p:spPr>
        <p:txBody>
          <a:bodyPr lIns="0" tIns="0" rIns="0" bIns="0">
            <a:noAutofit/>
          </a:bodyPr>
          <a:lstStyle/>
          <a:p>
            <a:endParaRPr lang="en-US" sz="1800">
              <a:solidFill>
                <a:srgbClr val="20354A"/>
              </a:solidFill>
              <a:latin typeface="Arial"/>
              <a:ea typeface="Arial"/>
            </a:endParaRPr>
          </a:p>
        </p:txBody>
      </p:sp>
      <p:sp>
        <p:nvSpPr>
          <p:cNvPr id="100006" name="S04.Prototype.CheckShort1"/>
          <p:cNvSpPr/>
          <p:nvPr/>
        </p:nvSpPr>
        <p:spPr>
          <a:xfrm rot="2700000">
            <a:off x="609905" y="3587474"/>
            <a:ext cx="84125" cy="33833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lIns="0" tIns="0" rIns="0" bIns="0">
            <a:noAutofit/>
          </a:bodyPr>
          <a:lstStyle/>
          <a:p>
            <a:endParaRPr lang="en-US" sz="1800">
              <a:solidFill>
                <a:srgbClr val="20354A"/>
              </a:solidFill>
              <a:latin typeface="Arial"/>
              <a:ea typeface="Arial"/>
            </a:endParaRPr>
          </a:p>
        </p:txBody>
      </p:sp>
      <p:sp>
        <p:nvSpPr>
          <p:cNvPr id="100007" name="S04.Prototype.CheckLong1"/>
          <p:cNvSpPr/>
          <p:nvPr/>
        </p:nvSpPr>
        <p:spPr>
          <a:xfrm rot="18900000">
            <a:off x="647395" y="3565529"/>
            <a:ext cx="125273" cy="33833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lIns="0" tIns="0" rIns="0" bIns="0">
            <a:noAutofit/>
          </a:bodyPr>
          <a:lstStyle/>
          <a:p>
            <a:endParaRPr lang="en-US" sz="1800">
              <a:solidFill>
                <a:srgbClr val="20354A"/>
              </a:solidFill>
              <a:latin typeface="Arial"/>
              <a:ea typeface="Arial"/>
            </a:endParaRPr>
          </a:p>
        </p:txBody>
      </p:sp>
      <p:sp>
        <p:nvSpPr>
          <p:cNvPr id="100008" name="S04.Prototype.Text1"/>
          <p:cNvSpPr txBox="1"/>
          <p:nvPr/>
        </p:nvSpPr>
        <p:spPr>
          <a:xfrm>
            <a:off x="960120" y="3442999"/>
            <a:ext cx="2916936" cy="310896"/>
          </a:xfrm>
          <a:prstGeom prst="rect">
            <a:avLst/>
          </a:prstGeom>
          <a:noFill/>
          <a:ln>
            <a:noFill/>
          </a:ln>
        </p:spPr>
        <p:txBody>
          <a:bodyPr lIns="0" tIns="0" rIns="0" bIns="0">
            <a:noAutofit/>
          </a:bodyPr>
          <a:lstStyle/>
          <a:p>
            <a:r>
              <a:rPr lang="en-US" sz="1700">
                <a:solidFill>
                  <a:srgbClr val="20354A"/>
                </a:solidFill>
                <a:latin typeface="Arial"/>
                <a:ea typeface="Arial"/>
              </a:rPr>
              <a:t>Scalable deployment</a:t>
            </a:r>
          </a:p>
        </p:txBody>
      </p:sp>
      <p:sp>
        <p:nvSpPr>
          <p:cNvPr id="100009" name="S04.Prototype.Status2"/>
          <p:cNvSpPr/>
          <p:nvPr/>
        </p:nvSpPr>
        <p:spPr>
          <a:xfrm>
            <a:off x="548640" y="3815160"/>
            <a:ext cx="265176" cy="265176"/>
          </a:xfrm>
          <a:prstGeom prst="ellipse">
            <a:avLst/>
          </a:prstGeom>
          <a:solidFill>
            <a:srgbClr val="008C95"/>
          </a:solidFill>
          <a:ln>
            <a:noFill/>
          </a:ln>
        </p:spPr>
        <p:txBody>
          <a:bodyPr lIns="0" tIns="0" rIns="0" bIns="0">
            <a:noAutofit/>
          </a:bodyPr>
          <a:lstStyle/>
          <a:p>
            <a:endParaRPr lang="en-US" sz="1800">
              <a:solidFill>
                <a:srgbClr val="20354A"/>
              </a:solidFill>
              <a:latin typeface="Arial"/>
              <a:ea typeface="Arial"/>
            </a:endParaRPr>
          </a:p>
        </p:txBody>
      </p:sp>
      <p:sp>
        <p:nvSpPr>
          <p:cNvPr id="100010" name="S04.Prototype.CheckShort2"/>
          <p:cNvSpPr/>
          <p:nvPr/>
        </p:nvSpPr>
        <p:spPr>
          <a:xfrm rot="2700000">
            <a:off x="609905" y="3953234"/>
            <a:ext cx="84125" cy="33833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lIns="0" tIns="0" rIns="0" bIns="0">
            <a:noAutofit/>
          </a:bodyPr>
          <a:lstStyle/>
          <a:p>
            <a:endParaRPr lang="en-US" sz="1800">
              <a:solidFill>
                <a:srgbClr val="20354A"/>
              </a:solidFill>
              <a:latin typeface="Arial"/>
              <a:ea typeface="Arial"/>
            </a:endParaRPr>
          </a:p>
        </p:txBody>
      </p:sp>
      <p:sp>
        <p:nvSpPr>
          <p:cNvPr id="100011" name="S04.Prototype.CheckLong2"/>
          <p:cNvSpPr/>
          <p:nvPr/>
        </p:nvSpPr>
        <p:spPr>
          <a:xfrm rot="18900000">
            <a:off x="647395" y="3931289"/>
            <a:ext cx="125273" cy="33833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lIns="0" tIns="0" rIns="0" bIns="0">
            <a:noAutofit/>
          </a:bodyPr>
          <a:lstStyle/>
          <a:p>
            <a:endParaRPr lang="en-US" sz="1800">
              <a:solidFill>
                <a:srgbClr val="20354A"/>
              </a:solidFill>
              <a:latin typeface="Arial"/>
              <a:ea typeface="Arial"/>
            </a:endParaRPr>
          </a:p>
        </p:txBody>
      </p:sp>
      <p:sp>
        <p:nvSpPr>
          <p:cNvPr id="100012" name="S04.Prototype.Text2"/>
          <p:cNvSpPr txBox="1"/>
          <p:nvPr/>
        </p:nvSpPr>
        <p:spPr>
          <a:xfrm>
            <a:off x="960120" y="3808759"/>
            <a:ext cx="2916936" cy="310896"/>
          </a:xfrm>
          <a:prstGeom prst="rect">
            <a:avLst/>
          </a:prstGeom>
          <a:noFill/>
          <a:ln>
            <a:noFill/>
          </a:ln>
        </p:spPr>
        <p:txBody>
          <a:bodyPr lIns="0" tIns="0" rIns="0" bIns="0">
            <a:noAutofit/>
          </a:bodyPr>
          <a:lstStyle/>
          <a:p>
            <a:r>
              <a:rPr lang="en-US" sz="1700">
                <a:solidFill>
                  <a:srgbClr val="20354A"/>
                </a:solidFill>
                <a:latin typeface="Arial"/>
                <a:ea typeface="Arial"/>
              </a:rPr>
              <a:t>Fast execution</a:t>
            </a:r>
          </a:p>
        </p:txBody>
      </p:sp>
      <p:sp>
        <p:nvSpPr>
          <p:cNvPr id="100013" name="S04.Prototype.Status3"/>
          <p:cNvSpPr/>
          <p:nvPr/>
        </p:nvSpPr>
        <p:spPr>
          <a:xfrm>
            <a:off x="548640" y="4180920"/>
            <a:ext cx="265176" cy="265176"/>
          </a:xfrm>
          <a:prstGeom prst="ellipse">
            <a:avLst/>
          </a:prstGeom>
          <a:solidFill>
            <a:srgbClr val="DF973E"/>
          </a:solidFill>
          <a:ln>
            <a:noFill/>
          </a:ln>
        </p:spPr>
        <p:txBody>
          <a:bodyPr lIns="0" tIns="0" rIns="0" bIns="0">
            <a:noAutofit/>
          </a:bodyPr>
          <a:lstStyle/>
          <a:p>
            <a:endParaRPr lang="en-US" sz="1800">
              <a:solidFill>
                <a:srgbClr val="20354A"/>
              </a:solidFill>
              <a:latin typeface="Arial"/>
              <a:ea typeface="Arial"/>
            </a:endParaRPr>
          </a:p>
        </p:txBody>
      </p:sp>
      <p:sp>
        <p:nvSpPr>
          <p:cNvPr id="100014" name="S04.Prototype.Variable3"/>
          <p:cNvSpPr txBox="1"/>
          <p:nvPr/>
        </p:nvSpPr>
        <p:spPr>
          <a:xfrm>
            <a:off x="548640" y="4179091"/>
            <a:ext cx="265176" cy="265176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ctr">
            <a:noAutofit/>
          </a:bodyPr>
          <a:lstStyle/>
          <a:p>
            <a:pPr algn="ctr"/>
            <a:r>
              <a:rPr lang="en-US" sz="1700" b="1">
                <a:solidFill>
                  <a:srgbClr val="FFFFFF"/>
                </a:solidFill>
                <a:latin typeface="Arial"/>
                <a:ea typeface="Arial"/>
              </a:rPr>
              <a:t>?</a:t>
            </a:r>
          </a:p>
        </p:txBody>
      </p:sp>
      <p:sp>
        <p:nvSpPr>
          <p:cNvPr id="100015" name="S04.Prototype.Text3"/>
          <p:cNvSpPr txBox="1"/>
          <p:nvPr/>
        </p:nvSpPr>
        <p:spPr>
          <a:xfrm>
            <a:off x="960120" y="4174519"/>
            <a:ext cx="2916936" cy="310896"/>
          </a:xfrm>
          <a:prstGeom prst="rect">
            <a:avLst/>
          </a:prstGeom>
          <a:noFill/>
          <a:ln>
            <a:noFill/>
          </a:ln>
        </p:spPr>
        <p:txBody>
          <a:bodyPr lIns="0" tIns="0" rIns="0" bIns="0">
            <a:noAutofit/>
          </a:bodyPr>
          <a:lstStyle/>
          <a:p>
            <a:r>
              <a:rPr lang="en-US" sz="1700">
                <a:solidFill>
                  <a:srgbClr val="20354A"/>
                </a:solidFill>
                <a:latin typeface="Arial"/>
                <a:ea typeface="Arial"/>
              </a:rPr>
              <a:t>Cycle-consistent pause</a:t>
            </a:r>
          </a:p>
        </p:txBody>
      </p:sp>
      <p:sp>
        <p:nvSpPr>
          <p:cNvPr id="100016" name="S04.Prototype.Status4"/>
          <p:cNvSpPr/>
          <p:nvPr/>
        </p:nvSpPr>
        <p:spPr>
          <a:xfrm>
            <a:off x="548640" y="4546680"/>
            <a:ext cx="265176" cy="265176"/>
          </a:xfrm>
          <a:prstGeom prst="ellipse">
            <a:avLst/>
          </a:prstGeom>
          <a:solidFill>
            <a:srgbClr val="DF973E"/>
          </a:solidFill>
          <a:ln>
            <a:noFill/>
          </a:ln>
        </p:spPr>
        <p:txBody>
          <a:bodyPr lIns="0" tIns="0" rIns="0" bIns="0">
            <a:noAutofit/>
          </a:bodyPr>
          <a:lstStyle/>
          <a:p>
            <a:endParaRPr lang="en-US" sz="1800">
              <a:solidFill>
                <a:srgbClr val="20354A"/>
              </a:solidFill>
              <a:latin typeface="Arial"/>
              <a:ea typeface="Arial"/>
            </a:endParaRPr>
          </a:p>
        </p:txBody>
      </p:sp>
      <p:sp>
        <p:nvSpPr>
          <p:cNvPr id="100017" name="S04.Prototype.Variable4"/>
          <p:cNvSpPr txBox="1"/>
          <p:nvPr/>
        </p:nvSpPr>
        <p:spPr>
          <a:xfrm>
            <a:off x="548640" y="4544851"/>
            <a:ext cx="265176" cy="265176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ctr">
            <a:noAutofit/>
          </a:bodyPr>
          <a:lstStyle/>
          <a:p>
            <a:pPr algn="ctr"/>
            <a:r>
              <a:rPr lang="en-US" sz="1700" b="1">
                <a:solidFill>
                  <a:srgbClr val="FFFFFF"/>
                </a:solidFill>
                <a:latin typeface="Arial"/>
                <a:ea typeface="Arial"/>
              </a:rPr>
              <a:t>?</a:t>
            </a:r>
          </a:p>
        </p:txBody>
      </p:sp>
      <p:sp>
        <p:nvSpPr>
          <p:cNvPr id="100018" name="S04.Prototype.Text4"/>
          <p:cNvSpPr txBox="1"/>
          <p:nvPr/>
        </p:nvSpPr>
        <p:spPr>
          <a:xfrm>
            <a:off x="960120" y="4540279"/>
            <a:ext cx="2916936" cy="310896"/>
          </a:xfrm>
          <a:prstGeom prst="rect">
            <a:avLst/>
          </a:prstGeom>
          <a:noFill/>
          <a:ln>
            <a:noFill/>
          </a:ln>
        </p:spPr>
        <p:txBody>
          <a:bodyPr lIns="0" tIns="0" rIns="0" bIns="0">
            <a:noAutofit/>
          </a:bodyPr>
          <a:lstStyle/>
          <a:p>
            <a:r>
              <a:rPr lang="en-US" sz="1700">
                <a:solidFill>
                  <a:srgbClr val="20354A"/>
                </a:solidFill>
                <a:latin typeface="Arial"/>
                <a:ea typeface="Arial"/>
              </a:rPr>
              <a:t>Global snapshot</a:t>
            </a:r>
          </a:p>
        </p:txBody>
      </p:sp>
      <p:sp>
        <p:nvSpPr>
          <p:cNvPr id="100019" name="S04.Prototype.Status5"/>
          <p:cNvSpPr/>
          <p:nvPr/>
        </p:nvSpPr>
        <p:spPr>
          <a:xfrm>
            <a:off x="548640" y="4912440"/>
            <a:ext cx="265176" cy="265176"/>
          </a:xfrm>
          <a:prstGeom prst="ellipse">
            <a:avLst/>
          </a:prstGeom>
          <a:solidFill>
            <a:srgbClr val="DF973E"/>
          </a:solidFill>
          <a:ln>
            <a:noFill/>
          </a:ln>
        </p:spPr>
        <p:txBody>
          <a:bodyPr lIns="0" tIns="0" rIns="0" bIns="0">
            <a:noAutofit/>
          </a:bodyPr>
          <a:lstStyle/>
          <a:p>
            <a:endParaRPr lang="en-US" sz="1800">
              <a:solidFill>
                <a:srgbClr val="20354A"/>
              </a:solidFill>
              <a:latin typeface="Arial"/>
              <a:ea typeface="Arial"/>
            </a:endParaRPr>
          </a:p>
        </p:txBody>
      </p:sp>
      <p:sp>
        <p:nvSpPr>
          <p:cNvPr id="100020" name="S04.Prototype.Variable5"/>
          <p:cNvSpPr txBox="1"/>
          <p:nvPr/>
        </p:nvSpPr>
        <p:spPr>
          <a:xfrm>
            <a:off x="548640" y="4910611"/>
            <a:ext cx="265176" cy="265176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ctr">
            <a:noAutofit/>
          </a:bodyPr>
          <a:lstStyle/>
          <a:p>
            <a:pPr algn="ctr"/>
            <a:r>
              <a:rPr lang="en-US" sz="1700" b="1">
                <a:solidFill>
                  <a:srgbClr val="FFFFFF"/>
                </a:solidFill>
                <a:latin typeface="Arial"/>
                <a:ea typeface="Arial"/>
              </a:rPr>
              <a:t>?</a:t>
            </a:r>
          </a:p>
        </p:txBody>
      </p:sp>
      <p:sp>
        <p:nvSpPr>
          <p:cNvPr id="100021" name="S04.Prototype.Text5"/>
          <p:cNvSpPr txBox="1"/>
          <p:nvPr/>
        </p:nvSpPr>
        <p:spPr>
          <a:xfrm>
            <a:off x="960120" y="4906039"/>
            <a:ext cx="2916936" cy="310896"/>
          </a:xfrm>
          <a:prstGeom prst="rect">
            <a:avLst/>
          </a:prstGeom>
          <a:noFill/>
          <a:ln>
            <a:noFill/>
          </a:ln>
        </p:spPr>
        <p:txBody>
          <a:bodyPr lIns="0" tIns="0" rIns="0" bIns="0">
            <a:noAutofit/>
          </a:bodyPr>
          <a:lstStyle/>
          <a:p>
            <a:r>
              <a:rPr lang="en-US" sz="1700">
                <a:solidFill>
                  <a:srgbClr val="20354A"/>
                </a:solidFill>
                <a:latin typeface="Arial"/>
                <a:ea typeface="Arial"/>
              </a:rPr>
              <a:t>Deterministic replay</a:t>
            </a:r>
          </a:p>
        </p:txBody>
      </p:sp>
      <p:sp>
        <p:nvSpPr>
          <p:cNvPr id="100022" name="S04.Prototype.Status6"/>
          <p:cNvSpPr/>
          <p:nvPr/>
        </p:nvSpPr>
        <p:spPr>
          <a:xfrm>
            <a:off x="548640" y="5278200"/>
            <a:ext cx="265176" cy="265176"/>
          </a:xfrm>
          <a:prstGeom prst="ellipse">
            <a:avLst/>
          </a:prstGeom>
          <a:solidFill>
            <a:srgbClr val="DF973E"/>
          </a:solidFill>
          <a:ln>
            <a:noFill/>
          </a:ln>
        </p:spPr>
        <p:txBody>
          <a:bodyPr lIns="0" tIns="0" rIns="0" bIns="0">
            <a:noAutofit/>
          </a:bodyPr>
          <a:lstStyle/>
          <a:p>
            <a:endParaRPr lang="en-US" sz="1800">
              <a:solidFill>
                <a:srgbClr val="20354A"/>
              </a:solidFill>
              <a:latin typeface="Arial"/>
              <a:ea typeface="Arial"/>
            </a:endParaRPr>
          </a:p>
        </p:txBody>
      </p:sp>
      <p:sp>
        <p:nvSpPr>
          <p:cNvPr id="100023" name="S04.Prototype.Variable6"/>
          <p:cNvSpPr txBox="1"/>
          <p:nvPr/>
        </p:nvSpPr>
        <p:spPr>
          <a:xfrm>
            <a:off x="548640" y="5276371"/>
            <a:ext cx="265176" cy="265176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ctr">
            <a:noAutofit/>
          </a:bodyPr>
          <a:lstStyle/>
          <a:p>
            <a:pPr algn="ctr"/>
            <a:r>
              <a:rPr lang="en-US" sz="1700" b="1">
                <a:solidFill>
                  <a:srgbClr val="FFFFFF"/>
                </a:solidFill>
                <a:latin typeface="Arial"/>
                <a:ea typeface="Arial"/>
              </a:rPr>
              <a:t>?</a:t>
            </a:r>
          </a:p>
        </p:txBody>
      </p:sp>
      <p:sp>
        <p:nvSpPr>
          <p:cNvPr id="100024" name="S04.Prototype.Text6"/>
          <p:cNvSpPr txBox="1"/>
          <p:nvPr/>
        </p:nvSpPr>
        <p:spPr>
          <a:xfrm>
            <a:off x="960120" y="5271799"/>
            <a:ext cx="2916936" cy="310896"/>
          </a:xfrm>
          <a:prstGeom prst="rect">
            <a:avLst/>
          </a:prstGeom>
          <a:noFill/>
          <a:ln>
            <a:noFill/>
          </a:ln>
        </p:spPr>
        <p:txBody>
          <a:bodyPr lIns="0" tIns="0" rIns="0" bIns="0">
            <a:noAutofit/>
          </a:bodyPr>
          <a:lstStyle/>
          <a:p>
            <a:r>
              <a:rPr lang="en-US" sz="1700">
                <a:solidFill>
                  <a:srgbClr val="20354A"/>
                </a:solidFill>
                <a:latin typeface="Arial"/>
                <a:ea typeface="Arial"/>
              </a:rPr>
              <a:t>Waveform reconstruction</a:t>
            </a:r>
          </a:p>
        </p:txBody>
      </p:sp>
      <p:sp>
        <p:nvSpPr>
          <p:cNvPr id="100026" name="S04.Single.Panel"/>
          <p:cNvSpPr/>
          <p:nvPr/>
        </p:nvSpPr>
        <p:spPr>
          <a:xfrm>
            <a:off x="4242816" y="969264"/>
            <a:ext cx="3712464" cy="4892040"/>
          </a:xfrm>
          <a:prstGeom prst="roundRect">
            <a:avLst>
              <a:gd name="adj" fmla="val 4500"/>
            </a:avLst>
          </a:prstGeom>
          <a:solidFill>
            <a:srgbClr val="F1F5F8"/>
          </a:solidFill>
          <a:ln>
            <a:noFill/>
          </a:ln>
        </p:spPr>
        <p:txBody>
          <a:bodyPr lIns="0" tIns="0" rIns="0" bIns="0">
            <a:noAutofit/>
          </a:bodyPr>
          <a:lstStyle/>
          <a:p>
            <a:endParaRPr lang="en-US" sz="1800">
              <a:solidFill>
                <a:srgbClr val="20354A"/>
              </a:solidFill>
              <a:latin typeface="Arial"/>
              <a:ea typeface="Arial"/>
            </a:endParaRPr>
          </a:p>
        </p:txBody>
      </p:sp>
      <p:sp>
        <p:nvSpPr>
          <p:cNvPr id="100027" name="S04.Single.Heading"/>
          <p:cNvSpPr txBox="1"/>
          <p:nvPr/>
        </p:nvSpPr>
        <p:spPr>
          <a:xfrm>
            <a:off x="4370832" y="1115568"/>
            <a:ext cx="3456432" cy="640080"/>
          </a:xfrm>
          <a:prstGeom prst="rect">
            <a:avLst/>
          </a:prstGeom>
          <a:noFill/>
          <a:ln>
            <a:noFill/>
          </a:ln>
        </p:spPr>
        <p:txBody>
          <a:bodyPr lIns="0" tIns="0" rIns="0" bIns="0">
            <a:noAutofit/>
          </a:bodyPr>
          <a:lstStyle/>
          <a:p>
            <a:pPr algn="ctr"/>
            <a:r>
              <a:rPr lang="en-US" sz="2100" b="1">
                <a:solidFill>
                  <a:srgbClr val="183B56"/>
                </a:solidFill>
                <a:latin typeface="Arial"/>
                <a:ea typeface="Arial"/>
              </a:rPr>
              <a:t>Single-FPGA</a:t>
            </a:r>
          </a:p>
          <a:p>
            <a:pPr algn="ctr"/>
            <a:r>
              <a:rPr lang="en-US" sz="2100" b="1">
                <a:solidFill>
                  <a:srgbClr val="183B56"/>
                </a:solidFill>
                <a:latin typeface="Arial"/>
                <a:ea typeface="Arial"/>
              </a:rPr>
              <a:t>Replayable Emulation</a:t>
            </a:r>
          </a:p>
        </p:txBody>
      </p:sp>
      <p:sp>
        <p:nvSpPr>
          <p:cNvPr id="100028" name="S04.Single.Qualifier"/>
          <p:cNvSpPr txBox="1"/>
          <p:nvPr/>
        </p:nvSpPr>
        <p:spPr>
          <a:xfrm>
            <a:off x="4407408" y="1865376"/>
            <a:ext cx="3383280" cy="246888"/>
          </a:xfrm>
          <a:prstGeom prst="rect">
            <a:avLst/>
          </a:prstGeom>
          <a:noFill/>
          <a:ln>
            <a:noFill/>
          </a:ln>
        </p:spPr>
        <p:txBody>
          <a:bodyPr lIns="0" tIns="0" rIns="0" bIns="0">
            <a:noAutofit/>
          </a:bodyPr>
          <a:lstStyle/>
          <a:p>
            <a:pPr algn="ctr"/>
            <a:r>
              <a:rPr lang="en-US" sz="1400" b="0" dirty="0">
                <a:solidFill>
                  <a:srgbClr val="607184"/>
                </a:solidFill>
                <a:latin typeface="Arial"/>
                <a:ea typeface="Arial"/>
              </a:rPr>
              <a:t>REMU</a:t>
            </a:r>
          </a:p>
        </p:txBody>
      </p:sp>
      <p:sp>
        <p:nvSpPr>
          <p:cNvPr id="100029" name="S04.Single.Divider"/>
          <p:cNvSpPr/>
          <p:nvPr/>
        </p:nvSpPr>
        <p:spPr>
          <a:xfrm>
            <a:off x="4425696" y="3182112"/>
            <a:ext cx="3346704" cy="10973"/>
          </a:xfrm>
          <a:prstGeom prst="rect">
            <a:avLst/>
          </a:prstGeom>
          <a:solidFill>
            <a:srgbClr val="BDCBD4"/>
          </a:solidFill>
          <a:ln>
            <a:noFill/>
          </a:ln>
        </p:spPr>
        <p:txBody>
          <a:bodyPr lIns="0" tIns="0" rIns="0" bIns="0">
            <a:noAutofit/>
          </a:bodyPr>
          <a:lstStyle/>
          <a:p>
            <a:endParaRPr lang="en-US" sz="1800">
              <a:solidFill>
                <a:srgbClr val="20354A"/>
              </a:solidFill>
              <a:latin typeface="Arial"/>
              <a:ea typeface="Arial"/>
            </a:endParaRPr>
          </a:p>
        </p:txBody>
      </p:sp>
      <p:sp>
        <p:nvSpPr>
          <p:cNvPr id="100030" name="S04.Single.Status1"/>
          <p:cNvSpPr/>
          <p:nvPr/>
        </p:nvSpPr>
        <p:spPr>
          <a:xfrm>
            <a:off x="4471416" y="3449400"/>
            <a:ext cx="265176" cy="265176"/>
          </a:xfrm>
          <a:prstGeom prst="ellipse">
            <a:avLst/>
          </a:prstGeom>
          <a:solidFill>
            <a:srgbClr val="DF973E"/>
          </a:solidFill>
          <a:ln>
            <a:noFill/>
          </a:ln>
        </p:spPr>
        <p:txBody>
          <a:bodyPr lIns="0" tIns="0" rIns="0" bIns="0">
            <a:noAutofit/>
          </a:bodyPr>
          <a:lstStyle/>
          <a:p>
            <a:endParaRPr lang="en-US" sz="1800">
              <a:solidFill>
                <a:srgbClr val="20354A"/>
              </a:solidFill>
              <a:latin typeface="Arial"/>
              <a:ea typeface="Arial"/>
            </a:endParaRPr>
          </a:p>
        </p:txBody>
      </p:sp>
      <p:sp>
        <p:nvSpPr>
          <p:cNvPr id="100031" name="S04.Single.Minus1"/>
          <p:cNvSpPr/>
          <p:nvPr/>
        </p:nvSpPr>
        <p:spPr>
          <a:xfrm>
            <a:off x="4530852" y="3562786"/>
            <a:ext cx="146304" cy="38405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lIns="0" tIns="0" rIns="0" bIns="0">
            <a:noAutofit/>
          </a:bodyPr>
          <a:lstStyle/>
          <a:p>
            <a:endParaRPr lang="en-US" sz="1800">
              <a:solidFill>
                <a:srgbClr val="20354A"/>
              </a:solidFill>
              <a:latin typeface="Arial"/>
              <a:ea typeface="Arial"/>
            </a:endParaRPr>
          </a:p>
        </p:txBody>
      </p:sp>
      <p:sp>
        <p:nvSpPr>
          <p:cNvPr id="100032" name="S04.Single.Text1"/>
          <p:cNvSpPr txBox="1"/>
          <p:nvPr/>
        </p:nvSpPr>
        <p:spPr>
          <a:xfrm>
            <a:off x="4882896" y="3442999"/>
            <a:ext cx="2916936" cy="310896"/>
          </a:xfrm>
          <a:prstGeom prst="rect">
            <a:avLst/>
          </a:prstGeom>
          <a:noFill/>
          <a:ln>
            <a:noFill/>
          </a:ln>
        </p:spPr>
        <p:txBody>
          <a:bodyPr lIns="0" tIns="0" rIns="0" bIns="0">
            <a:noAutofit/>
          </a:bodyPr>
          <a:lstStyle/>
          <a:p>
            <a:r>
              <a:rPr lang="en-US" sz="1700">
                <a:solidFill>
                  <a:srgbClr val="20354A"/>
                </a:solidFill>
                <a:latin typeface="Arial"/>
                <a:ea typeface="Arial"/>
              </a:rPr>
              <a:t>Limited by one FPGA</a:t>
            </a:r>
          </a:p>
        </p:txBody>
      </p:sp>
      <p:sp>
        <p:nvSpPr>
          <p:cNvPr id="100033" name="S04.Single.Status2"/>
          <p:cNvSpPr/>
          <p:nvPr/>
        </p:nvSpPr>
        <p:spPr>
          <a:xfrm>
            <a:off x="4471416" y="3815160"/>
            <a:ext cx="265176" cy="265176"/>
          </a:xfrm>
          <a:prstGeom prst="ellipse">
            <a:avLst/>
          </a:prstGeom>
          <a:solidFill>
            <a:srgbClr val="008C95"/>
          </a:solidFill>
          <a:ln>
            <a:noFill/>
          </a:ln>
        </p:spPr>
        <p:txBody>
          <a:bodyPr lIns="0" tIns="0" rIns="0" bIns="0">
            <a:noAutofit/>
          </a:bodyPr>
          <a:lstStyle/>
          <a:p>
            <a:endParaRPr lang="en-US" sz="1800">
              <a:solidFill>
                <a:srgbClr val="20354A"/>
              </a:solidFill>
              <a:latin typeface="Arial"/>
              <a:ea typeface="Arial"/>
            </a:endParaRPr>
          </a:p>
        </p:txBody>
      </p:sp>
      <p:sp>
        <p:nvSpPr>
          <p:cNvPr id="100034" name="S04.Single.CheckShort2"/>
          <p:cNvSpPr/>
          <p:nvPr/>
        </p:nvSpPr>
        <p:spPr>
          <a:xfrm rot="2700000">
            <a:off x="4532681" y="3953234"/>
            <a:ext cx="84125" cy="33833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lIns="0" tIns="0" rIns="0" bIns="0">
            <a:noAutofit/>
          </a:bodyPr>
          <a:lstStyle/>
          <a:p>
            <a:endParaRPr lang="en-US" sz="1800">
              <a:solidFill>
                <a:srgbClr val="20354A"/>
              </a:solidFill>
              <a:latin typeface="Arial"/>
              <a:ea typeface="Arial"/>
            </a:endParaRPr>
          </a:p>
        </p:txBody>
      </p:sp>
      <p:sp>
        <p:nvSpPr>
          <p:cNvPr id="100035" name="S04.Single.CheckLong2"/>
          <p:cNvSpPr/>
          <p:nvPr/>
        </p:nvSpPr>
        <p:spPr>
          <a:xfrm rot="18900000">
            <a:off x="4570171" y="3931289"/>
            <a:ext cx="125273" cy="33833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lIns="0" tIns="0" rIns="0" bIns="0">
            <a:noAutofit/>
          </a:bodyPr>
          <a:lstStyle/>
          <a:p>
            <a:endParaRPr lang="en-US" sz="1800">
              <a:solidFill>
                <a:srgbClr val="20354A"/>
              </a:solidFill>
              <a:latin typeface="Arial"/>
              <a:ea typeface="Arial"/>
            </a:endParaRPr>
          </a:p>
        </p:txBody>
      </p:sp>
      <p:sp>
        <p:nvSpPr>
          <p:cNvPr id="100036" name="S04.Single.Text2"/>
          <p:cNvSpPr txBox="1"/>
          <p:nvPr/>
        </p:nvSpPr>
        <p:spPr>
          <a:xfrm>
            <a:off x="4882896" y="3808759"/>
            <a:ext cx="2916936" cy="310896"/>
          </a:xfrm>
          <a:prstGeom prst="rect">
            <a:avLst/>
          </a:prstGeom>
          <a:noFill/>
          <a:ln>
            <a:noFill/>
          </a:ln>
        </p:spPr>
        <p:txBody>
          <a:bodyPr lIns="0" tIns="0" rIns="0" bIns="0">
            <a:noAutofit/>
          </a:bodyPr>
          <a:lstStyle/>
          <a:p>
            <a:r>
              <a:rPr lang="en-US" sz="1700">
                <a:solidFill>
                  <a:srgbClr val="20354A"/>
                </a:solidFill>
                <a:latin typeface="Arial"/>
                <a:ea typeface="Arial"/>
              </a:rPr>
              <a:t>Fast execution</a:t>
            </a:r>
          </a:p>
        </p:txBody>
      </p:sp>
      <p:sp>
        <p:nvSpPr>
          <p:cNvPr id="100037" name="S04.Single.Status3"/>
          <p:cNvSpPr/>
          <p:nvPr/>
        </p:nvSpPr>
        <p:spPr>
          <a:xfrm>
            <a:off x="4471416" y="4180920"/>
            <a:ext cx="265176" cy="265176"/>
          </a:xfrm>
          <a:prstGeom prst="ellipse">
            <a:avLst/>
          </a:prstGeom>
          <a:solidFill>
            <a:srgbClr val="008C95"/>
          </a:solidFill>
          <a:ln>
            <a:noFill/>
          </a:ln>
        </p:spPr>
        <p:txBody>
          <a:bodyPr lIns="0" tIns="0" rIns="0" bIns="0">
            <a:noAutofit/>
          </a:bodyPr>
          <a:lstStyle/>
          <a:p>
            <a:endParaRPr lang="en-US" sz="1800">
              <a:solidFill>
                <a:srgbClr val="20354A"/>
              </a:solidFill>
              <a:latin typeface="Arial"/>
              <a:ea typeface="Arial"/>
            </a:endParaRPr>
          </a:p>
        </p:txBody>
      </p:sp>
      <p:sp>
        <p:nvSpPr>
          <p:cNvPr id="100038" name="S04.Single.CheckShort3"/>
          <p:cNvSpPr/>
          <p:nvPr/>
        </p:nvSpPr>
        <p:spPr>
          <a:xfrm rot="2700000">
            <a:off x="4532681" y="4318994"/>
            <a:ext cx="84125" cy="33833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lIns="0" tIns="0" rIns="0" bIns="0">
            <a:noAutofit/>
          </a:bodyPr>
          <a:lstStyle/>
          <a:p>
            <a:endParaRPr lang="en-US" sz="1800">
              <a:solidFill>
                <a:srgbClr val="20354A"/>
              </a:solidFill>
              <a:latin typeface="Arial"/>
              <a:ea typeface="Arial"/>
            </a:endParaRPr>
          </a:p>
        </p:txBody>
      </p:sp>
      <p:sp>
        <p:nvSpPr>
          <p:cNvPr id="100039" name="S04.Single.CheckLong3"/>
          <p:cNvSpPr/>
          <p:nvPr/>
        </p:nvSpPr>
        <p:spPr>
          <a:xfrm rot="18900000">
            <a:off x="4570171" y="4297049"/>
            <a:ext cx="125273" cy="33833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lIns="0" tIns="0" rIns="0" bIns="0">
            <a:noAutofit/>
          </a:bodyPr>
          <a:lstStyle/>
          <a:p>
            <a:endParaRPr lang="en-US" sz="1800">
              <a:solidFill>
                <a:srgbClr val="20354A"/>
              </a:solidFill>
              <a:latin typeface="Arial"/>
              <a:ea typeface="Arial"/>
            </a:endParaRPr>
          </a:p>
        </p:txBody>
      </p:sp>
      <p:sp>
        <p:nvSpPr>
          <p:cNvPr id="100040" name="S04.Single.Text3"/>
          <p:cNvSpPr txBox="1"/>
          <p:nvPr/>
        </p:nvSpPr>
        <p:spPr>
          <a:xfrm>
            <a:off x="4882896" y="4174519"/>
            <a:ext cx="2916936" cy="310896"/>
          </a:xfrm>
          <a:prstGeom prst="rect">
            <a:avLst/>
          </a:prstGeom>
          <a:noFill/>
          <a:ln>
            <a:noFill/>
          </a:ln>
        </p:spPr>
        <p:txBody>
          <a:bodyPr lIns="0" tIns="0" rIns="0" bIns="0">
            <a:noAutofit/>
          </a:bodyPr>
          <a:lstStyle/>
          <a:p>
            <a:r>
              <a:rPr lang="en-US" sz="1700">
                <a:solidFill>
                  <a:srgbClr val="20354A"/>
                </a:solidFill>
                <a:latin typeface="Arial"/>
                <a:ea typeface="Arial"/>
              </a:rPr>
              <a:t>Cycle-controlled pause</a:t>
            </a:r>
          </a:p>
        </p:txBody>
      </p:sp>
      <p:sp>
        <p:nvSpPr>
          <p:cNvPr id="100041" name="S04.Single.Status4"/>
          <p:cNvSpPr/>
          <p:nvPr/>
        </p:nvSpPr>
        <p:spPr>
          <a:xfrm>
            <a:off x="4471416" y="4546680"/>
            <a:ext cx="265176" cy="265176"/>
          </a:xfrm>
          <a:prstGeom prst="ellipse">
            <a:avLst/>
          </a:prstGeom>
          <a:solidFill>
            <a:srgbClr val="008C95"/>
          </a:solidFill>
          <a:ln>
            <a:noFill/>
          </a:ln>
        </p:spPr>
        <p:txBody>
          <a:bodyPr lIns="0" tIns="0" rIns="0" bIns="0">
            <a:noAutofit/>
          </a:bodyPr>
          <a:lstStyle/>
          <a:p>
            <a:endParaRPr lang="en-US" sz="1800">
              <a:solidFill>
                <a:srgbClr val="20354A"/>
              </a:solidFill>
              <a:latin typeface="Arial"/>
              <a:ea typeface="Arial"/>
            </a:endParaRPr>
          </a:p>
        </p:txBody>
      </p:sp>
      <p:sp>
        <p:nvSpPr>
          <p:cNvPr id="100042" name="S04.Single.CheckShort4"/>
          <p:cNvSpPr/>
          <p:nvPr/>
        </p:nvSpPr>
        <p:spPr>
          <a:xfrm rot="2700000">
            <a:off x="4532681" y="4684754"/>
            <a:ext cx="84125" cy="33833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lIns="0" tIns="0" rIns="0" bIns="0">
            <a:noAutofit/>
          </a:bodyPr>
          <a:lstStyle/>
          <a:p>
            <a:endParaRPr lang="en-US" sz="1800">
              <a:solidFill>
                <a:srgbClr val="20354A"/>
              </a:solidFill>
              <a:latin typeface="Arial"/>
              <a:ea typeface="Arial"/>
            </a:endParaRPr>
          </a:p>
        </p:txBody>
      </p:sp>
      <p:sp>
        <p:nvSpPr>
          <p:cNvPr id="100043" name="S04.Single.CheckLong4"/>
          <p:cNvSpPr/>
          <p:nvPr/>
        </p:nvSpPr>
        <p:spPr>
          <a:xfrm rot="18900000">
            <a:off x="4570171" y="4662809"/>
            <a:ext cx="125273" cy="33833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lIns="0" tIns="0" rIns="0" bIns="0">
            <a:noAutofit/>
          </a:bodyPr>
          <a:lstStyle/>
          <a:p>
            <a:endParaRPr lang="en-US" sz="1800">
              <a:solidFill>
                <a:srgbClr val="20354A"/>
              </a:solidFill>
              <a:latin typeface="Arial"/>
              <a:ea typeface="Arial"/>
            </a:endParaRPr>
          </a:p>
        </p:txBody>
      </p:sp>
      <p:sp>
        <p:nvSpPr>
          <p:cNvPr id="100044" name="S04.Single.Text4"/>
          <p:cNvSpPr txBox="1"/>
          <p:nvPr/>
        </p:nvSpPr>
        <p:spPr>
          <a:xfrm>
            <a:off x="4882896" y="4540279"/>
            <a:ext cx="2916936" cy="310896"/>
          </a:xfrm>
          <a:prstGeom prst="rect">
            <a:avLst/>
          </a:prstGeom>
          <a:noFill/>
          <a:ln>
            <a:noFill/>
          </a:ln>
        </p:spPr>
        <p:txBody>
          <a:bodyPr lIns="0" tIns="0" rIns="0" bIns="0">
            <a:noAutofit/>
          </a:bodyPr>
          <a:lstStyle/>
          <a:p>
            <a:r>
              <a:rPr lang="en-US" sz="1700">
                <a:solidFill>
                  <a:srgbClr val="20354A"/>
                </a:solidFill>
                <a:latin typeface="Arial"/>
                <a:ea typeface="Arial"/>
              </a:rPr>
              <a:t>Full-state snapshot</a:t>
            </a:r>
          </a:p>
        </p:txBody>
      </p:sp>
      <p:sp>
        <p:nvSpPr>
          <p:cNvPr id="100045" name="S04.Single.Status5"/>
          <p:cNvSpPr/>
          <p:nvPr/>
        </p:nvSpPr>
        <p:spPr>
          <a:xfrm>
            <a:off x="4471416" y="4912440"/>
            <a:ext cx="265176" cy="265176"/>
          </a:xfrm>
          <a:prstGeom prst="ellipse">
            <a:avLst/>
          </a:prstGeom>
          <a:solidFill>
            <a:srgbClr val="008C95"/>
          </a:solidFill>
          <a:ln>
            <a:noFill/>
          </a:ln>
        </p:spPr>
        <p:txBody>
          <a:bodyPr lIns="0" tIns="0" rIns="0" bIns="0">
            <a:noAutofit/>
          </a:bodyPr>
          <a:lstStyle/>
          <a:p>
            <a:endParaRPr lang="en-US" sz="1800">
              <a:solidFill>
                <a:srgbClr val="20354A"/>
              </a:solidFill>
              <a:latin typeface="Arial"/>
              <a:ea typeface="Arial"/>
            </a:endParaRPr>
          </a:p>
        </p:txBody>
      </p:sp>
      <p:sp>
        <p:nvSpPr>
          <p:cNvPr id="100046" name="S04.Single.CheckShort5"/>
          <p:cNvSpPr/>
          <p:nvPr/>
        </p:nvSpPr>
        <p:spPr>
          <a:xfrm rot="2700000">
            <a:off x="4532681" y="5050514"/>
            <a:ext cx="84125" cy="33833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lIns="0" tIns="0" rIns="0" bIns="0">
            <a:noAutofit/>
          </a:bodyPr>
          <a:lstStyle/>
          <a:p>
            <a:endParaRPr lang="en-US" sz="1800">
              <a:solidFill>
                <a:srgbClr val="20354A"/>
              </a:solidFill>
              <a:latin typeface="Arial"/>
              <a:ea typeface="Arial"/>
            </a:endParaRPr>
          </a:p>
        </p:txBody>
      </p:sp>
      <p:sp>
        <p:nvSpPr>
          <p:cNvPr id="100047" name="S04.Single.CheckLong5"/>
          <p:cNvSpPr/>
          <p:nvPr/>
        </p:nvSpPr>
        <p:spPr>
          <a:xfrm rot="18900000">
            <a:off x="4570171" y="5028569"/>
            <a:ext cx="125273" cy="33833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lIns="0" tIns="0" rIns="0" bIns="0">
            <a:noAutofit/>
          </a:bodyPr>
          <a:lstStyle/>
          <a:p>
            <a:endParaRPr lang="en-US" sz="1800">
              <a:solidFill>
                <a:srgbClr val="20354A"/>
              </a:solidFill>
              <a:latin typeface="Arial"/>
              <a:ea typeface="Arial"/>
            </a:endParaRPr>
          </a:p>
        </p:txBody>
      </p:sp>
      <p:sp>
        <p:nvSpPr>
          <p:cNvPr id="100048" name="S04.Single.Text5"/>
          <p:cNvSpPr txBox="1"/>
          <p:nvPr/>
        </p:nvSpPr>
        <p:spPr>
          <a:xfrm>
            <a:off x="4882896" y="4906039"/>
            <a:ext cx="2916936" cy="310896"/>
          </a:xfrm>
          <a:prstGeom prst="rect">
            <a:avLst/>
          </a:prstGeom>
          <a:noFill/>
          <a:ln>
            <a:noFill/>
          </a:ln>
        </p:spPr>
        <p:txBody>
          <a:bodyPr lIns="0" tIns="0" rIns="0" bIns="0">
            <a:noAutofit/>
          </a:bodyPr>
          <a:lstStyle/>
          <a:p>
            <a:r>
              <a:rPr lang="en-US" sz="1700">
                <a:solidFill>
                  <a:srgbClr val="20354A"/>
                </a:solidFill>
                <a:latin typeface="Arial"/>
                <a:ea typeface="Arial"/>
              </a:rPr>
              <a:t>Deterministic replay</a:t>
            </a:r>
          </a:p>
        </p:txBody>
      </p:sp>
      <p:sp>
        <p:nvSpPr>
          <p:cNvPr id="100049" name="S04.Single.Status6"/>
          <p:cNvSpPr/>
          <p:nvPr/>
        </p:nvSpPr>
        <p:spPr>
          <a:xfrm>
            <a:off x="4471416" y="5278200"/>
            <a:ext cx="265176" cy="265176"/>
          </a:xfrm>
          <a:prstGeom prst="ellipse">
            <a:avLst/>
          </a:prstGeom>
          <a:solidFill>
            <a:srgbClr val="008C95"/>
          </a:solidFill>
          <a:ln>
            <a:noFill/>
          </a:ln>
        </p:spPr>
        <p:txBody>
          <a:bodyPr lIns="0" tIns="0" rIns="0" bIns="0">
            <a:noAutofit/>
          </a:bodyPr>
          <a:lstStyle/>
          <a:p>
            <a:endParaRPr lang="en-US" sz="1800">
              <a:solidFill>
                <a:srgbClr val="20354A"/>
              </a:solidFill>
              <a:latin typeface="Arial"/>
              <a:ea typeface="Arial"/>
            </a:endParaRPr>
          </a:p>
        </p:txBody>
      </p:sp>
      <p:sp>
        <p:nvSpPr>
          <p:cNvPr id="100050" name="S04.Single.CheckShort6"/>
          <p:cNvSpPr/>
          <p:nvPr/>
        </p:nvSpPr>
        <p:spPr>
          <a:xfrm rot="2700000">
            <a:off x="4532681" y="5416274"/>
            <a:ext cx="84125" cy="33833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lIns="0" tIns="0" rIns="0" bIns="0">
            <a:noAutofit/>
          </a:bodyPr>
          <a:lstStyle/>
          <a:p>
            <a:endParaRPr lang="en-US" sz="1800">
              <a:solidFill>
                <a:srgbClr val="20354A"/>
              </a:solidFill>
              <a:latin typeface="Arial"/>
              <a:ea typeface="Arial"/>
            </a:endParaRPr>
          </a:p>
        </p:txBody>
      </p:sp>
      <p:sp>
        <p:nvSpPr>
          <p:cNvPr id="100051" name="S04.Single.CheckLong6"/>
          <p:cNvSpPr/>
          <p:nvPr/>
        </p:nvSpPr>
        <p:spPr>
          <a:xfrm rot="18900000">
            <a:off x="4570171" y="5394329"/>
            <a:ext cx="125273" cy="33833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lIns="0" tIns="0" rIns="0" bIns="0">
            <a:noAutofit/>
          </a:bodyPr>
          <a:lstStyle/>
          <a:p>
            <a:endParaRPr lang="en-US" sz="1800">
              <a:solidFill>
                <a:srgbClr val="20354A"/>
              </a:solidFill>
              <a:latin typeface="Arial"/>
              <a:ea typeface="Arial"/>
            </a:endParaRPr>
          </a:p>
        </p:txBody>
      </p:sp>
      <p:sp>
        <p:nvSpPr>
          <p:cNvPr id="100052" name="S04.Single.Text6"/>
          <p:cNvSpPr txBox="1"/>
          <p:nvPr/>
        </p:nvSpPr>
        <p:spPr>
          <a:xfrm>
            <a:off x="4882896" y="5271799"/>
            <a:ext cx="2916936" cy="310896"/>
          </a:xfrm>
          <a:prstGeom prst="rect">
            <a:avLst/>
          </a:prstGeom>
          <a:noFill/>
          <a:ln>
            <a:noFill/>
          </a:ln>
        </p:spPr>
        <p:txBody>
          <a:bodyPr lIns="0" tIns="0" rIns="0" bIns="0">
            <a:noAutofit/>
          </a:bodyPr>
          <a:lstStyle/>
          <a:p>
            <a:r>
              <a:rPr lang="en-US" sz="1700" dirty="0">
                <a:solidFill>
                  <a:srgbClr val="20354A"/>
                </a:solidFill>
                <a:latin typeface="Arial"/>
                <a:ea typeface="Arial"/>
              </a:rPr>
              <a:t>Waveform reconstruction</a:t>
            </a:r>
          </a:p>
        </p:txBody>
      </p:sp>
      <p:sp>
        <p:nvSpPr>
          <p:cNvPr id="100054" name="S04.REMUS.Panel"/>
          <p:cNvSpPr/>
          <p:nvPr/>
        </p:nvSpPr>
        <p:spPr>
          <a:xfrm>
            <a:off x="8165592" y="969264"/>
            <a:ext cx="3712464" cy="4892040"/>
          </a:xfrm>
          <a:prstGeom prst="roundRect">
            <a:avLst>
              <a:gd name="adj" fmla="val 4500"/>
            </a:avLst>
          </a:prstGeom>
          <a:solidFill>
            <a:srgbClr val="FCF4E8"/>
          </a:solidFill>
          <a:ln>
            <a:noFill/>
          </a:ln>
        </p:spPr>
        <p:txBody>
          <a:bodyPr lIns="0" tIns="0" rIns="0" bIns="0">
            <a:noAutofit/>
          </a:bodyPr>
          <a:lstStyle/>
          <a:p>
            <a:endParaRPr lang="en-US" sz="1800">
              <a:solidFill>
                <a:srgbClr val="20354A"/>
              </a:solidFill>
              <a:latin typeface="Arial"/>
              <a:ea typeface="Arial"/>
            </a:endParaRPr>
          </a:p>
        </p:txBody>
      </p:sp>
      <p:sp>
        <p:nvSpPr>
          <p:cNvPr id="100055" name="S04.REMUS.Heading"/>
          <p:cNvSpPr txBox="1"/>
          <p:nvPr/>
        </p:nvSpPr>
        <p:spPr>
          <a:xfrm>
            <a:off x="8293608" y="1280160"/>
            <a:ext cx="3456432" cy="640080"/>
          </a:xfrm>
          <a:prstGeom prst="rect">
            <a:avLst/>
          </a:prstGeom>
          <a:noFill/>
          <a:ln>
            <a:noFill/>
          </a:ln>
        </p:spPr>
        <p:txBody>
          <a:bodyPr lIns="0" tIns="0" rIns="0" bIns="0">
            <a:noAutofit/>
          </a:bodyPr>
          <a:lstStyle/>
          <a:p>
            <a:pPr algn="ctr"/>
            <a:r>
              <a:rPr lang="en-US" sz="2100" b="1">
                <a:solidFill>
                  <a:srgbClr val="183B56"/>
                </a:solidFill>
                <a:latin typeface="Arial"/>
                <a:ea typeface="Arial"/>
              </a:rPr>
              <a:t>This Work: REMUS</a:t>
            </a:r>
          </a:p>
        </p:txBody>
      </p:sp>
      <p:sp>
        <p:nvSpPr>
          <p:cNvPr id="100056" name="S04.REMUS.Qualifier"/>
          <p:cNvSpPr txBox="1"/>
          <p:nvPr/>
        </p:nvSpPr>
        <p:spPr>
          <a:xfrm>
            <a:off x="8330184" y="1865376"/>
            <a:ext cx="3383280" cy="246888"/>
          </a:xfrm>
          <a:prstGeom prst="rect">
            <a:avLst/>
          </a:prstGeom>
          <a:noFill/>
          <a:ln>
            <a:noFill/>
          </a:ln>
        </p:spPr>
        <p:txBody>
          <a:bodyPr lIns="0" tIns="0" rIns="0" bIns="0">
            <a:noAutofit/>
          </a:bodyPr>
          <a:lstStyle/>
          <a:p>
            <a:pPr algn="ctr"/>
            <a:r>
              <a:rPr lang="en-US" sz="1400" b="1" dirty="0">
                <a:solidFill>
                  <a:srgbClr val="008C95"/>
                </a:solidFill>
                <a:latin typeface="Arial"/>
                <a:ea typeface="Arial"/>
              </a:rPr>
              <a:t>Research Goal</a:t>
            </a:r>
          </a:p>
        </p:txBody>
      </p:sp>
      <p:sp>
        <p:nvSpPr>
          <p:cNvPr id="100057" name="S04.REMUS.Divider"/>
          <p:cNvSpPr/>
          <p:nvPr/>
        </p:nvSpPr>
        <p:spPr>
          <a:xfrm>
            <a:off x="8348472" y="3182112"/>
            <a:ext cx="3346704" cy="10973"/>
          </a:xfrm>
          <a:prstGeom prst="rect">
            <a:avLst/>
          </a:prstGeom>
          <a:solidFill>
            <a:srgbClr val="BDCBD4"/>
          </a:solidFill>
          <a:ln>
            <a:noFill/>
          </a:ln>
        </p:spPr>
        <p:txBody>
          <a:bodyPr lIns="0" tIns="0" rIns="0" bIns="0">
            <a:noAutofit/>
          </a:bodyPr>
          <a:lstStyle/>
          <a:p>
            <a:endParaRPr lang="en-US" sz="1800">
              <a:solidFill>
                <a:srgbClr val="20354A"/>
              </a:solidFill>
              <a:latin typeface="Arial"/>
              <a:ea typeface="Arial"/>
            </a:endParaRPr>
          </a:p>
        </p:txBody>
      </p:sp>
      <p:sp>
        <p:nvSpPr>
          <p:cNvPr id="100058" name="S04.REMUS.Status1"/>
          <p:cNvSpPr/>
          <p:nvPr/>
        </p:nvSpPr>
        <p:spPr>
          <a:xfrm>
            <a:off x="8394192" y="3449400"/>
            <a:ext cx="265176" cy="265176"/>
          </a:xfrm>
          <a:prstGeom prst="ellipse">
            <a:avLst/>
          </a:prstGeom>
          <a:solidFill>
            <a:srgbClr val="008C95"/>
          </a:solidFill>
          <a:ln>
            <a:noFill/>
          </a:ln>
        </p:spPr>
        <p:txBody>
          <a:bodyPr lIns="0" tIns="0" rIns="0" bIns="0">
            <a:noAutofit/>
          </a:bodyPr>
          <a:lstStyle/>
          <a:p>
            <a:endParaRPr lang="en-US" sz="1800">
              <a:solidFill>
                <a:srgbClr val="20354A"/>
              </a:solidFill>
              <a:latin typeface="Arial"/>
              <a:ea typeface="Arial"/>
            </a:endParaRPr>
          </a:p>
        </p:txBody>
      </p:sp>
      <p:sp>
        <p:nvSpPr>
          <p:cNvPr id="100059" name="S04.REMUS.CheckShort1"/>
          <p:cNvSpPr/>
          <p:nvPr/>
        </p:nvSpPr>
        <p:spPr>
          <a:xfrm rot="2700000">
            <a:off x="8455457" y="3587474"/>
            <a:ext cx="84125" cy="33833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lIns="0" tIns="0" rIns="0" bIns="0">
            <a:noAutofit/>
          </a:bodyPr>
          <a:lstStyle/>
          <a:p>
            <a:endParaRPr lang="en-US" sz="1800">
              <a:solidFill>
                <a:srgbClr val="20354A"/>
              </a:solidFill>
              <a:latin typeface="Arial"/>
              <a:ea typeface="Arial"/>
            </a:endParaRPr>
          </a:p>
        </p:txBody>
      </p:sp>
      <p:sp>
        <p:nvSpPr>
          <p:cNvPr id="100060" name="S04.REMUS.CheckLong1"/>
          <p:cNvSpPr/>
          <p:nvPr/>
        </p:nvSpPr>
        <p:spPr>
          <a:xfrm rot="18900000">
            <a:off x="8492947" y="3565529"/>
            <a:ext cx="125273" cy="33833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lIns="0" tIns="0" rIns="0" bIns="0">
            <a:noAutofit/>
          </a:bodyPr>
          <a:lstStyle/>
          <a:p>
            <a:endParaRPr lang="en-US" sz="1800">
              <a:solidFill>
                <a:srgbClr val="20354A"/>
              </a:solidFill>
              <a:latin typeface="Arial"/>
              <a:ea typeface="Arial"/>
            </a:endParaRPr>
          </a:p>
        </p:txBody>
      </p:sp>
      <p:sp>
        <p:nvSpPr>
          <p:cNvPr id="100061" name="S04.REMUS.Text1"/>
          <p:cNvSpPr txBox="1"/>
          <p:nvPr/>
        </p:nvSpPr>
        <p:spPr>
          <a:xfrm>
            <a:off x="8805672" y="3442999"/>
            <a:ext cx="2916936" cy="310896"/>
          </a:xfrm>
          <a:prstGeom prst="rect">
            <a:avLst/>
          </a:prstGeom>
          <a:noFill/>
          <a:ln>
            <a:noFill/>
          </a:ln>
        </p:spPr>
        <p:txBody>
          <a:bodyPr lIns="0" tIns="0" rIns="0" bIns="0">
            <a:noAutofit/>
          </a:bodyPr>
          <a:lstStyle/>
          <a:p>
            <a:r>
              <a:rPr lang="en-US" sz="1700">
                <a:solidFill>
                  <a:srgbClr val="20354A"/>
                </a:solidFill>
                <a:latin typeface="Arial"/>
                <a:ea typeface="Arial"/>
              </a:rPr>
              <a:t>Scalable deployment</a:t>
            </a:r>
          </a:p>
        </p:txBody>
      </p:sp>
      <p:sp>
        <p:nvSpPr>
          <p:cNvPr id="100062" name="S04.REMUS.Status2"/>
          <p:cNvSpPr/>
          <p:nvPr/>
        </p:nvSpPr>
        <p:spPr>
          <a:xfrm>
            <a:off x="8394192" y="3815160"/>
            <a:ext cx="265176" cy="265176"/>
          </a:xfrm>
          <a:prstGeom prst="ellipse">
            <a:avLst/>
          </a:prstGeom>
          <a:solidFill>
            <a:srgbClr val="008C95"/>
          </a:solidFill>
          <a:ln>
            <a:noFill/>
          </a:ln>
        </p:spPr>
        <p:txBody>
          <a:bodyPr lIns="0" tIns="0" rIns="0" bIns="0">
            <a:noAutofit/>
          </a:bodyPr>
          <a:lstStyle/>
          <a:p>
            <a:endParaRPr lang="en-US" sz="1800">
              <a:solidFill>
                <a:srgbClr val="20354A"/>
              </a:solidFill>
              <a:latin typeface="Arial"/>
              <a:ea typeface="Arial"/>
            </a:endParaRPr>
          </a:p>
        </p:txBody>
      </p:sp>
      <p:sp>
        <p:nvSpPr>
          <p:cNvPr id="100063" name="S04.REMUS.CheckShort2"/>
          <p:cNvSpPr/>
          <p:nvPr/>
        </p:nvSpPr>
        <p:spPr>
          <a:xfrm rot="2700000">
            <a:off x="8455457" y="3953234"/>
            <a:ext cx="84125" cy="33833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lIns="0" tIns="0" rIns="0" bIns="0">
            <a:noAutofit/>
          </a:bodyPr>
          <a:lstStyle/>
          <a:p>
            <a:endParaRPr lang="en-US" sz="1800">
              <a:solidFill>
                <a:srgbClr val="20354A"/>
              </a:solidFill>
              <a:latin typeface="Arial"/>
              <a:ea typeface="Arial"/>
            </a:endParaRPr>
          </a:p>
        </p:txBody>
      </p:sp>
      <p:sp>
        <p:nvSpPr>
          <p:cNvPr id="100064" name="S04.REMUS.CheckLong2"/>
          <p:cNvSpPr/>
          <p:nvPr/>
        </p:nvSpPr>
        <p:spPr>
          <a:xfrm rot="18900000">
            <a:off x="8492947" y="3931289"/>
            <a:ext cx="125273" cy="33833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lIns="0" tIns="0" rIns="0" bIns="0">
            <a:noAutofit/>
          </a:bodyPr>
          <a:lstStyle/>
          <a:p>
            <a:endParaRPr lang="en-US" sz="1800">
              <a:solidFill>
                <a:srgbClr val="20354A"/>
              </a:solidFill>
              <a:latin typeface="Arial"/>
              <a:ea typeface="Arial"/>
            </a:endParaRPr>
          </a:p>
        </p:txBody>
      </p:sp>
      <p:sp>
        <p:nvSpPr>
          <p:cNvPr id="100065" name="S04.REMUS.Text2"/>
          <p:cNvSpPr txBox="1"/>
          <p:nvPr/>
        </p:nvSpPr>
        <p:spPr>
          <a:xfrm>
            <a:off x="8805672" y="3808759"/>
            <a:ext cx="2916936" cy="310896"/>
          </a:xfrm>
          <a:prstGeom prst="rect">
            <a:avLst/>
          </a:prstGeom>
          <a:noFill/>
          <a:ln>
            <a:noFill/>
          </a:ln>
        </p:spPr>
        <p:txBody>
          <a:bodyPr lIns="0" tIns="0" rIns="0" bIns="0">
            <a:noAutofit/>
          </a:bodyPr>
          <a:lstStyle/>
          <a:p>
            <a:r>
              <a:rPr lang="en-US" sz="1700">
                <a:solidFill>
                  <a:srgbClr val="20354A"/>
                </a:solidFill>
                <a:latin typeface="Arial"/>
                <a:ea typeface="Arial"/>
              </a:rPr>
              <a:t>Fast execution</a:t>
            </a:r>
          </a:p>
        </p:txBody>
      </p:sp>
      <p:sp>
        <p:nvSpPr>
          <p:cNvPr id="100066" name="S04.REMUS.Status3"/>
          <p:cNvSpPr/>
          <p:nvPr/>
        </p:nvSpPr>
        <p:spPr>
          <a:xfrm>
            <a:off x="8394192" y="4180920"/>
            <a:ext cx="265176" cy="265176"/>
          </a:xfrm>
          <a:prstGeom prst="ellipse">
            <a:avLst/>
          </a:prstGeom>
          <a:solidFill>
            <a:srgbClr val="008C95"/>
          </a:solidFill>
          <a:ln>
            <a:noFill/>
          </a:ln>
        </p:spPr>
        <p:txBody>
          <a:bodyPr lIns="0" tIns="0" rIns="0" bIns="0">
            <a:noAutofit/>
          </a:bodyPr>
          <a:lstStyle/>
          <a:p>
            <a:endParaRPr lang="en-US" sz="1800">
              <a:solidFill>
                <a:srgbClr val="20354A"/>
              </a:solidFill>
              <a:latin typeface="Arial"/>
              <a:ea typeface="Arial"/>
            </a:endParaRPr>
          </a:p>
        </p:txBody>
      </p:sp>
      <p:sp>
        <p:nvSpPr>
          <p:cNvPr id="100067" name="S04.REMUS.CheckShort3"/>
          <p:cNvSpPr/>
          <p:nvPr/>
        </p:nvSpPr>
        <p:spPr>
          <a:xfrm rot="2700000">
            <a:off x="8455457" y="4318994"/>
            <a:ext cx="84125" cy="33833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lIns="0" tIns="0" rIns="0" bIns="0">
            <a:noAutofit/>
          </a:bodyPr>
          <a:lstStyle/>
          <a:p>
            <a:endParaRPr lang="en-US" sz="1800">
              <a:solidFill>
                <a:srgbClr val="20354A"/>
              </a:solidFill>
              <a:latin typeface="Arial"/>
              <a:ea typeface="Arial"/>
            </a:endParaRPr>
          </a:p>
        </p:txBody>
      </p:sp>
      <p:sp>
        <p:nvSpPr>
          <p:cNvPr id="100068" name="S04.REMUS.CheckLong3"/>
          <p:cNvSpPr/>
          <p:nvPr/>
        </p:nvSpPr>
        <p:spPr>
          <a:xfrm rot="18900000">
            <a:off x="8492947" y="4297049"/>
            <a:ext cx="125273" cy="33833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lIns="0" tIns="0" rIns="0" bIns="0">
            <a:noAutofit/>
          </a:bodyPr>
          <a:lstStyle/>
          <a:p>
            <a:endParaRPr lang="en-US" sz="1800">
              <a:solidFill>
                <a:srgbClr val="20354A"/>
              </a:solidFill>
              <a:latin typeface="Arial"/>
              <a:ea typeface="Arial"/>
            </a:endParaRPr>
          </a:p>
        </p:txBody>
      </p:sp>
      <p:sp>
        <p:nvSpPr>
          <p:cNvPr id="100069" name="S04.REMUS.Text3"/>
          <p:cNvSpPr txBox="1"/>
          <p:nvPr/>
        </p:nvSpPr>
        <p:spPr>
          <a:xfrm>
            <a:off x="8805672" y="4174519"/>
            <a:ext cx="2916936" cy="310896"/>
          </a:xfrm>
          <a:prstGeom prst="rect">
            <a:avLst/>
          </a:prstGeom>
          <a:noFill/>
          <a:ln>
            <a:noFill/>
          </a:ln>
        </p:spPr>
        <p:txBody>
          <a:bodyPr lIns="0" tIns="0" rIns="0" bIns="0">
            <a:noAutofit/>
          </a:bodyPr>
          <a:lstStyle/>
          <a:p>
            <a:r>
              <a:rPr lang="en-US" sz="1700">
                <a:solidFill>
                  <a:srgbClr val="20354A"/>
                </a:solidFill>
                <a:latin typeface="Arial"/>
                <a:ea typeface="Arial"/>
              </a:rPr>
              <a:t>Cycle-consistent pause</a:t>
            </a:r>
          </a:p>
        </p:txBody>
      </p:sp>
      <p:sp>
        <p:nvSpPr>
          <p:cNvPr id="100070" name="S04.REMUS.Status4"/>
          <p:cNvSpPr/>
          <p:nvPr/>
        </p:nvSpPr>
        <p:spPr>
          <a:xfrm>
            <a:off x="8394192" y="4546680"/>
            <a:ext cx="265176" cy="265176"/>
          </a:xfrm>
          <a:prstGeom prst="ellipse">
            <a:avLst/>
          </a:prstGeom>
          <a:solidFill>
            <a:srgbClr val="008C95"/>
          </a:solidFill>
          <a:ln>
            <a:noFill/>
          </a:ln>
        </p:spPr>
        <p:txBody>
          <a:bodyPr lIns="0" tIns="0" rIns="0" bIns="0">
            <a:noAutofit/>
          </a:bodyPr>
          <a:lstStyle/>
          <a:p>
            <a:endParaRPr lang="en-US" sz="1800">
              <a:solidFill>
                <a:srgbClr val="20354A"/>
              </a:solidFill>
              <a:latin typeface="Arial"/>
              <a:ea typeface="Arial"/>
            </a:endParaRPr>
          </a:p>
        </p:txBody>
      </p:sp>
      <p:sp>
        <p:nvSpPr>
          <p:cNvPr id="100071" name="S04.REMUS.CheckShort4"/>
          <p:cNvSpPr/>
          <p:nvPr/>
        </p:nvSpPr>
        <p:spPr>
          <a:xfrm rot="2700000">
            <a:off x="8455457" y="4684754"/>
            <a:ext cx="84125" cy="33833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lIns="0" tIns="0" rIns="0" bIns="0">
            <a:noAutofit/>
          </a:bodyPr>
          <a:lstStyle/>
          <a:p>
            <a:endParaRPr lang="en-US" sz="1800">
              <a:solidFill>
                <a:srgbClr val="20354A"/>
              </a:solidFill>
              <a:latin typeface="Arial"/>
              <a:ea typeface="Arial"/>
            </a:endParaRPr>
          </a:p>
        </p:txBody>
      </p:sp>
      <p:sp>
        <p:nvSpPr>
          <p:cNvPr id="100072" name="S04.REMUS.CheckLong4"/>
          <p:cNvSpPr/>
          <p:nvPr/>
        </p:nvSpPr>
        <p:spPr>
          <a:xfrm rot="18900000">
            <a:off x="8492947" y="4662809"/>
            <a:ext cx="125273" cy="33833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lIns="0" tIns="0" rIns="0" bIns="0">
            <a:noAutofit/>
          </a:bodyPr>
          <a:lstStyle/>
          <a:p>
            <a:endParaRPr lang="en-US" sz="1800">
              <a:solidFill>
                <a:srgbClr val="20354A"/>
              </a:solidFill>
              <a:latin typeface="Arial"/>
              <a:ea typeface="Arial"/>
            </a:endParaRPr>
          </a:p>
        </p:txBody>
      </p:sp>
      <p:sp>
        <p:nvSpPr>
          <p:cNvPr id="100073" name="S04.REMUS.Text4"/>
          <p:cNvSpPr txBox="1"/>
          <p:nvPr/>
        </p:nvSpPr>
        <p:spPr>
          <a:xfrm>
            <a:off x="8805672" y="4540279"/>
            <a:ext cx="2916936" cy="310896"/>
          </a:xfrm>
          <a:prstGeom prst="rect">
            <a:avLst/>
          </a:prstGeom>
          <a:noFill/>
          <a:ln>
            <a:noFill/>
          </a:ln>
        </p:spPr>
        <p:txBody>
          <a:bodyPr lIns="0" tIns="0" rIns="0" bIns="0">
            <a:noAutofit/>
          </a:bodyPr>
          <a:lstStyle/>
          <a:p>
            <a:r>
              <a:rPr lang="en-US" sz="1700">
                <a:solidFill>
                  <a:srgbClr val="20354A"/>
                </a:solidFill>
                <a:latin typeface="Arial"/>
                <a:ea typeface="Arial"/>
              </a:rPr>
              <a:t>Global snapshot</a:t>
            </a:r>
          </a:p>
        </p:txBody>
      </p:sp>
      <p:sp>
        <p:nvSpPr>
          <p:cNvPr id="100074" name="S04.REMUS.Status5"/>
          <p:cNvSpPr/>
          <p:nvPr/>
        </p:nvSpPr>
        <p:spPr>
          <a:xfrm>
            <a:off x="8394192" y="4912440"/>
            <a:ext cx="265176" cy="265176"/>
          </a:xfrm>
          <a:prstGeom prst="ellipse">
            <a:avLst/>
          </a:prstGeom>
          <a:solidFill>
            <a:srgbClr val="008C95"/>
          </a:solidFill>
          <a:ln>
            <a:noFill/>
          </a:ln>
        </p:spPr>
        <p:txBody>
          <a:bodyPr lIns="0" tIns="0" rIns="0" bIns="0">
            <a:noAutofit/>
          </a:bodyPr>
          <a:lstStyle/>
          <a:p>
            <a:endParaRPr lang="en-US" sz="1800">
              <a:solidFill>
                <a:srgbClr val="20354A"/>
              </a:solidFill>
              <a:latin typeface="Arial"/>
              <a:ea typeface="Arial"/>
            </a:endParaRPr>
          </a:p>
        </p:txBody>
      </p:sp>
      <p:sp>
        <p:nvSpPr>
          <p:cNvPr id="100075" name="S04.REMUS.CheckShort5"/>
          <p:cNvSpPr/>
          <p:nvPr/>
        </p:nvSpPr>
        <p:spPr>
          <a:xfrm rot="2700000">
            <a:off x="8455457" y="5050514"/>
            <a:ext cx="84125" cy="33833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lIns="0" tIns="0" rIns="0" bIns="0">
            <a:noAutofit/>
          </a:bodyPr>
          <a:lstStyle/>
          <a:p>
            <a:endParaRPr lang="en-US" sz="1800">
              <a:solidFill>
                <a:srgbClr val="20354A"/>
              </a:solidFill>
              <a:latin typeface="Arial"/>
              <a:ea typeface="Arial"/>
            </a:endParaRPr>
          </a:p>
        </p:txBody>
      </p:sp>
      <p:sp>
        <p:nvSpPr>
          <p:cNvPr id="100076" name="S04.REMUS.CheckLong5"/>
          <p:cNvSpPr/>
          <p:nvPr/>
        </p:nvSpPr>
        <p:spPr>
          <a:xfrm rot="18900000">
            <a:off x="8492947" y="5028569"/>
            <a:ext cx="125273" cy="33833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lIns="0" tIns="0" rIns="0" bIns="0">
            <a:noAutofit/>
          </a:bodyPr>
          <a:lstStyle/>
          <a:p>
            <a:endParaRPr lang="en-US" sz="1800">
              <a:solidFill>
                <a:srgbClr val="20354A"/>
              </a:solidFill>
              <a:latin typeface="Arial"/>
              <a:ea typeface="Arial"/>
            </a:endParaRPr>
          </a:p>
        </p:txBody>
      </p:sp>
      <p:sp>
        <p:nvSpPr>
          <p:cNvPr id="100077" name="S04.REMUS.Text5"/>
          <p:cNvSpPr txBox="1"/>
          <p:nvPr/>
        </p:nvSpPr>
        <p:spPr>
          <a:xfrm>
            <a:off x="8805672" y="4906039"/>
            <a:ext cx="2916936" cy="310896"/>
          </a:xfrm>
          <a:prstGeom prst="rect">
            <a:avLst/>
          </a:prstGeom>
          <a:noFill/>
          <a:ln>
            <a:noFill/>
          </a:ln>
        </p:spPr>
        <p:txBody>
          <a:bodyPr lIns="0" tIns="0" rIns="0" bIns="0">
            <a:noAutofit/>
          </a:bodyPr>
          <a:lstStyle/>
          <a:p>
            <a:r>
              <a:rPr lang="en-US" sz="1700">
                <a:solidFill>
                  <a:srgbClr val="20354A"/>
                </a:solidFill>
                <a:latin typeface="Arial"/>
                <a:ea typeface="Arial"/>
              </a:rPr>
              <a:t>Deterministic replay</a:t>
            </a:r>
          </a:p>
        </p:txBody>
      </p:sp>
      <p:sp>
        <p:nvSpPr>
          <p:cNvPr id="100078" name="S04.REMUS.Status6"/>
          <p:cNvSpPr/>
          <p:nvPr/>
        </p:nvSpPr>
        <p:spPr>
          <a:xfrm>
            <a:off x="8394192" y="5278200"/>
            <a:ext cx="265176" cy="265176"/>
          </a:xfrm>
          <a:prstGeom prst="ellipse">
            <a:avLst/>
          </a:prstGeom>
          <a:solidFill>
            <a:srgbClr val="008C95"/>
          </a:solidFill>
          <a:ln>
            <a:noFill/>
          </a:ln>
        </p:spPr>
        <p:txBody>
          <a:bodyPr lIns="0" tIns="0" rIns="0" bIns="0">
            <a:noAutofit/>
          </a:bodyPr>
          <a:lstStyle/>
          <a:p>
            <a:endParaRPr lang="en-US" sz="1800">
              <a:solidFill>
                <a:srgbClr val="20354A"/>
              </a:solidFill>
              <a:latin typeface="Arial"/>
              <a:ea typeface="Arial"/>
            </a:endParaRPr>
          </a:p>
        </p:txBody>
      </p:sp>
      <p:sp>
        <p:nvSpPr>
          <p:cNvPr id="100079" name="S04.REMUS.CheckShort6"/>
          <p:cNvSpPr/>
          <p:nvPr/>
        </p:nvSpPr>
        <p:spPr>
          <a:xfrm rot="2700000">
            <a:off x="8455457" y="5416274"/>
            <a:ext cx="84125" cy="33833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lIns="0" tIns="0" rIns="0" bIns="0">
            <a:noAutofit/>
          </a:bodyPr>
          <a:lstStyle/>
          <a:p>
            <a:endParaRPr lang="en-US" sz="1800">
              <a:solidFill>
                <a:srgbClr val="20354A"/>
              </a:solidFill>
              <a:latin typeface="Arial"/>
              <a:ea typeface="Arial"/>
            </a:endParaRPr>
          </a:p>
        </p:txBody>
      </p:sp>
      <p:sp>
        <p:nvSpPr>
          <p:cNvPr id="100080" name="S04.REMUS.CheckLong6"/>
          <p:cNvSpPr/>
          <p:nvPr/>
        </p:nvSpPr>
        <p:spPr>
          <a:xfrm rot="18900000">
            <a:off x="8492947" y="5394329"/>
            <a:ext cx="125273" cy="33833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lIns="0" tIns="0" rIns="0" bIns="0">
            <a:noAutofit/>
          </a:bodyPr>
          <a:lstStyle/>
          <a:p>
            <a:endParaRPr lang="en-US" sz="1800">
              <a:solidFill>
                <a:srgbClr val="20354A"/>
              </a:solidFill>
              <a:latin typeface="Arial"/>
              <a:ea typeface="Arial"/>
            </a:endParaRPr>
          </a:p>
        </p:txBody>
      </p:sp>
      <p:sp>
        <p:nvSpPr>
          <p:cNvPr id="100081" name="S04.REMUS.Text6"/>
          <p:cNvSpPr txBox="1"/>
          <p:nvPr/>
        </p:nvSpPr>
        <p:spPr>
          <a:xfrm>
            <a:off x="8805672" y="5271799"/>
            <a:ext cx="2916936" cy="310896"/>
          </a:xfrm>
          <a:prstGeom prst="rect">
            <a:avLst/>
          </a:prstGeom>
          <a:noFill/>
          <a:ln>
            <a:noFill/>
          </a:ln>
        </p:spPr>
        <p:txBody>
          <a:bodyPr lIns="0" tIns="0" rIns="0" bIns="0">
            <a:noAutofit/>
          </a:bodyPr>
          <a:lstStyle/>
          <a:p>
            <a:r>
              <a:rPr lang="en-US" sz="1700">
                <a:solidFill>
                  <a:srgbClr val="20354A"/>
                </a:solidFill>
                <a:latin typeface="Arial"/>
                <a:ea typeface="Arial"/>
              </a:rPr>
              <a:t>Waveform reconstruction</a:t>
            </a:r>
          </a:p>
        </p:txBody>
      </p:sp>
      <p:pic>
        <p:nvPicPr>
          <p:cNvPr id="100083" name="S04.Prototype.Left" descr="FPGA chip"/>
          <p:cNvPicPr>
            <a:picLocks noChangeAspect="1"/>
          </p:cNvPicPr>
          <p:nvPr/>
        </p:nvPicPr>
        <p:blipFill>
          <a:blip r:embed="rId3"/>
          <a:srcRect l="21371" t="23684" r="21291" b="20972"/>
          <a:stretch>
            <a:fillRect/>
          </a:stretch>
        </p:blipFill>
        <p:spPr>
          <a:xfrm>
            <a:off x="832104" y="2231136"/>
            <a:ext cx="832104" cy="803171"/>
          </a:xfrm>
          <a:prstGeom prst="rect">
            <a:avLst/>
          </a:prstGeom>
        </p:spPr>
      </p:pic>
      <p:pic>
        <p:nvPicPr>
          <p:cNvPr id="100084" name="S04.Prototype.Right" descr="FPGA chip"/>
          <p:cNvPicPr>
            <a:picLocks noChangeAspect="1"/>
          </p:cNvPicPr>
          <p:nvPr/>
        </p:nvPicPr>
        <p:blipFill>
          <a:blip r:embed="rId3"/>
          <a:srcRect l="21371" t="23684" r="21291" b="20972"/>
          <a:stretch>
            <a:fillRect/>
          </a:stretch>
        </p:blipFill>
        <p:spPr>
          <a:xfrm>
            <a:off x="2688336" y="2231136"/>
            <a:ext cx="832104" cy="803171"/>
          </a:xfrm>
          <a:prstGeom prst="rect">
            <a:avLst/>
          </a:prstGeom>
        </p:spPr>
      </p:pic>
      <p:sp>
        <p:nvSpPr>
          <p:cNvPr id="100085" name="S04.Prototype.Link"/>
          <p:cNvSpPr/>
          <p:nvPr/>
        </p:nvSpPr>
        <p:spPr>
          <a:xfrm>
            <a:off x="1746504" y="2514600"/>
            <a:ext cx="859536" cy="246888"/>
          </a:xfrm>
          <a:prstGeom prst="leftRightArrow">
            <a:avLst/>
          </a:prstGeom>
          <a:solidFill>
            <a:srgbClr val="DF973E"/>
          </a:solidFill>
          <a:ln>
            <a:noFill/>
          </a:ln>
        </p:spPr>
        <p:txBody>
          <a:bodyPr lIns="0" tIns="0" rIns="0" bIns="0">
            <a:noAutofit/>
          </a:bodyPr>
          <a:lstStyle/>
          <a:p>
            <a:endParaRPr lang="en-US" sz="1800">
              <a:solidFill>
                <a:srgbClr val="20354A"/>
              </a:solidFill>
              <a:latin typeface="Arial"/>
              <a:ea typeface="Arial"/>
            </a:endParaRPr>
          </a:p>
        </p:txBody>
      </p:sp>
      <p:pic>
        <p:nvPicPr>
          <p:cNvPr id="100086" name="S04.Single.FPGA" descr="FPGA chip"/>
          <p:cNvPicPr>
            <a:picLocks noChangeAspect="1"/>
          </p:cNvPicPr>
          <p:nvPr/>
        </p:nvPicPr>
        <p:blipFill>
          <a:blip r:embed="rId3"/>
          <a:srcRect l="21371" t="23684" r="21291" b="20972"/>
          <a:stretch>
            <a:fillRect/>
          </a:stretch>
        </p:blipFill>
        <p:spPr>
          <a:xfrm>
            <a:off x="4736592" y="2231136"/>
            <a:ext cx="832104" cy="803171"/>
          </a:xfrm>
          <a:prstGeom prst="rect">
            <a:avLst/>
          </a:prstGeom>
        </p:spPr>
      </p:pic>
      <p:sp>
        <p:nvSpPr>
          <p:cNvPr id="100087" name="S04.Single.Host"/>
          <p:cNvSpPr/>
          <p:nvPr/>
        </p:nvSpPr>
        <p:spPr>
          <a:xfrm>
            <a:off x="6163056" y="2331720"/>
            <a:ext cx="1069848" cy="594360"/>
          </a:xfrm>
          <a:prstGeom prst="roundRect">
            <a:avLst>
              <a:gd name="adj" fmla="val 6500"/>
            </a:avLst>
          </a:prstGeom>
          <a:solidFill>
            <a:srgbClr val="FFFFFF"/>
          </a:solidFill>
          <a:ln w="31750">
            <a:solidFill>
              <a:srgbClr val="183B56"/>
            </a:solidFill>
          </a:ln>
        </p:spPr>
        <p:txBody>
          <a:bodyPr lIns="0" tIns="0" rIns="0" bIns="0">
            <a:noAutofit/>
          </a:bodyPr>
          <a:lstStyle/>
          <a:p>
            <a:endParaRPr lang="en-US" sz="1800">
              <a:solidFill>
                <a:srgbClr val="20354A"/>
              </a:solidFill>
              <a:latin typeface="Arial"/>
              <a:ea typeface="Arial"/>
            </a:endParaRPr>
          </a:p>
        </p:txBody>
      </p:sp>
      <p:sp>
        <p:nvSpPr>
          <p:cNvPr id="100088" name="S04.Single.HostStand"/>
          <p:cNvSpPr/>
          <p:nvPr/>
        </p:nvSpPr>
        <p:spPr>
          <a:xfrm>
            <a:off x="6643116" y="2935224"/>
            <a:ext cx="109728" cy="109728"/>
          </a:xfrm>
          <a:prstGeom prst="rect">
            <a:avLst/>
          </a:prstGeom>
          <a:solidFill>
            <a:srgbClr val="183B56"/>
          </a:solidFill>
          <a:ln>
            <a:noFill/>
          </a:ln>
        </p:spPr>
        <p:txBody>
          <a:bodyPr lIns="0" tIns="0" rIns="0" bIns="0">
            <a:noAutofit/>
          </a:bodyPr>
          <a:lstStyle/>
          <a:p>
            <a:endParaRPr lang="en-US" sz="1800">
              <a:solidFill>
                <a:srgbClr val="20354A"/>
              </a:solidFill>
              <a:latin typeface="Arial"/>
              <a:ea typeface="Arial"/>
            </a:endParaRPr>
          </a:p>
        </p:txBody>
      </p:sp>
      <p:sp>
        <p:nvSpPr>
          <p:cNvPr id="100089" name="S04.Single.HostFoot"/>
          <p:cNvSpPr/>
          <p:nvPr/>
        </p:nvSpPr>
        <p:spPr>
          <a:xfrm>
            <a:off x="6460236" y="3044952"/>
            <a:ext cx="475488" cy="41148"/>
          </a:xfrm>
          <a:prstGeom prst="rect">
            <a:avLst/>
          </a:prstGeom>
          <a:solidFill>
            <a:srgbClr val="183B56"/>
          </a:solidFill>
          <a:ln>
            <a:noFill/>
          </a:ln>
        </p:spPr>
        <p:txBody>
          <a:bodyPr lIns="0" tIns="0" rIns="0" bIns="0">
            <a:noAutofit/>
          </a:bodyPr>
          <a:lstStyle/>
          <a:p>
            <a:endParaRPr lang="en-US" sz="1800">
              <a:solidFill>
                <a:srgbClr val="20354A"/>
              </a:solidFill>
              <a:latin typeface="Arial"/>
              <a:ea typeface="Arial"/>
            </a:endParaRPr>
          </a:p>
        </p:txBody>
      </p:sp>
      <p:pic>
        <p:nvPicPr>
          <p:cNvPr id="100090" name="S04.Single.Snapshot" descr="Global snapshot"/>
          <p:cNvPicPr>
            <a:picLocks noChangeAspect="1"/>
          </p:cNvPicPr>
          <p:nvPr/>
        </p:nvPicPr>
        <p:blipFill>
          <a:blip r:embed="rId4"/>
          <a:srcRect l="16746" t="16427" r="16746" b="11961"/>
          <a:stretch>
            <a:fillRect/>
          </a:stretch>
        </p:blipFill>
        <p:spPr>
          <a:xfrm>
            <a:off x="6496812" y="2404872"/>
            <a:ext cx="402336" cy="433211"/>
          </a:xfrm>
          <a:prstGeom prst="rect">
            <a:avLst/>
          </a:prstGeom>
        </p:spPr>
      </p:pic>
      <p:cxnSp>
        <p:nvCxnSpPr>
          <p:cNvPr id="100091" name="S04.Single.StateTransfer"/>
          <p:cNvCxnSpPr>
            <a:stCxn id="100086" idx="0"/>
            <a:endCxn id="100087" idx="0"/>
          </p:cNvCxnSpPr>
          <p:nvPr/>
        </p:nvCxnSpPr>
        <p:spPr>
          <a:xfrm flipV="1">
            <a:off x="5568696" y="2628900"/>
            <a:ext cx="594360" cy="3821"/>
          </a:xfrm>
          <a:prstGeom prst="straightConnector1">
            <a:avLst/>
          </a:prstGeom>
          <a:ln w="25400">
            <a:solidFill>
              <a:srgbClr val="183B56"/>
            </a:solidFill>
            <a:headEnd type="triangle"/>
            <a:tailEnd type="triangle"/>
          </a:ln>
        </p:spPr>
      </p:cxnSp>
      <p:pic>
        <p:nvPicPr>
          <p:cNvPr id="100092" name="S04.REMUS.Left" descr="FPGA chip"/>
          <p:cNvPicPr>
            <a:picLocks noChangeAspect="1"/>
          </p:cNvPicPr>
          <p:nvPr/>
        </p:nvPicPr>
        <p:blipFill>
          <a:blip r:embed="rId3"/>
          <a:srcRect l="21371" t="23684" r="21291" b="20972"/>
          <a:stretch>
            <a:fillRect/>
          </a:stretch>
        </p:blipFill>
        <p:spPr>
          <a:xfrm>
            <a:off x="8394192" y="2331720"/>
            <a:ext cx="640080" cy="617824"/>
          </a:xfrm>
          <a:prstGeom prst="rect">
            <a:avLst/>
          </a:prstGeom>
        </p:spPr>
      </p:pic>
      <p:pic>
        <p:nvPicPr>
          <p:cNvPr id="100093" name="S04.REMUS.Right" descr="FPGA chip"/>
          <p:cNvPicPr>
            <a:picLocks noChangeAspect="1"/>
          </p:cNvPicPr>
          <p:nvPr/>
        </p:nvPicPr>
        <p:blipFill>
          <a:blip r:embed="rId3"/>
          <a:srcRect l="21371" t="23684" r="21291" b="20972"/>
          <a:stretch>
            <a:fillRect/>
          </a:stretch>
        </p:blipFill>
        <p:spPr>
          <a:xfrm>
            <a:off x="9454896" y="2331720"/>
            <a:ext cx="640080" cy="617824"/>
          </a:xfrm>
          <a:prstGeom prst="rect">
            <a:avLst/>
          </a:prstGeom>
        </p:spPr>
      </p:pic>
      <p:sp>
        <p:nvSpPr>
          <p:cNvPr id="100094" name="S04.REMUS.Link"/>
          <p:cNvSpPr/>
          <p:nvPr/>
        </p:nvSpPr>
        <p:spPr>
          <a:xfrm>
            <a:off x="9075420" y="2551176"/>
            <a:ext cx="338328" cy="182880"/>
          </a:xfrm>
          <a:prstGeom prst="leftRightArrow">
            <a:avLst/>
          </a:prstGeom>
          <a:solidFill>
            <a:srgbClr val="DF973E"/>
          </a:solidFill>
          <a:ln>
            <a:noFill/>
          </a:ln>
        </p:spPr>
        <p:txBody>
          <a:bodyPr lIns="0" tIns="0" rIns="0" bIns="0">
            <a:noAutofit/>
          </a:bodyPr>
          <a:lstStyle/>
          <a:p>
            <a:endParaRPr lang="en-US" sz="1800">
              <a:solidFill>
                <a:srgbClr val="20354A"/>
              </a:solidFill>
              <a:latin typeface="Arial"/>
              <a:ea typeface="Arial"/>
            </a:endParaRPr>
          </a:p>
        </p:txBody>
      </p:sp>
      <p:pic>
        <p:nvPicPr>
          <p:cNvPr id="100095" name="S04.REMUS.Replay" descr="Restore and replay"/>
          <p:cNvPicPr>
            <a:picLocks noChangeAspect="1"/>
          </p:cNvPicPr>
          <p:nvPr/>
        </p:nvPicPr>
        <p:blipFill>
          <a:blip r:embed="rId5"/>
          <a:srcRect l="13476" t="12679" r="12200" b="13237"/>
          <a:stretch>
            <a:fillRect/>
          </a:stretch>
        </p:blipFill>
        <p:spPr>
          <a:xfrm>
            <a:off x="10296144" y="2386584"/>
            <a:ext cx="521208" cy="519530"/>
          </a:xfrm>
          <a:prstGeom prst="rect">
            <a:avLst/>
          </a:prstGeom>
        </p:spPr>
      </p:pic>
      <p:pic>
        <p:nvPicPr>
          <p:cNvPr id="100096" name="S04.REMUS.Snapshot" descr="Global snapshot"/>
          <p:cNvPicPr>
            <a:picLocks noChangeAspect="1"/>
          </p:cNvPicPr>
          <p:nvPr/>
        </p:nvPicPr>
        <p:blipFill>
          <a:blip r:embed="rId4"/>
          <a:srcRect l="16746" t="16427" r="16746" b="11961"/>
          <a:stretch>
            <a:fillRect/>
          </a:stretch>
        </p:blipFill>
        <p:spPr>
          <a:xfrm>
            <a:off x="11055096" y="2368296"/>
            <a:ext cx="502920" cy="541513"/>
          </a:xfrm>
          <a:prstGeom prst="rect">
            <a:avLst/>
          </a:prstGeom>
        </p:spPr>
      </p:pic>
      <p:sp>
        <p:nvSpPr>
          <p:cNvPr id="100097" name="S04.Goal.Panel"/>
          <p:cNvSpPr/>
          <p:nvPr/>
        </p:nvSpPr>
        <p:spPr>
          <a:xfrm>
            <a:off x="316992" y="6054242"/>
            <a:ext cx="11558016" cy="576072"/>
          </a:xfrm>
          <a:prstGeom prst="roundRect">
            <a:avLst>
              <a:gd name="adj" fmla="val 15000"/>
            </a:avLst>
          </a:prstGeom>
          <a:solidFill>
            <a:srgbClr val="EAF4F3"/>
          </a:solidFill>
          <a:ln>
            <a:noFill/>
          </a:ln>
        </p:spPr>
        <p:txBody>
          <a:bodyPr lIns="0" tIns="0" rIns="0" bIns="0">
            <a:noAutofit/>
          </a:bodyPr>
          <a:lstStyle/>
          <a:p>
            <a:endParaRPr lang="en-US" sz="1800" dirty="0">
              <a:solidFill>
                <a:srgbClr val="20354A"/>
              </a:solidFill>
              <a:latin typeface="Arial"/>
              <a:ea typeface="Arial"/>
            </a:endParaRPr>
          </a:p>
        </p:txBody>
      </p:sp>
      <p:sp>
        <p:nvSpPr>
          <p:cNvPr id="100105" name="S04.Goal.Text"/>
          <p:cNvSpPr txBox="1"/>
          <p:nvPr/>
        </p:nvSpPr>
        <p:spPr>
          <a:xfrm>
            <a:off x="1100392" y="6201560"/>
            <a:ext cx="10800876" cy="393192"/>
          </a:xfrm>
          <a:prstGeom prst="rect">
            <a:avLst/>
          </a:prstGeom>
          <a:noFill/>
          <a:ln>
            <a:noFill/>
          </a:ln>
        </p:spPr>
        <p:txBody>
          <a:bodyPr lIns="0" tIns="0" rIns="0" bIns="0">
            <a:noAutofit/>
          </a:bodyPr>
          <a:lstStyle/>
          <a:p>
            <a:r>
              <a:rPr lang="en-US" sz="1800" dirty="0">
                <a:solidFill>
                  <a:srgbClr val="183B56"/>
                </a:solidFill>
                <a:latin typeface="Arial"/>
                <a:ea typeface="Arial"/>
              </a:rPr>
              <a:t>Goal: combine multi-FPGA scalability with </a:t>
            </a:r>
            <a:r>
              <a:rPr lang="en-US" sz="1800" dirty="0" err="1">
                <a:solidFill>
                  <a:srgbClr val="183B56"/>
                </a:solidFill>
                <a:latin typeface="Arial"/>
                <a:ea typeface="Arial"/>
              </a:rPr>
              <a:t>replayable</a:t>
            </a:r>
            <a:r>
              <a:rPr lang="en-US" sz="1800" dirty="0">
                <a:solidFill>
                  <a:srgbClr val="183B56"/>
                </a:solidFill>
                <a:latin typeface="Arial"/>
                <a:ea typeface="Arial"/>
              </a:rPr>
              <a:t> emulation for large-scale SoC debugging</a:t>
            </a:r>
          </a:p>
        </p:txBody>
      </p:sp>
      <p:sp>
        <p:nvSpPr>
          <p:cNvPr id="100106" name="S04.PageNumber"/>
          <p:cNvSpPr txBox="1"/>
          <p:nvPr/>
        </p:nvSpPr>
        <p:spPr>
          <a:xfrm>
            <a:off x="11631168" y="6629400"/>
            <a:ext cx="228600" cy="182880"/>
          </a:xfrm>
          <a:prstGeom prst="rect">
            <a:avLst/>
          </a:prstGeom>
          <a:noFill/>
          <a:ln>
            <a:noFill/>
          </a:ln>
        </p:spPr>
        <p:txBody>
          <a:bodyPr lIns="0" tIns="0" rIns="0" bIns="0">
            <a:noAutofit/>
          </a:bodyPr>
          <a:lstStyle/>
          <a:p>
            <a:pPr algn="r"/>
            <a:r>
              <a:rPr lang="en-US" sz="1000">
                <a:solidFill>
                  <a:srgbClr val="607184"/>
                </a:solidFill>
                <a:latin typeface="Arial"/>
                <a:ea typeface="Arial"/>
              </a:rPr>
              <a:t>4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05.Title"/>
          <p:cNvSpPr>
            <a:spLocks noGrp="1"/>
          </p:cNvSpPr>
          <p:nvPr>
            <p:ph type="title"/>
          </p:nvPr>
        </p:nvSpPr>
        <p:spPr>
          <a:xfrm>
            <a:off x="320040" y="128016"/>
            <a:ext cx="11558016" cy="493776"/>
          </a:xfrm>
          <a:noFill/>
          <a:ln>
            <a:noFill/>
          </a:ln>
        </p:spPr>
        <p:txBody>
          <a:bodyPr lIns="0" tIns="0" rIns="0" bIns="0">
            <a:noAutofit/>
          </a:bodyPr>
          <a:lstStyle/>
          <a:p>
            <a:r>
              <a:rPr lang="en-US" sz="3000" b="1" dirty="0">
                <a:solidFill>
                  <a:srgbClr val="183B56"/>
                </a:solidFill>
                <a:latin typeface="Arial"/>
                <a:ea typeface="Arial"/>
              </a:rPr>
              <a:t>REMUS: Overall Workflow and Mid-Term Scope</a:t>
            </a:r>
          </a:p>
        </p:txBody>
      </p:sp>
      <p:sp>
        <p:nvSpPr>
          <p:cNvPr id="100000" name="S05.TitleRule"/>
          <p:cNvSpPr/>
          <p:nvPr/>
        </p:nvSpPr>
        <p:spPr>
          <a:xfrm>
            <a:off x="320040" y="713232"/>
            <a:ext cx="11558016" cy="25400"/>
          </a:xfrm>
          <a:prstGeom prst="rect">
            <a:avLst/>
          </a:prstGeom>
          <a:solidFill>
            <a:srgbClr val="008C95"/>
          </a:solidFill>
          <a:ln>
            <a:noFill/>
          </a:ln>
        </p:spPr>
        <p:txBody>
          <a:bodyPr lIns="0" tIns="0" rIns="0" bIns="0">
            <a:noAutofit/>
          </a:bodyPr>
          <a:lstStyle/>
          <a:p>
            <a:endParaRPr lang="en-US" sz="1800">
              <a:solidFill>
                <a:srgbClr val="20354A"/>
              </a:solidFill>
              <a:latin typeface="Arial"/>
              <a:ea typeface="Arial"/>
            </a:endParaRPr>
          </a:p>
        </p:txBody>
      </p:sp>
      <p:sp>
        <p:nvSpPr>
          <p:cNvPr id="100001" name="S05.Workflow.Heading"/>
          <p:cNvSpPr txBox="1"/>
          <p:nvPr/>
        </p:nvSpPr>
        <p:spPr>
          <a:xfrm>
            <a:off x="320040" y="960120"/>
            <a:ext cx="7315200" cy="365760"/>
          </a:xfrm>
          <a:prstGeom prst="rect">
            <a:avLst/>
          </a:prstGeom>
          <a:noFill/>
          <a:ln>
            <a:noFill/>
          </a:ln>
        </p:spPr>
        <p:txBody>
          <a:bodyPr lIns="0" tIns="0" rIns="0" bIns="0">
            <a:noAutofit/>
          </a:bodyPr>
          <a:lstStyle/>
          <a:p>
            <a:r>
              <a:rPr lang="en-US" sz="2200" b="1">
                <a:solidFill>
                  <a:srgbClr val="183B56"/>
                </a:solidFill>
                <a:latin typeface="Arial"/>
                <a:ea typeface="Arial"/>
              </a:rPr>
              <a:t>Overall Workflow</a:t>
            </a:r>
          </a:p>
        </p:txBody>
      </p:sp>
      <p:sp>
        <p:nvSpPr>
          <p:cNvPr id="100002" name="S05.RTL.Panel"/>
          <p:cNvSpPr/>
          <p:nvPr/>
        </p:nvSpPr>
        <p:spPr>
          <a:xfrm>
            <a:off x="320040" y="1463040"/>
            <a:ext cx="1938528" cy="3072384"/>
          </a:xfrm>
          <a:prstGeom prst="roundRect">
            <a:avLst>
              <a:gd name="adj" fmla="val 6500"/>
            </a:avLst>
          </a:prstGeom>
          <a:solidFill>
            <a:srgbClr val="EAF4F3"/>
          </a:solidFill>
          <a:ln>
            <a:noFill/>
          </a:ln>
        </p:spPr>
        <p:txBody>
          <a:bodyPr lIns="0" tIns="0" rIns="0" bIns="0">
            <a:noAutofit/>
          </a:bodyPr>
          <a:lstStyle/>
          <a:p>
            <a:endParaRPr lang="en-US" sz="1800">
              <a:solidFill>
                <a:srgbClr val="20354A"/>
              </a:solidFill>
              <a:latin typeface="Arial"/>
              <a:ea typeface="Arial"/>
            </a:endParaRPr>
          </a:p>
        </p:txBody>
      </p:sp>
      <p:sp>
        <p:nvSpPr>
          <p:cNvPr id="100003" name="S05.RTL.Number"/>
          <p:cNvSpPr/>
          <p:nvPr/>
        </p:nvSpPr>
        <p:spPr>
          <a:xfrm>
            <a:off x="1074420" y="1609344"/>
            <a:ext cx="429768" cy="429768"/>
          </a:xfrm>
          <a:prstGeom prst="ellipse">
            <a:avLst/>
          </a:prstGeom>
          <a:solidFill>
            <a:srgbClr val="008C95"/>
          </a:solidFill>
          <a:ln>
            <a:noFill/>
          </a:ln>
        </p:spPr>
        <p:txBody>
          <a:bodyPr lIns="0" tIns="0" rIns="0" bIns="0" anchor="ctr">
            <a:noAutofit/>
          </a:bodyPr>
          <a:lstStyle/>
          <a:p>
            <a:pPr algn="ctr"/>
            <a:r>
              <a:rPr lang="en-US" sz="2100" b="1">
                <a:solidFill>
                  <a:srgbClr val="FFFFFF"/>
                </a:solidFill>
                <a:latin typeface="Arial"/>
                <a:ea typeface="Arial"/>
              </a:rPr>
              <a:t>1</a:t>
            </a:r>
          </a:p>
        </p:txBody>
      </p:sp>
      <p:sp>
        <p:nvSpPr>
          <p:cNvPr id="100004" name="S05.RTL.Title"/>
          <p:cNvSpPr txBox="1"/>
          <p:nvPr/>
        </p:nvSpPr>
        <p:spPr>
          <a:xfrm>
            <a:off x="411480" y="2139696"/>
            <a:ext cx="1755648" cy="768096"/>
          </a:xfrm>
          <a:prstGeom prst="rect">
            <a:avLst/>
          </a:prstGeom>
          <a:noFill/>
          <a:ln>
            <a:noFill/>
          </a:ln>
        </p:spPr>
        <p:txBody>
          <a:bodyPr lIns="0" tIns="0" rIns="0" bIns="0">
            <a:noAutofit/>
          </a:bodyPr>
          <a:lstStyle/>
          <a:p>
            <a:pPr algn="ctr"/>
            <a:r>
              <a:rPr lang="en-US" sz="1700" b="1">
                <a:solidFill>
                  <a:srgbClr val="183B56"/>
                </a:solidFill>
                <a:latin typeface="Arial"/>
                <a:ea typeface="Arial"/>
              </a:rPr>
              <a:t>RTL Design</a:t>
            </a:r>
          </a:p>
        </p:txBody>
      </p:sp>
      <p:sp>
        <p:nvSpPr>
          <p:cNvPr id="100005" name="S05.Partition.Panel"/>
          <p:cNvSpPr/>
          <p:nvPr/>
        </p:nvSpPr>
        <p:spPr>
          <a:xfrm>
            <a:off x="2450592" y="1463040"/>
            <a:ext cx="2057400" cy="3072384"/>
          </a:xfrm>
          <a:prstGeom prst="roundRect">
            <a:avLst>
              <a:gd name="adj" fmla="val 6500"/>
            </a:avLst>
          </a:prstGeom>
          <a:solidFill>
            <a:srgbClr val="EAF4F3"/>
          </a:solidFill>
          <a:ln>
            <a:noFill/>
          </a:ln>
        </p:spPr>
        <p:txBody>
          <a:bodyPr lIns="0" tIns="0" rIns="0" bIns="0">
            <a:noAutofit/>
          </a:bodyPr>
          <a:lstStyle/>
          <a:p>
            <a:endParaRPr lang="en-US" sz="1800">
              <a:solidFill>
                <a:srgbClr val="20354A"/>
              </a:solidFill>
              <a:latin typeface="Arial"/>
              <a:ea typeface="Arial"/>
            </a:endParaRPr>
          </a:p>
        </p:txBody>
      </p:sp>
      <p:sp>
        <p:nvSpPr>
          <p:cNvPr id="100006" name="S05.Partition.Number"/>
          <p:cNvSpPr/>
          <p:nvPr/>
        </p:nvSpPr>
        <p:spPr>
          <a:xfrm>
            <a:off x="3264408" y="1609344"/>
            <a:ext cx="429768" cy="429768"/>
          </a:xfrm>
          <a:prstGeom prst="ellipse">
            <a:avLst/>
          </a:prstGeom>
          <a:solidFill>
            <a:srgbClr val="008C95"/>
          </a:solidFill>
          <a:ln>
            <a:noFill/>
          </a:ln>
        </p:spPr>
        <p:txBody>
          <a:bodyPr lIns="0" tIns="0" rIns="0" bIns="0" anchor="ctr">
            <a:noAutofit/>
          </a:bodyPr>
          <a:lstStyle/>
          <a:p>
            <a:pPr algn="ctr"/>
            <a:r>
              <a:rPr lang="en-US" sz="2100" b="1">
                <a:solidFill>
                  <a:srgbClr val="FFFFFF"/>
                </a:solidFill>
                <a:latin typeface="Arial"/>
                <a:ea typeface="Arial"/>
              </a:rPr>
              <a:t>2</a:t>
            </a:r>
          </a:p>
        </p:txBody>
      </p:sp>
      <p:sp>
        <p:nvSpPr>
          <p:cNvPr id="100007" name="S05.Partition.Title"/>
          <p:cNvSpPr txBox="1"/>
          <p:nvPr/>
        </p:nvSpPr>
        <p:spPr>
          <a:xfrm>
            <a:off x="2542032" y="2139696"/>
            <a:ext cx="1874520" cy="768096"/>
          </a:xfrm>
          <a:prstGeom prst="rect">
            <a:avLst/>
          </a:prstGeom>
          <a:noFill/>
          <a:ln>
            <a:noFill/>
          </a:ln>
        </p:spPr>
        <p:txBody>
          <a:bodyPr lIns="0" tIns="0" rIns="0" bIns="0">
            <a:noAutofit/>
          </a:bodyPr>
          <a:lstStyle/>
          <a:p>
            <a:pPr algn="ctr"/>
            <a:r>
              <a:rPr lang="en-US" sz="1700" b="1">
                <a:solidFill>
                  <a:srgbClr val="183B56"/>
                </a:solidFill>
                <a:latin typeface="Arial"/>
                <a:ea typeface="Arial"/>
              </a:rPr>
              <a:t>Automated</a:t>
            </a:r>
          </a:p>
          <a:p>
            <a:pPr algn="ctr"/>
            <a:r>
              <a:rPr lang="en-US" sz="1700" b="1">
                <a:solidFill>
                  <a:srgbClr val="183B56"/>
                </a:solidFill>
                <a:latin typeface="Arial"/>
                <a:ea typeface="Arial"/>
              </a:rPr>
              <a:t>Partitioning</a:t>
            </a:r>
          </a:p>
        </p:txBody>
      </p:sp>
      <p:sp>
        <p:nvSpPr>
          <p:cNvPr id="100008" name="S05.Deploy.Panel"/>
          <p:cNvSpPr/>
          <p:nvPr/>
        </p:nvSpPr>
        <p:spPr>
          <a:xfrm>
            <a:off x="4700016" y="1463040"/>
            <a:ext cx="2157984" cy="3072384"/>
          </a:xfrm>
          <a:prstGeom prst="roundRect">
            <a:avLst>
              <a:gd name="adj" fmla="val 6500"/>
            </a:avLst>
          </a:prstGeom>
          <a:solidFill>
            <a:srgbClr val="EAF4F3"/>
          </a:solidFill>
          <a:ln>
            <a:noFill/>
          </a:ln>
        </p:spPr>
        <p:txBody>
          <a:bodyPr lIns="0" tIns="0" rIns="0" bIns="0">
            <a:noAutofit/>
          </a:bodyPr>
          <a:lstStyle/>
          <a:p>
            <a:endParaRPr lang="en-US" sz="1800">
              <a:solidFill>
                <a:srgbClr val="20354A"/>
              </a:solidFill>
              <a:latin typeface="Arial"/>
              <a:ea typeface="Arial"/>
            </a:endParaRPr>
          </a:p>
        </p:txBody>
      </p:sp>
      <p:sp>
        <p:nvSpPr>
          <p:cNvPr id="100009" name="S05.Deploy.Number"/>
          <p:cNvSpPr/>
          <p:nvPr/>
        </p:nvSpPr>
        <p:spPr>
          <a:xfrm>
            <a:off x="5564124" y="1609344"/>
            <a:ext cx="429768" cy="429768"/>
          </a:xfrm>
          <a:prstGeom prst="ellipse">
            <a:avLst/>
          </a:prstGeom>
          <a:solidFill>
            <a:srgbClr val="008C95"/>
          </a:solidFill>
          <a:ln>
            <a:noFill/>
          </a:ln>
        </p:spPr>
        <p:txBody>
          <a:bodyPr lIns="0" tIns="0" rIns="0" bIns="0" anchor="ctr">
            <a:noAutofit/>
          </a:bodyPr>
          <a:lstStyle/>
          <a:p>
            <a:pPr algn="ctr"/>
            <a:r>
              <a:rPr lang="en-US" sz="2100" b="1">
                <a:solidFill>
                  <a:srgbClr val="FFFFFF"/>
                </a:solidFill>
                <a:latin typeface="Arial"/>
                <a:ea typeface="Arial"/>
              </a:rPr>
              <a:t>3</a:t>
            </a:r>
          </a:p>
        </p:txBody>
      </p:sp>
      <p:sp>
        <p:nvSpPr>
          <p:cNvPr id="100010" name="S05.Deploy.Title"/>
          <p:cNvSpPr txBox="1"/>
          <p:nvPr/>
        </p:nvSpPr>
        <p:spPr>
          <a:xfrm>
            <a:off x="4791456" y="2139696"/>
            <a:ext cx="1975104" cy="768096"/>
          </a:xfrm>
          <a:prstGeom prst="rect">
            <a:avLst/>
          </a:prstGeom>
          <a:noFill/>
          <a:ln>
            <a:noFill/>
          </a:ln>
        </p:spPr>
        <p:txBody>
          <a:bodyPr lIns="0" tIns="0" rIns="0" bIns="0">
            <a:noAutofit/>
          </a:bodyPr>
          <a:lstStyle/>
          <a:p>
            <a:pPr algn="ctr"/>
            <a:r>
              <a:rPr lang="en-US" sz="1700" b="1">
                <a:solidFill>
                  <a:srgbClr val="183B56"/>
                </a:solidFill>
                <a:latin typeface="Arial"/>
                <a:ea typeface="Arial"/>
              </a:rPr>
              <a:t>Multi-FPGA</a:t>
            </a:r>
          </a:p>
          <a:p>
            <a:pPr algn="ctr"/>
            <a:r>
              <a:rPr lang="en-US" sz="1700" b="1">
                <a:solidFill>
                  <a:srgbClr val="183B56"/>
                </a:solidFill>
                <a:latin typeface="Arial"/>
                <a:ea typeface="Arial"/>
              </a:rPr>
              <a:t>Deployment</a:t>
            </a:r>
          </a:p>
        </p:txBody>
      </p:sp>
      <p:sp>
        <p:nvSpPr>
          <p:cNvPr id="100011" name="S05.Deploy.Caption"/>
          <p:cNvSpPr txBox="1"/>
          <p:nvPr/>
        </p:nvSpPr>
        <p:spPr>
          <a:xfrm>
            <a:off x="4791456" y="2798064"/>
            <a:ext cx="1975104" cy="466344"/>
          </a:xfrm>
          <a:prstGeom prst="rect">
            <a:avLst/>
          </a:prstGeom>
          <a:noFill/>
          <a:ln>
            <a:noFill/>
          </a:ln>
        </p:spPr>
        <p:txBody>
          <a:bodyPr lIns="0" tIns="0" rIns="0" bIns="0">
            <a:noAutofit/>
          </a:bodyPr>
          <a:lstStyle/>
          <a:p>
            <a:pPr algn="ctr"/>
            <a:r>
              <a:rPr lang="en-US" sz="1400">
                <a:solidFill>
                  <a:srgbClr val="20354A"/>
                </a:solidFill>
                <a:latin typeface="Arial"/>
                <a:ea typeface="Arial"/>
              </a:rPr>
              <a:t>Fabric routing &amp;</a:t>
            </a:r>
          </a:p>
          <a:p>
            <a:pPr algn="ctr"/>
            <a:r>
              <a:rPr lang="en-US" sz="1400">
                <a:solidFill>
                  <a:srgbClr val="20354A"/>
                </a:solidFill>
                <a:latin typeface="Arial"/>
                <a:ea typeface="Arial"/>
              </a:rPr>
              <a:t>runtime control</a:t>
            </a:r>
          </a:p>
        </p:txBody>
      </p:sp>
      <p:sp>
        <p:nvSpPr>
          <p:cNvPr id="100012" name="S05.Cycle.Panel"/>
          <p:cNvSpPr/>
          <p:nvPr/>
        </p:nvSpPr>
        <p:spPr>
          <a:xfrm>
            <a:off x="7050024" y="1463040"/>
            <a:ext cx="2606040" cy="3072384"/>
          </a:xfrm>
          <a:prstGeom prst="roundRect">
            <a:avLst>
              <a:gd name="adj" fmla="val 6500"/>
            </a:avLst>
          </a:prstGeom>
          <a:solidFill>
            <a:srgbClr val="EAF4F3"/>
          </a:solidFill>
          <a:ln>
            <a:noFill/>
          </a:ln>
        </p:spPr>
        <p:txBody>
          <a:bodyPr lIns="0" tIns="0" rIns="0" bIns="0">
            <a:noAutofit/>
          </a:bodyPr>
          <a:lstStyle/>
          <a:p>
            <a:endParaRPr lang="en-US" sz="1800">
              <a:solidFill>
                <a:srgbClr val="20354A"/>
              </a:solidFill>
              <a:latin typeface="Arial"/>
              <a:ea typeface="Arial"/>
            </a:endParaRPr>
          </a:p>
        </p:txBody>
      </p:sp>
      <p:sp>
        <p:nvSpPr>
          <p:cNvPr id="100013" name="S05.Cycle.Number"/>
          <p:cNvSpPr/>
          <p:nvPr/>
        </p:nvSpPr>
        <p:spPr>
          <a:xfrm>
            <a:off x="8138160" y="1609344"/>
            <a:ext cx="429768" cy="429768"/>
          </a:xfrm>
          <a:prstGeom prst="ellipse">
            <a:avLst/>
          </a:prstGeom>
          <a:solidFill>
            <a:srgbClr val="008C95"/>
          </a:solidFill>
          <a:ln>
            <a:noFill/>
          </a:ln>
        </p:spPr>
        <p:txBody>
          <a:bodyPr lIns="0" tIns="0" rIns="0" bIns="0" anchor="ctr">
            <a:noAutofit/>
          </a:bodyPr>
          <a:lstStyle/>
          <a:p>
            <a:pPr algn="ctr"/>
            <a:r>
              <a:rPr lang="en-US" sz="2100" b="1">
                <a:solidFill>
                  <a:srgbClr val="FFFFFF"/>
                </a:solidFill>
                <a:latin typeface="Arial"/>
                <a:ea typeface="Arial"/>
              </a:rPr>
              <a:t>4</a:t>
            </a:r>
          </a:p>
        </p:txBody>
      </p:sp>
      <p:sp>
        <p:nvSpPr>
          <p:cNvPr id="100014" name="S05.Cycle.Title"/>
          <p:cNvSpPr txBox="1"/>
          <p:nvPr/>
        </p:nvSpPr>
        <p:spPr>
          <a:xfrm>
            <a:off x="7141464" y="2139696"/>
            <a:ext cx="2423160" cy="768096"/>
          </a:xfrm>
          <a:prstGeom prst="rect">
            <a:avLst/>
          </a:prstGeom>
          <a:noFill/>
          <a:ln>
            <a:noFill/>
          </a:ln>
        </p:spPr>
        <p:txBody>
          <a:bodyPr lIns="0" tIns="0" rIns="0" bIns="0">
            <a:noAutofit/>
          </a:bodyPr>
          <a:lstStyle/>
          <a:p>
            <a:pPr algn="ctr"/>
            <a:r>
              <a:rPr lang="en-US" sz="1700" b="1">
                <a:solidFill>
                  <a:srgbClr val="183B56"/>
                </a:solidFill>
                <a:latin typeface="Arial"/>
                <a:ea typeface="Arial"/>
              </a:rPr>
              <a:t>Cycle-Accurate</a:t>
            </a:r>
          </a:p>
          <a:p>
            <a:pPr algn="ctr"/>
            <a:r>
              <a:rPr lang="en-US" sz="1700" b="1">
                <a:solidFill>
                  <a:srgbClr val="183B56"/>
                </a:solidFill>
                <a:latin typeface="Arial"/>
                <a:ea typeface="Arial"/>
              </a:rPr>
              <a:t>Execution &amp; Global Pause</a:t>
            </a:r>
          </a:p>
        </p:txBody>
      </p:sp>
      <p:sp>
        <p:nvSpPr>
          <p:cNvPr id="100015" name="S05.Cycle.Caption"/>
          <p:cNvSpPr txBox="1"/>
          <p:nvPr/>
        </p:nvSpPr>
        <p:spPr>
          <a:xfrm>
            <a:off x="7141464" y="2980944"/>
            <a:ext cx="2423160" cy="466344"/>
          </a:xfrm>
          <a:prstGeom prst="rect">
            <a:avLst/>
          </a:prstGeom>
          <a:noFill/>
          <a:ln>
            <a:noFill/>
          </a:ln>
        </p:spPr>
        <p:txBody>
          <a:bodyPr lIns="0" tIns="0" rIns="0" bIns="0">
            <a:noAutofit/>
          </a:bodyPr>
          <a:lstStyle/>
          <a:p>
            <a:pPr algn="ctr"/>
            <a:r>
              <a:rPr lang="en-US" sz="1400">
                <a:solidFill>
                  <a:srgbClr val="20354A"/>
                </a:solidFill>
                <a:latin typeface="Arial"/>
                <a:ea typeface="Arial"/>
              </a:rPr>
              <a:t>Synchronized DUT cycles</a:t>
            </a:r>
          </a:p>
        </p:txBody>
      </p:sp>
      <p:sp>
        <p:nvSpPr>
          <p:cNvPr id="100016" name="S05.State.Panel"/>
          <p:cNvSpPr/>
          <p:nvPr/>
        </p:nvSpPr>
        <p:spPr>
          <a:xfrm>
            <a:off x="9848088" y="1463040"/>
            <a:ext cx="2029968" cy="3072384"/>
          </a:xfrm>
          <a:prstGeom prst="roundRect">
            <a:avLst>
              <a:gd name="adj" fmla="val 6500"/>
            </a:avLst>
          </a:prstGeom>
          <a:solidFill>
            <a:srgbClr val="EAF4F3"/>
          </a:solidFill>
          <a:ln>
            <a:noFill/>
          </a:ln>
        </p:spPr>
        <p:txBody>
          <a:bodyPr lIns="0" tIns="0" rIns="0" bIns="0">
            <a:noAutofit/>
          </a:bodyPr>
          <a:lstStyle/>
          <a:p>
            <a:endParaRPr lang="en-US" sz="1800">
              <a:solidFill>
                <a:srgbClr val="20354A"/>
              </a:solidFill>
              <a:latin typeface="Arial"/>
              <a:ea typeface="Arial"/>
            </a:endParaRPr>
          </a:p>
        </p:txBody>
      </p:sp>
      <p:sp>
        <p:nvSpPr>
          <p:cNvPr id="100017" name="S05.State.Number"/>
          <p:cNvSpPr/>
          <p:nvPr/>
        </p:nvSpPr>
        <p:spPr>
          <a:xfrm>
            <a:off x="10648188" y="1609344"/>
            <a:ext cx="429768" cy="429768"/>
          </a:xfrm>
          <a:prstGeom prst="ellipse">
            <a:avLst/>
          </a:prstGeom>
          <a:solidFill>
            <a:srgbClr val="008C95"/>
          </a:solidFill>
          <a:ln>
            <a:noFill/>
          </a:ln>
        </p:spPr>
        <p:txBody>
          <a:bodyPr lIns="0" tIns="0" rIns="0" bIns="0" anchor="ctr">
            <a:noAutofit/>
          </a:bodyPr>
          <a:lstStyle/>
          <a:p>
            <a:pPr algn="ctr"/>
            <a:r>
              <a:rPr lang="en-US" sz="2100" b="1">
                <a:solidFill>
                  <a:srgbClr val="FFFFFF"/>
                </a:solidFill>
                <a:latin typeface="Arial"/>
                <a:ea typeface="Arial"/>
              </a:rPr>
              <a:t>5</a:t>
            </a:r>
          </a:p>
        </p:txBody>
      </p:sp>
      <p:sp>
        <p:nvSpPr>
          <p:cNvPr id="100018" name="S05.State.Title"/>
          <p:cNvSpPr txBox="1"/>
          <p:nvPr/>
        </p:nvSpPr>
        <p:spPr>
          <a:xfrm>
            <a:off x="9939528" y="2139696"/>
            <a:ext cx="1847088" cy="768096"/>
          </a:xfrm>
          <a:prstGeom prst="rect">
            <a:avLst/>
          </a:prstGeom>
          <a:noFill/>
          <a:ln>
            <a:noFill/>
          </a:ln>
        </p:spPr>
        <p:txBody>
          <a:bodyPr lIns="0" tIns="0" rIns="0" bIns="0">
            <a:noAutofit/>
          </a:bodyPr>
          <a:lstStyle/>
          <a:p>
            <a:pPr algn="ctr"/>
            <a:r>
              <a:rPr lang="en-US" sz="1700" b="1">
                <a:solidFill>
                  <a:srgbClr val="183B56"/>
                </a:solidFill>
                <a:latin typeface="Arial"/>
                <a:ea typeface="Arial"/>
              </a:rPr>
              <a:t>State Capture,</a:t>
            </a:r>
          </a:p>
          <a:p>
            <a:pPr algn="ctr"/>
            <a:r>
              <a:rPr lang="en-US" sz="1700" b="1">
                <a:solidFill>
                  <a:srgbClr val="183B56"/>
                </a:solidFill>
                <a:latin typeface="Arial"/>
                <a:ea typeface="Arial"/>
              </a:rPr>
              <a:t>Restore &amp; Replay</a:t>
            </a:r>
          </a:p>
        </p:txBody>
      </p:sp>
      <p:sp>
        <p:nvSpPr>
          <p:cNvPr id="100019" name="S05.State.Caption"/>
          <p:cNvSpPr txBox="1"/>
          <p:nvPr/>
        </p:nvSpPr>
        <p:spPr>
          <a:xfrm>
            <a:off x="9939528" y="2798064"/>
            <a:ext cx="1847088" cy="466344"/>
          </a:xfrm>
          <a:prstGeom prst="rect">
            <a:avLst/>
          </a:prstGeom>
          <a:noFill/>
          <a:ln>
            <a:noFill/>
          </a:ln>
        </p:spPr>
        <p:txBody>
          <a:bodyPr lIns="0" tIns="0" rIns="0" bIns="0">
            <a:noAutofit/>
          </a:bodyPr>
          <a:lstStyle/>
          <a:p>
            <a:pPr algn="ctr"/>
            <a:r>
              <a:rPr lang="en-US" sz="1400">
                <a:solidFill>
                  <a:srgbClr val="20354A"/>
                </a:solidFill>
                <a:latin typeface="Arial"/>
                <a:ea typeface="Arial"/>
              </a:rPr>
              <a:t>Debug and replay support</a:t>
            </a:r>
          </a:p>
        </p:txBody>
      </p:sp>
      <p:sp>
        <p:nvSpPr>
          <p:cNvPr id="100020" name="S05.Workflow.Arrow1"/>
          <p:cNvSpPr/>
          <p:nvPr/>
        </p:nvSpPr>
        <p:spPr>
          <a:xfrm>
            <a:off x="2176272" y="2926080"/>
            <a:ext cx="356616" cy="274320"/>
          </a:xfrm>
          <a:prstGeom prst="rightArrow">
            <a:avLst/>
          </a:prstGeom>
          <a:solidFill>
            <a:srgbClr val="DF973E"/>
          </a:solidFill>
          <a:ln>
            <a:noFill/>
          </a:ln>
        </p:spPr>
        <p:txBody>
          <a:bodyPr lIns="0" tIns="0" rIns="0" bIns="0">
            <a:noAutofit/>
          </a:bodyPr>
          <a:lstStyle/>
          <a:p>
            <a:endParaRPr lang="en-US" sz="1800">
              <a:solidFill>
                <a:srgbClr val="20354A"/>
              </a:solidFill>
              <a:latin typeface="Arial"/>
              <a:ea typeface="Arial"/>
            </a:endParaRPr>
          </a:p>
        </p:txBody>
      </p:sp>
      <p:sp>
        <p:nvSpPr>
          <p:cNvPr id="100021" name="S05.Workflow.Arrow2"/>
          <p:cNvSpPr/>
          <p:nvPr/>
        </p:nvSpPr>
        <p:spPr>
          <a:xfrm>
            <a:off x="4425696" y="2926080"/>
            <a:ext cx="356616" cy="274320"/>
          </a:xfrm>
          <a:prstGeom prst="rightArrow">
            <a:avLst/>
          </a:prstGeom>
          <a:solidFill>
            <a:srgbClr val="DF973E"/>
          </a:solidFill>
          <a:ln>
            <a:noFill/>
          </a:ln>
        </p:spPr>
        <p:txBody>
          <a:bodyPr lIns="0" tIns="0" rIns="0" bIns="0">
            <a:noAutofit/>
          </a:bodyPr>
          <a:lstStyle/>
          <a:p>
            <a:endParaRPr lang="en-US" sz="1800">
              <a:solidFill>
                <a:srgbClr val="20354A"/>
              </a:solidFill>
              <a:latin typeface="Arial"/>
              <a:ea typeface="Arial"/>
            </a:endParaRPr>
          </a:p>
        </p:txBody>
      </p:sp>
      <p:sp>
        <p:nvSpPr>
          <p:cNvPr id="100022" name="S05.Workflow.Arrow3"/>
          <p:cNvSpPr/>
          <p:nvPr/>
        </p:nvSpPr>
        <p:spPr>
          <a:xfrm>
            <a:off x="6775704" y="2926080"/>
            <a:ext cx="356616" cy="274320"/>
          </a:xfrm>
          <a:prstGeom prst="rightArrow">
            <a:avLst/>
          </a:prstGeom>
          <a:solidFill>
            <a:srgbClr val="DF973E"/>
          </a:solidFill>
          <a:ln>
            <a:noFill/>
          </a:ln>
        </p:spPr>
        <p:txBody>
          <a:bodyPr lIns="0" tIns="0" rIns="0" bIns="0">
            <a:noAutofit/>
          </a:bodyPr>
          <a:lstStyle/>
          <a:p>
            <a:endParaRPr lang="en-US" sz="1800">
              <a:solidFill>
                <a:srgbClr val="20354A"/>
              </a:solidFill>
              <a:latin typeface="Arial"/>
              <a:ea typeface="Arial"/>
            </a:endParaRPr>
          </a:p>
        </p:txBody>
      </p:sp>
      <p:sp>
        <p:nvSpPr>
          <p:cNvPr id="100023" name="S05.Workflow.Arrow4"/>
          <p:cNvSpPr/>
          <p:nvPr/>
        </p:nvSpPr>
        <p:spPr>
          <a:xfrm>
            <a:off x="9573768" y="2926080"/>
            <a:ext cx="356616" cy="274320"/>
          </a:xfrm>
          <a:prstGeom prst="rightArrow">
            <a:avLst/>
          </a:prstGeom>
          <a:solidFill>
            <a:srgbClr val="DF973E"/>
          </a:solidFill>
          <a:ln>
            <a:noFill/>
          </a:ln>
        </p:spPr>
        <p:txBody>
          <a:bodyPr lIns="0" tIns="0" rIns="0" bIns="0">
            <a:noAutofit/>
          </a:bodyPr>
          <a:lstStyle/>
          <a:p>
            <a:endParaRPr lang="en-US" sz="1800">
              <a:solidFill>
                <a:srgbClr val="20354A"/>
              </a:solidFill>
              <a:latin typeface="Arial"/>
              <a:ea typeface="Arial"/>
            </a:endParaRPr>
          </a:p>
        </p:txBody>
      </p:sp>
      <p:pic>
        <p:nvPicPr>
          <p:cNvPr id="100024" name="S05.RTL.Document" descr="Hierarchical RTL design"/>
          <p:cNvPicPr>
            <a:picLocks noChangeAspect="1"/>
          </p:cNvPicPr>
          <p:nvPr/>
        </p:nvPicPr>
        <p:blipFill>
          <a:blip r:embed="rId3"/>
          <a:srcRect l="22807" t="18580" r="21929" b="14354"/>
          <a:stretch>
            <a:fillRect/>
          </a:stretch>
        </p:blipFill>
        <p:spPr>
          <a:xfrm>
            <a:off x="781812" y="2980944"/>
            <a:ext cx="1014984" cy="1231748"/>
          </a:xfrm>
          <a:prstGeom prst="rect">
            <a:avLst/>
          </a:prstGeom>
        </p:spPr>
      </p:pic>
      <p:pic>
        <p:nvPicPr>
          <p:cNvPr id="100025" name="S05.Partition.Circuit" descr="Circuit partitioning"/>
          <p:cNvPicPr>
            <a:picLocks noChangeAspect="1"/>
          </p:cNvPicPr>
          <p:nvPr/>
        </p:nvPicPr>
        <p:blipFill>
          <a:blip r:embed="rId4"/>
          <a:srcRect l="15869" t="18660" r="15789" b="18660"/>
          <a:stretch>
            <a:fillRect/>
          </a:stretch>
        </p:blipFill>
        <p:spPr>
          <a:xfrm>
            <a:off x="2816352" y="3014907"/>
            <a:ext cx="1325880" cy="1216035"/>
          </a:xfrm>
          <a:prstGeom prst="rect">
            <a:avLst/>
          </a:prstGeom>
        </p:spPr>
      </p:pic>
      <p:pic>
        <p:nvPicPr>
          <p:cNvPr id="100026" name="S05.Deploy.TL" descr="FPGA chip"/>
          <p:cNvPicPr>
            <a:picLocks noChangeAspect="1"/>
          </p:cNvPicPr>
          <p:nvPr/>
        </p:nvPicPr>
        <p:blipFill>
          <a:blip r:embed="rId5"/>
          <a:srcRect l="21371" t="23684" r="21291" b="20972"/>
          <a:stretch>
            <a:fillRect/>
          </a:stretch>
        </p:blipFill>
        <p:spPr>
          <a:xfrm>
            <a:off x="5138928" y="3381381"/>
            <a:ext cx="457200" cy="441303"/>
          </a:xfrm>
          <a:prstGeom prst="rect">
            <a:avLst/>
          </a:prstGeom>
        </p:spPr>
      </p:pic>
      <p:pic>
        <p:nvPicPr>
          <p:cNvPr id="100027" name="S05.Deploy.TR" descr="FPGA chip"/>
          <p:cNvPicPr>
            <a:picLocks noChangeAspect="1"/>
          </p:cNvPicPr>
          <p:nvPr/>
        </p:nvPicPr>
        <p:blipFill>
          <a:blip r:embed="rId5"/>
          <a:srcRect l="21371" t="23684" r="21291" b="20972"/>
          <a:stretch>
            <a:fillRect/>
          </a:stretch>
        </p:blipFill>
        <p:spPr>
          <a:xfrm>
            <a:off x="5961888" y="3381381"/>
            <a:ext cx="457200" cy="441303"/>
          </a:xfrm>
          <a:prstGeom prst="rect">
            <a:avLst/>
          </a:prstGeom>
        </p:spPr>
      </p:pic>
      <p:pic>
        <p:nvPicPr>
          <p:cNvPr id="100028" name="S05.Deploy.BL" descr="FPGA chip"/>
          <p:cNvPicPr>
            <a:picLocks noChangeAspect="1"/>
          </p:cNvPicPr>
          <p:nvPr/>
        </p:nvPicPr>
        <p:blipFill>
          <a:blip r:embed="rId5"/>
          <a:srcRect l="21371" t="23684" r="21291" b="20972"/>
          <a:stretch>
            <a:fillRect/>
          </a:stretch>
        </p:blipFill>
        <p:spPr>
          <a:xfrm>
            <a:off x="5138928" y="3893445"/>
            <a:ext cx="457200" cy="441303"/>
          </a:xfrm>
          <a:prstGeom prst="rect">
            <a:avLst/>
          </a:prstGeom>
        </p:spPr>
      </p:pic>
      <p:pic>
        <p:nvPicPr>
          <p:cNvPr id="100029" name="S05.Deploy.BR" descr="FPGA chip"/>
          <p:cNvPicPr>
            <a:picLocks noChangeAspect="1"/>
          </p:cNvPicPr>
          <p:nvPr/>
        </p:nvPicPr>
        <p:blipFill>
          <a:blip r:embed="rId5"/>
          <a:srcRect l="21371" t="23684" r="21291" b="20972"/>
          <a:stretch>
            <a:fillRect/>
          </a:stretch>
        </p:blipFill>
        <p:spPr>
          <a:xfrm>
            <a:off x="5961888" y="3893445"/>
            <a:ext cx="457200" cy="441303"/>
          </a:xfrm>
          <a:prstGeom prst="rect">
            <a:avLst/>
          </a:prstGeom>
        </p:spPr>
      </p:pic>
      <p:cxnSp>
        <p:nvCxnSpPr>
          <p:cNvPr id="100030" name="S05.Deploy.LinkTLTR"/>
          <p:cNvCxnSpPr>
            <a:stCxn id="100026" idx="0"/>
            <a:endCxn id="100027" idx="0"/>
          </p:cNvCxnSpPr>
          <p:nvPr/>
        </p:nvCxnSpPr>
        <p:spPr>
          <a:xfrm>
            <a:off x="5596128" y="3602032"/>
            <a:ext cx="365760" cy="0"/>
          </a:xfrm>
          <a:prstGeom prst="straightConnector1">
            <a:avLst/>
          </a:prstGeom>
          <a:ln w="20320">
            <a:solidFill>
              <a:srgbClr val="DF973E"/>
            </a:solidFill>
          </a:ln>
        </p:spPr>
      </p:cxnSp>
      <p:cxnSp>
        <p:nvCxnSpPr>
          <p:cNvPr id="100031" name="S05.Deploy.LinkBLBR"/>
          <p:cNvCxnSpPr>
            <a:stCxn id="100028" idx="0"/>
            <a:endCxn id="100029" idx="0"/>
          </p:cNvCxnSpPr>
          <p:nvPr/>
        </p:nvCxnSpPr>
        <p:spPr>
          <a:xfrm>
            <a:off x="5596128" y="4114096"/>
            <a:ext cx="365760" cy="0"/>
          </a:xfrm>
          <a:prstGeom prst="straightConnector1">
            <a:avLst/>
          </a:prstGeom>
          <a:ln w="20320">
            <a:solidFill>
              <a:srgbClr val="DF973E"/>
            </a:solidFill>
          </a:ln>
        </p:spPr>
      </p:cxnSp>
      <p:cxnSp>
        <p:nvCxnSpPr>
          <p:cNvPr id="100032" name="S05.Deploy.LinkTLBL"/>
          <p:cNvCxnSpPr>
            <a:stCxn id="100026" idx="0"/>
            <a:endCxn id="100028" idx="0"/>
          </p:cNvCxnSpPr>
          <p:nvPr/>
        </p:nvCxnSpPr>
        <p:spPr>
          <a:xfrm>
            <a:off x="5367528" y="3822684"/>
            <a:ext cx="0" cy="70761"/>
          </a:xfrm>
          <a:prstGeom prst="straightConnector1">
            <a:avLst/>
          </a:prstGeom>
          <a:ln w="20320">
            <a:solidFill>
              <a:srgbClr val="DF973E"/>
            </a:solidFill>
          </a:ln>
        </p:spPr>
      </p:cxnSp>
      <p:cxnSp>
        <p:nvCxnSpPr>
          <p:cNvPr id="100033" name="S05.Deploy.LinkTRBR"/>
          <p:cNvCxnSpPr>
            <a:stCxn id="100027" idx="0"/>
            <a:endCxn id="100029" idx="0"/>
          </p:cNvCxnSpPr>
          <p:nvPr/>
        </p:nvCxnSpPr>
        <p:spPr>
          <a:xfrm>
            <a:off x="6190488" y="3822684"/>
            <a:ext cx="0" cy="70761"/>
          </a:xfrm>
          <a:prstGeom prst="straightConnector1">
            <a:avLst/>
          </a:prstGeom>
          <a:ln w="20320">
            <a:solidFill>
              <a:srgbClr val="DF973E"/>
            </a:solidFill>
          </a:ln>
        </p:spPr>
      </p:cxnSp>
      <p:sp>
        <p:nvSpPr>
          <p:cNvPr id="100034" name="S05.Deploy.Scope"/>
          <p:cNvSpPr txBox="1"/>
          <p:nvPr/>
        </p:nvSpPr>
        <p:spPr>
          <a:xfrm>
            <a:off x="4809744" y="4334256"/>
            <a:ext cx="1938528" cy="182880"/>
          </a:xfrm>
          <a:prstGeom prst="rect">
            <a:avLst/>
          </a:prstGeom>
          <a:noFill/>
          <a:ln>
            <a:noFill/>
          </a:ln>
        </p:spPr>
        <p:txBody>
          <a:bodyPr lIns="0" tIns="0" rIns="0" bIns="0">
            <a:noAutofit/>
          </a:bodyPr>
          <a:lstStyle/>
          <a:p>
            <a:pPr algn="ctr"/>
            <a:endParaRPr lang="en-US" sz="1100" dirty="0">
              <a:solidFill>
                <a:srgbClr val="607184"/>
              </a:solidFill>
              <a:latin typeface="Arial"/>
              <a:ea typeface="Arial"/>
            </a:endParaRPr>
          </a:p>
        </p:txBody>
      </p:sp>
      <p:sp>
        <p:nvSpPr>
          <p:cNvPr id="100035" name="S05.Cycle.Icon0"/>
          <p:cNvSpPr/>
          <p:nvPr/>
        </p:nvSpPr>
        <p:spPr>
          <a:xfrm>
            <a:off x="7324344" y="3456432"/>
            <a:ext cx="438912" cy="438912"/>
          </a:xfrm>
          <a:prstGeom prst="ellipse">
            <a:avLst/>
          </a:prstGeom>
          <a:solidFill>
            <a:srgbClr val="FFFFFF"/>
          </a:solidFill>
          <a:ln w="27940">
            <a:solidFill>
              <a:srgbClr val="183B56"/>
            </a:solidFill>
          </a:ln>
        </p:spPr>
        <p:txBody>
          <a:bodyPr lIns="0" tIns="0" rIns="0" bIns="0">
            <a:noAutofit/>
          </a:bodyPr>
          <a:lstStyle/>
          <a:p>
            <a:endParaRPr lang="en-US" sz="1800">
              <a:solidFill>
                <a:srgbClr val="20354A"/>
              </a:solidFill>
              <a:latin typeface="Arial"/>
              <a:ea typeface="Arial"/>
            </a:endParaRPr>
          </a:p>
        </p:txBody>
      </p:sp>
      <p:cxnSp>
        <p:nvCxnSpPr>
          <p:cNvPr id="100036" name="S05.Cycle.Clock0.Minute"/>
          <p:cNvCxnSpPr/>
          <p:nvPr/>
        </p:nvCxnSpPr>
        <p:spPr>
          <a:xfrm>
            <a:off x="7543800" y="3534156"/>
            <a:ext cx="0" cy="141732"/>
          </a:xfrm>
          <a:prstGeom prst="straightConnector1">
            <a:avLst/>
          </a:prstGeom>
          <a:ln w="25400">
            <a:solidFill>
              <a:srgbClr val="183B56"/>
            </a:solidFill>
          </a:ln>
        </p:spPr>
      </p:cxnSp>
      <p:cxnSp>
        <p:nvCxnSpPr>
          <p:cNvPr id="100037" name="S05.Cycle.Clock0.Hour"/>
          <p:cNvCxnSpPr/>
          <p:nvPr/>
        </p:nvCxnSpPr>
        <p:spPr>
          <a:xfrm>
            <a:off x="7543800" y="3675888"/>
            <a:ext cx="96012" cy="82296"/>
          </a:xfrm>
          <a:prstGeom prst="straightConnector1">
            <a:avLst/>
          </a:prstGeom>
          <a:ln w="25400">
            <a:solidFill>
              <a:srgbClr val="183B56"/>
            </a:solidFill>
          </a:ln>
        </p:spPr>
      </p:cxnSp>
      <p:cxnSp>
        <p:nvCxnSpPr>
          <p:cNvPr id="100038" name="S05.Cycle.SyncDrop0"/>
          <p:cNvCxnSpPr/>
          <p:nvPr/>
        </p:nvCxnSpPr>
        <p:spPr>
          <a:xfrm>
            <a:off x="7543800" y="3968496"/>
            <a:ext cx="0" cy="164592"/>
          </a:xfrm>
          <a:prstGeom prst="straightConnector1">
            <a:avLst/>
          </a:prstGeom>
          <a:ln w="20320">
            <a:solidFill>
              <a:srgbClr val="183B56"/>
            </a:solidFill>
            <a:prstDash val="dash"/>
          </a:ln>
        </p:spPr>
      </p:cxnSp>
      <p:sp>
        <p:nvSpPr>
          <p:cNvPr id="100039" name="S05.Cycle.Icon1"/>
          <p:cNvSpPr/>
          <p:nvPr/>
        </p:nvSpPr>
        <p:spPr>
          <a:xfrm>
            <a:off x="8133588" y="3456432"/>
            <a:ext cx="438912" cy="438912"/>
          </a:xfrm>
          <a:prstGeom prst="ellipse">
            <a:avLst/>
          </a:prstGeom>
          <a:solidFill>
            <a:srgbClr val="FFFFFF"/>
          </a:solidFill>
          <a:ln w="27940">
            <a:solidFill>
              <a:srgbClr val="008C95"/>
            </a:solidFill>
          </a:ln>
        </p:spPr>
        <p:txBody>
          <a:bodyPr lIns="0" tIns="0" rIns="0" bIns="0">
            <a:noAutofit/>
          </a:bodyPr>
          <a:lstStyle/>
          <a:p>
            <a:endParaRPr lang="en-US" sz="1800">
              <a:solidFill>
                <a:srgbClr val="20354A"/>
              </a:solidFill>
              <a:latin typeface="Arial"/>
              <a:ea typeface="Arial"/>
            </a:endParaRPr>
          </a:p>
        </p:txBody>
      </p:sp>
      <p:sp>
        <p:nvSpPr>
          <p:cNvPr id="100040" name="S05.Cycle.PauseBar0"/>
          <p:cNvSpPr/>
          <p:nvPr/>
        </p:nvSpPr>
        <p:spPr>
          <a:xfrm>
            <a:off x="8268919" y="3570732"/>
            <a:ext cx="52121" cy="210312"/>
          </a:xfrm>
          <a:prstGeom prst="roundRect">
            <a:avLst/>
          </a:prstGeom>
          <a:solidFill>
            <a:srgbClr val="008C95"/>
          </a:solidFill>
          <a:ln>
            <a:noFill/>
          </a:ln>
        </p:spPr>
        <p:txBody>
          <a:bodyPr lIns="0" tIns="0" rIns="0" bIns="0">
            <a:noAutofit/>
          </a:bodyPr>
          <a:lstStyle/>
          <a:p>
            <a:endParaRPr lang="en-US" sz="1800">
              <a:solidFill>
                <a:srgbClr val="20354A"/>
              </a:solidFill>
              <a:latin typeface="Arial"/>
              <a:ea typeface="Arial"/>
            </a:endParaRPr>
          </a:p>
        </p:txBody>
      </p:sp>
      <p:sp>
        <p:nvSpPr>
          <p:cNvPr id="100041" name="S05.Cycle.PauseBar1"/>
          <p:cNvSpPr/>
          <p:nvPr/>
        </p:nvSpPr>
        <p:spPr>
          <a:xfrm>
            <a:off x="8385048" y="3570732"/>
            <a:ext cx="52121" cy="210312"/>
          </a:xfrm>
          <a:prstGeom prst="roundRect">
            <a:avLst/>
          </a:prstGeom>
          <a:solidFill>
            <a:srgbClr val="008C95"/>
          </a:solidFill>
          <a:ln>
            <a:noFill/>
          </a:ln>
        </p:spPr>
        <p:txBody>
          <a:bodyPr lIns="0" tIns="0" rIns="0" bIns="0">
            <a:noAutofit/>
          </a:bodyPr>
          <a:lstStyle/>
          <a:p>
            <a:endParaRPr lang="en-US" sz="1800">
              <a:solidFill>
                <a:srgbClr val="20354A"/>
              </a:solidFill>
              <a:latin typeface="Arial"/>
              <a:ea typeface="Arial"/>
            </a:endParaRPr>
          </a:p>
        </p:txBody>
      </p:sp>
      <p:cxnSp>
        <p:nvCxnSpPr>
          <p:cNvPr id="100042" name="S05.Cycle.SyncDrop1"/>
          <p:cNvCxnSpPr/>
          <p:nvPr/>
        </p:nvCxnSpPr>
        <p:spPr>
          <a:xfrm>
            <a:off x="8353044" y="3968496"/>
            <a:ext cx="0" cy="164592"/>
          </a:xfrm>
          <a:prstGeom prst="straightConnector1">
            <a:avLst/>
          </a:prstGeom>
          <a:ln w="20320">
            <a:solidFill>
              <a:srgbClr val="183B56"/>
            </a:solidFill>
            <a:prstDash val="dash"/>
          </a:ln>
        </p:spPr>
      </p:cxnSp>
      <p:sp>
        <p:nvSpPr>
          <p:cNvPr id="100043" name="S05.Cycle.Icon2"/>
          <p:cNvSpPr/>
          <p:nvPr/>
        </p:nvSpPr>
        <p:spPr>
          <a:xfrm>
            <a:off x="8942832" y="3456432"/>
            <a:ext cx="438912" cy="438912"/>
          </a:xfrm>
          <a:prstGeom prst="ellipse">
            <a:avLst/>
          </a:prstGeom>
          <a:solidFill>
            <a:srgbClr val="FFFFFF"/>
          </a:solidFill>
          <a:ln w="27940">
            <a:solidFill>
              <a:srgbClr val="183B56"/>
            </a:solidFill>
          </a:ln>
        </p:spPr>
        <p:txBody>
          <a:bodyPr lIns="0" tIns="0" rIns="0" bIns="0">
            <a:noAutofit/>
          </a:bodyPr>
          <a:lstStyle/>
          <a:p>
            <a:endParaRPr lang="en-US" sz="1800">
              <a:solidFill>
                <a:srgbClr val="20354A"/>
              </a:solidFill>
              <a:latin typeface="Arial"/>
              <a:ea typeface="Arial"/>
            </a:endParaRPr>
          </a:p>
        </p:txBody>
      </p:sp>
      <p:cxnSp>
        <p:nvCxnSpPr>
          <p:cNvPr id="100044" name="S05.Cycle.Clock2.Minute"/>
          <p:cNvCxnSpPr/>
          <p:nvPr/>
        </p:nvCxnSpPr>
        <p:spPr>
          <a:xfrm>
            <a:off x="9162288" y="3534156"/>
            <a:ext cx="0" cy="141732"/>
          </a:xfrm>
          <a:prstGeom prst="straightConnector1">
            <a:avLst/>
          </a:prstGeom>
          <a:ln w="25400">
            <a:solidFill>
              <a:srgbClr val="183B56"/>
            </a:solidFill>
          </a:ln>
        </p:spPr>
      </p:cxnSp>
      <p:cxnSp>
        <p:nvCxnSpPr>
          <p:cNvPr id="100045" name="S05.Cycle.Clock2.Hour"/>
          <p:cNvCxnSpPr/>
          <p:nvPr/>
        </p:nvCxnSpPr>
        <p:spPr>
          <a:xfrm>
            <a:off x="9162288" y="3675888"/>
            <a:ext cx="96012" cy="82296"/>
          </a:xfrm>
          <a:prstGeom prst="straightConnector1">
            <a:avLst/>
          </a:prstGeom>
          <a:ln w="25400">
            <a:solidFill>
              <a:srgbClr val="183B56"/>
            </a:solidFill>
          </a:ln>
        </p:spPr>
      </p:cxnSp>
      <p:cxnSp>
        <p:nvCxnSpPr>
          <p:cNvPr id="100046" name="S05.Cycle.SyncDrop2"/>
          <p:cNvCxnSpPr/>
          <p:nvPr/>
        </p:nvCxnSpPr>
        <p:spPr>
          <a:xfrm>
            <a:off x="9162288" y="3968496"/>
            <a:ext cx="0" cy="164592"/>
          </a:xfrm>
          <a:prstGeom prst="straightConnector1">
            <a:avLst/>
          </a:prstGeom>
          <a:ln w="20320">
            <a:solidFill>
              <a:srgbClr val="183B56"/>
            </a:solidFill>
            <a:prstDash val="dash"/>
          </a:ln>
        </p:spPr>
      </p:cxnSp>
      <p:cxnSp>
        <p:nvCxnSpPr>
          <p:cNvPr id="100047" name="S05.Cycle.Progress0"/>
          <p:cNvCxnSpPr>
            <a:stCxn id="100035" idx="0"/>
            <a:endCxn id="100039" idx="0"/>
          </p:cNvCxnSpPr>
          <p:nvPr/>
        </p:nvCxnSpPr>
        <p:spPr>
          <a:xfrm>
            <a:off x="7763256" y="3675888"/>
            <a:ext cx="370332" cy="0"/>
          </a:xfrm>
          <a:prstGeom prst="straightConnector1">
            <a:avLst/>
          </a:prstGeom>
          <a:ln w="20320">
            <a:solidFill>
              <a:srgbClr val="183B56"/>
            </a:solidFill>
            <a:tailEnd type="triangle"/>
          </a:ln>
        </p:spPr>
      </p:cxnSp>
      <p:cxnSp>
        <p:nvCxnSpPr>
          <p:cNvPr id="100048" name="S05.Cycle.Progress1"/>
          <p:cNvCxnSpPr>
            <a:stCxn id="100039" idx="0"/>
            <a:endCxn id="100043" idx="0"/>
          </p:cNvCxnSpPr>
          <p:nvPr/>
        </p:nvCxnSpPr>
        <p:spPr>
          <a:xfrm>
            <a:off x="8572500" y="3675888"/>
            <a:ext cx="370332" cy="0"/>
          </a:xfrm>
          <a:prstGeom prst="straightConnector1">
            <a:avLst/>
          </a:prstGeom>
          <a:ln w="20320">
            <a:solidFill>
              <a:srgbClr val="183B56"/>
            </a:solidFill>
            <a:tailEnd type="triangle"/>
          </a:ln>
        </p:spPr>
      </p:cxnSp>
      <p:cxnSp>
        <p:nvCxnSpPr>
          <p:cNvPr id="100049" name="S05.Cycle.SyncBus"/>
          <p:cNvCxnSpPr/>
          <p:nvPr/>
        </p:nvCxnSpPr>
        <p:spPr>
          <a:xfrm>
            <a:off x="7543800" y="4133088"/>
            <a:ext cx="1618488" cy="0"/>
          </a:xfrm>
          <a:prstGeom prst="straightConnector1">
            <a:avLst/>
          </a:prstGeom>
          <a:ln w="20320">
            <a:solidFill>
              <a:srgbClr val="183B56"/>
            </a:solidFill>
            <a:prstDash val="dash"/>
          </a:ln>
        </p:spPr>
      </p:cxnSp>
      <p:pic>
        <p:nvPicPr>
          <p:cNvPr id="100051" name="S05.State.Snapshot" descr="Global snapshot"/>
          <p:cNvPicPr>
            <a:picLocks noChangeAspect="1"/>
          </p:cNvPicPr>
          <p:nvPr/>
        </p:nvPicPr>
        <p:blipFill>
          <a:blip r:embed="rId6"/>
          <a:srcRect l="16746" t="16427" r="16746" b="11961"/>
          <a:stretch>
            <a:fillRect/>
          </a:stretch>
        </p:blipFill>
        <p:spPr>
          <a:xfrm>
            <a:off x="10076688" y="3566038"/>
            <a:ext cx="484632" cy="521822"/>
          </a:xfrm>
          <a:prstGeom prst="rect">
            <a:avLst/>
          </a:prstGeom>
        </p:spPr>
      </p:pic>
      <p:pic>
        <p:nvPicPr>
          <p:cNvPr id="100052" name="S05.State.Waveform" descr="Waveform monitor"/>
          <p:cNvPicPr>
            <a:picLocks noChangeAspect="1"/>
          </p:cNvPicPr>
          <p:nvPr/>
        </p:nvPicPr>
        <p:blipFill>
          <a:blip r:embed="rId7"/>
          <a:srcRect l="12280" t="25518" r="12200" b="19936"/>
          <a:stretch>
            <a:fillRect/>
          </a:stretch>
        </p:blipFill>
        <p:spPr>
          <a:xfrm>
            <a:off x="10972800" y="3575182"/>
            <a:ext cx="704088" cy="508549"/>
          </a:xfrm>
          <a:prstGeom prst="rect">
            <a:avLst/>
          </a:prstGeom>
        </p:spPr>
      </p:pic>
      <p:sp>
        <p:nvSpPr>
          <p:cNvPr id="100053" name="S05.State.ToReplay"/>
          <p:cNvSpPr/>
          <p:nvPr/>
        </p:nvSpPr>
        <p:spPr>
          <a:xfrm>
            <a:off x="10616184" y="3748918"/>
            <a:ext cx="292608" cy="164592"/>
          </a:xfrm>
          <a:prstGeom prst="rightArrow">
            <a:avLst/>
          </a:prstGeom>
          <a:solidFill>
            <a:srgbClr val="008C95"/>
          </a:solidFill>
          <a:ln>
            <a:noFill/>
          </a:ln>
        </p:spPr>
        <p:txBody>
          <a:bodyPr lIns="0" tIns="0" rIns="0" bIns="0">
            <a:noAutofit/>
          </a:bodyPr>
          <a:lstStyle/>
          <a:p>
            <a:endParaRPr lang="en-US" sz="1800">
              <a:solidFill>
                <a:srgbClr val="20354A"/>
              </a:solidFill>
              <a:latin typeface="Arial"/>
              <a:ea typeface="Arial"/>
            </a:endParaRPr>
          </a:p>
        </p:txBody>
      </p:sp>
      <p:sp>
        <p:nvSpPr>
          <p:cNvPr id="100054" name="S05.State.Scope"/>
          <p:cNvSpPr txBox="1"/>
          <p:nvPr/>
        </p:nvSpPr>
        <p:spPr>
          <a:xfrm>
            <a:off x="9939528" y="4050792"/>
            <a:ext cx="1847088" cy="393192"/>
          </a:xfrm>
          <a:prstGeom prst="rect">
            <a:avLst/>
          </a:prstGeom>
          <a:noFill/>
          <a:ln>
            <a:noFill/>
          </a:ln>
        </p:spPr>
        <p:txBody>
          <a:bodyPr lIns="0" tIns="0" rIns="0" bIns="0">
            <a:noAutofit/>
          </a:bodyPr>
          <a:lstStyle/>
          <a:p>
            <a:pPr algn="ctr"/>
            <a:endParaRPr lang="en-US" sz="1200" dirty="0">
              <a:solidFill>
                <a:srgbClr val="607184"/>
              </a:solidFill>
              <a:latin typeface="Arial"/>
              <a:ea typeface="Arial"/>
            </a:endParaRPr>
          </a:p>
        </p:txBody>
      </p:sp>
      <p:sp>
        <p:nvSpPr>
          <p:cNvPr id="100055" name="S05.Scope.Heading"/>
          <p:cNvSpPr txBox="1"/>
          <p:nvPr/>
        </p:nvSpPr>
        <p:spPr>
          <a:xfrm>
            <a:off x="320040" y="4837176"/>
            <a:ext cx="3657600" cy="365760"/>
          </a:xfrm>
          <a:prstGeom prst="rect">
            <a:avLst/>
          </a:prstGeom>
          <a:noFill/>
          <a:ln>
            <a:noFill/>
          </a:ln>
        </p:spPr>
        <p:txBody>
          <a:bodyPr lIns="0" tIns="0" rIns="0" bIns="0">
            <a:noAutofit/>
          </a:bodyPr>
          <a:lstStyle/>
          <a:p>
            <a:r>
              <a:rPr lang="en-US" sz="2200" b="1">
                <a:solidFill>
                  <a:srgbClr val="183B56"/>
                </a:solidFill>
                <a:latin typeface="Arial"/>
                <a:ea typeface="Arial"/>
              </a:rPr>
              <a:t>Mid-Term Scope</a:t>
            </a:r>
          </a:p>
        </p:txBody>
      </p:sp>
      <p:sp>
        <p:nvSpPr>
          <p:cNvPr id="100056" name="S05.Scope.Rule"/>
          <p:cNvSpPr/>
          <p:nvPr/>
        </p:nvSpPr>
        <p:spPr>
          <a:xfrm>
            <a:off x="3246120" y="5038344"/>
            <a:ext cx="8631936" cy="10973"/>
          </a:xfrm>
          <a:prstGeom prst="rect">
            <a:avLst/>
          </a:prstGeom>
          <a:solidFill>
            <a:srgbClr val="BDCBD4"/>
          </a:solidFill>
          <a:ln>
            <a:noFill/>
          </a:ln>
        </p:spPr>
        <p:txBody>
          <a:bodyPr lIns="0" tIns="0" rIns="0" bIns="0">
            <a:noAutofit/>
          </a:bodyPr>
          <a:lstStyle/>
          <a:p>
            <a:endParaRPr lang="en-US" sz="1800">
              <a:solidFill>
                <a:srgbClr val="20354A"/>
              </a:solidFill>
              <a:latin typeface="Arial"/>
              <a:ea typeface="Arial"/>
            </a:endParaRPr>
          </a:p>
        </p:txBody>
      </p:sp>
      <p:sp>
        <p:nvSpPr>
          <p:cNvPr id="100057" name="S05.Scope.Panel"/>
          <p:cNvSpPr/>
          <p:nvPr/>
        </p:nvSpPr>
        <p:spPr>
          <a:xfrm>
            <a:off x="320039" y="5367528"/>
            <a:ext cx="11665915" cy="1097280"/>
          </a:xfrm>
          <a:prstGeom prst="roundRect">
            <a:avLst>
              <a:gd name="adj" fmla="val 8000"/>
            </a:avLst>
          </a:prstGeom>
          <a:solidFill>
            <a:srgbClr val="EAF4F3"/>
          </a:solidFill>
          <a:ln>
            <a:noFill/>
          </a:ln>
        </p:spPr>
        <p:txBody>
          <a:bodyPr lIns="0" tIns="0" rIns="0" bIns="0">
            <a:noAutofit/>
          </a:bodyPr>
          <a:lstStyle/>
          <a:p>
            <a:endParaRPr lang="en-US" sz="1800">
              <a:solidFill>
                <a:srgbClr val="20354A"/>
              </a:solidFill>
              <a:latin typeface="Arial"/>
              <a:ea typeface="Arial"/>
            </a:endParaRPr>
          </a:p>
        </p:txBody>
      </p:sp>
      <p:sp>
        <p:nvSpPr>
          <p:cNvPr id="100058" name="S05.Scope.Bullet0"/>
          <p:cNvSpPr/>
          <p:nvPr/>
        </p:nvSpPr>
        <p:spPr>
          <a:xfrm>
            <a:off x="475488" y="5582412"/>
            <a:ext cx="86868" cy="86868"/>
          </a:xfrm>
          <a:prstGeom prst="ellipse">
            <a:avLst/>
          </a:prstGeom>
          <a:solidFill>
            <a:srgbClr val="008C95"/>
          </a:solidFill>
          <a:ln>
            <a:noFill/>
          </a:ln>
        </p:spPr>
        <p:txBody>
          <a:bodyPr lIns="0" tIns="0" rIns="0" bIns="0">
            <a:noAutofit/>
          </a:bodyPr>
          <a:lstStyle/>
          <a:p>
            <a:endParaRPr lang="en-US" sz="1800">
              <a:solidFill>
                <a:srgbClr val="20354A"/>
              </a:solidFill>
              <a:latin typeface="Arial"/>
              <a:ea typeface="Arial"/>
            </a:endParaRPr>
          </a:p>
        </p:txBody>
      </p:sp>
      <p:sp>
        <p:nvSpPr>
          <p:cNvPr id="100059" name="S05.Scope.Title0"/>
          <p:cNvSpPr txBox="1"/>
          <p:nvPr/>
        </p:nvSpPr>
        <p:spPr>
          <a:xfrm>
            <a:off x="658368" y="5504688"/>
            <a:ext cx="1865376" cy="438912"/>
          </a:xfrm>
          <a:prstGeom prst="rect">
            <a:avLst/>
          </a:prstGeom>
          <a:noFill/>
          <a:ln>
            <a:noFill/>
          </a:ln>
        </p:spPr>
        <p:txBody>
          <a:bodyPr lIns="0" tIns="0" rIns="0" bIns="0">
            <a:noAutofit/>
          </a:bodyPr>
          <a:lstStyle/>
          <a:p>
            <a:r>
              <a:rPr lang="en-US" sz="1500" b="1" dirty="0">
                <a:solidFill>
                  <a:srgbClr val="183B56"/>
                </a:solidFill>
                <a:latin typeface="Arial"/>
                <a:ea typeface="Arial"/>
              </a:rPr>
              <a:t>Partitioning</a:t>
            </a:r>
          </a:p>
          <a:p>
            <a:r>
              <a:rPr lang="en-US" sz="1500" b="1" dirty="0">
                <a:solidFill>
                  <a:srgbClr val="183B56"/>
                </a:solidFill>
                <a:latin typeface="Arial"/>
                <a:ea typeface="Arial"/>
              </a:rPr>
              <a:t>framework</a:t>
            </a:r>
          </a:p>
        </p:txBody>
      </p:sp>
      <p:sp>
        <p:nvSpPr>
          <p:cNvPr id="100060" name="S05.Scope.Text0"/>
          <p:cNvSpPr txBox="1"/>
          <p:nvPr/>
        </p:nvSpPr>
        <p:spPr>
          <a:xfrm>
            <a:off x="658368" y="5971032"/>
            <a:ext cx="1865376" cy="420624"/>
          </a:xfrm>
          <a:prstGeom prst="rect">
            <a:avLst/>
          </a:prstGeom>
          <a:noFill/>
          <a:ln>
            <a:noFill/>
          </a:ln>
        </p:spPr>
        <p:txBody>
          <a:bodyPr lIns="0" tIns="0" rIns="0" bIns="0">
            <a:noAutofit/>
          </a:bodyPr>
          <a:lstStyle/>
          <a:p>
            <a:r>
              <a:rPr lang="en-US" sz="1300">
                <a:solidFill>
                  <a:srgbClr val="20354A"/>
                </a:solidFill>
                <a:latin typeface="Arial"/>
                <a:ea typeface="Arial"/>
              </a:rPr>
              <a:t>RTL partitioning</a:t>
            </a:r>
          </a:p>
          <a:p>
            <a:r>
              <a:rPr lang="en-US" sz="1300">
                <a:solidFill>
                  <a:srgbClr val="20354A"/>
                </a:solidFill>
                <a:latin typeface="Arial"/>
                <a:ea typeface="Arial"/>
              </a:rPr>
              <a:t>and mapping</a:t>
            </a:r>
          </a:p>
        </p:txBody>
      </p:sp>
      <p:sp>
        <p:nvSpPr>
          <p:cNvPr id="100061" name="S05.Scope.Divider1"/>
          <p:cNvSpPr/>
          <p:nvPr/>
        </p:nvSpPr>
        <p:spPr>
          <a:xfrm>
            <a:off x="2631643" y="5532120"/>
            <a:ext cx="8230" cy="768096"/>
          </a:xfrm>
          <a:prstGeom prst="rect">
            <a:avLst/>
          </a:prstGeom>
          <a:solidFill>
            <a:srgbClr val="BDCBD4"/>
          </a:solidFill>
          <a:ln>
            <a:noFill/>
          </a:ln>
        </p:spPr>
        <p:txBody>
          <a:bodyPr lIns="0" tIns="0" rIns="0" bIns="0">
            <a:noAutofit/>
          </a:bodyPr>
          <a:lstStyle/>
          <a:p>
            <a:endParaRPr lang="en-US" sz="1800">
              <a:solidFill>
                <a:srgbClr val="20354A"/>
              </a:solidFill>
              <a:latin typeface="Arial"/>
              <a:ea typeface="Arial"/>
            </a:endParaRPr>
          </a:p>
        </p:txBody>
      </p:sp>
      <p:sp>
        <p:nvSpPr>
          <p:cNvPr id="100062" name="S05.Scope.Bullet1"/>
          <p:cNvSpPr/>
          <p:nvPr/>
        </p:nvSpPr>
        <p:spPr>
          <a:xfrm>
            <a:off x="2787091" y="5582412"/>
            <a:ext cx="86868" cy="86868"/>
          </a:xfrm>
          <a:prstGeom prst="ellipse">
            <a:avLst/>
          </a:prstGeom>
          <a:solidFill>
            <a:srgbClr val="008C95"/>
          </a:solidFill>
          <a:ln>
            <a:noFill/>
          </a:ln>
        </p:spPr>
        <p:txBody>
          <a:bodyPr lIns="0" tIns="0" rIns="0" bIns="0">
            <a:noAutofit/>
          </a:bodyPr>
          <a:lstStyle/>
          <a:p>
            <a:endParaRPr lang="en-US" sz="1800">
              <a:solidFill>
                <a:srgbClr val="20354A"/>
              </a:solidFill>
              <a:latin typeface="Arial"/>
              <a:ea typeface="Arial"/>
            </a:endParaRPr>
          </a:p>
        </p:txBody>
      </p:sp>
      <p:sp>
        <p:nvSpPr>
          <p:cNvPr id="100063" name="S05.Scope.Title1"/>
          <p:cNvSpPr txBox="1"/>
          <p:nvPr/>
        </p:nvSpPr>
        <p:spPr>
          <a:xfrm>
            <a:off x="2969971" y="5504688"/>
            <a:ext cx="1865376" cy="438912"/>
          </a:xfrm>
          <a:prstGeom prst="rect">
            <a:avLst/>
          </a:prstGeom>
          <a:noFill/>
          <a:ln>
            <a:noFill/>
          </a:ln>
        </p:spPr>
        <p:txBody>
          <a:bodyPr lIns="0" tIns="0" rIns="0" bIns="0">
            <a:noAutofit/>
          </a:bodyPr>
          <a:lstStyle/>
          <a:p>
            <a:r>
              <a:rPr lang="en-US" sz="1500" b="1">
                <a:solidFill>
                  <a:srgbClr val="183B56"/>
                </a:solidFill>
                <a:latin typeface="Arial"/>
                <a:ea typeface="Arial"/>
              </a:rPr>
              <a:t>Cycle-accurate</a:t>
            </a:r>
          </a:p>
          <a:p>
            <a:r>
              <a:rPr lang="en-US" sz="1500" b="1">
                <a:solidFill>
                  <a:srgbClr val="183B56"/>
                </a:solidFill>
                <a:latin typeface="Arial"/>
                <a:ea typeface="Arial"/>
              </a:rPr>
              <a:t>execution</a:t>
            </a:r>
          </a:p>
        </p:txBody>
      </p:sp>
      <p:sp>
        <p:nvSpPr>
          <p:cNvPr id="100064" name="S05.Scope.Text1"/>
          <p:cNvSpPr txBox="1"/>
          <p:nvPr/>
        </p:nvSpPr>
        <p:spPr>
          <a:xfrm>
            <a:off x="2969971" y="5971032"/>
            <a:ext cx="1865376" cy="420624"/>
          </a:xfrm>
          <a:prstGeom prst="rect">
            <a:avLst/>
          </a:prstGeom>
          <a:noFill/>
          <a:ln>
            <a:noFill/>
          </a:ln>
        </p:spPr>
        <p:txBody>
          <a:bodyPr lIns="0" tIns="0" rIns="0" bIns="0">
            <a:noAutofit/>
          </a:bodyPr>
          <a:lstStyle/>
          <a:p>
            <a:r>
              <a:rPr lang="en-US" sz="1300">
                <a:solidFill>
                  <a:srgbClr val="20354A"/>
                </a:solidFill>
                <a:latin typeface="Arial"/>
                <a:ea typeface="Arial"/>
              </a:rPr>
              <a:t>Multi-FPGA runs</a:t>
            </a:r>
          </a:p>
          <a:p>
            <a:r>
              <a:rPr lang="en-US" sz="1300">
                <a:solidFill>
                  <a:srgbClr val="20354A"/>
                </a:solidFill>
                <a:latin typeface="Arial"/>
                <a:ea typeface="Arial"/>
              </a:rPr>
              <a:t>with cycle control</a:t>
            </a:r>
          </a:p>
        </p:txBody>
      </p:sp>
      <p:sp>
        <p:nvSpPr>
          <p:cNvPr id="100065" name="S05.Scope.Divider2"/>
          <p:cNvSpPr/>
          <p:nvPr/>
        </p:nvSpPr>
        <p:spPr>
          <a:xfrm>
            <a:off x="4943246" y="5532120"/>
            <a:ext cx="8230" cy="768096"/>
          </a:xfrm>
          <a:prstGeom prst="rect">
            <a:avLst/>
          </a:prstGeom>
          <a:solidFill>
            <a:srgbClr val="BDCBD4"/>
          </a:solidFill>
          <a:ln>
            <a:noFill/>
          </a:ln>
        </p:spPr>
        <p:txBody>
          <a:bodyPr lIns="0" tIns="0" rIns="0" bIns="0">
            <a:noAutofit/>
          </a:bodyPr>
          <a:lstStyle/>
          <a:p>
            <a:endParaRPr lang="en-US" sz="1800">
              <a:solidFill>
                <a:srgbClr val="20354A"/>
              </a:solidFill>
              <a:latin typeface="Arial"/>
              <a:ea typeface="Arial"/>
            </a:endParaRPr>
          </a:p>
        </p:txBody>
      </p:sp>
      <p:sp>
        <p:nvSpPr>
          <p:cNvPr id="100066" name="S05.Scope.Bullet2"/>
          <p:cNvSpPr/>
          <p:nvPr/>
        </p:nvSpPr>
        <p:spPr>
          <a:xfrm>
            <a:off x="5098694" y="5582412"/>
            <a:ext cx="86868" cy="86868"/>
          </a:xfrm>
          <a:prstGeom prst="ellipse">
            <a:avLst/>
          </a:prstGeom>
          <a:solidFill>
            <a:srgbClr val="008C95"/>
          </a:solidFill>
          <a:ln>
            <a:noFill/>
          </a:ln>
        </p:spPr>
        <p:txBody>
          <a:bodyPr lIns="0" tIns="0" rIns="0" bIns="0">
            <a:noAutofit/>
          </a:bodyPr>
          <a:lstStyle/>
          <a:p>
            <a:endParaRPr lang="en-US" sz="1800">
              <a:solidFill>
                <a:srgbClr val="20354A"/>
              </a:solidFill>
              <a:latin typeface="Arial"/>
              <a:ea typeface="Arial"/>
            </a:endParaRPr>
          </a:p>
        </p:txBody>
      </p:sp>
      <p:sp>
        <p:nvSpPr>
          <p:cNvPr id="100067" name="S05.Scope.Title2"/>
          <p:cNvSpPr txBox="1"/>
          <p:nvPr/>
        </p:nvSpPr>
        <p:spPr>
          <a:xfrm>
            <a:off x="5281574" y="5504688"/>
            <a:ext cx="1865376" cy="438912"/>
          </a:xfrm>
          <a:prstGeom prst="rect">
            <a:avLst/>
          </a:prstGeom>
          <a:noFill/>
          <a:ln>
            <a:noFill/>
          </a:ln>
        </p:spPr>
        <p:txBody>
          <a:bodyPr lIns="0" tIns="0" rIns="0" bIns="0">
            <a:noAutofit/>
          </a:bodyPr>
          <a:lstStyle/>
          <a:p>
            <a:r>
              <a:rPr lang="en-US" sz="1500" b="1">
                <a:solidFill>
                  <a:srgbClr val="183B56"/>
                </a:solidFill>
                <a:latin typeface="Arial"/>
                <a:ea typeface="Arial"/>
              </a:rPr>
              <a:t>Global pause &amp;</a:t>
            </a:r>
          </a:p>
          <a:p>
            <a:r>
              <a:rPr lang="en-US" sz="1500" b="1">
                <a:solidFill>
                  <a:srgbClr val="183B56"/>
                </a:solidFill>
                <a:latin typeface="Arial"/>
                <a:ea typeface="Arial"/>
              </a:rPr>
              <a:t>state dump</a:t>
            </a:r>
          </a:p>
        </p:txBody>
      </p:sp>
      <p:sp>
        <p:nvSpPr>
          <p:cNvPr id="100068" name="S05.Scope.Text2"/>
          <p:cNvSpPr txBox="1"/>
          <p:nvPr/>
        </p:nvSpPr>
        <p:spPr>
          <a:xfrm>
            <a:off x="5281574" y="5971032"/>
            <a:ext cx="1865376" cy="420624"/>
          </a:xfrm>
          <a:prstGeom prst="rect">
            <a:avLst/>
          </a:prstGeom>
          <a:noFill/>
          <a:ln>
            <a:noFill/>
          </a:ln>
        </p:spPr>
        <p:txBody>
          <a:bodyPr lIns="0" tIns="0" rIns="0" bIns="0">
            <a:noAutofit/>
          </a:bodyPr>
          <a:lstStyle/>
          <a:p>
            <a:r>
              <a:rPr lang="en-US" sz="1300">
                <a:solidFill>
                  <a:srgbClr val="20354A"/>
                </a:solidFill>
                <a:latin typeface="Arial"/>
                <a:ea typeface="Arial"/>
              </a:rPr>
              <a:t>Global snapshots</a:t>
            </a:r>
          </a:p>
          <a:p>
            <a:r>
              <a:rPr lang="en-US" sz="1300">
                <a:solidFill>
                  <a:srgbClr val="20354A"/>
                </a:solidFill>
                <a:latin typeface="Arial"/>
                <a:ea typeface="Arial"/>
              </a:rPr>
              <a:t>across FPGAs</a:t>
            </a:r>
          </a:p>
        </p:txBody>
      </p:sp>
      <p:sp>
        <p:nvSpPr>
          <p:cNvPr id="100069" name="S05.Scope.Divider3"/>
          <p:cNvSpPr/>
          <p:nvPr/>
        </p:nvSpPr>
        <p:spPr>
          <a:xfrm>
            <a:off x="7254850" y="5532120"/>
            <a:ext cx="8230" cy="768096"/>
          </a:xfrm>
          <a:prstGeom prst="rect">
            <a:avLst/>
          </a:prstGeom>
          <a:solidFill>
            <a:srgbClr val="BDCBD4"/>
          </a:solidFill>
          <a:ln>
            <a:noFill/>
          </a:ln>
        </p:spPr>
        <p:txBody>
          <a:bodyPr lIns="0" tIns="0" rIns="0" bIns="0">
            <a:noAutofit/>
          </a:bodyPr>
          <a:lstStyle/>
          <a:p>
            <a:endParaRPr lang="en-US" sz="1800">
              <a:solidFill>
                <a:srgbClr val="20354A"/>
              </a:solidFill>
              <a:latin typeface="Arial"/>
              <a:ea typeface="Arial"/>
            </a:endParaRPr>
          </a:p>
        </p:txBody>
      </p:sp>
      <p:sp>
        <p:nvSpPr>
          <p:cNvPr id="100070" name="S05.Scope.Bullet3"/>
          <p:cNvSpPr/>
          <p:nvPr/>
        </p:nvSpPr>
        <p:spPr>
          <a:xfrm>
            <a:off x="7410298" y="5582412"/>
            <a:ext cx="86868" cy="86868"/>
          </a:xfrm>
          <a:prstGeom prst="ellipse">
            <a:avLst/>
          </a:prstGeom>
          <a:solidFill>
            <a:srgbClr val="008C95"/>
          </a:solidFill>
          <a:ln>
            <a:noFill/>
          </a:ln>
        </p:spPr>
        <p:txBody>
          <a:bodyPr lIns="0" tIns="0" rIns="0" bIns="0">
            <a:noAutofit/>
          </a:bodyPr>
          <a:lstStyle/>
          <a:p>
            <a:endParaRPr lang="en-US" sz="1800">
              <a:solidFill>
                <a:srgbClr val="20354A"/>
              </a:solidFill>
              <a:latin typeface="Arial"/>
              <a:ea typeface="Arial"/>
            </a:endParaRPr>
          </a:p>
        </p:txBody>
      </p:sp>
      <p:sp>
        <p:nvSpPr>
          <p:cNvPr id="100071" name="S05.Scope.Title3"/>
          <p:cNvSpPr txBox="1"/>
          <p:nvPr/>
        </p:nvSpPr>
        <p:spPr>
          <a:xfrm>
            <a:off x="7593178" y="5504688"/>
            <a:ext cx="1865376" cy="438912"/>
          </a:xfrm>
          <a:prstGeom prst="rect">
            <a:avLst/>
          </a:prstGeom>
          <a:noFill/>
          <a:ln>
            <a:noFill/>
          </a:ln>
        </p:spPr>
        <p:txBody>
          <a:bodyPr lIns="0" tIns="0" rIns="0" bIns="0">
            <a:noAutofit/>
          </a:bodyPr>
          <a:lstStyle/>
          <a:p>
            <a:r>
              <a:rPr lang="en-US" sz="1500" b="1">
                <a:solidFill>
                  <a:srgbClr val="183B56"/>
                </a:solidFill>
                <a:latin typeface="Arial"/>
                <a:ea typeface="Arial"/>
              </a:rPr>
              <a:t>Restore &amp; replay</a:t>
            </a:r>
          </a:p>
        </p:txBody>
      </p:sp>
      <p:sp>
        <p:nvSpPr>
          <p:cNvPr id="100072" name="S05.Scope.Text3"/>
          <p:cNvSpPr txBox="1"/>
          <p:nvPr/>
        </p:nvSpPr>
        <p:spPr>
          <a:xfrm>
            <a:off x="7593178" y="5841187"/>
            <a:ext cx="1865376" cy="420624"/>
          </a:xfrm>
          <a:prstGeom prst="rect">
            <a:avLst/>
          </a:prstGeom>
          <a:noFill/>
          <a:ln>
            <a:noFill/>
          </a:ln>
        </p:spPr>
        <p:txBody>
          <a:bodyPr lIns="0" tIns="0" rIns="0" bIns="0">
            <a:noAutofit/>
          </a:bodyPr>
          <a:lstStyle/>
          <a:p>
            <a:r>
              <a:rPr lang="en-US" sz="1300" dirty="0">
                <a:solidFill>
                  <a:srgbClr val="20354A"/>
                </a:solidFill>
                <a:latin typeface="Arial"/>
                <a:ea typeface="Arial"/>
              </a:rPr>
              <a:t>Planned: restore &amp; replay checks</a:t>
            </a:r>
          </a:p>
        </p:txBody>
      </p:sp>
      <p:sp>
        <p:nvSpPr>
          <p:cNvPr id="100073" name="S05.Scope.Divider4"/>
          <p:cNvSpPr/>
          <p:nvPr/>
        </p:nvSpPr>
        <p:spPr>
          <a:xfrm>
            <a:off x="9566453" y="5532120"/>
            <a:ext cx="8230" cy="768096"/>
          </a:xfrm>
          <a:prstGeom prst="rect">
            <a:avLst/>
          </a:prstGeom>
          <a:solidFill>
            <a:srgbClr val="BDCBD4"/>
          </a:solidFill>
          <a:ln>
            <a:noFill/>
          </a:ln>
        </p:spPr>
        <p:txBody>
          <a:bodyPr lIns="0" tIns="0" rIns="0" bIns="0">
            <a:noAutofit/>
          </a:bodyPr>
          <a:lstStyle/>
          <a:p>
            <a:endParaRPr lang="en-US" sz="1800">
              <a:solidFill>
                <a:srgbClr val="20354A"/>
              </a:solidFill>
              <a:latin typeface="Arial"/>
              <a:ea typeface="Arial"/>
            </a:endParaRPr>
          </a:p>
        </p:txBody>
      </p:sp>
      <p:sp>
        <p:nvSpPr>
          <p:cNvPr id="100074" name="S05.Scope.Bullet4"/>
          <p:cNvSpPr/>
          <p:nvPr/>
        </p:nvSpPr>
        <p:spPr>
          <a:xfrm>
            <a:off x="9721901" y="5582412"/>
            <a:ext cx="86868" cy="86868"/>
          </a:xfrm>
          <a:prstGeom prst="ellipse">
            <a:avLst/>
          </a:prstGeom>
          <a:solidFill>
            <a:srgbClr val="008C95"/>
          </a:solidFill>
          <a:ln>
            <a:noFill/>
          </a:ln>
        </p:spPr>
        <p:txBody>
          <a:bodyPr lIns="0" tIns="0" rIns="0" bIns="0">
            <a:noAutofit/>
          </a:bodyPr>
          <a:lstStyle/>
          <a:p>
            <a:endParaRPr lang="en-US" sz="1800">
              <a:solidFill>
                <a:srgbClr val="20354A"/>
              </a:solidFill>
              <a:latin typeface="Arial"/>
              <a:ea typeface="Arial"/>
            </a:endParaRPr>
          </a:p>
        </p:txBody>
      </p:sp>
      <p:sp>
        <p:nvSpPr>
          <p:cNvPr id="100075" name="S05.Scope.Title4"/>
          <p:cNvSpPr txBox="1"/>
          <p:nvPr/>
        </p:nvSpPr>
        <p:spPr>
          <a:xfrm>
            <a:off x="9904781" y="5504688"/>
            <a:ext cx="2081174" cy="438912"/>
          </a:xfrm>
          <a:prstGeom prst="rect">
            <a:avLst/>
          </a:prstGeom>
          <a:noFill/>
          <a:ln>
            <a:noFill/>
          </a:ln>
        </p:spPr>
        <p:txBody>
          <a:bodyPr lIns="0" tIns="0" rIns="0" bIns="0">
            <a:noAutofit/>
          </a:bodyPr>
          <a:lstStyle/>
          <a:p>
            <a:r>
              <a:rPr lang="en-US" sz="1500" b="1" dirty="0">
                <a:solidFill>
                  <a:srgbClr val="183B56"/>
                </a:solidFill>
                <a:latin typeface="Arial"/>
                <a:ea typeface="Arial"/>
              </a:rPr>
              <a:t>Dual-FPGA prototype</a:t>
            </a:r>
          </a:p>
        </p:txBody>
      </p:sp>
      <p:sp>
        <p:nvSpPr>
          <p:cNvPr id="100076" name="S05.Scope.Text4"/>
          <p:cNvSpPr txBox="1"/>
          <p:nvPr/>
        </p:nvSpPr>
        <p:spPr>
          <a:xfrm>
            <a:off x="9904781" y="5881421"/>
            <a:ext cx="1865376" cy="510235"/>
          </a:xfrm>
          <a:prstGeom prst="rect">
            <a:avLst/>
          </a:prstGeom>
          <a:noFill/>
          <a:ln>
            <a:noFill/>
          </a:ln>
        </p:spPr>
        <p:txBody>
          <a:bodyPr lIns="0" tIns="0" rIns="0" bIns="0">
            <a:noAutofit/>
          </a:bodyPr>
          <a:lstStyle/>
          <a:p>
            <a:r>
              <a:rPr lang="en-US" sz="1300" dirty="0">
                <a:solidFill>
                  <a:srgbClr val="20354A"/>
                </a:solidFill>
                <a:latin typeface="Arial"/>
                <a:ea typeface="Arial"/>
              </a:rPr>
              <a:t>Initial evaluation and system tests</a:t>
            </a:r>
          </a:p>
        </p:txBody>
      </p:sp>
      <p:sp>
        <p:nvSpPr>
          <p:cNvPr id="100077" name="S05.PageNumber"/>
          <p:cNvSpPr txBox="1"/>
          <p:nvPr/>
        </p:nvSpPr>
        <p:spPr>
          <a:xfrm>
            <a:off x="11631168" y="6629400"/>
            <a:ext cx="228600" cy="182880"/>
          </a:xfrm>
          <a:prstGeom prst="rect">
            <a:avLst/>
          </a:prstGeom>
          <a:noFill/>
          <a:ln>
            <a:noFill/>
          </a:ln>
        </p:spPr>
        <p:txBody>
          <a:bodyPr lIns="0" tIns="0" rIns="0" bIns="0">
            <a:noAutofit/>
          </a:bodyPr>
          <a:lstStyle/>
          <a:p>
            <a:pPr algn="r"/>
            <a:r>
              <a:rPr lang="en-US" sz="1000">
                <a:solidFill>
                  <a:srgbClr val="607184"/>
                </a:solidFill>
                <a:latin typeface="Arial"/>
                <a:ea typeface="Arial"/>
              </a:rPr>
              <a:t>5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06.Title"/>
          <p:cNvSpPr>
            <a:spLocks noGrp="1"/>
          </p:cNvSpPr>
          <p:nvPr>
            <p:ph type="title"/>
          </p:nvPr>
        </p:nvSpPr>
        <p:spPr>
          <a:xfrm>
            <a:off x="320040" y="128016"/>
            <a:ext cx="11558016" cy="493776"/>
          </a:xfrm>
          <a:noFill/>
          <a:ln>
            <a:noFill/>
          </a:ln>
        </p:spPr>
        <p:txBody>
          <a:bodyPr lIns="0" tIns="0" rIns="0" bIns="0">
            <a:noAutofit/>
          </a:bodyPr>
          <a:lstStyle/>
          <a:p>
            <a:r>
              <a:rPr lang="en-US" sz="3000" b="1" dirty="0">
                <a:solidFill>
                  <a:srgbClr val="183B56"/>
                </a:solidFill>
                <a:latin typeface="Arial"/>
                <a:ea typeface="Arial"/>
              </a:rPr>
              <a:t>Pregress1:  Cycle-Accurate Execution and Global Pause</a:t>
            </a:r>
          </a:p>
        </p:txBody>
      </p:sp>
      <p:sp>
        <p:nvSpPr>
          <p:cNvPr id="100000" name="S06.TitleRule"/>
          <p:cNvSpPr/>
          <p:nvPr/>
        </p:nvSpPr>
        <p:spPr>
          <a:xfrm>
            <a:off x="320040" y="713232"/>
            <a:ext cx="11558016" cy="25400"/>
          </a:xfrm>
          <a:prstGeom prst="rect">
            <a:avLst/>
          </a:prstGeom>
          <a:solidFill>
            <a:srgbClr val="008C95"/>
          </a:solidFill>
          <a:ln>
            <a:noFill/>
          </a:ln>
        </p:spPr>
        <p:txBody>
          <a:bodyPr lIns="0" tIns="0" rIns="0" bIns="0">
            <a:noAutofit/>
          </a:bodyPr>
          <a:lstStyle/>
          <a:p>
            <a:endParaRPr lang="en-US" sz="1800">
              <a:solidFill>
                <a:srgbClr val="20354A"/>
              </a:solidFill>
              <a:latin typeface="Arial"/>
              <a:ea typeface="Arial"/>
            </a:endParaRPr>
          </a:p>
        </p:txBody>
      </p:sp>
      <p:sp>
        <p:nvSpPr>
          <p:cNvPr id="100001" name="S06.Execution.Heading"/>
          <p:cNvSpPr txBox="1"/>
          <p:nvPr/>
        </p:nvSpPr>
        <p:spPr>
          <a:xfrm>
            <a:off x="320040" y="1143000"/>
            <a:ext cx="3657600" cy="640080"/>
          </a:xfrm>
          <a:prstGeom prst="rect">
            <a:avLst/>
          </a:prstGeom>
          <a:noFill/>
          <a:ln>
            <a:noFill/>
          </a:ln>
        </p:spPr>
        <p:txBody>
          <a:bodyPr lIns="0" tIns="0" rIns="0" bIns="0">
            <a:noAutofit/>
          </a:bodyPr>
          <a:lstStyle/>
          <a:p>
            <a:r>
              <a:rPr lang="en-US" sz="2200" b="1" dirty="0">
                <a:solidFill>
                  <a:srgbClr val="183B56"/>
                </a:solidFill>
                <a:latin typeface="Arial"/>
                <a:ea typeface="Arial"/>
              </a:rPr>
              <a:t>Cycle-Accurate Execution</a:t>
            </a:r>
          </a:p>
        </p:txBody>
      </p:sp>
      <p:sp>
        <p:nvSpPr>
          <p:cNvPr id="100003" name="S06.Execution.Text1"/>
          <p:cNvSpPr txBox="1"/>
          <p:nvPr/>
        </p:nvSpPr>
        <p:spPr>
          <a:xfrm>
            <a:off x="424844" y="1856232"/>
            <a:ext cx="3642111" cy="548640"/>
          </a:xfrm>
          <a:prstGeom prst="rect">
            <a:avLst/>
          </a:prstGeom>
          <a:noFill/>
          <a:ln>
            <a:noFill/>
          </a:ln>
        </p:spPr>
        <p:txBody>
          <a:bodyPr lIns="0" tIns="0" rIns="0" bIns="0">
            <a:no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>
                <a:solidFill>
                  <a:srgbClr val="20354A"/>
                </a:solidFill>
                <a:latin typeface="Arial"/>
                <a:ea typeface="Arial"/>
              </a:rPr>
              <a:t>Execution b</a:t>
            </a:r>
            <a:r>
              <a:rPr lang="en-US" sz="1800" dirty="0">
                <a:solidFill>
                  <a:srgbClr val="20354A"/>
                </a:solidFill>
                <a:latin typeface="Arial"/>
                <a:ea typeface="Arial"/>
              </a:rPr>
              <a:t>ased on DUOHUAFEN LI-TDM</a:t>
            </a:r>
            <a:r>
              <a:rPr lang="en-US" baseline="30000" dirty="0">
                <a:solidFill>
                  <a:srgbClr val="20354A"/>
                </a:solidFill>
                <a:latin typeface="Arial"/>
                <a:ea typeface="Arial"/>
              </a:rPr>
              <a:t>[1]</a:t>
            </a:r>
            <a:endParaRPr lang="en-US" sz="1800" dirty="0">
              <a:solidFill>
                <a:srgbClr val="20354A"/>
              </a:solidFill>
              <a:latin typeface="Arial"/>
              <a:ea typeface="Arial"/>
            </a:endParaRPr>
          </a:p>
        </p:txBody>
      </p:sp>
      <p:sp>
        <p:nvSpPr>
          <p:cNvPr id="100005" name="S06.Execution.Text2"/>
          <p:cNvSpPr txBox="1"/>
          <p:nvPr/>
        </p:nvSpPr>
        <p:spPr>
          <a:xfrm>
            <a:off x="406556" y="2589160"/>
            <a:ext cx="3552795" cy="548640"/>
          </a:xfrm>
          <a:prstGeom prst="rect">
            <a:avLst/>
          </a:prstGeom>
          <a:noFill/>
          <a:ln>
            <a:noFill/>
          </a:ln>
        </p:spPr>
        <p:txBody>
          <a:bodyPr lIns="0" tIns="0" rIns="0" bIns="0">
            <a:no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800" dirty="0">
                <a:solidFill>
                  <a:srgbClr val="20354A"/>
                </a:solidFill>
                <a:latin typeface="Arial"/>
                <a:ea typeface="Arial"/>
              </a:rPr>
              <a:t>Optimized communication flow</a:t>
            </a:r>
          </a:p>
        </p:txBody>
      </p:sp>
      <p:sp>
        <p:nvSpPr>
          <p:cNvPr id="100007" name="S06.Pause.Heading"/>
          <p:cNvSpPr txBox="1"/>
          <p:nvPr/>
        </p:nvSpPr>
        <p:spPr>
          <a:xfrm>
            <a:off x="320040" y="4028585"/>
            <a:ext cx="3657600" cy="640080"/>
          </a:xfrm>
          <a:prstGeom prst="rect">
            <a:avLst/>
          </a:prstGeom>
          <a:noFill/>
          <a:ln>
            <a:noFill/>
          </a:ln>
        </p:spPr>
        <p:txBody>
          <a:bodyPr lIns="0" tIns="0" rIns="0" bIns="0">
            <a:noAutofit/>
          </a:bodyPr>
          <a:lstStyle/>
          <a:p>
            <a:r>
              <a:rPr lang="en-US" sz="2200" b="1" dirty="0">
                <a:solidFill>
                  <a:srgbClr val="183B56"/>
                </a:solidFill>
                <a:latin typeface="Arial"/>
                <a:ea typeface="Arial"/>
              </a:rPr>
              <a:t>Cycle-Consistent Pause</a:t>
            </a:r>
          </a:p>
        </p:txBody>
      </p:sp>
      <p:sp>
        <p:nvSpPr>
          <p:cNvPr id="100008" name="S06.Pause.Number1"/>
          <p:cNvSpPr/>
          <p:nvPr/>
        </p:nvSpPr>
        <p:spPr>
          <a:xfrm>
            <a:off x="393192" y="4760105"/>
            <a:ext cx="292608" cy="292608"/>
          </a:xfrm>
          <a:prstGeom prst="ellipse">
            <a:avLst/>
          </a:prstGeom>
          <a:solidFill>
            <a:srgbClr val="008C95"/>
          </a:solidFill>
          <a:ln>
            <a:noFill/>
          </a:ln>
        </p:spPr>
        <p:txBody>
          <a:bodyPr lIns="0" tIns="0" rIns="0" bIns="0" anchor="ctr">
            <a:noAutofit/>
          </a:bodyPr>
          <a:lstStyle/>
          <a:p>
            <a:pPr algn="ctr"/>
            <a:r>
              <a:rPr lang="en-US" sz="1400" b="1">
                <a:solidFill>
                  <a:srgbClr val="FFFFFF"/>
                </a:solidFill>
                <a:latin typeface="Arial"/>
                <a:ea typeface="Arial"/>
              </a:rPr>
              <a:t>1</a:t>
            </a:r>
          </a:p>
        </p:txBody>
      </p:sp>
      <p:sp>
        <p:nvSpPr>
          <p:cNvPr id="100009" name="S06.Pause.Text1"/>
          <p:cNvSpPr txBox="1"/>
          <p:nvPr/>
        </p:nvSpPr>
        <p:spPr>
          <a:xfrm>
            <a:off x="832104" y="4750961"/>
            <a:ext cx="3044952" cy="438912"/>
          </a:xfrm>
          <a:prstGeom prst="rect">
            <a:avLst/>
          </a:prstGeom>
          <a:noFill/>
          <a:ln>
            <a:noFill/>
          </a:ln>
        </p:spPr>
        <p:txBody>
          <a:bodyPr lIns="0" tIns="0" rIns="0" bIns="0">
            <a:noAutofit/>
          </a:bodyPr>
          <a:lstStyle/>
          <a:p>
            <a:r>
              <a:rPr lang="en-US" sz="1800">
                <a:solidFill>
                  <a:srgbClr val="20354A"/>
                </a:solidFill>
                <a:latin typeface="Arial"/>
                <a:ea typeface="Arial"/>
              </a:rPr>
              <a:t>Stabilize progress</a:t>
            </a:r>
          </a:p>
        </p:txBody>
      </p:sp>
      <p:sp>
        <p:nvSpPr>
          <p:cNvPr id="100010" name="S06.Pause.Number2"/>
          <p:cNvSpPr/>
          <p:nvPr/>
        </p:nvSpPr>
        <p:spPr>
          <a:xfrm>
            <a:off x="393192" y="5272169"/>
            <a:ext cx="292608" cy="292608"/>
          </a:xfrm>
          <a:prstGeom prst="ellipse">
            <a:avLst/>
          </a:prstGeom>
          <a:solidFill>
            <a:srgbClr val="008C95"/>
          </a:solidFill>
          <a:ln>
            <a:noFill/>
          </a:ln>
        </p:spPr>
        <p:txBody>
          <a:bodyPr lIns="0" tIns="0" rIns="0" bIns="0" anchor="ctr">
            <a:noAutofit/>
          </a:bodyPr>
          <a:lstStyle/>
          <a:p>
            <a:pPr algn="ctr"/>
            <a:r>
              <a:rPr lang="en-US" sz="1400" b="1">
                <a:solidFill>
                  <a:srgbClr val="FFFFFF"/>
                </a:solidFill>
                <a:latin typeface="Arial"/>
                <a:ea typeface="Arial"/>
              </a:rPr>
              <a:t>2</a:t>
            </a:r>
          </a:p>
        </p:txBody>
      </p:sp>
      <p:sp>
        <p:nvSpPr>
          <p:cNvPr id="100011" name="S06.Pause.Text2"/>
          <p:cNvSpPr txBox="1"/>
          <p:nvPr/>
        </p:nvSpPr>
        <p:spPr>
          <a:xfrm>
            <a:off x="832104" y="5263025"/>
            <a:ext cx="3044952" cy="438912"/>
          </a:xfrm>
          <a:prstGeom prst="rect">
            <a:avLst/>
          </a:prstGeom>
          <a:noFill/>
          <a:ln>
            <a:noFill/>
          </a:ln>
        </p:spPr>
        <p:txBody>
          <a:bodyPr lIns="0" tIns="0" rIns="0" bIns="0">
            <a:noAutofit/>
          </a:bodyPr>
          <a:lstStyle/>
          <a:p>
            <a:r>
              <a:rPr lang="en-US" sz="1800">
                <a:solidFill>
                  <a:srgbClr val="20354A"/>
                </a:solidFill>
                <a:latin typeface="Arial"/>
                <a:ea typeface="Arial"/>
              </a:rPr>
              <a:t>Set a common target</a:t>
            </a:r>
          </a:p>
        </p:txBody>
      </p:sp>
      <p:sp>
        <p:nvSpPr>
          <p:cNvPr id="100012" name="S06.Pause.Number3"/>
          <p:cNvSpPr/>
          <p:nvPr/>
        </p:nvSpPr>
        <p:spPr>
          <a:xfrm>
            <a:off x="393192" y="5784233"/>
            <a:ext cx="292608" cy="292608"/>
          </a:xfrm>
          <a:prstGeom prst="ellipse">
            <a:avLst/>
          </a:prstGeom>
          <a:solidFill>
            <a:srgbClr val="008C95"/>
          </a:solidFill>
          <a:ln>
            <a:noFill/>
          </a:ln>
        </p:spPr>
        <p:txBody>
          <a:bodyPr lIns="0" tIns="0" rIns="0" bIns="0" anchor="ctr">
            <a:noAutofit/>
          </a:bodyPr>
          <a:lstStyle/>
          <a:p>
            <a:pPr algn="ctr"/>
            <a:r>
              <a:rPr lang="en-US" sz="1400" b="1">
                <a:solidFill>
                  <a:srgbClr val="FFFFFF"/>
                </a:solidFill>
                <a:latin typeface="Arial"/>
                <a:ea typeface="Arial"/>
              </a:rPr>
              <a:t>3</a:t>
            </a:r>
          </a:p>
        </p:txBody>
      </p:sp>
      <p:sp>
        <p:nvSpPr>
          <p:cNvPr id="100013" name="S06.Pause.Text3"/>
          <p:cNvSpPr txBox="1"/>
          <p:nvPr/>
        </p:nvSpPr>
        <p:spPr>
          <a:xfrm>
            <a:off x="832104" y="5775089"/>
            <a:ext cx="3044952" cy="438912"/>
          </a:xfrm>
          <a:prstGeom prst="rect">
            <a:avLst/>
          </a:prstGeom>
          <a:noFill/>
          <a:ln>
            <a:noFill/>
          </a:ln>
        </p:spPr>
        <p:txBody>
          <a:bodyPr lIns="0" tIns="0" rIns="0" bIns="0">
            <a:noAutofit/>
          </a:bodyPr>
          <a:lstStyle/>
          <a:p>
            <a:r>
              <a:rPr lang="en-US" sz="1800">
                <a:solidFill>
                  <a:srgbClr val="20354A"/>
                </a:solidFill>
                <a:latin typeface="Arial"/>
                <a:ea typeface="Arial"/>
              </a:rPr>
              <a:t>Advance and verify</a:t>
            </a:r>
          </a:p>
        </p:txBody>
      </p:sp>
      <p:pic>
        <p:nvPicPr>
          <p:cNvPr id="100014" name="S06.Pause.Illustration" descr="Illustrative global-pause coordination: receive barriers stabilize FPGA B at cycle 41 and FPGA A at 42; Host configures target 43, releases B before A, and verifies both stopped at cycle 43."/>
          <p:cNvPicPr>
            <a:picLocks noChangeAspect="1"/>
          </p:cNvPicPr>
          <p:nvPr/>
        </p:nvPicPr>
        <p:blipFill>
          <a:blip r:embed="rId3"/>
          <a:srcRect l="35526" t="12752" r="1076" b="13846"/>
          <a:stretch>
            <a:fillRect/>
          </a:stretch>
        </p:blipFill>
        <p:spPr>
          <a:xfrm>
            <a:off x="4123944" y="1186107"/>
            <a:ext cx="7754112" cy="5052713"/>
          </a:xfrm>
          <a:prstGeom prst="rect">
            <a:avLst/>
          </a:prstGeom>
        </p:spPr>
      </p:pic>
      <p:sp>
        <p:nvSpPr>
          <p:cNvPr id="100015" name="S06.PageNumber"/>
          <p:cNvSpPr txBox="1"/>
          <p:nvPr/>
        </p:nvSpPr>
        <p:spPr>
          <a:xfrm>
            <a:off x="11631168" y="6629400"/>
            <a:ext cx="228600" cy="182880"/>
          </a:xfrm>
          <a:prstGeom prst="rect">
            <a:avLst/>
          </a:prstGeom>
          <a:noFill/>
          <a:ln>
            <a:noFill/>
          </a:ln>
        </p:spPr>
        <p:txBody>
          <a:bodyPr lIns="0" tIns="0" rIns="0" bIns="0">
            <a:noAutofit/>
          </a:bodyPr>
          <a:lstStyle/>
          <a:p>
            <a:pPr algn="r"/>
            <a:r>
              <a:rPr lang="en-US" sz="1000">
                <a:solidFill>
                  <a:srgbClr val="607184"/>
                </a:solidFill>
                <a:latin typeface="Arial"/>
                <a:ea typeface="Arial"/>
              </a:rPr>
              <a:t>6</a:t>
            </a:r>
          </a:p>
        </p:txBody>
      </p:sp>
      <p:sp>
        <p:nvSpPr>
          <p:cNvPr id="4" name="S06.Execution.Text2">
            <a:extLst>
              <a:ext uri="{FF2B5EF4-FFF2-40B4-BE49-F238E27FC236}">
                <a16:creationId xmlns:a16="http://schemas.microsoft.com/office/drawing/2014/main" id="{18B83E66-17EF-E111-9CB6-2B30EDDE3CB5}"/>
              </a:ext>
            </a:extLst>
          </p:cNvPr>
          <p:cNvSpPr txBox="1"/>
          <p:nvPr/>
        </p:nvSpPr>
        <p:spPr>
          <a:xfrm>
            <a:off x="406556" y="3163824"/>
            <a:ext cx="3552795" cy="548640"/>
          </a:xfrm>
          <a:prstGeom prst="rect">
            <a:avLst/>
          </a:prstGeom>
          <a:noFill/>
          <a:ln>
            <a:noFill/>
          </a:ln>
        </p:spPr>
        <p:txBody>
          <a:bodyPr lIns="0" tIns="0" rIns="0" bIns="0">
            <a:no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>
                <a:solidFill>
                  <a:srgbClr val="20354A"/>
                </a:solidFill>
                <a:ea typeface="Arial"/>
              </a:rPr>
              <a:t>Reduce once</a:t>
            </a:r>
            <a:r>
              <a:rPr lang="zh-CN" altLang="en-US" dirty="0">
                <a:solidFill>
                  <a:srgbClr val="20354A"/>
                </a:solidFill>
                <a:ea typeface="Arial"/>
              </a:rPr>
              <a:t> </a:t>
            </a:r>
            <a:r>
              <a:rPr lang="en-US" dirty="0">
                <a:solidFill>
                  <a:srgbClr val="20354A"/>
                </a:solidFill>
                <a:ea typeface="Arial"/>
              </a:rPr>
              <a:t>data exchange  per cycle</a:t>
            </a:r>
            <a:endParaRPr lang="en-US" sz="1800" dirty="0">
              <a:solidFill>
                <a:srgbClr val="20354A"/>
              </a:solidFill>
              <a:latin typeface="Arial"/>
              <a:ea typeface="Arial"/>
            </a:endParaRP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07.Title"/>
          <p:cNvSpPr>
            <a:spLocks noGrp="1"/>
          </p:cNvSpPr>
          <p:nvPr>
            <p:ph type="title"/>
          </p:nvPr>
        </p:nvSpPr>
        <p:spPr>
          <a:xfrm>
            <a:off x="320040" y="128016"/>
            <a:ext cx="11558016" cy="493776"/>
          </a:xfrm>
          <a:noFill/>
          <a:ln>
            <a:noFill/>
          </a:ln>
        </p:spPr>
        <p:txBody>
          <a:bodyPr lIns="0" tIns="0" rIns="0" bIns="0">
            <a:noAutofit/>
          </a:bodyPr>
          <a:lstStyle/>
          <a:p>
            <a:r>
              <a:rPr lang="en-US" sz="3000" b="1" dirty="0">
                <a:solidFill>
                  <a:srgbClr val="183B56"/>
                </a:solidFill>
                <a:ea typeface="Arial"/>
              </a:rPr>
              <a:t>Progress2: Distributed </a:t>
            </a:r>
            <a:r>
              <a:rPr lang="en-US" sz="3000" b="1" dirty="0">
                <a:solidFill>
                  <a:srgbClr val="183B56"/>
                </a:solidFill>
                <a:latin typeface="Arial"/>
                <a:ea typeface="Arial"/>
              </a:rPr>
              <a:t>State Capture, Restore and Replay</a:t>
            </a:r>
          </a:p>
        </p:txBody>
      </p:sp>
      <p:sp>
        <p:nvSpPr>
          <p:cNvPr id="100000" name="S07.TitleRule"/>
          <p:cNvSpPr/>
          <p:nvPr/>
        </p:nvSpPr>
        <p:spPr>
          <a:xfrm>
            <a:off x="320040" y="713232"/>
            <a:ext cx="11558016" cy="25400"/>
          </a:xfrm>
          <a:prstGeom prst="rect">
            <a:avLst/>
          </a:prstGeom>
          <a:solidFill>
            <a:srgbClr val="008C95"/>
          </a:solidFill>
          <a:ln>
            <a:noFill/>
          </a:ln>
        </p:spPr>
        <p:txBody>
          <a:bodyPr lIns="0" tIns="0" rIns="0" bIns="0">
            <a:noAutofit/>
          </a:bodyPr>
          <a:lstStyle/>
          <a:p>
            <a:endParaRPr lang="en-US" sz="1800">
              <a:solidFill>
                <a:srgbClr val="20354A"/>
              </a:solidFill>
              <a:latin typeface="Arial"/>
              <a:ea typeface="Arial"/>
            </a:endParaRPr>
          </a:p>
        </p:txBody>
      </p:sp>
      <p:sp>
        <p:nvSpPr>
          <p:cNvPr id="100001" name="S07.Snapshot.Number"/>
          <p:cNvSpPr txBox="1"/>
          <p:nvPr/>
        </p:nvSpPr>
        <p:spPr>
          <a:xfrm>
            <a:off x="365760" y="1280160"/>
            <a:ext cx="457200" cy="475488"/>
          </a:xfrm>
          <a:prstGeom prst="rect">
            <a:avLst/>
          </a:prstGeom>
          <a:noFill/>
          <a:ln>
            <a:noFill/>
          </a:ln>
        </p:spPr>
        <p:txBody>
          <a:bodyPr lIns="0" tIns="0" rIns="0" bIns="0">
            <a:noAutofit/>
          </a:bodyPr>
          <a:lstStyle/>
          <a:p>
            <a:r>
              <a:rPr lang="en-US" sz="2400" b="1">
                <a:solidFill>
                  <a:srgbClr val="008C95"/>
                </a:solidFill>
                <a:latin typeface="Arial"/>
                <a:ea typeface="Arial"/>
              </a:rPr>
              <a:t>01</a:t>
            </a:r>
          </a:p>
        </p:txBody>
      </p:sp>
      <p:sp>
        <p:nvSpPr>
          <p:cNvPr id="100002" name="S07.Snapshot.Heading"/>
          <p:cNvSpPr txBox="1"/>
          <p:nvPr/>
        </p:nvSpPr>
        <p:spPr>
          <a:xfrm>
            <a:off x="960120" y="1280160"/>
            <a:ext cx="4526280" cy="475488"/>
          </a:xfrm>
          <a:prstGeom prst="rect">
            <a:avLst/>
          </a:prstGeom>
          <a:noFill/>
          <a:ln>
            <a:noFill/>
          </a:ln>
        </p:spPr>
        <p:txBody>
          <a:bodyPr lIns="0" tIns="0" rIns="0" bIns="0">
            <a:noAutofit/>
          </a:bodyPr>
          <a:lstStyle/>
          <a:p>
            <a:r>
              <a:rPr lang="en-US" sz="2400" b="1">
                <a:solidFill>
                  <a:srgbClr val="183B56"/>
                </a:solidFill>
                <a:latin typeface="Arial"/>
                <a:ea typeface="Arial"/>
              </a:rPr>
              <a:t>Global Snapshot</a:t>
            </a:r>
          </a:p>
        </p:txBody>
      </p:sp>
      <p:sp>
        <p:nvSpPr>
          <p:cNvPr id="100003" name="S07.Snapshot.Text1"/>
          <p:cNvSpPr txBox="1"/>
          <p:nvPr/>
        </p:nvSpPr>
        <p:spPr>
          <a:xfrm>
            <a:off x="365759" y="1856232"/>
            <a:ext cx="5291121" cy="548640"/>
          </a:xfrm>
          <a:prstGeom prst="rect">
            <a:avLst/>
          </a:prstGeom>
          <a:noFill/>
          <a:ln>
            <a:noFill/>
          </a:ln>
        </p:spPr>
        <p:txBody>
          <a:bodyPr lIns="0" tIns="0" rIns="0" bIns="0">
            <a:noAutofit/>
          </a:bodyPr>
          <a:lstStyle/>
          <a:p>
            <a:r>
              <a:rPr lang="en-US" dirty="0">
                <a:solidFill>
                  <a:srgbClr val="20354A"/>
                </a:solidFill>
                <a:ea typeface="Arial"/>
              </a:rPr>
              <a:t>Reuse REMU's Scan Dump mechanism</a:t>
            </a:r>
            <a:r>
              <a:rPr lang="en-US" baseline="30000" dirty="0">
                <a:solidFill>
                  <a:srgbClr val="20354A"/>
                </a:solidFill>
                <a:ea typeface="Arial"/>
              </a:rPr>
              <a:t>[1]</a:t>
            </a:r>
            <a:endParaRPr lang="en-US" dirty="0">
              <a:solidFill>
                <a:srgbClr val="20354A"/>
              </a:solidFill>
              <a:ea typeface="Arial"/>
            </a:endParaRPr>
          </a:p>
          <a:p>
            <a:endParaRPr lang="en-US" sz="1800" dirty="0">
              <a:solidFill>
                <a:srgbClr val="20354A"/>
              </a:solidFill>
              <a:latin typeface="Arial"/>
              <a:ea typeface="Arial"/>
            </a:endParaRPr>
          </a:p>
        </p:txBody>
      </p:sp>
      <p:sp>
        <p:nvSpPr>
          <p:cNvPr id="100004" name="S07.Snapshot.Text2"/>
          <p:cNvSpPr txBox="1"/>
          <p:nvPr/>
        </p:nvSpPr>
        <p:spPr>
          <a:xfrm>
            <a:off x="365760" y="2423160"/>
            <a:ext cx="5074920" cy="548640"/>
          </a:xfrm>
          <a:prstGeom prst="rect">
            <a:avLst/>
          </a:prstGeom>
          <a:noFill/>
          <a:ln>
            <a:noFill/>
          </a:ln>
        </p:spPr>
        <p:txBody>
          <a:bodyPr lIns="0" tIns="0" rIns="0" bIns="0">
            <a:noAutofit/>
          </a:bodyPr>
          <a:lstStyle/>
          <a:p>
            <a:r>
              <a:rPr lang="en-US" sz="1800" dirty="0">
                <a:solidFill>
                  <a:srgbClr val="20354A"/>
                </a:solidFill>
                <a:latin typeface="Arial"/>
                <a:ea typeface="Arial"/>
              </a:rPr>
              <a:t>Collect</a:t>
            </a:r>
            <a:r>
              <a:rPr lang="zh-CN" altLang="en-US" sz="1800" dirty="0">
                <a:solidFill>
                  <a:srgbClr val="20354A"/>
                </a:solidFill>
                <a:latin typeface="Arial"/>
                <a:ea typeface="Arial"/>
              </a:rPr>
              <a:t> </a:t>
            </a:r>
            <a:r>
              <a:rPr lang="en-US" altLang="zh-CN" sz="1800" dirty="0">
                <a:solidFill>
                  <a:srgbClr val="20354A"/>
                </a:solidFill>
                <a:latin typeface="Arial"/>
                <a:ea typeface="Arial"/>
              </a:rPr>
              <a:t>and merge each partition’s states</a:t>
            </a:r>
            <a:endParaRPr lang="en-US" sz="1800" dirty="0">
              <a:solidFill>
                <a:srgbClr val="20354A"/>
              </a:solidFill>
              <a:latin typeface="Arial"/>
              <a:ea typeface="Arial"/>
            </a:endParaRPr>
          </a:p>
        </p:txBody>
      </p:sp>
      <p:sp>
        <p:nvSpPr>
          <p:cNvPr id="100005" name="S07.Restore.Number"/>
          <p:cNvSpPr txBox="1"/>
          <p:nvPr/>
        </p:nvSpPr>
        <p:spPr>
          <a:xfrm>
            <a:off x="365760" y="3063240"/>
            <a:ext cx="457200" cy="475488"/>
          </a:xfrm>
          <a:prstGeom prst="rect">
            <a:avLst/>
          </a:prstGeom>
          <a:noFill/>
          <a:ln>
            <a:noFill/>
          </a:ln>
        </p:spPr>
        <p:txBody>
          <a:bodyPr lIns="0" tIns="0" rIns="0" bIns="0">
            <a:noAutofit/>
          </a:bodyPr>
          <a:lstStyle/>
          <a:p>
            <a:r>
              <a:rPr lang="en-US" sz="2400" b="1">
                <a:solidFill>
                  <a:srgbClr val="008C95"/>
                </a:solidFill>
                <a:latin typeface="Arial"/>
                <a:ea typeface="Arial"/>
              </a:rPr>
              <a:t>02</a:t>
            </a:r>
          </a:p>
        </p:txBody>
      </p:sp>
      <p:sp>
        <p:nvSpPr>
          <p:cNvPr id="100006" name="S07.Restore.Heading"/>
          <p:cNvSpPr txBox="1"/>
          <p:nvPr/>
        </p:nvSpPr>
        <p:spPr>
          <a:xfrm>
            <a:off x="960120" y="3063240"/>
            <a:ext cx="4526280" cy="475488"/>
          </a:xfrm>
          <a:prstGeom prst="rect">
            <a:avLst/>
          </a:prstGeom>
          <a:noFill/>
          <a:ln>
            <a:noFill/>
          </a:ln>
        </p:spPr>
        <p:txBody>
          <a:bodyPr lIns="0" tIns="0" rIns="0" bIns="0">
            <a:noAutofit/>
          </a:bodyPr>
          <a:lstStyle/>
          <a:p>
            <a:r>
              <a:rPr lang="en-US" sz="2400" b="1">
                <a:solidFill>
                  <a:srgbClr val="183B56"/>
                </a:solidFill>
                <a:latin typeface="Arial"/>
                <a:ea typeface="Arial"/>
              </a:rPr>
              <a:t>FPGA Restore</a:t>
            </a:r>
          </a:p>
        </p:txBody>
      </p:sp>
      <p:sp>
        <p:nvSpPr>
          <p:cNvPr id="100007" name="S07.Restore.Text1"/>
          <p:cNvSpPr txBox="1"/>
          <p:nvPr/>
        </p:nvSpPr>
        <p:spPr>
          <a:xfrm>
            <a:off x="365760" y="3639312"/>
            <a:ext cx="5074920" cy="548640"/>
          </a:xfrm>
          <a:prstGeom prst="rect">
            <a:avLst/>
          </a:prstGeom>
          <a:noFill/>
          <a:ln>
            <a:noFill/>
          </a:ln>
        </p:spPr>
        <p:txBody>
          <a:bodyPr lIns="0" tIns="0" rIns="0" bIns="0">
            <a:noAutofit/>
          </a:bodyPr>
          <a:lstStyle/>
          <a:p>
            <a:r>
              <a:rPr lang="en-US" sz="1800" dirty="0">
                <a:solidFill>
                  <a:srgbClr val="20354A"/>
                </a:solidFill>
                <a:latin typeface="Arial"/>
                <a:ea typeface="Arial"/>
              </a:rPr>
              <a:t>Write back scan data </a:t>
            </a:r>
            <a:r>
              <a:rPr lang="en-US" sz="1800" b="1" dirty="0">
                <a:solidFill>
                  <a:srgbClr val="183B56"/>
                </a:solidFill>
                <a:latin typeface="Arial"/>
                <a:ea typeface="Arial"/>
              </a:rPr>
              <a:t>by partition</a:t>
            </a:r>
            <a:endParaRPr lang="en-US" sz="1800" dirty="0">
              <a:solidFill>
                <a:srgbClr val="20354A"/>
              </a:solidFill>
              <a:latin typeface="Arial"/>
              <a:ea typeface="Arial"/>
            </a:endParaRPr>
          </a:p>
        </p:txBody>
      </p:sp>
      <p:sp>
        <p:nvSpPr>
          <p:cNvPr id="100008" name="S07.Restore.Text2"/>
          <p:cNvSpPr txBox="1"/>
          <p:nvPr/>
        </p:nvSpPr>
        <p:spPr>
          <a:xfrm>
            <a:off x="365760" y="4206240"/>
            <a:ext cx="5074920" cy="548640"/>
          </a:xfrm>
          <a:prstGeom prst="rect">
            <a:avLst/>
          </a:prstGeom>
          <a:noFill/>
          <a:ln>
            <a:noFill/>
          </a:ln>
        </p:spPr>
        <p:txBody>
          <a:bodyPr lIns="0" tIns="0" rIns="0" bIns="0">
            <a:noAutofit/>
          </a:bodyPr>
          <a:lstStyle/>
          <a:p>
            <a:r>
              <a:rPr lang="en-US" sz="1800" dirty="0">
                <a:solidFill>
                  <a:srgbClr val="20354A"/>
                </a:solidFill>
                <a:latin typeface="Arial"/>
                <a:ea typeface="Arial"/>
              </a:rPr>
              <a:t>Restore local registers, SRAM and memory</a:t>
            </a:r>
          </a:p>
        </p:txBody>
      </p:sp>
      <p:sp>
        <p:nvSpPr>
          <p:cNvPr id="100009" name="S07.Replay.Number"/>
          <p:cNvSpPr txBox="1"/>
          <p:nvPr/>
        </p:nvSpPr>
        <p:spPr>
          <a:xfrm>
            <a:off x="365760" y="4846320"/>
            <a:ext cx="457200" cy="475488"/>
          </a:xfrm>
          <a:prstGeom prst="rect">
            <a:avLst/>
          </a:prstGeom>
          <a:noFill/>
          <a:ln>
            <a:noFill/>
          </a:ln>
        </p:spPr>
        <p:txBody>
          <a:bodyPr lIns="0" tIns="0" rIns="0" bIns="0">
            <a:noAutofit/>
          </a:bodyPr>
          <a:lstStyle/>
          <a:p>
            <a:r>
              <a:rPr lang="en-US" sz="2400" b="1">
                <a:solidFill>
                  <a:srgbClr val="008C95"/>
                </a:solidFill>
                <a:latin typeface="Arial"/>
                <a:ea typeface="Arial"/>
              </a:rPr>
              <a:t>03</a:t>
            </a:r>
          </a:p>
        </p:txBody>
      </p:sp>
      <p:sp>
        <p:nvSpPr>
          <p:cNvPr id="100010" name="S07.Replay.Heading"/>
          <p:cNvSpPr txBox="1"/>
          <p:nvPr/>
        </p:nvSpPr>
        <p:spPr>
          <a:xfrm>
            <a:off x="960120" y="4846320"/>
            <a:ext cx="4526280" cy="475488"/>
          </a:xfrm>
          <a:prstGeom prst="rect">
            <a:avLst/>
          </a:prstGeom>
          <a:noFill/>
          <a:ln>
            <a:noFill/>
          </a:ln>
        </p:spPr>
        <p:txBody>
          <a:bodyPr lIns="0" tIns="0" rIns="0" bIns="0">
            <a:noAutofit/>
          </a:bodyPr>
          <a:lstStyle/>
          <a:p>
            <a:r>
              <a:rPr lang="en-US" sz="2400" b="1" dirty="0">
                <a:solidFill>
                  <a:srgbClr val="183B56"/>
                </a:solidFill>
                <a:latin typeface="Arial"/>
                <a:ea typeface="Arial"/>
              </a:rPr>
              <a:t>Software RTL Replay</a:t>
            </a:r>
          </a:p>
        </p:txBody>
      </p:sp>
      <p:sp>
        <p:nvSpPr>
          <p:cNvPr id="100011" name="S07.Replay.Text1"/>
          <p:cNvSpPr txBox="1"/>
          <p:nvPr/>
        </p:nvSpPr>
        <p:spPr>
          <a:xfrm>
            <a:off x="365760" y="5422392"/>
            <a:ext cx="5074920" cy="548640"/>
          </a:xfrm>
          <a:prstGeom prst="rect">
            <a:avLst/>
          </a:prstGeom>
          <a:noFill/>
          <a:ln>
            <a:noFill/>
          </a:ln>
        </p:spPr>
        <p:txBody>
          <a:bodyPr lIns="0" tIns="0" rIns="0" bIns="0">
            <a:noAutofit/>
          </a:bodyPr>
          <a:lstStyle/>
          <a:p>
            <a:r>
              <a:rPr lang="en-US" sz="1800" dirty="0">
                <a:solidFill>
                  <a:srgbClr val="20354A"/>
                </a:solidFill>
                <a:latin typeface="Arial"/>
                <a:ea typeface="Arial"/>
              </a:rPr>
              <a:t>Decode partition data through </a:t>
            </a:r>
            <a:r>
              <a:rPr lang="en-US" sz="1800" b="1" dirty="0">
                <a:solidFill>
                  <a:srgbClr val="183B56"/>
                </a:solidFill>
                <a:latin typeface="Arial"/>
                <a:ea typeface="Arial"/>
              </a:rPr>
              <a:t>state mapping</a:t>
            </a:r>
            <a:endParaRPr lang="en-US" sz="1800" dirty="0">
              <a:solidFill>
                <a:srgbClr val="20354A"/>
              </a:solidFill>
              <a:latin typeface="Arial"/>
              <a:ea typeface="Arial"/>
            </a:endParaRPr>
          </a:p>
        </p:txBody>
      </p:sp>
      <p:sp>
        <p:nvSpPr>
          <p:cNvPr id="100012" name="S07.Replay.Text2"/>
          <p:cNvSpPr txBox="1"/>
          <p:nvPr/>
        </p:nvSpPr>
        <p:spPr>
          <a:xfrm>
            <a:off x="365760" y="5989320"/>
            <a:ext cx="5074920" cy="548640"/>
          </a:xfrm>
          <a:prstGeom prst="rect">
            <a:avLst/>
          </a:prstGeom>
          <a:noFill/>
          <a:ln>
            <a:noFill/>
          </a:ln>
        </p:spPr>
        <p:txBody>
          <a:bodyPr lIns="0" tIns="0" rIns="0" bIns="0">
            <a:noAutofit/>
          </a:bodyPr>
          <a:lstStyle/>
          <a:p>
            <a:r>
              <a:rPr lang="en-US" sz="1800" dirty="0">
                <a:solidFill>
                  <a:srgbClr val="20354A"/>
                </a:solidFill>
                <a:latin typeface="Arial"/>
                <a:ea typeface="Arial"/>
              </a:rPr>
              <a:t>Load RTL states and replay recorded inputs</a:t>
            </a:r>
          </a:p>
        </p:txBody>
      </p:sp>
      <p:pic>
        <p:nvPicPr>
          <p:cNvPr id="100014" name="S07.Evidence.Waveform" descr="PicoRV32 two-partition Cosim checkpoint values at DUT cycle 42080 above the software RTL replay waveform, restored from cycle 2048. Six selected signal values match at the comparison point.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06440" y="1965960"/>
            <a:ext cx="6071616" cy="2485791"/>
          </a:xfrm>
          <a:prstGeom prst="rect">
            <a:avLst/>
          </a:prstGeom>
        </p:spPr>
      </p:pic>
      <p:sp>
        <p:nvSpPr>
          <p:cNvPr id="100015" name="S07.Evidence.Conclusion"/>
          <p:cNvSpPr txBox="1"/>
          <p:nvPr/>
        </p:nvSpPr>
        <p:spPr>
          <a:xfrm>
            <a:off x="5806440" y="4707783"/>
            <a:ext cx="6071616" cy="1005840"/>
          </a:xfrm>
          <a:prstGeom prst="rect">
            <a:avLst/>
          </a:prstGeom>
          <a:noFill/>
          <a:ln>
            <a:noFill/>
          </a:ln>
        </p:spPr>
        <p:txBody>
          <a:bodyPr lIns="0" tIns="0" rIns="0" bIns="0">
            <a:noAutofit/>
          </a:bodyPr>
          <a:lstStyle/>
          <a:p>
            <a:r>
              <a:rPr lang="en-US" sz="2000" dirty="0">
                <a:solidFill>
                  <a:srgbClr val="183B56"/>
                </a:solidFill>
                <a:latin typeface="Arial"/>
                <a:ea typeface="Arial"/>
              </a:rPr>
              <a:t>Waveform replay reproduces the same signal</a:t>
            </a:r>
          </a:p>
          <a:p>
            <a:r>
              <a:rPr lang="en-US" sz="2000" dirty="0">
                <a:solidFill>
                  <a:srgbClr val="183B56"/>
                </a:solidFill>
                <a:latin typeface="Arial"/>
                <a:ea typeface="Arial"/>
              </a:rPr>
              <a:t>values as FPGA execution</a:t>
            </a:r>
          </a:p>
        </p:txBody>
      </p:sp>
      <p:sp>
        <p:nvSpPr>
          <p:cNvPr id="100016" name="S07.PageNumber"/>
          <p:cNvSpPr txBox="1"/>
          <p:nvPr/>
        </p:nvSpPr>
        <p:spPr>
          <a:xfrm>
            <a:off x="11631168" y="6629400"/>
            <a:ext cx="228600" cy="182880"/>
          </a:xfrm>
          <a:prstGeom prst="rect">
            <a:avLst/>
          </a:prstGeom>
          <a:noFill/>
          <a:ln>
            <a:noFill/>
          </a:ln>
        </p:spPr>
        <p:txBody>
          <a:bodyPr lIns="0" tIns="0" rIns="0" bIns="0">
            <a:noAutofit/>
          </a:bodyPr>
          <a:lstStyle/>
          <a:p>
            <a:pPr algn="r"/>
            <a:r>
              <a:rPr lang="en-US" sz="1000">
                <a:solidFill>
                  <a:srgbClr val="607184"/>
                </a:solidFill>
                <a:latin typeface="Arial"/>
                <a:ea typeface="Arial"/>
              </a:rPr>
              <a:t>7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08.Title"/>
          <p:cNvSpPr>
            <a:spLocks noGrp="1"/>
          </p:cNvSpPr>
          <p:nvPr>
            <p:ph type="title"/>
          </p:nvPr>
        </p:nvSpPr>
        <p:spPr>
          <a:xfrm>
            <a:off x="320040" y="128016"/>
            <a:ext cx="11558016" cy="493776"/>
          </a:xfrm>
          <a:noFill/>
          <a:ln>
            <a:noFill/>
          </a:ln>
        </p:spPr>
        <p:txBody>
          <a:bodyPr lIns="0" tIns="0" rIns="0" bIns="0">
            <a:noAutofit/>
          </a:bodyPr>
          <a:lstStyle/>
          <a:p>
            <a:r>
              <a:rPr lang="en-US" sz="3000" b="1" dirty="0">
                <a:solidFill>
                  <a:srgbClr val="183B56"/>
                </a:solidFill>
                <a:ea typeface="Arial"/>
              </a:rPr>
              <a:t>Progress3: Automated </a:t>
            </a:r>
            <a:r>
              <a:rPr lang="en-US" sz="3000" b="1" dirty="0">
                <a:solidFill>
                  <a:srgbClr val="183B56"/>
                </a:solidFill>
                <a:latin typeface="Arial"/>
                <a:ea typeface="Arial"/>
              </a:rPr>
              <a:t>Multi-FPGA Circuit Partitioning</a:t>
            </a:r>
          </a:p>
        </p:txBody>
      </p:sp>
      <p:sp>
        <p:nvSpPr>
          <p:cNvPr id="100000" name="S08.TitleRule"/>
          <p:cNvSpPr/>
          <p:nvPr/>
        </p:nvSpPr>
        <p:spPr>
          <a:xfrm>
            <a:off x="320040" y="713232"/>
            <a:ext cx="11558016" cy="25400"/>
          </a:xfrm>
          <a:prstGeom prst="rect">
            <a:avLst/>
          </a:prstGeom>
          <a:solidFill>
            <a:srgbClr val="008C95"/>
          </a:solidFill>
          <a:ln>
            <a:noFill/>
          </a:ln>
        </p:spPr>
        <p:txBody>
          <a:bodyPr lIns="0" tIns="0" rIns="0" bIns="0">
            <a:noAutofit/>
          </a:bodyPr>
          <a:lstStyle/>
          <a:p>
            <a:endParaRPr lang="en-US" sz="1800">
              <a:solidFill>
                <a:srgbClr val="20354A"/>
              </a:solidFill>
              <a:latin typeface="Arial"/>
              <a:ea typeface="Arial"/>
            </a:endParaRPr>
          </a:p>
        </p:txBody>
      </p:sp>
      <p:sp>
        <p:nvSpPr>
          <p:cNvPr id="100001" name="S08.Method.Heading"/>
          <p:cNvSpPr txBox="1"/>
          <p:nvPr/>
        </p:nvSpPr>
        <p:spPr>
          <a:xfrm>
            <a:off x="365760" y="1097280"/>
            <a:ext cx="3611880" cy="457200"/>
          </a:xfrm>
          <a:prstGeom prst="rect">
            <a:avLst/>
          </a:prstGeom>
          <a:noFill/>
          <a:ln>
            <a:noFill/>
          </a:ln>
        </p:spPr>
        <p:txBody>
          <a:bodyPr lIns="0" tIns="0" rIns="0" bIns="0">
            <a:noAutofit/>
          </a:bodyPr>
          <a:lstStyle/>
          <a:p>
            <a:r>
              <a:rPr lang="en-US" sz="2200" b="1" dirty="0">
                <a:solidFill>
                  <a:srgbClr val="183B56"/>
                </a:solidFill>
                <a:latin typeface="Arial"/>
                <a:ea typeface="Arial"/>
              </a:rPr>
              <a:t>Automated Partitioning</a:t>
            </a:r>
          </a:p>
        </p:txBody>
      </p:sp>
      <p:sp>
        <p:nvSpPr>
          <p:cNvPr id="100002" name="S08.Method.Number1"/>
          <p:cNvSpPr/>
          <p:nvPr/>
        </p:nvSpPr>
        <p:spPr>
          <a:xfrm>
            <a:off x="384048" y="1865376"/>
            <a:ext cx="301752" cy="301752"/>
          </a:xfrm>
          <a:prstGeom prst="ellipse">
            <a:avLst/>
          </a:prstGeom>
          <a:solidFill>
            <a:srgbClr val="008C95"/>
          </a:solidFill>
          <a:ln>
            <a:noFill/>
          </a:ln>
        </p:spPr>
        <p:txBody>
          <a:bodyPr lIns="0" tIns="0" rIns="0" bIns="0" anchor="ctr">
            <a:noAutofit/>
          </a:bodyPr>
          <a:lstStyle/>
          <a:p>
            <a:pPr algn="ctr"/>
            <a:r>
              <a:rPr lang="en-US" sz="1400" b="1">
                <a:solidFill>
                  <a:srgbClr val="FFFFFF"/>
                </a:solidFill>
                <a:latin typeface="Arial"/>
                <a:ea typeface="Arial"/>
              </a:rPr>
              <a:t>1</a:t>
            </a:r>
          </a:p>
        </p:txBody>
      </p:sp>
      <p:sp>
        <p:nvSpPr>
          <p:cNvPr id="100003" name="S08.Method.Text1"/>
          <p:cNvSpPr txBox="1"/>
          <p:nvPr/>
        </p:nvSpPr>
        <p:spPr>
          <a:xfrm>
            <a:off x="841248" y="1828800"/>
            <a:ext cx="3063240" cy="713232"/>
          </a:xfrm>
          <a:prstGeom prst="rect">
            <a:avLst/>
          </a:prstGeom>
          <a:noFill/>
          <a:ln>
            <a:noFill/>
          </a:ln>
        </p:spPr>
        <p:txBody>
          <a:bodyPr lIns="0" tIns="0" rIns="0" bIns="0">
            <a:noAutofit/>
          </a:bodyPr>
          <a:lstStyle/>
          <a:p>
            <a:r>
              <a:rPr lang="en-US" sz="1900" dirty="0">
                <a:solidFill>
                  <a:srgbClr val="20354A"/>
                </a:solidFill>
                <a:latin typeface="Arial"/>
                <a:ea typeface="Arial"/>
              </a:rPr>
              <a:t>Adaptive-granularity</a:t>
            </a:r>
          </a:p>
          <a:p>
            <a:r>
              <a:rPr lang="en-US" sz="1900" dirty="0">
                <a:solidFill>
                  <a:srgbClr val="20354A"/>
                </a:solidFill>
                <a:latin typeface="Arial"/>
                <a:ea typeface="Arial"/>
              </a:rPr>
              <a:t>RTL partitioning</a:t>
            </a:r>
          </a:p>
        </p:txBody>
      </p:sp>
      <p:sp>
        <p:nvSpPr>
          <p:cNvPr id="100004" name="S08.Method.Number2"/>
          <p:cNvSpPr/>
          <p:nvPr/>
        </p:nvSpPr>
        <p:spPr>
          <a:xfrm>
            <a:off x="384048" y="2798064"/>
            <a:ext cx="301752" cy="301752"/>
          </a:xfrm>
          <a:prstGeom prst="ellipse">
            <a:avLst/>
          </a:prstGeom>
          <a:solidFill>
            <a:srgbClr val="008C95"/>
          </a:solidFill>
          <a:ln>
            <a:noFill/>
          </a:ln>
        </p:spPr>
        <p:txBody>
          <a:bodyPr lIns="0" tIns="0" rIns="0" bIns="0" anchor="ctr">
            <a:noAutofit/>
          </a:bodyPr>
          <a:lstStyle/>
          <a:p>
            <a:pPr algn="ctr"/>
            <a:r>
              <a:rPr lang="en-US" sz="1400" b="1">
                <a:solidFill>
                  <a:srgbClr val="FFFFFF"/>
                </a:solidFill>
                <a:latin typeface="Arial"/>
                <a:ea typeface="Arial"/>
              </a:rPr>
              <a:t>2</a:t>
            </a:r>
          </a:p>
        </p:txBody>
      </p:sp>
      <p:sp>
        <p:nvSpPr>
          <p:cNvPr id="100005" name="S08.Method.Text2"/>
          <p:cNvSpPr txBox="1"/>
          <p:nvPr/>
        </p:nvSpPr>
        <p:spPr>
          <a:xfrm>
            <a:off x="841248" y="2761488"/>
            <a:ext cx="3063240" cy="713232"/>
          </a:xfrm>
          <a:prstGeom prst="rect">
            <a:avLst/>
          </a:prstGeom>
          <a:noFill/>
          <a:ln>
            <a:noFill/>
          </a:ln>
        </p:spPr>
        <p:txBody>
          <a:bodyPr lIns="0" tIns="0" rIns="0" bIns="0">
            <a:noAutofit/>
          </a:bodyPr>
          <a:lstStyle/>
          <a:p>
            <a:r>
              <a:rPr lang="en-US" sz="1900">
                <a:solidFill>
                  <a:srgbClr val="20354A"/>
                </a:solidFill>
                <a:latin typeface="Arial"/>
                <a:ea typeface="Arial"/>
              </a:rPr>
              <a:t>KaHyPar-based</a:t>
            </a:r>
          </a:p>
          <a:p>
            <a:r>
              <a:rPr lang="en-US" sz="1900">
                <a:solidFill>
                  <a:srgbClr val="20354A"/>
                </a:solidFill>
                <a:latin typeface="Arial"/>
                <a:ea typeface="Arial"/>
              </a:rPr>
              <a:t>hypergraph partitioning</a:t>
            </a:r>
          </a:p>
        </p:txBody>
      </p:sp>
      <p:sp>
        <p:nvSpPr>
          <p:cNvPr id="100006" name="S08.Method.Number3"/>
          <p:cNvSpPr/>
          <p:nvPr/>
        </p:nvSpPr>
        <p:spPr>
          <a:xfrm>
            <a:off x="384048" y="3730752"/>
            <a:ext cx="301752" cy="301752"/>
          </a:xfrm>
          <a:prstGeom prst="ellipse">
            <a:avLst/>
          </a:prstGeom>
          <a:solidFill>
            <a:srgbClr val="008C95"/>
          </a:solidFill>
          <a:ln>
            <a:noFill/>
          </a:ln>
        </p:spPr>
        <p:txBody>
          <a:bodyPr lIns="0" tIns="0" rIns="0" bIns="0" anchor="ctr">
            <a:noAutofit/>
          </a:bodyPr>
          <a:lstStyle/>
          <a:p>
            <a:pPr algn="ctr"/>
            <a:r>
              <a:rPr lang="en-US" sz="1400" b="1">
                <a:solidFill>
                  <a:srgbClr val="FFFFFF"/>
                </a:solidFill>
                <a:latin typeface="Arial"/>
                <a:ea typeface="Arial"/>
              </a:rPr>
              <a:t>3</a:t>
            </a:r>
          </a:p>
        </p:txBody>
      </p:sp>
      <p:sp>
        <p:nvSpPr>
          <p:cNvPr id="100007" name="S08.Method.Text3"/>
          <p:cNvSpPr txBox="1"/>
          <p:nvPr/>
        </p:nvSpPr>
        <p:spPr>
          <a:xfrm>
            <a:off x="841248" y="3694176"/>
            <a:ext cx="3063240" cy="713232"/>
          </a:xfrm>
          <a:prstGeom prst="rect">
            <a:avLst/>
          </a:prstGeom>
          <a:noFill/>
          <a:ln>
            <a:noFill/>
          </a:ln>
        </p:spPr>
        <p:txBody>
          <a:bodyPr lIns="0" tIns="0" rIns="0" bIns="0">
            <a:noAutofit/>
          </a:bodyPr>
          <a:lstStyle/>
          <a:p>
            <a:r>
              <a:rPr lang="en-US" sz="1900" dirty="0">
                <a:solidFill>
                  <a:srgbClr val="20354A"/>
                </a:solidFill>
                <a:latin typeface="Arial"/>
                <a:ea typeface="Arial"/>
              </a:rPr>
              <a:t>Path-cut number analysis</a:t>
            </a:r>
          </a:p>
          <a:p>
            <a:r>
              <a:rPr lang="en-US" sz="1900" dirty="0">
                <a:solidFill>
                  <a:srgbClr val="20354A"/>
                </a:solidFill>
                <a:latin typeface="Arial"/>
                <a:ea typeface="Arial"/>
              </a:rPr>
              <a:t>for LI-TDM</a:t>
            </a:r>
          </a:p>
        </p:txBody>
      </p:sp>
      <p:sp>
        <p:nvSpPr>
          <p:cNvPr id="100008" name="S08.Efficiency.Status"/>
          <p:cNvSpPr txBox="1"/>
          <p:nvPr/>
        </p:nvSpPr>
        <p:spPr>
          <a:xfrm>
            <a:off x="365760" y="4732020"/>
            <a:ext cx="3950208" cy="2386232"/>
          </a:xfrm>
          <a:prstGeom prst="rect">
            <a:avLst/>
          </a:prstGeom>
          <a:noFill/>
          <a:ln>
            <a:noFill/>
          </a:ln>
        </p:spPr>
        <p:txBody>
          <a:bodyPr lIns="0" tIns="0" rIns="0" bIns="0">
            <a:noAutofit/>
          </a:bodyPr>
          <a:lstStyle/>
          <a:p>
            <a:r>
              <a:rPr lang="en-US" sz="2200" b="1" dirty="0">
                <a:solidFill>
                  <a:srgbClr val="183B56"/>
                </a:solidFill>
                <a:latin typeface="Arial"/>
              </a:rPr>
              <a:t>Experimental Results:</a:t>
            </a:r>
          </a:p>
          <a:p>
            <a:endParaRPr lang="en-US" dirty="0">
              <a:solidFill>
                <a:srgbClr val="607184"/>
              </a:solidFill>
              <a:ea typeface="Arial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>
                <a:solidFill>
                  <a:srgbClr val="183B56"/>
                </a:solidFill>
                <a:ea typeface="Arial"/>
              </a:rPr>
              <a:t>The hypergraph size was reduced to </a:t>
            </a:r>
            <a:r>
              <a:rPr lang="en-US" altLang="zh-CN" dirty="0">
                <a:solidFill>
                  <a:srgbClr val="183B56"/>
                </a:solidFill>
                <a:ea typeface="Arial"/>
              </a:rPr>
              <a:t>1/10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>
                <a:solidFill>
                  <a:srgbClr val="183B56"/>
                </a:solidFill>
                <a:ea typeface="Arial"/>
              </a:rPr>
              <a:t>No significant change in the</a:t>
            </a:r>
            <a:r>
              <a:rPr lang="zh-CN" altLang="en-US" dirty="0">
                <a:solidFill>
                  <a:srgbClr val="183B56"/>
                </a:solidFill>
                <a:ea typeface="Arial"/>
              </a:rPr>
              <a:t> </a:t>
            </a:r>
            <a:r>
              <a:rPr lang="en-US" altLang="zh-CN" dirty="0">
                <a:solidFill>
                  <a:srgbClr val="183B56"/>
                </a:solidFill>
                <a:ea typeface="Arial"/>
              </a:rPr>
              <a:t>c</a:t>
            </a:r>
            <a:r>
              <a:rPr lang="en-US" dirty="0">
                <a:solidFill>
                  <a:srgbClr val="183B56"/>
                </a:solidFill>
                <a:ea typeface="Arial"/>
              </a:rPr>
              <a:t>ut</a:t>
            </a:r>
            <a:r>
              <a:rPr lang="en-US" altLang="zh-CN" dirty="0">
                <a:solidFill>
                  <a:srgbClr val="183B56"/>
                </a:solidFill>
                <a:ea typeface="Arial"/>
              </a:rPr>
              <a:t>-</a:t>
            </a:r>
            <a:r>
              <a:rPr lang="en-US" dirty="0">
                <a:solidFill>
                  <a:srgbClr val="183B56"/>
                </a:solidFill>
                <a:ea typeface="Arial"/>
              </a:rPr>
              <a:t>size and path</a:t>
            </a:r>
            <a:r>
              <a:rPr lang="en-US" altLang="zh-CN" dirty="0">
                <a:solidFill>
                  <a:srgbClr val="183B56"/>
                </a:solidFill>
                <a:ea typeface="Arial"/>
              </a:rPr>
              <a:t>-</a:t>
            </a:r>
            <a:r>
              <a:rPr lang="en-US" dirty="0">
                <a:solidFill>
                  <a:srgbClr val="183B56"/>
                </a:solidFill>
                <a:ea typeface="Arial"/>
              </a:rPr>
              <a:t>cut</a:t>
            </a:r>
            <a:r>
              <a:rPr lang="zh-CN" altLang="en-US" dirty="0">
                <a:solidFill>
                  <a:srgbClr val="183B56"/>
                </a:solidFill>
                <a:ea typeface="Arial"/>
              </a:rPr>
              <a:t> </a:t>
            </a:r>
            <a:r>
              <a:rPr lang="en-US" altLang="zh-CN" dirty="0">
                <a:solidFill>
                  <a:srgbClr val="183B56"/>
                </a:solidFill>
                <a:ea typeface="Arial"/>
              </a:rPr>
              <a:t>number</a:t>
            </a:r>
            <a:endParaRPr lang="en-US" dirty="0">
              <a:solidFill>
                <a:srgbClr val="183B56"/>
              </a:solidFill>
              <a:ea typeface="Arial"/>
            </a:endParaRPr>
          </a:p>
          <a:p>
            <a:endParaRPr lang="en-US" dirty="0">
              <a:solidFill>
                <a:srgbClr val="607184"/>
              </a:solidFill>
              <a:ea typeface="Arial"/>
            </a:endParaRPr>
          </a:p>
        </p:txBody>
      </p:sp>
      <p:sp>
        <p:nvSpPr>
          <p:cNvPr id="100010" name="S08.Results.Heading"/>
          <p:cNvSpPr txBox="1"/>
          <p:nvPr/>
        </p:nvSpPr>
        <p:spPr>
          <a:xfrm>
            <a:off x="4370832" y="1097280"/>
            <a:ext cx="7479792" cy="457200"/>
          </a:xfrm>
          <a:prstGeom prst="rect">
            <a:avLst/>
          </a:prstGeom>
          <a:noFill/>
          <a:ln>
            <a:noFill/>
          </a:ln>
        </p:spPr>
        <p:txBody>
          <a:bodyPr lIns="0" tIns="0" rIns="0" bIns="0">
            <a:noAutofit/>
          </a:bodyPr>
          <a:lstStyle/>
          <a:p>
            <a:r>
              <a:rPr lang="en-US" sz="2200" b="1">
                <a:solidFill>
                  <a:srgbClr val="183B56"/>
                </a:solidFill>
                <a:latin typeface="Arial"/>
                <a:ea typeface="Arial"/>
              </a:rPr>
              <a:t>Post-Synthesis Resource Utilization</a:t>
            </a:r>
          </a:p>
        </p:txBody>
      </p:sp>
      <p:sp>
        <p:nvSpPr>
          <p:cNvPr id="100011" name="S08.Results.Context"/>
          <p:cNvSpPr txBox="1"/>
          <p:nvPr/>
        </p:nvSpPr>
        <p:spPr>
          <a:xfrm>
            <a:off x="4370832" y="1609344"/>
            <a:ext cx="7479792" cy="320040"/>
          </a:xfrm>
          <a:prstGeom prst="rect">
            <a:avLst/>
          </a:prstGeom>
          <a:noFill/>
          <a:ln>
            <a:noFill/>
          </a:ln>
        </p:spPr>
        <p:txBody>
          <a:bodyPr lIns="0" tIns="0" rIns="0" bIns="0">
            <a:noAutofit/>
          </a:bodyPr>
          <a:lstStyle/>
          <a:p>
            <a:r>
              <a:rPr lang="en-US" dirty="0">
                <a:solidFill>
                  <a:srgbClr val="183B56"/>
                </a:solidFill>
                <a:latin typeface="Arial"/>
              </a:rPr>
              <a:t>KMH · Two partitions · Utilization (%)</a:t>
            </a:r>
          </a:p>
        </p:txBody>
      </p:sp>
      <p:graphicFrame>
        <p:nvGraphicFramePr>
          <p:cNvPr id="100012" name="S08.Resources.Chart"/>
          <p:cNvGraphicFramePr/>
          <p:nvPr/>
        </p:nvGraphicFramePr>
        <p:xfrm>
          <a:off x="4315968" y="1993392"/>
          <a:ext cx="7543800" cy="347472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100013" name="S08.Results.Observation"/>
          <p:cNvSpPr txBox="1"/>
          <p:nvPr/>
        </p:nvSpPr>
        <p:spPr>
          <a:xfrm>
            <a:off x="5285232" y="5760720"/>
            <a:ext cx="7479792" cy="594360"/>
          </a:xfrm>
          <a:prstGeom prst="rect">
            <a:avLst/>
          </a:prstGeom>
          <a:noFill/>
          <a:ln>
            <a:noFill/>
          </a:ln>
        </p:spPr>
        <p:txBody>
          <a:bodyPr lIns="0" tIns="0" rIns="0" bIns="0">
            <a:noAutofit/>
          </a:bodyPr>
          <a:lstStyle/>
          <a:p>
            <a:r>
              <a:rPr lang="en-US" sz="2000" dirty="0">
                <a:solidFill>
                  <a:srgbClr val="183B56"/>
                </a:solidFill>
                <a:latin typeface="Arial"/>
                <a:ea typeface="Arial"/>
              </a:rPr>
              <a:t>Similar LUT usage, uneven FF and BRAM distribution.</a:t>
            </a:r>
          </a:p>
        </p:txBody>
      </p:sp>
      <p:sp>
        <p:nvSpPr>
          <p:cNvPr id="100014" name="S08.Results.Scope"/>
          <p:cNvSpPr txBox="1"/>
          <p:nvPr/>
        </p:nvSpPr>
        <p:spPr>
          <a:xfrm>
            <a:off x="4370832" y="6327648"/>
            <a:ext cx="7479792" cy="256032"/>
          </a:xfrm>
          <a:prstGeom prst="rect">
            <a:avLst/>
          </a:prstGeom>
          <a:noFill/>
          <a:ln>
            <a:noFill/>
          </a:ln>
        </p:spPr>
        <p:txBody>
          <a:bodyPr lIns="0" tIns="0" rIns="0" bIns="0">
            <a:noAutofit/>
          </a:bodyPr>
          <a:lstStyle/>
          <a:p>
            <a:endParaRPr lang="en-US" sz="1200" dirty="0">
              <a:solidFill>
                <a:srgbClr val="607184"/>
              </a:solidFill>
              <a:latin typeface="Arial"/>
              <a:ea typeface="Arial"/>
            </a:endParaRPr>
          </a:p>
        </p:txBody>
      </p:sp>
      <p:sp>
        <p:nvSpPr>
          <p:cNvPr id="100015" name="S08.PageNumber"/>
          <p:cNvSpPr txBox="1"/>
          <p:nvPr/>
        </p:nvSpPr>
        <p:spPr>
          <a:xfrm>
            <a:off x="11631168" y="6629400"/>
            <a:ext cx="228600" cy="182880"/>
          </a:xfrm>
          <a:prstGeom prst="rect">
            <a:avLst/>
          </a:prstGeom>
          <a:noFill/>
          <a:ln>
            <a:noFill/>
          </a:ln>
        </p:spPr>
        <p:txBody>
          <a:bodyPr lIns="0" tIns="0" rIns="0" bIns="0">
            <a:noAutofit/>
          </a:bodyPr>
          <a:lstStyle/>
          <a:p>
            <a:pPr algn="r"/>
            <a:r>
              <a:rPr lang="en-US" sz="1000">
                <a:solidFill>
                  <a:srgbClr val="607184"/>
                </a:solidFill>
                <a:latin typeface="Arial"/>
                <a:ea typeface="Arial"/>
              </a:rPr>
              <a:t>8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09.Title"/>
          <p:cNvSpPr>
            <a:spLocks noGrp="1"/>
          </p:cNvSpPr>
          <p:nvPr>
            <p:ph type="title"/>
          </p:nvPr>
        </p:nvSpPr>
        <p:spPr>
          <a:xfrm>
            <a:off x="320040" y="128016"/>
            <a:ext cx="11558016" cy="493776"/>
          </a:xfrm>
          <a:noFill/>
          <a:ln>
            <a:noFill/>
          </a:ln>
        </p:spPr>
        <p:txBody>
          <a:bodyPr lIns="0" tIns="0" rIns="0" bIns="0">
            <a:noAutofit/>
          </a:bodyPr>
          <a:lstStyle/>
          <a:p>
            <a:r>
              <a:rPr lang="en-US" sz="3000" b="1" dirty="0">
                <a:solidFill>
                  <a:srgbClr val="183B56"/>
                </a:solidFill>
                <a:ea typeface="Arial"/>
              </a:rPr>
              <a:t>Progress4: Scalable </a:t>
            </a:r>
            <a:r>
              <a:rPr lang="en-US" sz="3000" b="1" dirty="0">
                <a:solidFill>
                  <a:srgbClr val="183B56"/>
                </a:solidFill>
                <a:latin typeface="Arial"/>
                <a:ea typeface="Arial"/>
              </a:rPr>
              <a:t>Multi-FPGA Runtime</a:t>
            </a:r>
          </a:p>
        </p:txBody>
      </p:sp>
      <p:sp>
        <p:nvSpPr>
          <p:cNvPr id="100000" name="S09.TitleRule"/>
          <p:cNvSpPr/>
          <p:nvPr/>
        </p:nvSpPr>
        <p:spPr>
          <a:xfrm>
            <a:off x="320040" y="713232"/>
            <a:ext cx="11558016" cy="25400"/>
          </a:xfrm>
          <a:prstGeom prst="rect">
            <a:avLst/>
          </a:prstGeom>
          <a:solidFill>
            <a:srgbClr val="008C95"/>
          </a:solidFill>
          <a:ln>
            <a:noFill/>
          </a:ln>
        </p:spPr>
        <p:txBody>
          <a:bodyPr lIns="0" tIns="0" rIns="0" bIns="0">
            <a:noAutofit/>
          </a:bodyPr>
          <a:lstStyle/>
          <a:p>
            <a:endParaRPr lang="en-US" sz="1800">
              <a:solidFill>
                <a:srgbClr val="20354A"/>
              </a:solidFill>
              <a:latin typeface="Arial"/>
              <a:ea typeface="Arial"/>
            </a:endParaRPr>
          </a:p>
        </p:txBody>
      </p:sp>
      <p:sp>
        <p:nvSpPr>
          <p:cNvPr id="100001" name="S09.Direct.Panel"/>
          <p:cNvSpPr/>
          <p:nvPr/>
        </p:nvSpPr>
        <p:spPr>
          <a:xfrm>
            <a:off x="320040" y="987552"/>
            <a:ext cx="5596128" cy="3611880"/>
          </a:xfrm>
          <a:prstGeom prst="roundRect">
            <a:avLst>
              <a:gd name="adj" fmla="val 4000"/>
            </a:avLst>
          </a:prstGeom>
          <a:solidFill>
            <a:srgbClr val="F1F5F8"/>
          </a:solidFill>
          <a:ln>
            <a:noFill/>
          </a:ln>
        </p:spPr>
        <p:txBody>
          <a:bodyPr lIns="0" tIns="0" rIns="0" bIns="0">
            <a:noAutofit/>
          </a:bodyPr>
          <a:lstStyle/>
          <a:p>
            <a:endParaRPr lang="en-US" sz="1800">
              <a:solidFill>
                <a:srgbClr val="20354A"/>
              </a:solidFill>
              <a:latin typeface="Arial"/>
              <a:ea typeface="Arial"/>
            </a:endParaRPr>
          </a:p>
        </p:txBody>
      </p:sp>
      <p:sp>
        <p:nvSpPr>
          <p:cNvPr id="100002" name="S09.Direct.Heading"/>
          <p:cNvSpPr txBox="1"/>
          <p:nvPr/>
        </p:nvSpPr>
        <p:spPr>
          <a:xfrm>
            <a:off x="484632" y="1124712"/>
            <a:ext cx="5266944" cy="411480"/>
          </a:xfrm>
          <a:prstGeom prst="rect">
            <a:avLst/>
          </a:prstGeom>
          <a:noFill/>
          <a:ln>
            <a:noFill/>
          </a:ln>
        </p:spPr>
        <p:txBody>
          <a:bodyPr lIns="0" tIns="0" rIns="0" bIns="0">
            <a:noAutofit/>
          </a:bodyPr>
          <a:lstStyle/>
          <a:p>
            <a:r>
              <a:rPr lang="en-US" sz="2400" b="1">
                <a:solidFill>
                  <a:srgbClr val="183B56"/>
                </a:solidFill>
                <a:latin typeface="Arial"/>
                <a:ea typeface="Arial"/>
              </a:rPr>
              <a:t>Direct PCIe Access</a:t>
            </a:r>
          </a:p>
        </p:txBody>
      </p:sp>
      <p:sp>
        <p:nvSpPr>
          <p:cNvPr id="100003" name="S09.Direct.Host"/>
          <p:cNvSpPr txBox="1"/>
          <p:nvPr/>
        </p:nvSpPr>
        <p:spPr>
          <a:xfrm>
            <a:off x="502920" y="1719072"/>
            <a:ext cx="5230368" cy="594360"/>
          </a:xfrm>
          <a:prstGeom prst="rect">
            <a:avLst/>
          </a:prstGeom>
          <a:solidFill>
            <a:srgbClr val="FFFFFF"/>
          </a:solidFill>
          <a:ln w="25400">
            <a:solidFill>
              <a:srgbClr val="183B56"/>
            </a:solidFill>
          </a:ln>
        </p:spPr>
        <p:txBody>
          <a:bodyPr lIns="0" tIns="0" rIns="0" bIns="0" anchor="ctr">
            <a:noAutofit/>
          </a:bodyPr>
          <a:lstStyle/>
          <a:p>
            <a:pPr algn="ctr"/>
            <a:r>
              <a:rPr lang="en-US" sz="2400" b="1">
                <a:solidFill>
                  <a:srgbClr val="183B56"/>
                </a:solidFill>
                <a:latin typeface="Arial"/>
                <a:ea typeface="Arial"/>
              </a:rPr>
              <a:t>Host</a:t>
            </a:r>
          </a:p>
        </p:txBody>
      </p:sp>
      <p:sp>
        <p:nvSpPr>
          <p:cNvPr id="100004" name="S09.Direct.Node0"/>
          <p:cNvSpPr/>
          <p:nvPr/>
        </p:nvSpPr>
        <p:spPr>
          <a:xfrm>
            <a:off x="484632" y="3127248"/>
            <a:ext cx="1408176" cy="1078992"/>
          </a:xfrm>
          <a:prstGeom prst="rect">
            <a:avLst/>
          </a:prstGeom>
          <a:solidFill>
            <a:srgbClr val="FFFFFF"/>
          </a:solidFill>
          <a:ln w="25400">
            <a:solidFill>
              <a:srgbClr val="183B56"/>
            </a:solidFill>
          </a:ln>
        </p:spPr>
        <p:txBody>
          <a:bodyPr lIns="0" tIns="0" rIns="0" bIns="0">
            <a:noAutofit/>
          </a:bodyPr>
          <a:lstStyle/>
          <a:p>
            <a:endParaRPr lang="en-US" sz="1800">
              <a:solidFill>
                <a:srgbClr val="20354A"/>
              </a:solidFill>
              <a:latin typeface="Arial"/>
              <a:ea typeface="Arial"/>
            </a:endParaRPr>
          </a:p>
        </p:txBody>
      </p:sp>
      <p:sp>
        <p:nvSpPr>
          <p:cNvPr id="100005" name="S09.Direct.Node0.Label"/>
          <p:cNvSpPr txBox="1"/>
          <p:nvPr/>
        </p:nvSpPr>
        <p:spPr>
          <a:xfrm>
            <a:off x="521208" y="3255264"/>
            <a:ext cx="1335024" cy="274320"/>
          </a:xfrm>
          <a:prstGeom prst="rect">
            <a:avLst/>
          </a:prstGeom>
          <a:noFill/>
          <a:ln>
            <a:noFill/>
          </a:ln>
        </p:spPr>
        <p:txBody>
          <a:bodyPr lIns="0" tIns="0" rIns="0" bIns="0">
            <a:noAutofit/>
          </a:bodyPr>
          <a:lstStyle/>
          <a:p>
            <a:pPr algn="ctr"/>
            <a:r>
              <a:rPr lang="en-US" sz="1700" b="1">
                <a:solidFill>
                  <a:srgbClr val="183B56"/>
                </a:solidFill>
                <a:latin typeface="Arial"/>
                <a:ea typeface="Arial"/>
              </a:rPr>
              <a:t>FPGA A</a:t>
            </a:r>
          </a:p>
        </p:txBody>
      </p:sp>
      <p:sp>
        <p:nvSpPr>
          <p:cNvPr id="100006" name="S09.Direct.Node0.Resources"/>
          <p:cNvSpPr txBox="1"/>
          <p:nvPr/>
        </p:nvSpPr>
        <p:spPr>
          <a:xfrm>
            <a:off x="576072" y="3621024"/>
            <a:ext cx="1225296" cy="475488"/>
          </a:xfrm>
          <a:prstGeom prst="rect">
            <a:avLst/>
          </a:prstGeom>
          <a:solidFill>
            <a:srgbClr val="F1F5F8"/>
          </a:solidFill>
          <a:ln w="8890">
            <a:solidFill>
              <a:srgbClr val="BDCBD4"/>
            </a:solidFill>
          </a:ln>
        </p:spPr>
        <p:txBody>
          <a:bodyPr lIns="0" tIns="0" rIns="0" bIns="0" anchor="ctr">
            <a:noAutofit/>
          </a:bodyPr>
          <a:lstStyle/>
          <a:p>
            <a:pPr algn="ctr"/>
            <a:r>
              <a:rPr lang="en-US" sz="1400">
                <a:solidFill>
                  <a:srgbClr val="20354A"/>
                </a:solidFill>
                <a:latin typeface="Arial"/>
                <a:ea typeface="Arial"/>
              </a:rPr>
              <a:t>Registers</a:t>
            </a:r>
          </a:p>
          <a:p>
            <a:pPr algn="ctr"/>
            <a:r>
              <a:rPr lang="en-US" sz="1400">
                <a:solidFill>
                  <a:srgbClr val="20354A"/>
                </a:solidFill>
                <a:latin typeface="Arial"/>
                <a:ea typeface="Arial"/>
              </a:rPr>
              <a:t>Memory</a:t>
            </a:r>
          </a:p>
        </p:txBody>
      </p:sp>
      <p:sp>
        <p:nvSpPr>
          <p:cNvPr id="100007" name="S09.Direct.PCIe0"/>
          <p:cNvSpPr/>
          <p:nvPr/>
        </p:nvSpPr>
        <p:spPr>
          <a:xfrm>
            <a:off x="1120140" y="2331720"/>
            <a:ext cx="137160" cy="777240"/>
          </a:xfrm>
          <a:prstGeom prst="upDownArrow">
            <a:avLst/>
          </a:prstGeom>
          <a:solidFill>
            <a:srgbClr val="183B56"/>
          </a:solidFill>
          <a:ln>
            <a:noFill/>
          </a:ln>
        </p:spPr>
        <p:txBody>
          <a:bodyPr lIns="0" tIns="0" rIns="0" bIns="0">
            <a:noAutofit/>
          </a:bodyPr>
          <a:lstStyle/>
          <a:p>
            <a:endParaRPr lang="en-US" sz="1800">
              <a:solidFill>
                <a:srgbClr val="20354A"/>
              </a:solidFill>
              <a:latin typeface="Arial"/>
              <a:ea typeface="Arial"/>
            </a:endParaRPr>
          </a:p>
        </p:txBody>
      </p:sp>
      <p:sp>
        <p:nvSpPr>
          <p:cNvPr id="100008" name="S09.Direct.PCIe0.Label"/>
          <p:cNvSpPr txBox="1"/>
          <p:nvPr/>
        </p:nvSpPr>
        <p:spPr>
          <a:xfrm>
            <a:off x="1298448" y="2578608"/>
            <a:ext cx="658368" cy="274320"/>
          </a:xfrm>
          <a:prstGeom prst="rect">
            <a:avLst/>
          </a:prstGeom>
          <a:noFill/>
          <a:ln>
            <a:noFill/>
          </a:ln>
        </p:spPr>
        <p:txBody>
          <a:bodyPr lIns="0" tIns="0" rIns="0" bIns="0">
            <a:noAutofit/>
          </a:bodyPr>
          <a:lstStyle/>
          <a:p>
            <a:r>
              <a:rPr lang="en-US" sz="1600" b="1">
                <a:solidFill>
                  <a:srgbClr val="183B56"/>
                </a:solidFill>
                <a:latin typeface="Arial"/>
                <a:ea typeface="Arial"/>
              </a:rPr>
              <a:t>PCIe</a:t>
            </a:r>
          </a:p>
        </p:txBody>
      </p:sp>
      <p:sp>
        <p:nvSpPr>
          <p:cNvPr id="100009" name="S09.Direct.Link0"/>
          <p:cNvSpPr/>
          <p:nvPr/>
        </p:nvSpPr>
        <p:spPr>
          <a:xfrm>
            <a:off x="1911096" y="3703320"/>
            <a:ext cx="484632" cy="137160"/>
          </a:xfrm>
          <a:prstGeom prst="leftRightArrow">
            <a:avLst/>
          </a:prstGeom>
          <a:solidFill>
            <a:srgbClr val="91A5B5"/>
          </a:solidFill>
          <a:ln>
            <a:noFill/>
          </a:ln>
        </p:spPr>
        <p:txBody>
          <a:bodyPr lIns="0" tIns="0" rIns="0" bIns="0">
            <a:noAutofit/>
          </a:bodyPr>
          <a:lstStyle/>
          <a:p>
            <a:endParaRPr lang="en-US" sz="1800">
              <a:solidFill>
                <a:srgbClr val="20354A"/>
              </a:solidFill>
              <a:latin typeface="Arial"/>
              <a:ea typeface="Arial"/>
            </a:endParaRPr>
          </a:p>
        </p:txBody>
      </p:sp>
      <p:sp>
        <p:nvSpPr>
          <p:cNvPr id="100010" name="S09.Direct.Node1"/>
          <p:cNvSpPr/>
          <p:nvPr/>
        </p:nvSpPr>
        <p:spPr>
          <a:xfrm>
            <a:off x="2414016" y="3127248"/>
            <a:ext cx="1408176" cy="1078992"/>
          </a:xfrm>
          <a:prstGeom prst="rect">
            <a:avLst/>
          </a:prstGeom>
          <a:solidFill>
            <a:srgbClr val="FFFFFF"/>
          </a:solidFill>
          <a:ln w="25400">
            <a:solidFill>
              <a:srgbClr val="183B56"/>
            </a:solidFill>
          </a:ln>
        </p:spPr>
        <p:txBody>
          <a:bodyPr lIns="0" tIns="0" rIns="0" bIns="0">
            <a:noAutofit/>
          </a:bodyPr>
          <a:lstStyle/>
          <a:p>
            <a:endParaRPr lang="en-US" sz="1800">
              <a:solidFill>
                <a:srgbClr val="20354A"/>
              </a:solidFill>
              <a:latin typeface="Arial"/>
              <a:ea typeface="Arial"/>
            </a:endParaRPr>
          </a:p>
        </p:txBody>
      </p:sp>
      <p:sp>
        <p:nvSpPr>
          <p:cNvPr id="100011" name="S09.Direct.Node1.Label"/>
          <p:cNvSpPr txBox="1"/>
          <p:nvPr/>
        </p:nvSpPr>
        <p:spPr>
          <a:xfrm>
            <a:off x="2450592" y="3255264"/>
            <a:ext cx="1335024" cy="274320"/>
          </a:xfrm>
          <a:prstGeom prst="rect">
            <a:avLst/>
          </a:prstGeom>
          <a:noFill/>
          <a:ln>
            <a:noFill/>
          </a:ln>
        </p:spPr>
        <p:txBody>
          <a:bodyPr lIns="0" tIns="0" rIns="0" bIns="0">
            <a:noAutofit/>
          </a:bodyPr>
          <a:lstStyle/>
          <a:p>
            <a:pPr algn="ctr"/>
            <a:r>
              <a:rPr lang="en-US" sz="1700" b="1">
                <a:solidFill>
                  <a:srgbClr val="183B56"/>
                </a:solidFill>
                <a:latin typeface="Arial"/>
                <a:ea typeface="Arial"/>
              </a:rPr>
              <a:t>FPGA B</a:t>
            </a:r>
          </a:p>
        </p:txBody>
      </p:sp>
      <p:sp>
        <p:nvSpPr>
          <p:cNvPr id="100012" name="S09.Direct.Node1.Resources"/>
          <p:cNvSpPr txBox="1"/>
          <p:nvPr/>
        </p:nvSpPr>
        <p:spPr>
          <a:xfrm>
            <a:off x="2505456" y="3621024"/>
            <a:ext cx="1225296" cy="475488"/>
          </a:xfrm>
          <a:prstGeom prst="rect">
            <a:avLst/>
          </a:prstGeom>
          <a:solidFill>
            <a:srgbClr val="F1F5F8"/>
          </a:solidFill>
          <a:ln w="8890">
            <a:solidFill>
              <a:srgbClr val="BDCBD4"/>
            </a:solidFill>
          </a:ln>
        </p:spPr>
        <p:txBody>
          <a:bodyPr lIns="0" tIns="0" rIns="0" bIns="0" anchor="ctr">
            <a:noAutofit/>
          </a:bodyPr>
          <a:lstStyle/>
          <a:p>
            <a:pPr algn="ctr"/>
            <a:r>
              <a:rPr lang="en-US" sz="1400">
                <a:solidFill>
                  <a:srgbClr val="20354A"/>
                </a:solidFill>
                <a:latin typeface="Arial"/>
                <a:ea typeface="Arial"/>
              </a:rPr>
              <a:t>Registers</a:t>
            </a:r>
          </a:p>
          <a:p>
            <a:pPr algn="ctr"/>
            <a:r>
              <a:rPr lang="en-US" sz="1400">
                <a:solidFill>
                  <a:srgbClr val="20354A"/>
                </a:solidFill>
                <a:latin typeface="Arial"/>
                <a:ea typeface="Arial"/>
              </a:rPr>
              <a:t>Memory</a:t>
            </a:r>
          </a:p>
        </p:txBody>
      </p:sp>
      <p:sp>
        <p:nvSpPr>
          <p:cNvPr id="100013" name="S09.Direct.PCIe1"/>
          <p:cNvSpPr/>
          <p:nvPr/>
        </p:nvSpPr>
        <p:spPr>
          <a:xfrm>
            <a:off x="3049524" y="2331720"/>
            <a:ext cx="137160" cy="777240"/>
          </a:xfrm>
          <a:prstGeom prst="upDownArrow">
            <a:avLst/>
          </a:prstGeom>
          <a:solidFill>
            <a:srgbClr val="183B56"/>
          </a:solidFill>
          <a:ln>
            <a:noFill/>
          </a:ln>
        </p:spPr>
        <p:txBody>
          <a:bodyPr lIns="0" tIns="0" rIns="0" bIns="0">
            <a:noAutofit/>
          </a:bodyPr>
          <a:lstStyle/>
          <a:p>
            <a:endParaRPr lang="en-US" sz="1800">
              <a:solidFill>
                <a:srgbClr val="20354A"/>
              </a:solidFill>
              <a:latin typeface="Arial"/>
              <a:ea typeface="Arial"/>
            </a:endParaRPr>
          </a:p>
        </p:txBody>
      </p:sp>
      <p:sp>
        <p:nvSpPr>
          <p:cNvPr id="100014" name="S09.Direct.PCIe1.Label"/>
          <p:cNvSpPr txBox="1"/>
          <p:nvPr/>
        </p:nvSpPr>
        <p:spPr>
          <a:xfrm>
            <a:off x="3227832" y="2578608"/>
            <a:ext cx="658368" cy="274320"/>
          </a:xfrm>
          <a:prstGeom prst="rect">
            <a:avLst/>
          </a:prstGeom>
          <a:noFill/>
          <a:ln>
            <a:noFill/>
          </a:ln>
        </p:spPr>
        <p:txBody>
          <a:bodyPr lIns="0" tIns="0" rIns="0" bIns="0">
            <a:noAutofit/>
          </a:bodyPr>
          <a:lstStyle/>
          <a:p>
            <a:r>
              <a:rPr lang="en-US" sz="1600" b="1">
                <a:solidFill>
                  <a:srgbClr val="183B56"/>
                </a:solidFill>
                <a:latin typeface="Arial"/>
                <a:ea typeface="Arial"/>
              </a:rPr>
              <a:t>PCIe</a:t>
            </a:r>
          </a:p>
        </p:txBody>
      </p:sp>
      <p:sp>
        <p:nvSpPr>
          <p:cNvPr id="100015" name="S09.Direct.Link1"/>
          <p:cNvSpPr/>
          <p:nvPr/>
        </p:nvSpPr>
        <p:spPr>
          <a:xfrm>
            <a:off x="3840480" y="3703320"/>
            <a:ext cx="484632" cy="137160"/>
          </a:xfrm>
          <a:prstGeom prst="leftRightArrow">
            <a:avLst/>
          </a:prstGeom>
          <a:solidFill>
            <a:srgbClr val="91A5B5"/>
          </a:solidFill>
          <a:ln>
            <a:noFill/>
          </a:ln>
        </p:spPr>
        <p:txBody>
          <a:bodyPr lIns="0" tIns="0" rIns="0" bIns="0">
            <a:noAutofit/>
          </a:bodyPr>
          <a:lstStyle/>
          <a:p>
            <a:endParaRPr lang="en-US" sz="1800">
              <a:solidFill>
                <a:srgbClr val="20354A"/>
              </a:solidFill>
              <a:latin typeface="Arial"/>
              <a:ea typeface="Arial"/>
            </a:endParaRPr>
          </a:p>
        </p:txBody>
      </p:sp>
      <p:sp>
        <p:nvSpPr>
          <p:cNvPr id="100016" name="S09.Direct.Node2"/>
          <p:cNvSpPr/>
          <p:nvPr/>
        </p:nvSpPr>
        <p:spPr>
          <a:xfrm>
            <a:off x="4343400" y="3127248"/>
            <a:ext cx="1408176" cy="1078992"/>
          </a:xfrm>
          <a:prstGeom prst="rect">
            <a:avLst/>
          </a:prstGeom>
          <a:solidFill>
            <a:srgbClr val="FFFFFF"/>
          </a:solidFill>
          <a:ln w="25400">
            <a:solidFill>
              <a:srgbClr val="183B56"/>
            </a:solidFill>
          </a:ln>
        </p:spPr>
        <p:txBody>
          <a:bodyPr lIns="0" tIns="0" rIns="0" bIns="0">
            <a:noAutofit/>
          </a:bodyPr>
          <a:lstStyle/>
          <a:p>
            <a:endParaRPr lang="en-US" sz="1800">
              <a:solidFill>
                <a:srgbClr val="20354A"/>
              </a:solidFill>
              <a:latin typeface="Arial"/>
              <a:ea typeface="Arial"/>
            </a:endParaRPr>
          </a:p>
        </p:txBody>
      </p:sp>
      <p:sp>
        <p:nvSpPr>
          <p:cNvPr id="100017" name="S09.Direct.Node2.Label"/>
          <p:cNvSpPr txBox="1"/>
          <p:nvPr/>
        </p:nvSpPr>
        <p:spPr>
          <a:xfrm>
            <a:off x="4379976" y="3255264"/>
            <a:ext cx="1335024" cy="274320"/>
          </a:xfrm>
          <a:prstGeom prst="rect">
            <a:avLst/>
          </a:prstGeom>
          <a:noFill/>
          <a:ln>
            <a:noFill/>
          </a:ln>
        </p:spPr>
        <p:txBody>
          <a:bodyPr lIns="0" tIns="0" rIns="0" bIns="0">
            <a:noAutofit/>
          </a:bodyPr>
          <a:lstStyle/>
          <a:p>
            <a:pPr algn="ctr"/>
            <a:r>
              <a:rPr lang="en-US" sz="1700" b="1">
                <a:solidFill>
                  <a:srgbClr val="183B56"/>
                </a:solidFill>
                <a:latin typeface="Arial"/>
                <a:ea typeface="Arial"/>
              </a:rPr>
              <a:t>FPGA C</a:t>
            </a:r>
          </a:p>
        </p:txBody>
      </p:sp>
      <p:sp>
        <p:nvSpPr>
          <p:cNvPr id="100018" name="S09.Direct.Node2.Resources"/>
          <p:cNvSpPr txBox="1"/>
          <p:nvPr/>
        </p:nvSpPr>
        <p:spPr>
          <a:xfrm>
            <a:off x="4434840" y="3621024"/>
            <a:ext cx="1225296" cy="475488"/>
          </a:xfrm>
          <a:prstGeom prst="rect">
            <a:avLst/>
          </a:prstGeom>
          <a:solidFill>
            <a:srgbClr val="F1F5F8"/>
          </a:solidFill>
          <a:ln w="8890">
            <a:solidFill>
              <a:srgbClr val="BDCBD4"/>
            </a:solidFill>
          </a:ln>
        </p:spPr>
        <p:txBody>
          <a:bodyPr lIns="0" tIns="0" rIns="0" bIns="0" anchor="ctr">
            <a:noAutofit/>
          </a:bodyPr>
          <a:lstStyle/>
          <a:p>
            <a:pPr algn="ctr"/>
            <a:r>
              <a:rPr lang="en-US" sz="1400">
                <a:solidFill>
                  <a:srgbClr val="20354A"/>
                </a:solidFill>
                <a:latin typeface="Arial"/>
                <a:ea typeface="Arial"/>
              </a:rPr>
              <a:t>Registers</a:t>
            </a:r>
          </a:p>
          <a:p>
            <a:pPr algn="ctr"/>
            <a:r>
              <a:rPr lang="en-US" sz="1400">
                <a:solidFill>
                  <a:srgbClr val="20354A"/>
                </a:solidFill>
                <a:latin typeface="Arial"/>
                <a:ea typeface="Arial"/>
              </a:rPr>
              <a:t>Memory</a:t>
            </a:r>
          </a:p>
        </p:txBody>
      </p:sp>
      <p:sp>
        <p:nvSpPr>
          <p:cNvPr id="100019" name="S09.Direct.PCIe2"/>
          <p:cNvSpPr/>
          <p:nvPr/>
        </p:nvSpPr>
        <p:spPr>
          <a:xfrm>
            <a:off x="4978908" y="2331720"/>
            <a:ext cx="137160" cy="777240"/>
          </a:xfrm>
          <a:prstGeom prst="upDownArrow">
            <a:avLst/>
          </a:prstGeom>
          <a:solidFill>
            <a:srgbClr val="183B56"/>
          </a:solidFill>
          <a:ln>
            <a:noFill/>
          </a:ln>
        </p:spPr>
        <p:txBody>
          <a:bodyPr lIns="0" tIns="0" rIns="0" bIns="0">
            <a:noAutofit/>
          </a:bodyPr>
          <a:lstStyle/>
          <a:p>
            <a:endParaRPr lang="en-US" sz="1800">
              <a:solidFill>
                <a:srgbClr val="20354A"/>
              </a:solidFill>
              <a:latin typeface="Arial"/>
              <a:ea typeface="Arial"/>
            </a:endParaRPr>
          </a:p>
        </p:txBody>
      </p:sp>
      <p:sp>
        <p:nvSpPr>
          <p:cNvPr id="100020" name="S09.Direct.PCIe2.Label"/>
          <p:cNvSpPr txBox="1"/>
          <p:nvPr/>
        </p:nvSpPr>
        <p:spPr>
          <a:xfrm>
            <a:off x="5157216" y="2578608"/>
            <a:ext cx="658368" cy="274320"/>
          </a:xfrm>
          <a:prstGeom prst="rect">
            <a:avLst/>
          </a:prstGeom>
          <a:noFill/>
          <a:ln>
            <a:noFill/>
          </a:ln>
        </p:spPr>
        <p:txBody>
          <a:bodyPr lIns="0" tIns="0" rIns="0" bIns="0">
            <a:noAutofit/>
          </a:bodyPr>
          <a:lstStyle/>
          <a:p>
            <a:r>
              <a:rPr lang="en-US" sz="1600" b="1">
                <a:solidFill>
                  <a:srgbClr val="183B56"/>
                </a:solidFill>
                <a:latin typeface="Arial"/>
                <a:ea typeface="Arial"/>
              </a:rPr>
              <a:t>PCIe</a:t>
            </a:r>
          </a:p>
        </p:txBody>
      </p:sp>
      <p:sp>
        <p:nvSpPr>
          <p:cNvPr id="100022" name="S09.Direct.Bullet0"/>
          <p:cNvSpPr/>
          <p:nvPr/>
        </p:nvSpPr>
        <p:spPr>
          <a:xfrm>
            <a:off x="374904" y="5084064"/>
            <a:ext cx="91440" cy="91440"/>
          </a:xfrm>
          <a:prstGeom prst="ellipse">
            <a:avLst/>
          </a:prstGeom>
          <a:solidFill>
            <a:srgbClr val="008C95"/>
          </a:solidFill>
          <a:ln>
            <a:noFill/>
          </a:ln>
        </p:spPr>
        <p:txBody>
          <a:bodyPr lIns="0" tIns="0" rIns="0" bIns="0">
            <a:noAutofit/>
          </a:bodyPr>
          <a:lstStyle/>
          <a:p>
            <a:endParaRPr lang="en-US" sz="1800">
              <a:solidFill>
                <a:srgbClr val="20354A"/>
              </a:solidFill>
              <a:latin typeface="Arial"/>
              <a:ea typeface="Arial"/>
            </a:endParaRPr>
          </a:p>
        </p:txBody>
      </p:sp>
      <p:sp>
        <p:nvSpPr>
          <p:cNvPr id="100023" name="S09.Direct.Text0"/>
          <p:cNvSpPr txBox="1"/>
          <p:nvPr/>
        </p:nvSpPr>
        <p:spPr>
          <a:xfrm>
            <a:off x="649224" y="4965192"/>
            <a:ext cx="5266944" cy="475488"/>
          </a:xfrm>
          <a:prstGeom prst="rect">
            <a:avLst/>
          </a:prstGeom>
          <a:noFill/>
          <a:ln>
            <a:noFill/>
          </a:ln>
        </p:spPr>
        <p:txBody>
          <a:bodyPr lIns="0" tIns="0" rIns="0" bIns="0">
            <a:noAutofit/>
          </a:bodyPr>
          <a:lstStyle/>
          <a:p>
            <a:r>
              <a:rPr lang="en-US" sz="2200">
                <a:solidFill>
                  <a:srgbClr val="20354A"/>
                </a:solidFill>
                <a:latin typeface="Arial"/>
                <a:ea typeface="Arial"/>
              </a:rPr>
              <a:t>Separate Host connection per FPGA</a:t>
            </a:r>
          </a:p>
        </p:txBody>
      </p:sp>
      <p:sp>
        <p:nvSpPr>
          <p:cNvPr id="100024" name="S09.Direct.Bullet1"/>
          <p:cNvSpPr/>
          <p:nvPr/>
        </p:nvSpPr>
        <p:spPr>
          <a:xfrm>
            <a:off x="374904" y="5586984"/>
            <a:ext cx="91440" cy="91440"/>
          </a:xfrm>
          <a:prstGeom prst="ellipse">
            <a:avLst/>
          </a:prstGeom>
          <a:solidFill>
            <a:srgbClr val="008C95"/>
          </a:solidFill>
          <a:ln>
            <a:noFill/>
          </a:ln>
        </p:spPr>
        <p:txBody>
          <a:bodyPr lIns="0" tIns="0" rIns="0" bIns="0">
            <a:noAutofit/>
          </a:bodyPr>
          <a:lstStyle/>
          <a:p>
            <a:endParaRPr lang="en-US" sz="1800">
              <a:solidFill>
                <a:srgbClr val="20354A"/>
              </a:solidFill>
              <a:latin typeface="Arial"/>
              <a:ea typeface="Arial"/>
            </a:endParaRPr>
          </a:p>
        </p:txBody>
      </p:sp>
      <p:sp>
        <p:nvSpPr>
          <p:cNvPr id="100025" name="S09.Direct.Text1"/>
          <p:cNvSpPr txBox="1"/>
          <p:nvPr/>
        </p:nvSpPr>
        <p:spPr>
          <a:xfrm>
            <a:off x="649224" y="5456237"/>
            <a:ext cx="5266944" cy="475488"/>
          </a:xfrm>
          <a:prstGeom prst="rect">
            <a:avLst/>
          </a:prstGeom>
          <a:noFill/>
          <a:ln>
            <a:noFill/>
          </a:ln>
        </p:spPr>
        <p:txBody>
          <a:bodyPr lIns="0" tIns="0" rIns="0" bIns="0">
            <a:noAutofit/>
          </a:bodyPr>
          <a:lstStyle/>
          <a:p>
            <a:r>
              <a:rPr lang="en-US" sz="2200">
                <a:solidFill>
                  <a:srgbClr val="20354A"/>
                </a:solidFill>
                <a:latin typeface="Arial"/>
                <a:ea typeface="Arial"/>
              </a:rPr>
              <a:t>Limited by Host PCIe connectivity</a:t>
            </a:r>
          </a:p>
        </p:txBody>
      </p:sp>
      <p:sp>
        <p:nvSpPr>
          <p:cNvPr id="100026" name="S09.Fabric.Panel"/>
          <p:cNvSpPr/>
          <p:nvPr/>
        </p:nvSpPr>
        <p:spPr>
          <a:xfrm>
            <a:off x="6281928" y="987552"/>
            <a:ext cx="5596128" cy="3611880"/>
          </a:xfrm>
          <a:prstGeom prst="roundRect">
            <a:avLst>
              <a:gd name="adj" fmla="val 4000"/>
            </a:avLst>
          </a:prstGeom>
          <a:solidFill>
            <a:srgbClr val="EAF4F3"/>
          </a:solidFill>
          <a:ln>
            <a:noFill/>
          </a:ln>
        </p:spPr>
        <p:txBody>
          <a:bodyPr lIns="0" tIns="0" rIns="0" bIns="0">
            <a:noAutofit/>
          </a:bodyPr>
          <a:lstStyle/>
          <a:p>
            <a:endParaRPr lang="en-US" sz="1800">
              <a:solidFill>
                <a:srgbClr val="20354A"/>
              </a:solidFill>
              <a:latin typeface="Arial"/>
              <a:ea typeface="Arial"/>
            </a:endParaRPr>
          </a:p>
        </p:txBody>
      </p:sp>
      <p:sp>
        <p:nvSpPr>
          <p:cNvPr id="100027" name="S09.Fabric.Heading"/>
          <p:cNvSpPr txBox="1"/>
          <p:nvPr/>
        </p:nvSpPr>
        <p:spPr>
          <a:xfrm>
            <a:off x="6446520" y="1124712"/>
            <a:ext cx="5266944" cy="411480"/>
          </a:xfrm>
          <a:prstGeom prst="rect">
            <a:avLst/>
          </a:prstGeom>
          <a:noFill/>
          <a:ln>
            <a:noFill/>
          </a:ln>
        </p:spPr>
        <p:txBody>
          <a:bodyPr lIns="0" tIns="0" rIns="0" bIns="0">
            <a:noAutofit/>
          </a:bodyPr>
          <a:lstStyle/>
          <a:p>
            <a:r>
              <a:rPr lang="en-US" sz="2400" b="1">
                <a:solidFill>
                  <a:srgbClr val="183B56"/>
                </a:solidFill>
                <a:latin typeface="Arial"/>
                <a:ea typeface="Arial"/>
              </a:rPr>
              <a:t>Fabric-Based Access</a:t>
            </a:r>
          </a:p>
        </p:txBody>
      </p:sp>
      <p:sp>
        <p:nvSpPr>
          <p:cNvPr id="100028" name="S09.Fabric.Host"/>
          <p:cNvSpPr txBox="1"/>
          <p:nvPr/>
        </p:nvSpPr>
        <p:spPr>
          <a:xfrm>
            <a:off x="6464808" y="1719072"/>
            <a:ext cx="5230368" cy="594360"/>
          </a:xfrm>
          <a:prstGeom prst="rect">
            <a:avLst/>
          </a:prstGeom>
          <a:solidFill>
            <a:srgbClr val="FFFFFF"/>
          </a:solidFill>
          <a:ln w="25400">
            <a:solidFill>
              <a:srgbClr val="183B56"/>
            </a:solidFill>
          </a:ln>
        </p:spPr>
        <p:txBody>
          <a:bodyPr lIns="0" tIns="0" rIns="0" bIns="0" anchor="ctr">
            <a:noAutofit/>
          </a:bodyPr>
          <a:lstStyle/>
          <a:p>
            <a:pPr algn="ctr"/>
            <a:r>
              <a:rPr lang="en-US" sz="2400" b="1">
                <a:solidFill>
                  <a:srgbClr val="183B56"/>
                </a:solidFill>
                <a:latin typeface="Arial"/>
                <a:ea typeface="Arial"/>
              </a:rPr>
              <a:t>Host</a:t>
            </a:r>
          </a:p>
        </p:txBody>
      </p:sp>
      <p:sp>
        <p:nvSpPr>
          <p:cNvPr id="100029" name="S09.Fabric.Node0"/>
          <p:cNvSpPr/>
          <p:nvPr/>
        </p:nvSpPr>
        <p:spPr>
          <a:xfrm>
            <a:off x="6446520" y="3127248"/>
            <a:ext cx="1408176" cy="1078992"/>
          </a:xfrm>
          <a:prstGeom prst="rect">
            <a:avLst/>
          </a:prstGeom>
          <a:solidFill>
            <a:srgbClr val="FFFFFF"/>
          </a:solidFill>
          <a:ln w="25400">
            <a:solidFill>
              <a:srgbClr val="008C95"/>
            </a:solidFill>
          </a:ln>
        </p:spPr>
        <p:txBody>
          <a:bodyPr lIns="0" tIns="0" rIns="0" bIns="0">
            <a:noAutofit/>
          </a:bodyPr>
          <a:lstStyle/>
          <a:p>
            <a:endParaRPr lang="en-US" sz="1800">
              <a:solidFill>
                <a:srgbClr val="20354A"/>
              </a:solidFill>
              <a:latin typeface="Arial"/>
              <a:ea typeface="Arial"/>
            </a:endParaRPr>
          </a:p>
        </p:txBody>
      </p:sp>
      <p:sp>
        <p:nvSpPr>
          <p:cNvPr id="100030" name="S09.Fabric.Node0.Label"/>
          <p:cNvSpPr txBox="1"/>
          <p:nvPr/>
        </p:nvSpPr>
        <p:spPr>
          <a:xfrm>
            <a:off x="6483096" y="3255264"/>
            <a:ext cx="1335024" cy="274320"/>
          </a:xfrm>
          <a:prstGeom prst="rect">
            <a:avLst/>
          </a:prstGeom>
          <a:noFill/>
          <a:ln>
            <a:noFill/>
          </a:ln>
        </p:spPr>
        <p:txBody>
          <a:bodyPr lIns="0" tIns="0" rIns="0" bIns="0">
            <a:noAutofit/>
          </a:bodyPr>
          <a:lstStyle/>
          <a:p>
            <a:pPr algn="ctr"/>
            <a:r>
              <a:rPr lang="en-US" sz="1700" b="1" dirty="0">
                <a:solidFill>
                  <a:srgbClr val="008C95"/>
                </a:solidFill>
                <a:latin typeface="Arial"/>
                <a:ea typeface="Arial"/>
              </a:rPr>
              <a:t>Ref FPGA</a:t>
            </a:r>
          </a:p>
        </p:txBody>
      </p:sp>
      <p:sp>
        <p:nvSpPr>
          <p:cNvPr id="100031" name="S09.Fabric.Node0.Resources"/>
          <p:cNvSpPr txBox="1"/>
          <p:nvPr/>
        </p:nvSpPr>
        <p:spPr>
          <a:xfrm>
            <a:off x="6537960" y="3621024"/>
            <a:ext cx="1225296" cy="475488"/>
          </a:xfrm>
          <a:prstGeom prst="rect">
            <a:avLst/>
          </a:prstGeom>
          <a:solidFill>
            <a:srgbClr val="F1F5F8"/>
          </a:solidFill>
          <a:ln w="8890">
            <a:solidFill>
              <a:srgbClr val="BDCBD4"/>
            </a:solidFill>
          </a:ln>
        </p:spPr>
        <p:txBody>
          <a:bodyPr lIns="0" tIns="0" rIns="0" bIns="0" anchor="ctr">
            <a:noAutofit/>
          </a:bodyPr>
          <a:lstStyle/>
          <a:p>
            <a:pPr algn="ctr"/>
            <a:r>
              <a:rPr lang="en-US" sz="1400">
                <a:solidFill>
                  <a:srgbClr val="20354A"/>
                </a:solidFill>
                <a:latin typeface="Arial"/>
                <a:ea typeface="Arial"/>
              </a:rPr>
              <a:t>Registers</a:t>
            </a:r>
          </a:p>
          <a:p>
            <a:pPr algn="ctr"/>
            <a:r>
              <a:rPr lang="en-US" sz="1400">
                <a:solidFill>
                  <a:srgbClr val="20354A"/>
                </a:solidFill>
                <a:latin typeface="Arial"/>
                <a:ea typeface="Arial"/>
              </a:rPr>
              <a:t>Memory</a:t>
            </a:r>
          </a:p>
        </p:txBody>
      </p:sp>
      <p:sp>
        <p:nvSpPr>
          <p:cNvPr id="100032" name="S09.Fabric.PCIe0"/>
          <p:cNvSpPr/>
          <p:nvPr/>
        </p:nvSpPr>
        <p:spPr>
          <a:xfrm>
            <a:off x="7082028" y="2331720"/>
            <a:ext cx="137160" cy="777240"/>
          </a:xfrm>
          <a:prstGeom prst="upDownArrow">
            <a:avLst/>
          </a:prstGeom>
          <a:solidFill>
            <a:srgbClr val="183B56"/>
          </a:solidFill>
          <a:ln>
            <a:noFill/>
          </a:ln>
        </p:spPr>
        <p:txBody>
          <a:bodyPr lIns="0" tIns="0" rIns="0" bIns="0">
            <a:noAutofit/>
          </a:bodyPr>
          <a:lstStyle/>
          <a:p>
            <a:endParaRPr lang="en-US" sz="1800">
              <a:solidFill>
                <a:srgbClr val="20354A"/>
              </a:solidFill>
              <a:latin typeface="Arial"/>
              <a:ea typeface="Arial"/>
            </a:endParaRPr>
          </a:p>
        </p:txBody>
      </p:sp>
      <p:sp>
        <p:nvSpPr>
          <p:cNvPr id="100033" name="S09.Fabric.PCIe0.Label"/>
          <p:cNvSpPr txBox="1"/>
          <p:nvPr/>
        </p:nvSpPr>
        <p:spPr>
          <a:xfrm>
            <a:off x="7260336" y="2578608"/>
            <a:ext cx="658368" cy="274320"/>
          </a:xfrm>
          <a:prstGeom prst="rect">
            <a:avLst/>
          </a:prstGeom>
          <a:noFill/>
          <a:ln>
            <a:noFill/>
          </a:ln>
        </p:spPr>
        <p:txBody>
          <a:bodyPr lIns="0" tIns="0" rIns="0" bIns="0">
            <a:noAutofit/>
          </a:bodyPr>
          <a:lstStyle/>
          <a:p>
            <a:r>
              <a:rPr lang="en-US" sz="1600" b="1">
                <a:solidFill>
                  <a:srgbClr val="183B56"/>
                </a:solidFill>
                <a:latin typeface="Arial"/>
                <a:ea typeface="Arial"/>
              </a:rPr>
              <a:t>PCIe</a:t>
            </a:r>
          </a:p>
        </p:txBody>
      </p:sp>
      <p:sp>
        <p:nvSpPr>
          <p:cNvPr id="100034" name="S09.Fabric.Link0"/>
          <p:cNvSpPr/>
          <p:nvPr/>
        </p:nvSpPr>
        <p:spPr>
          <a:xfrm>
            <a:off x="7872984" y="3703320"/>
            <a:ext cx="484632" cy="137160"/>
          </a:xfrm>
          <a:prstGeom prst="leftRightArrow">
            <a:avLst/>
          </a:prstGeom>
          <a:solidFill>
            <a:srgbClr val="008C95"/>
          </a:solidFill>
          <a:ln>
            <a:noFill/>
          </a:ln>
        </p:spPr>
        <p:txBody>
          <a:bodyPr lIns="0" tIns="0" rIns="0" bIns="0">
            <a:noAutofit/>
          </a:bodyPr>
          <a:lstStyle/>
          <a:p>
            <a:endParaRPr lang="en-US" sz="1800">
              <a:solidFill>
                <a:srgbClr val="20354A"/>
              </a:solidFill>
              <a:latin typeface="Arial"/>
              <a:ea typeface="Arial"/>
            </a:endParaRPr>
          </a:p>
        </p:txBody>
      </p:sp>
      <p:sp>
        <p:nvSpPr>
          <p:cNvPr id="100035" name="S09.Fabric.Link0.Label"/>
          <p:cNvSpPr txBox="1"/>
          <p:nvPr/>
        </p:nvSpPr>
        <p:spPr>
          <a:xfrm>
            <a:off x="7836408" y="3447288"/>
            <a:ext cx="557784" cy="219456"/>
          </a:xfrm>
          <a:prstGeom prst="rect">
            <a:avLst/>
          </a:prstGeom>
          <a:noFill/>
          <a:ln>
            <a:noFill/>
          </a:ln>
        </p:spPr>
        <p:txBody>
          <a:bodyPr lIns="0" tIns="0" rIns="0" bIns="0">
            <a:noAutofit/>
          </a:bodyPr>
          <a:lstStyle/>
          <a:p>
            <a:pPr algn="ctr"/>
            <a:r>
              <a:rPr lang="en-US" sz="1200" b="1">
                <a:solidFill>
                  <a:srgbClr val="008C95"/>
                </a:solidFill>
                <a:latin typeface="Arial"/>
                <a:ea typeface="Arial"/>
              </a:rPr>
              <a:t>Fabric</a:t>
            </a:r>
          </a:p>
        </p:txBody>
      </p:sp>
      <p:sp>
        <p:nvSpPr>
          <p:cNvPr id="100036" name="S09.Fabric.Node1"/>
          <p:cNvSpPr/>
          <p:nvPr/>
        </p:nvSpPr>
        <p:spPr>
          <a:xfrm>
            <a:off x="8375904" y="3127248"/>
            <a:ext cx="1408176" cy="1078992"/>
          </a:xfrm>
          <a:prstGeom prst="rect">
            <a:avLst/>
          </a:prstGeom>
          <a:solidFill>
            <a:srgbClr val="FFFFFF"/>
          </a:solidFill>
          <a:ln w="25400">
            <a:solidFill>
              <a:srgbClr val="183B56"/>
            </a:solidFill>
          </a:ln>
        </p:spPr>
        <p:txBody>
          <a:bodyPr lIns="0" tIns="0" rIns="0" bIns="0">
            <a:noAutofit/>
          </a:bodyPr>
          <a:lstStyle/>
          <a:p>
            <a:endParaRPr lang="en-US" sz="1800">
              <a:solidFill>
                <a:srgbClr val="20354A"/>
              </a:solidFill>
              <a:latin typeface="Arial"/>
              <a:ea typeface="Arial"/>
            </a:endParaRPr>
          </a:p>
        </p:txBody>
      </p:sp>
      <p:sp>
        <p:nvSpPr>
          <p:cNvPr id="100037" name="S09.Fabric.Node1.Label"/>
          <p:cNvSpPr txBox="1"/>
          <p:nvPr/>
        </p:nvSpPr>
        <p:spPr>
          <a:xfrm>
            <a:off x="8412480" y="3255264"/>
            <a:ext cx="1335024" cy="274320"/>
          </a:xfrm>
          <a:prstGeom prst="rect">
            <a:avLst/>
          </a:prstGeom>
          <a:noFill/>
          <a:ln>
            <a:noFill/>
          </a:ln>
        </p:spPr>
        <p:txBody>
          <a:bodyPr lIns="0" tIns="0" rIns="0" bIns="0">
            <a:noAutofit/>
          </a:bodyPr>
          <a:lstStyle/>
          <a:p>
            <a:pPr algn="ctr"/>
            <a:r>
              <a:rPr lang="en-US" sz="1700" b="1">
                <a:solidFill>
                  <a:srgbClr val="183B56"/>
                </a:solidFill>
                <a:latin typeface="Arial"/>
                <a:ea typeface="Arial"/>
              </a:rPr>
              <a:t>FPGA B</a:t>
            </a:r>
          </a:p>
        </p:txBody>
      </p:sp>
      <p:sp>
        <p:nvSpPr>
          <p:cNvPr id="100038" name="S09.Fabric.Node1.Resources"/>
          <p:cNvSpPr txBox="1"/>
          <p:nvPr/>
        </p:nvSpPr>
        <p:spPr>
          <a:xfrm>
            <a:off x="8467344" y="3621024"/>
            <a:ext cx="1225296" cy="475488"/>
          </a:xfrm>
          <a:prstGeom prst="rect">
            <a:avLst/>
          </a:prstGeom>
          <a:solidFill>
            <a:srgbClr val="F1F5F8"/>
          </a:solidFill>
          <a:ln w="8890">
            <a:solidFill>
              <a:srgbClr val="BDCBD4"/>
            </a:solidFill>
          </a:ln>
        </p:spPr>
        <p:txBody>
          <a:bodyPr lIns="0" tIns="0" rIns="0" bIns="0" anchor="ctr">
            <a:noAutofit/>
          </a:bodyPr>
          <a:lstStyle/>
          <a:p>
            <a:pPr algn="ctr"/>
            <a:r>
              <a:rPr lang="en-US" sz="1400">
                <a:solidFill>
                  <a:srgbClr val="20354A"/>
                </a:solidFill>
                <a:latin typeface="Arial"/>
                <a:ea typeface="Arial"/>
              </a:rPr>
              <a:t>Registers</a:t>
            </a:r>
          </a:p>
          <a:p>
            <a:pPr algn="ctr"/>
            <a:r>
              <a:rPr lang="en-US" sz="1400">
                <a:solidFill>
                  <a:srgbClr val="20354A"/>
                </a:solidFill>
                <a:latin typeface="Arial"/>
                <a:ea typeface="Arial"/>
              </a:rPr>
              <a:t>Memory</a:t>
            </a:r>
          </a:p>
        </p:txBody>
      </p:sp>
      <p:sp>
        <p:nvSpPr>
          <p:cNvPr id="100039" name="S09.Fabric.Link1"/>
          <p:cNvSpPr/>
          <p:nvPr/>
        </p:nvSpPr>
        <p:spPr>
          <a:xfrm>
            <a:off x="9802368" y="3703320"/>
            <a:ext cx="484632" cy="137160"/>
          </a:xfrm>
          <a:prstGeom prst="leftRightArrow">
            <a:avLst/>
          </a:prstGeom>
          <a:solidFill>
            <a:srgbClr val="008C95"/>
          </a:solidFill>
          <a:ln>
            <a:noFill/>
          </a:ln>
        </p:spPr>
        <p:txBody>
          <a:bodyPr lIns="0" tIns="0" rIns="0" bIns="0">
            <a:noAutofit/>
          </a:bodyPr>
          <a:lstStyle/>
          <a:p>
            <a:endParaRPr lang="en-US" sz="1800">
              <a:solidFill>
                <a:srgbClr val="20354A"/>
              </a:solidFill>
              <a:latin typeface="Arial"/>
              <a:ea typeface="Arial"/>
            </a:endParaRPr>
          </a:p>
        </p:txBody>
      </p:sp>
      <p:sp>
        <p:nvSpPr>
          <p:cNvPr id="100040" name="S09.Fabric.Link1.Label"/>
          <p:cNvSpPr txBox="1"/>
          <p:nvPr/>
        </p:nvSpPr>
        <p:spPr>
          <a:xfrm>
            <a:off x="9765792" y="3447288"/>
            <a:ext cx="557784" cy="219456"/>
          </a:xfrm>
          <a:prstGeom prst="rect">
            <a:avLst/>
          </a:prstGeom>
          <a:noFill/>
          <a:ln>
            <a:noFill/>
          </a:ln>
        </p:spPr>
        <p:txBody>
          <a:bodyPr lIns="0" tIns="0" rIns="0" bIns="0">
            <a:noAutofit/>
          </a:bodyPr>
          <a:lstStyle/>
          <a:p>
            <a:pPr algn="ctr"/>
            <a:r>
              <a:rPr lang="en-US" sz="1200" b="1">
                <a:solidFill>
                  <a:srgbClr val="008C95"/>
                </a:solidFill>
                <a:latin typeface="Arial"/>
                <a:ea typeface="Arial"/>
              </a:rPr>
              <a:t>Fabric</a:t>
            </a:r>
          </a:p>
        </p:txBody>
      </p:sp>
      <p:sp>
        <p:nvSpPr>
          <p:cNvPr id="100041" name="S09.Fabric.Node2"/>
          <p:cNvSpPr/>
          <p:nvPr/>
        </p:nvSpPr>
        <p:spPr>
          <a:xfrm>
            <a:off x="10305288" y="3127248"/>
            <a:ext cx="1408176" cy="1078992"/>
          </a:xfrm>
          <a:prstGeom prst="rect">
            <a:avLst/>
          </a:prstGeom>
          <a:solidFill>
            <a:srgbClr val="FFFFFF"/>
          </a:solidFill>
          <a:ln w="25400">
            <a:solidFill>
              <a:srgbClr val="183B56"/>
            </a:solidFill>
          </a:ln>
        </p:spPr>
        <p:txBody>
          <a:bodyPr lIns="0" tIns="0" rIns="0" bIns="0">
            <a:noAutofit/>
          </a:bodyPr>
          <a:lstStyle/>
          <a:p>
            <a:endParaRPr lang="en-US" sz="1800">
              <a:solidFill>
                <a:srgbClr val="20354A"/>
              </a:solidFill>
              <a:latin typeface="Arial"/>
              <a:ea typeface="Arial"/>
            </a:endParaRPr>
          </a:p>
        </p:txBody>
      </p:sp>
      <p:sp>
        <p:nvSpPr>
          <p:cNvPr id="100042" name="S09.Fabric.Node2.Label"/>
          <p:cNvSpPr txBox="1"/>
          <p:nvPr/>
        </p:nvSpPr>
        <p:spPr>
          <a:xfrm>
            <a:off x="10341864" y="3255264"/>
            <a:ext cx="1335024" cy="274320"/>
          </a:xfrm>
          <a:prstGeom prst="rect">
            <a:avLst/>
          </a:prstGeom>
          <a:noFill/>
          <a:ln>
            <a:noFill/>
          </a:ln>
        </p:spPr>
        <p:txBody>
          <a:bodyPr lIns="0" tIns="0" rIns="0" bIns="0">
            <a:noAutofit/>
          </a:bodyPr>
          <a:lstStyle/>
          <a:p>
            <a:pPr algn="ctr"/>
            <a:r>
              <a:rPr lang="en-US" sz="1700" b="1">
                <a:solidFill>
                  <a:srgbClr val="183B56"/>
                </a:solidFill>
                <a:latin typeface="Arial"/>
                <a:ea typeface="Arial"/>
              </a:rPr>
              <a:t>FPGA C</a:t>
            </a:r>
          </a:p>
        </p:txBody>
      </p:sp>
      <p:sp>
        <p:nvSpPr>
          <p:cNvPr id="100043" name="S09.Fabric.Node2.Resources"/>
          <p:cNvSpPr txBox="1"/>
          <p:nvPr/>
        </p:nvSpPr>
        <p:spPr>
          <a:xfrm>
            <a:off x="10396728" y="3621024"/>
            <a:ext cx="1225296" cy="475488"/>
          </a:xfrm>
          <a:prstGeom prst="rect">
            <a:avLst/>
          </a:prstGeom>
          <a:solidFill>
            <a:srgbClr val="F1F5F8"/>
          </a:solidFill>
          <a:ln w="8890">
            <a:solidFill>
              <a:srgbClr val="BDCBD4"/>
            </a:solidFill>
          </a:ln>
        </p:spPr>
        <p:txBody>
          <a:bodyPr lIns="0" tIns="0" rIns="0" bIns="0" anchor="ctr">
            <a:noAutofit/>
          </a:bodyPr>
          <a:lstStyle/>
          <a:p>
            <a:pPr algn="ctr"/>
            <a:r>
              <a:rPr lang="en-US" sz="1400">
                <a:solidFill>
                  <a:srgbClr val="20354A"/>
                </a:solidFill>
                <a:latin typeface="Arial"/>
                <a:ea typeface="Arial"/>
              </a:rPr>
              <a:t>Registers</a:t>
            </a:r>
          </a:p>
          <a:p>
            <a:pPr algn="ctr"/>
            <a:r>
              <a:rPr lang="en-US" sz="1400">
                <a:solidFill>
                  <a:srgbClr val="20354A"/>
                </a:solidFill>
                <a:latin typeface="Arial"/>
                <a:ea typeface="Arial"/>
              </a:rPr>
              <a:t>Memory</a:t>
            </a:r>
          </a:p>
        </p:txBody>
      </p:sp>
      <p:sp>
        <p:nvSpPr>
          <p:cNvPr id="100044" name="S09.Fabric.Bullet0"/>
          <p:cNvSpPr/>
          <p:nvPr/>
        </p:nvSpPr>
        <p:spPr>
          <a:xfrm>
            <a:off x="6336792" y="5084064"/>
            <a:ext cx="91440" cy="91440"/>
          </a:xfrm>
          <a:prstGeom prst="ellipse">
            <a:avLst/>
          </a:prstGeom>
          <a:solidFill>
            <a:srgbClr val="008C95"/>
          </a:solidFill>
          <a:ln>
            <a:noFill/>
          </a:ln>
        </p:spPr>
        <p:txBody>
          <a:bodyPr lIns="0" tIns="0" rIns="0" bIns="0">
            <a:noAutofit/>
          </a:bodyPr>
          <a:lstStyle/>
          <a:p>
            <a:endParaRPr lang="en-US" sz="1800">
              <a:solidFill>
                <a:srgbClr val="20354A"/>
              </a:solidFill>
              <a:latin typeface="Arial"/>
              <a:ea typeface="Arial"/>
            </a:endParaRPr>
          </a:p>
        </p:txBody>
      </p:sp>
      <p:sp>
        <p:nvSpPr>
          <p:cNvPr id="100045" name="S09.Fabric.Text0"/>
          <p:cNvSpPr txBox="1"/>
          <p:nvPr/>
        </p:nvSpPr>
        <p:spPr>
          <a:xfrm>
            <a:off x="6611112" y="4965192"/>
            <a:ext cx="5266944" cy="475488"/>
          </a:xfrm>
          <a:prstGeom prst="rect">
            <a:avLst/>
          </a:prstGeom>
          <a:noFill/>
          <a:ln>
            <a:noFill/>
          </a:ln>
        </p:spPr>
        <p:txBody>
          <a:bodyPr lIns="0" tIns="0" rIns="0" bIns="0">
            <a:noAutofit/>
          </a:bodyPr>
          <a:lstStyle/>
          <a:p>
            <a:r>
              <a:rPr lang="en-US" sz="2200" dirty="0">
                <a:solidFill>
                  <a:srgbClr val="20354A"/>
                </a:solidFill>
                <a:latin typeface="Arial"/>
                <a:ea typeface="Arial"/>
              </a:rPr>
              <a:t>One Host entry via Ref</a:t>
            </a:r>
          </a:p>
        </p:txBody>
      </p:sp>
      <p:sp>
        <p:nvSpPr>
          <p:cNvPr id="100046" name="S09.Fabric.Bullet1"/>
          <p:cNvSpPr/>
          <p:nvPr/>
        </p:nvSpPr>
        <p:spPr>
          <a:xfrm>
            <a:off x="6336792" y="5586984"/>
            <a:ext cx="91440" cy="91440"/>
          </a:xfrm>
          <a:prstGeom prst="ellipse">
            <a:avLst/>
          </a:prstGeom>
          <a:solidFill>
            <a:srgbClr val="008C95"/>
          </a:solidFill>
          <a:ln>
            <a:noFill/>
          </a:ln>
        </p:spPr>
        <p:txBody>
          <a:bodyPr lIns="0" tIns="0" rIns="0" bIns="0">
            <a:noAutofit/>
          </a:bodyPr>
          <a:lstStyle/>
          <a:p>
            <a:endParaRPr lang="en-US" sz="1800">
              <a:solidFill>
                <a:srgbClr val="20354A"/>
              </a:solidFill>
              <a:latin typeface="Arial"/>
              <a:ea typeface="Arial"/>
            </a:endParaRPr>
          </a:p>
        </p:txBody>
      </p:sp>
      <p:sp>
        <p:nvSpPr>
          <p:cNvPr id="100047" name="S09.Fabric.Text1"/>
          <p:cNvSpPr txBox="1"/>
          <p:nvPr/>
        </p:nvSpPr>
        <p:spPr>
          <a:xfrm>
            <a:off x="6611112" y="5468112"/>
            <a:ext cx="5266944" cy="475488"/>
          </a:xfrm>
          <a:prstGeom prst="rect">
            <a:avLst/>
          </a:prstGeom>
          <a:noFill/>
          <a:ln>
            <a:noFill/>
          </a:ln>
        </p:spPr>
        <p:txBody>
          <a:bodyPr lIns="0" tIns="0" rIns="0" bIns="0">
            <a:noAutofit/>
          </a:bodyPr>
          <a:lstStyle/>
          <a:p>
            <a:r>
              <a:rPr lang="en-US" sz="2200" dirty="0">
                <a:solidFill>
                  <a:srgbClr val="20354A"/>
                </a:solidFill>
                <a:latin typeface="Arial"/>
                <a:ea typeface="Arial"/>
              </a:rPr>
              <a:t>Unified register and memory access</a:t>
            </a:r>
          </a:p>
        </p:txBody>
      </p:sp>
      <p:sp>
        <p:nvSpPr>
          <p:cNvPr id="100048" name="S09.Fabric.Bullet2"/>
          <p:cNvSpPr/>
          <p:nvPr/>
        </p:nvSpPr>
        <p:spPr>
          <a:xfrm>
            <a:off x="6336792" y="6089904"/>
            <a:ext cx="91440" cy="91440"/>
          </a:xfrm>
          <a:prstGeom prst="ellipse">
            <a:avLst/>
          </a:prstGeom>
          <a:solidFill>
            <a:srgbClr val="008C95"/>
          </a:solidFill>
          <a:ln>
            <a:noFill/>
          </a:ln>
        </p:spPr>
        <p:txBody>
          <a:bodyPr lIns="0" tIns="0" rIns="0" bIns="0">
            <a:noAutofit/>
          </a:bodyPr>
          <a:lstStyle/>
          <a:p>
            <a:endParaRPr lang="en-US" sz="1800">
              <a:solidFill>
                <a:srgbClr val="20354A"/>
              </a:solidFill>
              <a:latin typeface="Arial"/>
              <a:ea typeface="Arial"/>
            </a:endParaRPr>
          </a:p>
        </p:txBody>
      </p:sp>
      <p:sp>
        <p:nvSpPr>
          <p:cNvPr id="100049" name="S09.Fabric.Text2"/>
          <p:cNvSpPr txBox="1"/>
          <p:nvPr/>
        </p:nvSpPr>
        <p:spPr>
          <a:xfrm>
            <a:off x="6611112" y="5971032"/>
            <a:ext cx="5266944" cy="475488"/>
          </a:xfrm>
          <a:prstGeom prst="rect">
            <a:avLst/>
          </a:prstGeom>
          <a:noFill/>
          <a:ln>
            <a:noFill/>
          </a:ln>
        </p:spPr>
        <p:txBody>
          <a:bodyPr lIns="0" tIns="0" rIns="0" bIns="0">
            <a:noAutofit/>
          </a:bodyPr>
          <a:lstStyle/>
          <a:p>
            <a:r>
              <a:rPr lang="en-US" sz="2200" dirty="0">
                <a:solidFill>
                  <a:srgbClr val="20354A"/>
                </a:solidFill>
                <a:latin typeface="Arial"/>
                <a:ea typeface="Arial"/>
              </a:rPr>
              <a:t>Extend through inter-FPGA links</a:t>
            </a:r>
          </a:p>
        </p:txBody>
      </p:sp>
      <p:sp>
        <p:nvSpPr>
          <p:cNvPr id="100050" name="S09.PageNumber"/>
          <p:cNvSpPr txBox="1"/>
          <p:nvPr/>
        </p:nvSpPr>
        <p:spPr>
          <a:xfrm>
            <a:off x="11631168" y="6629400"/>
            <a:ext cx="228600" cy="182880"/>
          </a:xfrm>
          <a:prstGeom prst="rect">
            <a:avLst/>
          </a:prstGeom>
          <a:noFill/>
          <a:ln>
            <a:noFill/>
          </a:ln>
        </p:spPr>
        <p:txBody>
          <a:bodyPr lIns="0" tIns="0" rIns="0" bIns="0">
            <a:noAutofit/>
          </a:bodyPr>
          <a:lstStyle/>
          <a:p>
            <a:pPr algn="r"/>
            <a:r>
              <a:rPr lang="en-US" sz="1000">
                <a:solidFill>
                  <a:srgbClr val="607184"/>
                </a:solidFill>
                <a:latin typeface="Arial"/>
                <a:ea typeface="Arial"/>
              </a:rPr>
              <a:t>9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10.Title"/>
          <p:cNvSpPr>
            <a:spLocks noGrp="1"/>
          </p:cNvSpPr>
          <p:nvPr>
            <p:ph type="title"/>
          </p:nvPr>
        </p:nvSpPr>
        <p:spPr>
          <a:xfrm>
            <a:off x="320040" y="128016"/>
            <a:ext cx="11558016" cy="493776"/>
          </a:xfrm>
          <a:noFill/>
          <a:ln>
            <a:noFill/>
          </a:ln>
        </p:spPr>
        <p:txBody>
          <a:bodyPr lIns="0" tIns="0" rIns="0" bIns="0">
            <a:noAutofit/>
          </a:bodyPr>
          <a:lstStyle/>
          <a:p>
            <a:r>
              <a:rPr lang="en-US" sz="3200" b="1" dirty="0">
                <a:solidFill>
                  <a:srgbClr val="183B56"/>
                </a:solidFill>
                <a:ea typeface="Arial"/>
              </a:rPr>
              <a:t>Evaluation: </a:t>
            </a:r>
            <a:r>
              <a:rPr lang="en-US" sz="3000" b="1" dirty="0">
                <a:solidFill>
                  <a:srgbClr val="183B56"/>
                </a:solidFill>
                <a:latin typeface="Arial"/>
                <a:ea typeface="Arial"/>
              </a:rPr>
              <a:t>Dual-FPGA Emulation System</a:t>
            </a:r>
          </a:p>
        </p:txBody>
      </p:sp>
      <p:sp>
        <p:nvSpPr>
          <p:cNvPr id="100000" name="S10.TitleRule"/>
          <p:cNvSpPr/>
          <p:nvPr/>
        </p:nvSpPr>
        <p:spPr>
          <a:xfrm>
            <a:off x="320040" y="713232"/>
            <a:ext cx="11558016" cy="25400"/>
          </a:xfrm>
          <a:prstGeom prst="rect">
            <a:avLst/>
          </a:prstGeom>
          <a:solidFill>
            <a:srgbClr val="008C95"/>
          </a:solidFill>
          <a:ln>
            <a:noFill/>
          </a:ln>
        </p:spPr>
        <p:txBody>
          <a:bodyPr lIns="0" tIns="0" rIns="0" bIns="0">
            <a:noAutofit/>
          </a:bodyPr>
          <a:lstStyle/>
          <a:p>
            <a:endParaRPr lang="en-US" sz="1800">
              <a:solidFill>
                <a:srgbClr val="20354A"/>
              </a:solidFill>
              <a:latin typeface="Arial"/>
              <a:ea typeface="Arial"/>
            </a:endParaRPr>
          </a:p>
        </p:txBody>
      </p:sp>
      <p:sp>
        <p:nvSpPr>
          <p:cNvPr id="100001" name="S10.Platform.Heading"/>
          <p:cNvSpPr txBox="1"/>
          <p:nvPr/>
        </p:nvSpPr>
        <p:spPr>
          <a:xfrm>
            <a:off x="320040" y="950976"/>
            <a:ext cx="4251960" cy="420624"/>
          </a:xfrm>
          <a:prstGeom prst="rect">
            <a:avLst/>
          </a:prstGeom>
          <a:noFill/>
          <a:ln>
            <a:noFill/>
          </a:ln>
        </p:spPr>
        <p:txBody>
          <a:bodyPr lIns="0" tIns="0" rIns="0" bIns="0">
            <a:noAutofit/>
          </a:bodyPr>
          <a:lstStyle/>
          <a:p>
            <a:r>
              <a:rPr lang="en-US" sz="2200" b="1" dirty="0">
                <a:solidFill>
                  <a:srgbClr val="183B56"/>
                </a:solidFill>
                <a:latin typeface="Arial"/>
                <a:ea typeface="Arial"/>
              </a:rPr>
              <a:t>Experimental Platform</a:t>
            </a:r>
          </a:p>
        </p:txBody>
      </p:sp>
      <p:sp>
        <p:nvSpPr>
          <p:cNvPr id="100002" name="S10.Workloads.Heading"/>
          <p:cNvSpPr txBox="1"/>
          <p:nvPr/>
        </p:nvSpPr>
        <p:spPr>
          <a:xfrm>
            <a:off x="4983480" y="950976"/>
            <a:ext cx="6894576" cy="420624"/>
          </a:xfrm>
          <a:prstGeom prst="rect">
            <a:avLst/>
          </a:prstGeom>
          <a:noFill/>
          <a:ln>
            <a:noFill/>
          </a:ln>
        </p:spPr>
        <p:txBody>
          <a:bodyPr lIns="0" tIns="0" rIns="0" bIns="0">
            <a:noAutofit/>
          </a:bodyPr>
          <a:lstStyle/>
          <a:p>
            <a:r>
              <a:rPr lang="en-US" sz="2200" b="1">
                <a:solidFill>
                  <a:srgbClr val="183B56"/>
                </a:solidFill>
                <a:latin typeface="Arial"/>
                <a:ea typeface="Arial"/>
              </a:rPr>
              <a:t>DUTs and Workloads</a:t>
            </a:r>
          </a:p>
        </p:txBody>
      </p:sp>
      <p:pic>
        <p:nvPicPr>
          <p:cNvPr id="100003" name="S10.Platform.Photo" descr="Two NM37 VU37P FPGA boards inside the shared PCIe Host; real dual-FPGA setup with board-to-board optical connections."/>
          <p:cNvPicPr>
            <a:picLocks noChangeAspect="1"/>
          </p:cNvPicPr>
          <p:nvPr/>
        </p:nvPicPr>
        <p:blipFill>
          <a:blip r:embed="rId3"/>
          <a:srcRect l="5473" t="35169" r="4612" b="17350"/>
          <a:stretch>
            <a:fillRect/>
          </a:stretch>
        </p:blipFill>
        <p:spPr>
          <a:xfrm>
            <a:off x="320040" y="1481328"/>
            <a:ext cx="4251960" cy="2994858"/>
          </a:xfrm>
          <a:prstGeom prst="rect">
            <a:avLst/>
          </a:prstGeom>
        </p:spPr>
      </p:pic>
      <p:sp>
        <p:nvSpPr>
          <p:cNvPr id="100005" name="S10.Platform.Text1"/>
          <p:cNvSpPr txBox="1"/>
          <p:nvPr/>
        </p:nvSpPr>
        <p:spPr>
          <a:xfrm>
            <a:off x="320040" y="4663440"/>
            <a:ext cx="4251960" cy="320040"/>
          </a:xfrm>
          <a:prstGeom prst="rect">
            <a:avLst/>
          </a:prstGeom>
          <a:noFill/>
          <a:ln>
            <a:noFill/>
          </a:ln>
        </p:spPr>
        <p:txBody>
          <a:bodyPr lIns="0" tIns="0" rIns="0" bIns="0">
            <a:no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700" dirty="0">
                <a:solidFill>
                  <a:srgbClr val="20354A"/>
                </a:solidFill>
                <a:latin typeface="Arial"/>
                <a:ea typeface="Arial"/>
              </a:rPr>
              <a:t>Two NM37 boards with VU37P FPGAs</a:t>
            </a:r>
          </a:p>
        </p:txBody>
      </p:sp>
      <p:sp>
        <p:nvSpPr>
          <p:cNvPr id="100006" name="S10.Platform.Text2"/>
          <p:cNvSpPr txBox="1"/>
          <p:nvPr/>
        </p:nvSpPr>
        <p:spPr>
          <a:xfrm>
            <a:off x="320040" y="4992624"/>
            <a:ext cx="4251960" cy="320040"/>
          </a:xfrm>
          <a:prstGeom prst="rect">
            <a:avLst/>
          </a:prstGeom>
          <a:noFill/>
          <a:ln>
            <a:noFill/>
          </a:ln>
        </p:spPr>
        <p:txBody>
          <a:bodyPr lIns="0" tIns="0" rIns="0" bIns="0">
            <a:no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700" dirty="0">
                <a:solidFill>
                  <a:srgbClr val="20354A"/>
                </a:solidFill>
                <a:latin typeface="Arial"/>
                <a:ea typeface="Arial"/>
              </a:rPr>
              <a:t>PCIe access from a shared Host</a:t>
            </a:r>
          </a:p>
        </p:txBody>
      </p:sp>
      <p:sp>
        <p:nvSpPr>
          <p:cNvPr id="100007" name="S10.Platform.Text3"/>
          <p:cNvSpPr txBox="1"/>
          <p:nvPr/>
        </p:nvSpPr>
        <p:spPr>
          <a:xfrm>
            <a:off x="320040" y="5321808"/>
            <a:ext cx="4251960" cy="320040"/>
          </a:xfrm>
          <a:prstGeom prst="rect">
            <a:avLst/>
          </a:prstGeom>
          <a:noFill/>
          <a:ln>
            <a:noFill/>
          </a:ln>
        </p:spPr>
        <p:txBody>
          <a:bodyPr lIns="0" tIns="0" rIns="0" bIns="0">
            <a:no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700" dirty="0">
                <a:solidFill>
                  <a:srgbClr val="20354A"/>
                </a:solidFill>
                <a:latin typeface="Arial"/>
                <a:ea typeface="Arial"/>
              </a:rPr>
              <a:t>QSFP/Aurora links between FPGAs</a:t>
            </a:r>
          </a:p>
        </p:txBody>
      </p:sp>
      <p:sp>
        <p:nvSpPr>
          <p:cNvPr id="100008" name="S10.Workloads.HeaderPanel"/>
          <p:cNvSpPr/>
          <p:nvPr/>
        </p:nvSpPr>
        <p:spPr>
          <a:xfrm>
            <a:off x="4983480" y="1481328"/>
            <a:ext cx="6894576" cy="320040"/>
          </a:xfrm>
          <a:prstGeom prst="rect">
            <a:avLst/>
          </a:prstGeom>
          <a:solidFill>
            <a:srgbClr val="EAF4F3"/>
          </a:solidFill>
          <a:ln>
            <a:noFill/>
          </a:ln>
        </p:spPr>
        <p:txBody>
          <a:bodyPr lIns="0" tIns="0" rIns="0" bIns="0">
            <a:noAutofit/>
          </a:bodyPr>
          <a:lstStyle/>
          <a:p>
            <a:endParaRPr lang="en-US" sz="1800">
              <a:solidFill>
                <a:srgbClr val="20354A"/>
              </a:solidFill>
              <a:latin typeface="Arial"/>
              <a:ea typeface="Arial"/>
            </a:endParaRPr>
          </a:p>
        </p:txBody>
      </p:sp>
      <p:sp>
        <p:nvSpPr>
          <p:cNvPr id="100009" name="S10.Workloads.DUTs.Header"/>
          <p:cNvSpPr txBox="1"/>
          <p:nvPr/>
        </p:nvSpPr>
        <p:spPr>
          <a:xfrm>
            <a:off x="5120640" y="1517904"/>
            <a:ext cx="2880360" cy="256032"/>
          </a:xfrm>
          <a:prstGeom prst="rect">
            <a:avLst/>
          </a:prstGeom>
          <a:noFill/>
          <a:ln>
            <a:noFill/>
          </a:ln>
        </p:spPr>
        <p:txBody>
          <a:bodyPr lIns="0" tIns="0" rIns="0" bIns="0">
            <a:noAutofit/>
          </a:bodyPr>
          <a:lstStyle/>
          <a:p>
            <a:r>
              <a:rPr lang="en-US" sz="1400" b="1">
                <a:solidFill>
                  <a:srgbClr val="008C95"/>
                </a:solidFill>
                <a:latin typeface="Arial"/>
                <a:ea typeface="Arial"/>
              </a:rPr>
              <a:t>DUTs</a:t>
            </a:r>
          </a:p>
        </p:txBody>
      </p:sp>
      <p:sp>
        <p:nvSpPr>
          <p:cNvPr id="100010" name="S10.Workloads.Programs.Header"/>
          <p:cNvSpPr txBox="1"/>
          <p:nvPr/>
        </p:nvSpPr>
        <p:spPr>
          <a:xfrm>
            <a:off x="8275320" y="1517904"/>
            <a:ext cx="3465576" cy="256032"/>
          </a:xfrm>
          <a:prstGeom prst="rect">
            <a:avLst/>
          </a:prstGeom>
          <a:noFill/>
          <a:ln>
            <a:noFill/>
          </a:ln>
        </p:spPr>
        <p:txBody>
          <a:bodyPr lIns="0" tIns="0" rIns="0" bIns="0">
            <a:noAutofit/>
          </a:bodyPr>
          <a:lstStyle/>
          <a:p>
            <a:r>
              <a:rPr lang="en-US" sz="1400" b="1">
                <a:solidFill>
                  <a:srgbClr val="008C95"/>
                </a:solidFill>
                <a:latin typeface="Arial"/>
                <a:ea typeface="Arial"/>
              </a:rPr>
              <a:t>Workloads</a:t>
            </a:r>
          </a:p>
        </p:txBody>
      </p:sp>
      <p:sp>
        <p:nvSpPr>
          <p:cNvPr id="100011" name="S10.Workloads.DUT1"/>
          <p:cNvSpPr txBox="1"/>
          <p:nvPr/>
        </p:nvSpPr>
        <p:spPr>
          <a:xfrm>
            <a:off x="5120640" y="1847088"/>
            <a:ext cx="2880360" cy="329184"/>
          </a:xfrm>
          <a:prstGeom prst="rect">
            <a:avLst/>
          </a:prstGeom>
          <a:noFill/>
          <a:ln>
            <a:noFill/>
          </a:ln>
        </p:spPr>
        <p:txBody>
          <a:bodyPr lIns="0" tIns="0" rIns="0" bIns="0">
            <a:noAutofit/>
          </a:bodyPr>
          <a:lstStyle/>
          <a:p>
            <a:r>
              <a:rPr lang="en-US" sz="1700" b="1">
                <a:solidFill>
                  <a:srgbClr val="183B56"/>
                </a:solidFill>
                <a:latin typeface="Arial"/>
                <a:ea typeface="Arial"/>
              </a:rPr>
              <a:t>PicoRV32 · Rocket</a:t>
            </a:r>
          </a:p>
        </p:txBody>
      </p:sp>
      <p:sp>
        <p:nvSpPr>
          <p:cNvPr id="100012" name="S10.Workloads.Program1"/>
          <p:cNvSpPr txBox="1"/>
          <p:nvPr/>
        </p:nvSpPr>
        <p:spPr>
          <a:xfrm>
            <a:off x="8275320" y="1847088"/>
            <a:ext cx="3465576" cy="329184"/>
          </a:xfrm>
          <a:prstGeom prst="rect">
            <a:avLst/>
          </a:prstGeom>
          <a:noFill/>
          <a:ln>
            <a:noFill/>
          </a:ln>
        </p:spPr>
        <p:txBody>
          <a:bodyPr lIns="0" tIns="0" rIns="0" bIns="0">
            <a:noAutofit/>
          </a:bodyPr>
          <a:lstStyle/>
          <a:p>
            <a:r>
              <a:rPr lang="en-US" sz="1700">
                <a:solidFill>
                  <a:srgbClr val="20354A"/>
                </a:solidFill>
                <a:latin typeface="Arial"/>
                <a:ea typeface="Arial"/>
              </a:rPr>
              <a:t>Bare-metal programs</a:t>
            </a:r>
          </a:p>
        </p:txBody>
      </p:sp>
      <p:sp>
        <p:nvSpPr>
          <p:cNvPr id="100013" name="S10.Workloads.Rule1"/>
          <p:cNvSpPr/>
          <p:nvPr/>
        </p:nvSpPr>
        <p:spPr>
          <a:xfrm>
            <a:off x="4983480" y="2212848"/>
            <a:ext cx="6894576" cy="7315"/>
          </a:xfrm>
          <a:prstGeom prst="rect">
            <a:avLst/>
          </a:prstGeom>
          <a:solidFill>
            <a:srgbClr val="D8E3E9"/>
          </a:solidFill>
          <a:ln>
            <a:noFill/>
          </a:ln>
        </p:spPr>
        <p:txBody>
          <a:bodyPr lIns="0" tIns="0" rIns="0" bIns="0">
            <a:noAutofit/>
          </a:bodyPr>
          <a:lstStyle/>
          <a:p>
            <a:endParaRPr lang="en-US" sz="1800">
              <a:solidFill>
                <a:srgbClr val="20354A"/>
              </a:solidFill>
              <a:latin typeface="Arial"/>
              <a:ea typeface="Arial"/>
            </a:endParaRPr>
          </a:p>
        </p:txBody>
      </p:sp>
      <p:sp>
        <p:nvSpPr>
          <p:cNvPr id="100014" name="S10.Workloads.DUT2"/>
          <p:cNvSpPr txBox="1"/>
          <p:nvPr/>
        </p:nvSpPr>
        <p:spPr>
          <a:xfrm>
            <a:off x="5120640" y="2240280"/>
            <a:ext cx="2880360" cy="329184"/>
          </a:xfrm>
          <a:prstGeom prst="rect">
            <a:avLst/>
          </a:prstGeom>
          <a:noFill/>
          <a:ln>
            <a:noFill/>
          </a:ln>
        </p:spPr>
        <p:txBody>
          <a:bodyPr lIns="0" tIns="0" rIns="0" bIns="0">
            <a:noAutofit/>
          </a:bodyPr>
          <a:lstStyle/>
          <a:p>
            <a:r>
              <a:rPr lang="en-US" sz="1700" b="1">
                <a:solidFill>
                  <a:srgbClr val="183B56"/>
                </a:solidFill>
                <a:latin typeface="Arial"/>
                <a:ea typeface="Arial"/>
              </a:rPr>
              <a:t>Nanhu · KMH</a:t>
            </a:r>
          </a:p>
        </p:txBody>
      </p:sp>
      <p:sp>
        <p:nvSpPr>
          <p:cNvPr id="100015" name="S10.Workloads.Program2"/>
          <p:cNvSpPr txBox="1"/>
          <p:nvPr/>
        </p:nvSpPr>
        <p:spPr>
          <a:xfrm>
            <a:off x="8275320" y="2240280"/>
            <a:ext cx="3465576" cy="329184"/>
          </a:xfrm>
          <a:prstGeom prst="rect">
            <a:avLst/>
          </a:prstGeom>
          <a:noFill/>
          <a:ln>
            <a:noFill/>
          </a:ln>
        </p:spPr>
        <p:txBody>
          <a:bodyPr lIns="0" tIns="0" rIns="0" bIns="0">
            <a:noAutofit/>
          </a:bodyPr>
          <a:lstStyle/>
          <a:p>
            <a:r>
              <a:rPr lang="en-US" sz="1700">
                <a:solidFill>
                  <a:srgbClr val="20354A"/>
                </a:solidFill>
                <a:latin typeface="Arial"/>
                <a:ea typeface="Arial"/>
              </a:rPr>
              <a:t>OpenSBI and Linux</a:t>
            </a:r>
          </a:p>
        </p:txBody>
      </p:sp>
      <p:sp>
        <p:nvSpPr>
          <p:cNvPr id="100016" name="S10.Workloads.Rule2"/>
          <p:cNvSpPr/>
          <p:nvPr/>
        </p:nvSpPr>
        <p:spPr>
          <a:xfrm>
            <a:off x="4983480" y="2606040"/>
            <a:ext cx="6894576" cy="7315"/>
          </a:xfrm>
          <a:prstGeom prst="rect">
            <a:avLst/>
          </a:prstGeom>
          <a:solidFill>
            <a:srgbClr val="D8E3E9"/>
          </a:solidFill>
          <a:ln>
            <a:noFill/>
          </a:ln>
        </p:spPr>
        <p:txBody>
          <a:bodyPr lIns="0" tIns="0" rIns="0" bIns="0">
            <a:noAutofit/>
          </a:bodyPr>
          <a:lstStyle/>
          <a:p>
            <a:endParaRPr lang="en-US" sz="1800">
              <a:solidFill>
                <a:srgbClr val="20354A"/>
              </a:solidFill>
              <a:latin typeface="Arial"/>
              <a:ea typeface="Arial"/>
            </a:endParaRPr>
          </a:p>
        </p:txBody>
      </p:sp>
      <p:pic>
        <p:nvPicPr>
          <p:cNvPr id="100017" name="S10.Linux.Console" descr="KMH physical dual-FPGA Linux shell: cat /proc/cpuinfo, processor and hart 0, ICT xiangshan, uname -a and Linux 6.12.0+ riscv64."/>
          <p:cNvPicPr>
            <a:picLocks noChangeAspect="1"/>
          </p:cNvPicPr>
          <p:nvPr/>
        </p:nvPicPr>
        <p:blipFill>
          <a:blip r:embed="rId4"/>
          <a:srcRect t="61168" b="2161"/>
          <a:stretch>
            <a:fillRect/>
          </a:stretch>
        </p:blipFill>
        <p:spPr>
          <a:xfrm>
            <a:off x="4983480" y="2779776"/>
            <a:ext cx="6894576" cy="2304902"/>
          </a:xfrm>
          <a:prstGeom prst="rect">
            <a:avLst/>
          </a:prstGeom>
        </p:spPr>
      </p:pic>
      <p:sp>
        <p:nvSpPr>
          <p:cNvPr id="100018" name="S10.Linux.Caption"/>
          <p:cNvSpPr txBox="1"/>
          <p:nvPr/>
        </p:nvSpPr>
        <p:spPr>
          <a:xfrm>
            <a:off x="4983480" y="5294376"/>
            <a:ext cx="6894576" cy="512064"/>
          </a:xfrm>
          <a:prstGeom prst="rect">
            <a:avLst/>
          </a:prstGeom>
          <a:noFill/>
          <a:ln>
            <a:noFill/>
          </a:ln>
        </p:spPr>
        <p:txBody>
          <a:bodyPr lIns="0" tIns="0" rIns="0" bIns="0">
            <a:noAutofit/>
          </a:bodyPr>
          <a:lstStyle/>
          <a:p>
            <a:r>
              <a:rPr lang="en-US" sz="1800">
                <a:solidFill>
                  <a:srgbClr val="183B56"/>
                </a:solidFill>
                <a:latin typeface="Arial"/>
                <a:ea typeface="Arial"/>
              </a:rPr>
              <a:t>KMH boots Linux and supports interactive shell commands.</a:t>
            </a:r>
          </a:p>
        </p:txBody>
      </p:sp>
      <p:sp>
        <p:nvSpPr>
          <p:cNvPr id="100019" name="S10.Metrics.Panel"/>
          <p:cNvSpPr/>
          <p:nvPr/>
        </p:nvSpPr>
        <p:spPr>
          <a:xfrm>
            <a:off x="320040" y="5879592"/>
            <a:ext cx="11558016" cy="603504"/>
          </a:xfrm>
          <a:prstGeom prst="rect">
            <a:avLst/>
          </a:prstGeom>
          <a:solidFill>
            <a:srgbClr val="EAF4F3"/>
          </a:solidFill>
          <a:ln>
            <a:noFill/>
          </a:ln>
        </p:spPr>
        <p:txBody>
          <a:bodyPr lIns="0" tIns="0" rIns="0" bIns="0">
            <a:noAutofit/>
          </a:bodyPr>
          <a:lstStyle/>
          <a:p>
            <a:endParaRPr lang="en-US" sz="1800">
              <a:solidFill>
                <a:srgbClr val="20354A"/>
              </a:solidFill>
              <a:latin typeface="Arial"/>
              <a:ea typeface="Arial"/>
            </a:endParaRPr>
          </a:p>
        </p:txBody>
      </p:sp>
      <p:sp>
        <p:nvSpPr>
          <p:cNvPr id="100020" name="S10.Metrics.Label0"/>
          <p:cNvSpPr txBox="1"/>
          <p:nvPr/>
        </p:nvSpPr>
        <p:spPr>
          <a:xfrm>
            <a:off x="484632" y="5925312"/>
            <a:ext cx="3520440" cy="201168"/>
          </a:xfrm>
          <a:prstGeom prst="rect">
            <a:avLst/>
          </a:prstGeom>
          <a:noFill/>
          <a:ln>
            <a:noFill/>
          </a:ln>
        </p:spPr>
        <p:txBody>
          <a:bodyPr lIns="0" tIns="0" rIns="0" bIns="0">
            <a:noAutofit/>
          </a:bodyPr>
          <a:lstStyle/>
          <a:p>
            <a:r>
              <a:rPr lang="en-US" sz="1200">
                <a:solidFill>
                  <a:srgbClr val="183B56"/>
                </a:solidFill>
                <a:latin typeface="Arial"/>
                <a:ea typeface="Arial"/>
              </a:rPr>
              <a:t>PicoRV32 · Effective Rate</a:t>
            </a:r>
          </a:p>
        </p:txBody>
      </p:sp>
      <p:sp>
        <p:nvSpPr>
          <p:cNvPr id="100021" name="S10.Metrics.Value0"/>
          <p:cNvSpPr txBox="1"/>
          <p:nvPr/>
        </p:nvSpPr>
        <p:spPr>
          <a:xfrm>
            <a:off x="484632" y="6144768"/>
            <a:ext cx="3520440" cy="338328"/>
          </a:xfrm>
          <a:prstGeom prst="rect">
            <a:avLst/>
          </a:prstGeom>
          <a:noFill/>
          <a:ln>
            <a:noFill/>
          </a:ln>
        </p:spPr>
        <p:txBody>
          <a:bodyPr lIns="0" tIns="0" rIns="0" bIns="0">
            <a:noAutofit/>
          </a:bodyPr>
          <a:lstStyle/>
          <a:p>
            <a:r>
              <a:rPr lang="en-US" sz="2200" b="1">
                <a:solidFill>
                  <a:srgbClr val="008C95"/>
                </a:solidFill>
                <a:latin typeface="Arial"/>
                <a:ea typeface="Arial"/>
              </a:rPr>
              <a:t>≈0.327 MHz</a:t>
            </a:r>
          </a:p>
        </p:txBody>
      </p:sp>
      <p:sp>
        <p:nvSpPr>
          <p:cNvPr id="100022" name="S10.Metrics.Divider1"/>
          <p:cNvSpPr/>
          <p:nvPr/>
        </p:nvSpPr>
        <p:spPr>
          <a:xfrm>
            <a:off x="4172712" y="5952744"/>
            <a:ext cx="8230" cy="457200"/>
          </a:xfrm>
          <a:prstGeom prst="rect">
            <a:avLst/>
          </a:prstGeom>
          <a:solidFill>
            <a:srgbClr val="BDCBD4"/>
          </a:solidFill>
          <a:ln>
            <a:noFill/>
          </a:ln>
        </p:spPr>
        <p:txBody>
          <a:bodyPr lIns="0" tIns="0" rIns="0" bIns="0">
            <a:noAutofit/>
          </a:bodyPr>
          <a:lstStyle/>
          <a:p>
            <a:endParaRPr lang="en-US" sz="1800">
              <a:solidFill>
                <a:srgbClr val="20354A"/>
              </a:solidFill>
              <a:latin typeface="Arial"/>
              <a:ea typeface="Arial"/>
            </a:endParaRPr>
          </a:p>
        </p:txBody>
      </p:sp>
      <p:sp>
        <p:nvSpPr>
          <p:cNvPr id="100023" name="S10.Metrics.Label1"/>
          <p:cNvSpPr txBox="1"/>
          <p:nvPr/>
        </p:nvSpPr>
        <p:spPr>
          <a:xfrm>
            <a:off x="4337304" y="5925312"/>
            <a:ext cx="3520440" cy="201168"/>
          </a:xfrm>
          <a:prstGeom prst="rect">
            <a:avLst/>
          </a:prstGeom>
          <a:noFill/>
          <a:ln>
            <a:noFill/>
          </a:ln>
        </p:spPr>
        <p:txBody>
          <a:bodyPr lIns="0" tIns="0" rIns="0" bIns="0">
            <a:noAutofit/>
          </a:bodyPr>
          <a:lstStyle/>
          <a:p>
            <a:r>
              <a:rPr lang="en-US" sz="1200">
                <a:solidFill>
                  <a:srgbClr val="183B56"/>
                </a:solidFill>
                <a:latin typeface="Arial"/>
                <a:ea typeface="Arial"/>
              </a:rPr>
              <a:t>KMH · Effective Rate</a:t>
            </a:r>
          </a:p>
        </p:txBody>
      </p:sp>
      <p:sp>
        <p:nvSpPr>
          <p:cNvPr id="100024" name="S10.Metrics.Value1"/>
          <p:cNvSpPr txBox="1"/>
          <p:nvPr/>
        </p:nvSpPr>
        <p:spPr>
          <a:xfrm>
            <a:off x="4337304" y="6144768"/>
            <a:ext cx="3520440" cy="338328"/>
          </a:xfrm>
          <a:prstGeom prst="rect">
            <a:avLst/>
          </a:prstGeom>
          <a:noFill/>
          <a:ln>
            <a:noFill/>
          </a:ln>
        </p:spPr>
        <p:txBody>
          <a:bodyPr lIns="0" tIns="0" rIns="0" bIns="0">
            <a:noAutofit/>
          </a:bodyPr>
          <a:lstStyle/>
          <a:p>
            <a:r>
              <a:rPr lang="en-US" sz="2200" b="1">
                <a:solidFill>
                  <a:srgbClr val="008C95"/>
                </a:solidFill>
                <a:latin typeface="Arial"/>
                <a:ea typeface="Arial"/>
              </a:rPr>
              <a:t>≈0.322 MHz</a:t>
            </a:r>
          </a:p>
        </p:txBody>
      </p:sp>
      <p:sp>
        <p:nvSpPr>
          <p:cNvPr id="100025" name="S10.Metrics.Divider2"/>
          <p:cNvSpPr/>
          <p:nvPr/>
        </p:nvSpPr>
        <p:spPr>
          <a:xfrm>
            <a:off x="8025384" y="5952744"/>
            <a:ext cx="8230" cy="457200"/>
          </a:xfrm>
          <a:prstGeom prst="rect">
            <a:avLst/>
          </a:prstGeom>
          <a:solidFill>
            <a:srgbClr val="BDCBD4"/>
          </a:solidFill>
          <a:ln>
            <a:noFill/>
          </a:ln>
        </p:spPr>
        <p:txBody>
          <a:bodyPr lIns="0" tIns="0" rIns="0" bIns="0">
            <a:noAutofit/>
          </a:bodyPr>
          <a:lstStyle/>
          <a:p>
            <a:endParaRPr lang="en-US" sz="1800">
              <a:solidFill>
                <a:srgbClr val="20354A"/>
              </a:solidFill>
              <a:latin typeface="Arial"/>
              <a:ea typeface="Arial"/>
            </a:endParaRPr>
          </a:p>
        </p:txBody>
      </p:sp>
      <p:sp>
        <p:nvSpPr>
          <p:cNvPr id="100026" name="S10.Metrics.Label2"/>
          <p:cNvSpPr txBox="1"/>
          <p:nvPr/>
        </p:nvSpPr>
        <p:spPr>
          <a:xfrm>
            <a:off x="8189976" y="5925312"/>
            <a:ext cx="3520440" cy="201168"/>
          </a:xfrm>
          <a:prstGeom prst="rect">
            <a:avLst/>
          </a:prstGeom>
          <a:noFill/>
          <a:ln>
            <a:noFill/>
          </a:ln>
        </p:spPr>
        <p:txBody>
          <a:bodyPr lIns="0" tIns="0" rIns="0" bIns="0">
            <a:noAutofit/>
          </a:bodyPr>
          <a:lstStyle/>
          <a:p>
            <a:r>
              <a:rPr lang="en-US" sz="1200">
                <a:solidFill>
                  <a:srgbClr val="183B56"/>
                </a:solidFill>
                <a:latin typeface="Arial"/>
                <a:ea typeface="Arial"/>
              </a:rPr>
              <a:t>Global Pause · Host-Observed</a:t>
            </a:r>
          </a:p>
        </p:txBody>
      </p:sp>
      <p:sp>
        <p:nvSpPr>
          <p:cNvPr id="100027" name="S10.Metrics.Value2"/>
          <p:cNvSpPr txBox="1"/>
          <p:nvPr/>
        </p:nvSpPr>
        <p:spPr>
          <a:xfrm>
            <a:off x="8189976" y="6144768"/>
            <a:ext cx="3520440" cy="338328"/>
          </a:xfrm>
          <a:prstGeom prst="rect">
            <a:avLst/>
          </a:prstGeom>
          <a:noFill/>
          <a:ln>
            <a:noFill/>
          </a:ln>
        </p:spPr>
        <p:txBody>
          <a:bodyPr lIns="0" tIns="0" rIns="0" bIns="0">
            <a:noAutofit/>
          </a:bodyPr>
          <a:lstStyle/>
          <a:p>
            <a:r>
              <a:rPr lang="en-US" sz="2200" b="1" dirty="0">
                <a:solidFill>
                  <a:srgbClr val="DF973E"/>
                </a:solidFill>
                <a:latin typeface="Arial"/>
                <a:ea typeface="Arial"/>
              </a:rPr>
              <a:t>≈0.8~1.1 </a:t>
            </a:r>
            <a:r>
              <a:rPr lang="en-US" sz="2200" b="1" dirty="0" err="1">
                <a:solidFill>
                  <a:srgbClr val="DF973E"/>
                </a:solidFill>
                <a:latin typeface="Arial"/>
                <a:ea typeface="Arial"/>
              </a:rPr>
              <a:t>ms</a:t>
            </a:r>
            <a:endParaRPr lang="en-US" sz="2200" b="1" dirty="0">
              <a:solidFill>
                <a:srgbClr val="DF973E"/>
              </a:solidFill>
              <a:latin typeface="Arial"/>
              <a:ea typeface="Arial"/>
            </a:endParaRPr>
          </a:p>
        </p:txBody>
      </p:sp>
      <p:sp>
        <p:nvSpPr>
          <p:cNvPr id="100029" name="S10.PageNumber"/>
          <p:cNvSpPr txBox="1"/>
          <p:nvPr/>
        </p:nvSpPr>
        <p:spPr>
          <a:xfrm>
            <a:off x="11548872" y="6629400"/>
            <a:ext cx="310896" cy="182880"/>
          </a:xfrm>
          <a:prstGeom prst="rect">
            <a:avLst/>
          </a:prstGeom>
          <a:noFill/>
          <a:ln>
            <a:noFill/>
          </a:ln>
        </p:spPr>
        <p:txBody>
          <a:bodyPr lIns="0" tIns="0" rIns="0" bIns="0">
            <a:noAutofit/>
          </a:bodyPr>
          <a:lstStyle/>
          <a:p>
            <a:pPr algn="r"/>
            <a:r>
              <a:rPr lang="en-US" sz="1000">
                <a:solidFill>
                  <a:srgbClr val="607184"/>
                </a:solidFill>
                <a:latin typeface="Arial"/>
                <a:ea typeface="Arial"/>
              </a:rPr>
              <a:t>10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11.Title"/>
          <p:cNvSpPr>
            <a:spLocks noGrp="1"/>
          </p:cNvSpPr>
          <p:nvPr>
            <p:ph type="title"/>
          </p:nvPr>
        </p:nvSpPr>
        <p:spPr>
          <a:xfrm>
            <a:off x="320040" y="128016"/>
            <a:ext cx="11558016" cy="493776"/>
          </a:xfrm>
          <a:noFill/>
          <a:ln>
            <a:noFill/>
          </a:ln>
        </p:spPr>
        <p:txBody>
          <a:bodyPr lIns="0" tIns="0" rIns="0" bIns="0">
            <a:noAutofit/>
          </a:bodyPr>
          <a:lstStyle/>
          <a:p>
            <a:r>
              <a:rPr lang="en-US" sz="3200" b="1">
                <a:solidFill>
                  <a:srgbClr val="183B56"/>
                </a:solidFill>
                <a:latin typeface="Arial"/>
                <a:ea typeface="Arial"/>
              </a:rPr>
              <a:t>11. Future Work</a:t>
            </a:r>
          </a:p>
        </p:txBody>
      </p:sp>
      <p:sp>
        <p:nvSpPr>
          <p:cNvPr id="100000" name="S11.TitleRule"/>
          <p:cNvSpPr/>
          <p:nvPr/>
        </p:nvSpPr>
        <p:spPr>
          <a:xfrm>
            <a:off x="320040" y="713232"/>
            <a:ext cx="11558016" cy="25400"/>
          </a:xfrm>
          <a:prstGeom prst="rect">
            <a:avLst/>
          </a:prstGeom>
          <a:solidFill>
            <a:srgbClr val="008C95"/>
          </a:solidFill>
          <a:ln>
            <a:noFill/>
          </a:ln>
        </p:spPr>
        <p:txBody>
          <a:bodyPr lIns="0" tIns="0" rIns="0" bIns="0">
            <a:noAutofit/>
          </a:bodyPr>
          <a:lstStyle/>
          <a:p>
            <a:endParaRPr lang="en-US" sz="1800">
              <a:solidFill>
                <a:srgbClr val="20354A"/>
              </a:solidFill>
              <a:latin typeface="Arial"/>
              <a:ea typeface="Arial"/>
            </a:endParaRPr>
          </a:p>
        </p:txBody>
      </p:sp>
      <p:sp>
        <p:nvSpPr>
          <p:cNvPr id="100001" name="S11.Item1.Number"/>
          <p:cNvSpPr txBox="1"/>
          <p:nvPr/>
        </p:nvSpPr>
        <p:spPr>
          <a:xfrm>
            <a:off x="438912" y="1243584"/>
            <a:ext cx="347472" cy="438912"/>
          </a:xfrm>
          <a:prstGeom prst="rect">
            <a:avLst/>
          </a:prstGeom>
          <a:noFill/>
          <a:ln>
            <a:noFill/>
          </a:ln>
        </p:spPr>
        <p:txBody>
          <a:bodyPr lIns="0" tIns="0" rIns="0" bIns="0">
            <a:noAutofit/>
          </a:bodyPr>
          <a:lstStyle/>
          <a:p>
            <a:r>
              <a:rPr lang="en-US" sz="2200" b="1">
                <a:solidFill>
                  <a:srgbClr val="008C95"/>
                </a:solidFill>
                <a:latin typeface="Arial"/>
                <a:ea typeface="Arial"/>
              </a:rPr>
              <a:t>1.</a:t>
            </a:r>
          </a:p>
        </p:txBody>
      </p:sp>
      <p:sp>
        <p:nvSpPr>
          <p:cNvPr id="100002" name="S11.Item1.Heading"/>
          <p:cNvSpPr txBox="1"/>
          <p:nvPr/>
        </p:nvSpPr>
        <p:spPr>
          <a:xfrm>
            <a:off x="914400" y="1243584"/>
            <a:ext cx="4005072" cy="841248"/>
          </a:xfrm>
          <a:prstGeom prst="rect">
            <a:avLst/>
          </a:prstGeom>
          <a:noFill/>
          <a:ln>
            <a:noFill/>
          </a:ln>
        </p:spPr>
        <p:txBody>
          <a:bodyPr lIns="0" tIns="0" rIns="0" bIns="0">
            <a:noAutofit/>
          </a:bodyPr>
          <a:lstStyle/>
          <a:p>
            <a:r>
              <a:rPr lang="en-US" sz="2200" b="1" dirty="0">
                <a:solidFill>
                  <a:srgbClr val="183B56"/>
                </a:solidFill>
                <a:latin typeface="Arial"/>
                <a:ea typeface="Arial"/>
              </a:rPr>
              <a:t>Fabric Deployment &amp;</a:t>
            </a:r>
          </a:p>
          <a:p>
            <a:r>
              <a:rPr lang="en-US" sz="2200" b="1" dirty="0">
                <a:solidFill>
                  <a:srgbClr val="183B56"/>
                </a:solidFill>
                <a:latin typeface="Arial"/>
                <a:ea typeface="Arial"/>
              </a:rPr>
              <a:t>Four-FPGA Integration</a:t>
            </a:r>
          </a:p>
        </p:txBody>
      </p:sp>
      <p:sp>
        <p:nvSpPr>
          <p:cNvPr id="100003" name="S11.Item1.Body"/>
          <p:cNvSpPr txBox="1"/>
          <p:nvPr/>
        </p:nvSpPr>
        <p:spPr>
          <a:xfrm>
            <a:off x="5074920" y="1225296"/>
            <a:ext cx="6803136" cy="1024128"/>
          </a:xfrm>
          <a:prstGeom prst="rect">
            <a:avLst/>
          </a:prstGeom>
          <a:noFill/>
          <a:ln>
            <a:noFill/>
          </a:ln>
        </p:spPr>
        <p:txBody>
          <a:bodyPr lIns="0" tIns="0" rIns="0" bIns="0">
            <a:noAutofit/>
          </a:bodyPr>
          <a:lstStyle/>
          <a:p>
            <a:pPr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1800" dirty="0">
                <a:solidFill>
                  <a:srgbClr val="20354A"/>
                </a:solidFill>
                <a:latin typeface="Arial"/>
                <a:ea typeface="Arial"/>
              </a:rPr>
              <a:t>Complete board-level Fabric integration and validation.</a:t>
            </a:r>
          </a:p>
          <a:p>
            <a:pPr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1800" dirty="0">
                <a:solidFill>
                  <a:srgbClr val="20354A"/>
                </a:solidFill>
                <a:latin typeface="Arial"/>
                <a:ea typeface="Arial"/>
              </a:rPr>
              <a:t>Build a four-FPGA emulation system.</a:t>
            </a:r>
          </a:p>
        </p:txBody>
      </p:sp>
      <p:sp>
        <p:nvSpPr>
          <p:cNvPr id="100004" name="S11.Item1.Separator"/>
          <p:cNvSpPr/>
          <p:nvPr/>
        </p:nvSpPr>
        <p:spPr>
          <a:xfrm>
            <a:off x="438912" y="2441448"/>
            <a:ext cx="11439144" cy="10973"/>
          </a:xfrm>
          <a:prstGeom prst="rect">
            <a:avLst/>
          </a:prstGeom>
          <a:solidFill>
            <a:srgbClr val="D8E3E9"/>
          </a:solidFill>
          <a:ln>
            <a:noFill/>
          </a:ln>
        </p:spPr>
        <p:txBody>
          <a:bodyPr lIns="0" tIns="0" rIns="0" bIns="0">
            <a:noAutofit/>
          </a:bodyPr>
          <a:lstStyle/>
          <a:p>
            <a:endParaRPr lang="en-US" sz="1800">
              <a:solidFill>
                <a:srgbClr val="20354A"/>
              </a:solidFill>
              <a:latin typeface="Arial"/>
              <a:ea typeface="Arial"/>
            </a:endParaRPr>
          </a:p>
        </p:txBody>
      </p:sp>
      <p:sp>
        <p:nvSpPr>
          <p:cNvPr id="100005" name="S11.Item2.Number"/>
          <p:cNvSpPr txBox="1"/>
          <p:nvPr/>
        </p:nvSpPr>
        <p:spPr>
          <a:xfrm>
            <a:off x="438912" y="2706624"/>
            <a:ext cx="347472" cy="438912"/>
          </a:xfrm>
          <a:prstGeom prst="rect">
            <a:avLst/>
          </a:prstGeom>
          <a:noFill/>
          <a:ln>
            <a:noFill/>
          </a:ln>
        </p:spPr>
        <p:txBody>
          <a:bodyPr lIns="0" tIns="0" rIns="0" bIns="0">
            <a:noAutofit/>
          </a:bodyPr>
          <a:lstStyle/>
          <a:p>
            <a:r>
              <a:rPr lang="en-US" sz="2200" b="1">
                <a:solidFill>
                  <a:srgbClr val="008C95"/>
                </a:solidFill>
                <a:latin typeface="Arial"/>
                <a:ea typeface="Arial"/>
              </a:rPr>
              <a:t>2.</a:t>
            </a:r>
          </a:p>
        </p:txBody>
      </p:sp>
      <p:sp>
        <p:nvSpPr>
          <p:cNvPr id="100006" name="S11.Item2.Heading"/>
          <p:cNvSpPr txBox="1"/>
          <p:nvPr/>
        </p:nvSpPr>
        <p:spPr>
          <a:xfrm>
            <a:off x="914400" y="2706624"/>
            <a:ext cx="4005072" cy="841248"/>
          </a:xfrm>
          <a:prstGeom prst="rect">
            <a:avLst/>
          </a:prstGeom>
          <a:noFill/>
          <a:ln>
            <a:noFill/>
          </a:ln>
        </p:spPr>
        <p:txBody>
          <a:bodyPr lIns="0" tIns="0" rIns="0" bIns="0">
            <a:noAutofit/>
          </a:bodyPr>
          <a:lstStyle/>
          <a:p>
            <a:r>
              <a:rPr lang="en-US" sz="2200" b="1">
                <a:solidFill>
                  <a:srgbClr val="183B56"/>
                </a:solidFill>
                <a:latin typeface="Arial"/>
                <a:ea typeface="Arial"/>
              </a:rPr>
              <a:t>Performance Analysis &amp;</a:t>
            </a:r>
          </a:p>
          <a:p>
            <a:r>
              <a:rPr lang="en-US" sz="2200" b="1">
                <a:solidFill>
                  <a:srgbClr val="183B56"/>
                </a:solidFill>
                <a:latin typeface="Arial"/>
                <a:ea typeface="Arial"/>
              </a:rPr>
              <a:t>Runtime Optimization</a:t>
            </a:r>
          </a:p>
        </p:txBody>
      </p:sp>
      <p:sp>
        <p:nvSpPr>
          <p:cNvPr id="100007" name="S11.Item2.Body"/>
          <p:cNvSpPr txBox="1"/>
          <p:nvPr/>
        </p:nvSpPr>
        <p:spPr>
          <a:xfrm>
            <a:off x="5074920" y="2688336"/>
            <a:ext cx="6803136" cy="666528"/>
          </a:xfrm>
          <a:prstGeom prst="rect">
            <a:avLst/>
          </a:prstGeom>
          <a:noFill/>
          <a:ln>
            <a:noFill/>
          </a:ln>
        </p:spPr>
        <p:txBody>
          <a:bodyPr lIns="0" tIns="0" rIns="0" bIns="0">
            <a:noAutofit/>
          </a:bodyPr>
          <a:lstStyle/>
          <a:p>
            <a:pPr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1800" dirty="0">
                <a:solidFill>
                  <a:srgbClr val="20354A"/>
                </a:solidFill>
                <a:latin typeface="Arial"/>
                <a:ea typeface="Arial"/>
              </a:rPr>
              <a:t>Analyze execution and communication overheads on four FPGAs.</a:t>
            </a:r>
          </a:p>
        </p:txBody>
      </p:sp>
      <p:sp>
        <p:nvSpPr>
          <p:cNvPr id="100012" name="S11.Item3.Separator"/>
          <p:cNvSpPr/>
          <p:nvPr/>
        </p:nvSpPr>
        <p:spPr>
          <a:xfrm>
            <a:off x="438912" y="3609067"/>
            <a:ext cx="11439144" cy="10973"/>
          </a:xfrm>
          <a:prstGeom prst="rect">
            <a:avLst/>
          </a:prstGeom>
          <a:solidFill>
            <a:srgbClr val="D8E3E9"/>
          </a:solidFill>
          <a:ln>
            <a:noFill/>
          </a:ln>
        </p:spPr>
        <p:txBody>
          <a:bodyPr lIns="0" tIns="0" rIns="0" bIns="0">
            <a:noAutofit/>
          </a:bodyPr>
          <a:lstStyle/>
          <a:p>
            <a:endParaRPr lang="en-US" sz="1800">
              <a:solidFill>
                <a:srgbClr val="20354A"/>
              </a:solidFill>
              <a:latin typeface="Arial"/>
              <a:ea typeface="Arial"/>
            </a:endParaRPr>
          </a:p>
        </p:txBody>
      </p:sp>
      <p:sp>
        <p:nvSpPr>
          <p:cNvPr id="100013" name="S11.Item4.Number"/>
          <p:cNvSpPr txBox="1"/>
          <p:nvPr/>
        </p:nvSpPr>
        <p:spPr>
          <a:xfrm>
            <a:off x="438912" y="3892531"/>
            <a:ext cx="347472" cy="438912"/>
          </a:xfrm>
          <a:prstGeom prst="rect">
            <a:avLst/>
          </a:prstGeom>
          <a:noFill/>
          <a:ln>
            <a:noFill/>
          </a:ln>
        </p:spPr>
        <p:txBody>
          <a:bodyPr lIns="0" tIns="0" rIns="0" bIns="0">
            <a:noAutofit/>
          </a:bodyPr>
          <a:lstStyle/>
          <a:p>
            <a:r>
              <a:rPr lang="en-US" sz="2200" b="1" dirty="0">
                <a:solidFill>
                  <a:srgbClr val="008C95"/>
                </a:solidFill>
                <a:latin typeface="Arial"/>
                <a:ea typeface="Arial"/>
              </a:rPr>
              <a:t>3.</a:t>
            </a:r>
          </a:p>
        </p:txBody>
      </p:sp>
      <p:sp>
        <p:nvSpPr>
          <p:cNvPr id="100014" name="S11.Item4.Heading"/>
          <p:cNvSpPr txBox="1"/>
          <p:nvPr/>
        </p:nvSpPr>
        <p:spPr>
          <a:xfrm>
            <a:off x="914400" y="3892531"/>
            <a:ext cx="4005072" cy="841248"/>
          </a:xfrm>
          <a:prstGeom prst="rect">
            <a:avLst/>
          </a:prstGeom>
          <a:noFill/>
          <a:ln>
            <a:noFill/>
          </a:ln>
        </p:spPr>
        <p:txBody>
          <a:bodyPr lIns="0" tIns="0" rIns="0" bIns="0">
            <a:noAutofit/>
          </a:bodyPr>
          <a:lstStyle/>
          <a:p>
            <a:r>
              <a:rPr lang="en-US" sz="2200" b="1">
                <a:solidFill>
                  <a:srgbClr val="183B56"/>
                </a:solidFill>
                <a:latin typeface="Arial"/>
                <a:ea typeface="Arial"/>
              </a:rPr>
              <a:t>Thesis Writing</a:t>
            </a:r>
          </a:p>
        </p:txBody>
      </p:sp>
      <p:sp>
        <p:nvSpPr>
          <p:cNvPr id="100015" name="S11.Item4.Body"/>
          <p:cNvSpPr txBox="1"/>
          <p:nvPr/>
        </p:nvSpPr>
        <p:spPr>
          <a:xfrm>
            <a:off x="5074920" y="3874243"/>
            <a:ext cx="6803136" cy="1024128"/>
          </a:xfrm>
          <a:prstGeom prst="rect">
            <a:avLst/>
          </a:prstGeom>
          <a:noFill/>
          <a:ln>
            <a:noFill/>
          </a:ln>
        </p:spPr>
        <p:txBody>
          <a:bodyPr lIns="0" tIns="0" rIns="0" bIns="0">
            <a:noAutofit/>
          </a:bodyPr>
          <a:lstStyle/>
          <a:p>
            <a:pPr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1800">
                <a:solidFill>
                  <a:srgbClr val="20354A"/>
                </a:solidFill>
                <a:latin typeface="Arial"/>
                <a:ea typeface="Arial"/>
              </a:rPr>
              <a:t>Consolidate experimental results and complete the thesis.</a:t>
            </a:r>
          </a:p>
        </p:txBody>
      </p:sp>
      <p:sp>
        <p:nvSpPr>
          <p:cNvPr id="100016" name="S11.PageNumber"/>
          <p:cNvSpPr txBox="1"/>
          <p:nvPr/>
        </p:nvSpPr>
        <p:spPr>
          <a:xfrm>
            <a:off x="11548872" y="6629400"/>
            <a:ext cx="310896" cy="182880"/>
          </a:xfrm>
          <a:prstGeom prst="rect">
            <a:avLst/>
          </a:prstGeom>
          <a:noFill/>
          <a:ln>
            <a:noFill/>
          </a:ln>
        </p:spPr>
        <p:txBody>
          <a:bodyPr lIns="0" tIns="0" rIns="0" bIns="0">
            <a:noAutofit/>
          </a:bodyPr>
          <a:lstStyle/>
          <a:p>
            <a:pPr algn="r"/>
            <a:r>
              <a:rPr lang="en-US" sz="1000">
                <a:solidFill>
                  <a:srgbClr val="607184"/>
                </a:solidFill>
                <a:latin typeface="Arial"/>
                <a:ea typeface="Arial"/>
              </a:rPr>
              <a:t>11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92D26171-EEA5-0EAA-8509-169BE92BAEF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0" y="1869066"/>
            <a:ext cx="12192000" cy="1936882"/>
          </a:xfrm>
        </p:spPr>
        <p:txBody>
          <a:bodyPr>
            <a:noAutofit/>
          </a:bodyPr>
          <a:lstStyle/>
          <a:p>
            <a:r>
              <a:rPr lang="en-US" altLang="zh-CN" sz="6000" dirty="0">
                <a:latin typeface="Arial"/>
              </a:rPr>
              <a:t>Thank you</a:t>
            </a:r>
            <a:endParaRPr lang="zh-CN" altLang="en-US" sz="6000" dirty="0">
              <a:latin typeface="Arial"/>
            </a:endParaRPr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7EBF25D5-769F-1398-0AE8-3A1E9E021114}"/>
              </a:ext>
            </a:extLst>
          </p:cNvPr>
          <p:cNvSpPr txBox="1"/>
          <p:nvPr/>
        </p:nvSpPr>
        <p:spPr>
          <a:xfrm>
            <a:off x="5434598" y="6304001"/>
            <a:ext cx="132279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dirty="0">
                <a:solidFill>
                  <a:srgbClr val="607184"/>
                </a:solidFill>
                <a:latin typeface="Arial" panose="020B0502040504020204" pitchFamily="34" charset="0"/>
                <a:ea typeface="Noto Sans CJK SC" panose="020B0500000000000000" pitchFamily="34" charset="-122"/>
              </a:rPr>
              <a:t>2026.10.30</a:t>
            </a:r>
            <a:endParaRPr lang="zh-CN" altLang="en-US" dirty="0">
              <a:latin typeface="Arial" panose="020B0502040504020204" pitchFamily="34" charset="0"/>
              <a:ea typeface="Noto Sans CJK SC" panose="020B0500000000000000" pitchFamily="34" charset="-122"/>
            </a:endParaRPr>
          </a:p>
        </p:txBody>
      </p:sp>
      <p:graphicFrame>
        <p:nvGraphicFramePr>
          <p:cNvPr id="6" name="表格 5">
            <a:extLst>
              <a:ext uri="{FF2B5EF4-FFF2-40B4-BE49-F238E27FC236}">
                <a16:creationId xmlns:a16="http://schemas.microsoft.com/office/drawing/2014/main" id="{A8249B18-D827-1034-C634-130B3003F53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219502887"/>
              </p:ext>
            </p:extLst>
          </p:nvPr>
        </p:nvGraphicFramePr>
        <p:xfrm>
          <a:off x="2031998" y="4629596"/>
          <a:ext cx="8127999" cy="1371600"/>
        </p:xfrm>
        <a:graphic>
          <a:graphicData uri="http://schemas.openxmlformats.org/drawingml/2006/table">
            <a:tbl>
              <a:tblPr firstRow="1" bandRow="1">
                <a:effectLst/>
                <a:tableStyleId>{5C22544A-7EE6-4342-B048-85BDC9FD1C3A}</a:tableStyleId>
              </a:tblPr>
              <a:tblGrid>
                <a:gridCol w="2709333">
                  <a:extLst>
                    <a:ext uri="{9D8B030D-6E8A-4147-A177-3AD203B41FA5}">
                      <a16:colId xmlns:a16="http://schemas.microsoft.com/office/drawing/2014/main" val="3776854773"/>
                    </a:ext>
                  </a:extLst>
                </a:gridCol>
                <a:gridCol w="2709333">
                  <a:extLst>
                    <a:ext uri="{9D8B030D-6E8A-4147-A177-3AD203B41FA5}">
                      <a16:colId xmlns:a16="http://schemas.microsoft.com/office/drawing/2014/main" val="2475322704"/>
                    </a:ext>
                  </a:extLst>
                </a:gridCol>
                <a:gridCol w="2709333">
                  <a:extLst>
                    <a:ext uri="{9D8B030D-6E8A-4147-A177-3AD203B41FA5}">
                      <a16:colId xmlns:a16="http://schemas.microsoft.com/office/drawing/2014/main" val="1751818527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r"/>
                      <a:r>
                        <a:rPr lang="en-US" altLang="zh-CN" sz="2400" b="0" dirty="0">
                          <a:solidFill>
                            <a:schemeClr val="tx1"/>
                          </a:solidFill>
                          <a:effectLst/>
                          <a:latin typeface="Arial"/>
                          <a:ea typeface="Noto Sans CJK SC" panose="020B0500000000000000" pitchFamily="34" charset="-122"/>
                        </a:rPr>
                        <a:t>Student</a:t>
                      </a:r>
                      <a:r>
                        <a:rPr lang="zh-CN" altLang="en-US" sz="2400" b="0" dirty="0">
                          <a:solidFill>
                            <a:schemeClr val="tx1"/>
                          </a:solidFill>
                          <a:effectLst/>
                          <a:latin typeface="Arial"/>
                          <a:ea typeface="Noto Sans CJK SC" panose="020B0500000000000000" pitchFamily="34" charset="-122"/>
                        </a:rPr>
                        <a:t>：</a:t>
                      </a:r>
                      <a:endParaRPr lang="en-US" altLang="zh-CN" sz="2400" b="0" dirty="0">
                        <a:solidFill>
                          <a:schemeClr val="tx1"/>
                        </a:solidFill>
                        <a:effectLst/>
                        <a:latin typeface="Arial"/>
                        <a:ea typeface="Noto Sans CJK SC" panose="020B0500000000000000" pitchFamily="34" charset="-122"/>
                      </a:endParaRP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2400" b="0" dirty="0">
                          <a:solidFill>
                            <a:schemeClr val="tx1"/>
                          </a:solidFill>
                          <a:effectLst/>
                          <a:latin typeface="Arial"/>
                          <a:ea typeface="Noto Sans CJK SC" panose="020B0500000000000000" pitchFamily="34" charset="-122"/>
                        </a:rPr>
                        <a:t>Hu</a:t>
                      </a:r>
                      <a:r>
                        <a:rPr lang="zh-CN" altLang="en-US" sz="2400" b="0" dirty="0">
                          <a:solidFill>
                            <a:schemeClr val="tx1"/>
                          </a:solidFill>
                          <a:effectLst/>
                          <a:latin typeface="Arial"/>
                          <a:ea typeface="Noto Sans CJK SC" panose="020B0500000000000000" pitchFamily="34" charset="-122"/>
                        </a:rPr>
                        <a:t> </a:t>
                      </a:r>
                      <a:r>
                        <a:rPr lang="en-US" altLang="zh-CN" sz="2400" b="0" dirty="0">
                          <a:solidFill>
                            <a:schemeClr val="tx1"/>
                          </a:solidFill>
                          <a:effectLst/>
                          <a:latin typeface="Arial"/>
                          <a:ea typeface="Noto Sans CJK SC" panose="020B0500000000000000" pitchFamily="34" charset="-122"/>
                        </a:rPr>
                        <a:t>Guanghui</a:t>
                      </a:r>
                      <a:endParaRPr lang="zh-CN" altLang="en-US" sz="2400" b="0" dirty="0">
                        <a:latin typeface="Arial"/>
                        <a:ea typeface="Noto Sans CJK SC" panose="020B0500000000000000" pitchFamily="34" charset="-122"/>
                      </a:endParaRP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2400" b="0" baseline="0" dirty="0">
                          <a:solidFill>
                            <a:schemeClr val="tx1"/>
                          </a:solidFill>
                          <a:effectLst/>
                          <a:latin typeface="Arial"/>
                          <a:ea typeface="Noto Sans CJK SC" panose="020B0500000000000000" pitchFamily="34" charset="-122"/>
                        </a:rPr>
                        <a:t>2024234318</a:t>
                      </a:r>
                      <a:endParaRPr lang="zh-CN" altLang="en-US" sz="2400" b="0" baseline="0" dirty="0">
                        <a:latin typeface="Arial"/>
                        <a:ea typeface="Noto Sans CJK SC" panose="020B0500000000000000" pitchFamily="34" charset="-122"/>
                      </a:endParaRP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77700349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indent="0" algn="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CN" sz="2400" b="0" dirty="0">
                          <a:solidFill>
                            <a:schemeClr val="tx1"/>
                          </a:solidFill>
                          <a:effectLst/>
                          <a:latin typeface="Arial"/>
                          <a:ea typeface="Noto Sans CJK SC" panose="020B0500000000000000" pitchFamily="34" charset="-122"/>
                        </a:rPr>
                        <a:t>Academic mentor</a:t>
                      </a:r>
                      <a:r>
                        <a:rPr lang="zh-CN" altLang="en-US" sz="2400" b="0" dirty="0">
                          <a:solidFill>
                            <a:schemeClr val="tx1"/>
                          </a:solidFill>
                          <a:effectLst/>
                          <a:latin typeface="Arial"/>
                          <a:ea typeface="Noto Sans CJK SC" panose="020B0500000000000000" pitchFamily="34" charset="-122"/>
                        </a:rPr>
                        <a:t>：</a:t>
                      </a:r>
                      <a:endParaRPr lang="zh-CN" altLang="en-US" sz="2400" b="0" dirty="0">
                        <a:latin typeface="Arial"/>
                        <a:ea typeface="Noto Sans CJK SC" panose="020B0500000000000000" pitchFamily="34" charset="-122"/>
                      </a:endParaRP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2400" b="0" dirty="0">
                          <a:solidFill>
                            <a:schemeClr val="tx1"/>
                          </a:solidFill>
                          <a:effectLst/>
                          <a:latin typeface="Arial"/>
                          <a:ea typeface="Noto Sans CJK SC" panose="020B0500000000000000" pitchFamily="34" charset="-122"/>
                        </a:rPr>
                        <a:t>Ha</a:t>
                      </a:r>
                      <a:r>
                        <a:rPr lang="zh-CN" altLang="en-US" sz="2400" b="0" dirty="0">
                          <a:solidFill>
                            <a:schemeClr val="tx1"/>
                          </a:solidFill>
                          <a:effectLst/>
                          <a:latin typeface="Arial"/>
                          <a:ea typeface="Noto Sans CJK SC" panose="020B0500000000000000" pitchFamily="34" charset="-122"/>
                        </a:rPr>
                        <a:t> </a:t>
                      </a:r>
                      <a:r>
                        <a:rPr lang="en-US" altLang="zh-CN" sz="2400" b="0" dirty="0" err="1">
                          <a:solidFill>
                            <a:schemeClr val="tx1"/>
                          </a:solidFill>
                          <a:effectLst/>
                          <a:latin typeface="Arial"/>
                          <a:ea typeface="Noto Sans CJK SC" panose="020B0500000000000000" pitchFamily="34" charset="-122"/>
                        </a:rPr>
                        <a:t>Yajun</a:t>
                      </a:r>
                      <a:endParaRPr lang="zh-CN" altLang="en-US" sz="2400" b="0" dirty="0">
                        <a:latin typeface="Arial"/>
                        <a:ea typeface="Noto Sans CJK SC" panose="020B0500000000000000" pitchFamily="34" charset="-122"/>
                      </a:endParaRP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CN" sz="2400" b="0" dirty="0">
                          <a:solidFill>
                            <a:schemeClr val="tx1"/>
                          </a:solidFill>
                          <a:effectLst/>
                          <a:latin typeface="Arial"/>
                          <a:ea typeface="Noto Sans CJK SC" panose="020B0500000000000000" pitchFamily="34" charset="-122"/>
                        </a:rPr>
                        <a:t>Professor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0228939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indent="0" algn="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CN" sz="2400" b="0" dirty="0">
                          <a:solidFill>
                            <a:schemeClr val="tx1"/>
                          </a:solidFill>
                          <a:effectLst/>
                          <a:latin typeface="Arial"/>
                          <a:ea typeface="Noto Sans CJK SC" panose="020B0500000000000000" pitchFamily="34" charset="-122"/>
                        </a:rPr>
                        <a:t>Enterprise mentor</a:t>
                      </a:r>
                      <a:r>
                        <a:rPr lang="zh-CN" altLang="en-US" sz="2400" b="0" dirty="0">
                          <a:solidFill>
                            <a:schemeClr val="tx1"/>
                          </a:solidFill>
                          <a:effectLst/>
                          <a:latin typeface="Arial"/>
                          <a:ea typeface="Noto Sans CJK SC" panose="020B0500000000000000" pitchFamily="34" charset="-122"/>
                        </a:rPr>
                        <a:t>：</a:t>
                      </a:r>
                      <a:endParaRPr lang="zh-CN" altLang="en-US" sz="2400" b="0" dirty="0">
                        <a:latin typeface="Arial"/>
                        <a:ea typeface="Noto Sans CJK SC" panose="020B0500000000000000" pitchFamily="34" charset="-122"/>
                      </a:endParaRP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2400" b="0" dirty="0">
                          <a:solidFill>
                            <a:schemeClr val="tx1"/>
                          </a:solidFill>
                          <a:effectLst/>
                          <a:latin typeface="Arial"/>
                          <a:ea typeface="Noto Sans CJK SC" panose="020B0500000000000000" pitchFamily="34" charset="-122"/>
                        </a:rPr>
                        <a:t>Zhang</a:t>
                      </a:r>
                      <a:r>
                        <a:rPr lang="zh-CN" altLang="en-US" sz="2400" b="0" dirty="0">
                          <a:solidFill>
                            <a:schemeClr val="tx1"/>
                          </a:solidFill>
                          <a:effectLst/>
                          <a:latin typeface="Arial"/>
                          <a:ea typeface="Noto Sans CJK SC" panose="020B0500000000000000" pitchFamily="34" charset="-122"/>
                        </a:rPr>
                        <a:t> </a:t>
                      </a:r>
                      <a:r>
                        <a:rPr lang="en-US" altLang="zh-CN" sz="2400" b="0" dirty="0">
                          <a:solidFill>
                            <a:schemeClr val="tx1"/>
                          </a:solidFill>
                          <a:effectLst/>
                          <a:latin typeface="Arial"/>
                          <a:ea typeface="Noto Sans CJK SC" panose="020B0500000000000000" pitchFamily="34" charset="-122"/>
                        </a:rPr>
                        <a:t>Ke</a:t>
                      </a:r>
                      <a:endParaRPr lang="zh-CN" altLang="en-US" sz="2400" b="0" dirty="0">
                        <a:latin typeface="Arial"/>
                        <a:ea typeface="Noto Sans CJK SC" panose="020B0500000000000000" pitchFamily="34" charset="-122"/>
                      </a:endParaRP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2400" b="0" dirty="0">
                          <a:solidFill>
                            <a:schemeClr val="tx1"/>
                          </a:solidFill>
                          <a:effectLst/>
                          <a:latin typeface="Arial"/>
                          <a:ea typeface="Noto Sans CJK SC" panose="020B0500000000000000" pitchFamily="34" charset="-122"/>
                        </a:rPr>
                        <a:t>Professor</a:t>
                      </a:r>
                      <a:endParaRPr lang="zh-CN" altLang="en-US" sz="2400" b="0" dirty="0">
                        <a:latin typeface="Arial"/>
                        <a:ea typeface="Noto Sans CJK SC" panose="020B0500000000000000" pitchFamily="34" charset="-122"/>
                      </a:endParaRP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764997686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60512357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主题​​">
  <a:themeElements>
    <a:clrScheme name="Office">
      <a:dk1>
        <a:srgbClr val="20354A"/>
      </a:dk1>
      <a:lt1>
        <a:srgbClr val="FFFFFF"/>
      </a:lt1>
      <a:dk2>
        <a:srgbClr val="183B56"/>
      </a:dk2>
      <a:lt2>
        <a:srgbClr val="F1F5F8"/>
      </a:lt2>
      <a:accent1>
        <a:srgbClr val="183B56"/>
      </a:accent1>
      <a:accent2>
        <a:srgbClr val="008C95"/>
      </a:accent2>
      <a:accent3>
        <a:srgbClr val="DF973E"/>
      </a:accent3>
      <a:accent4>
        <a:srgbClr val="EAF4F3"/>
      </a:accent4>
      <a:accent5>
        <a:srgbClr val="607184"/>
      </a:accent5>
      <a:accent6>
        <a:srgbClr val="F1F5F8"/>
      </a:accent6>
      <a:hlink>
        <a:srgbClr val="008C95"/>
      </a:hlink>
      <a:folHlink>
        <a:srgbClr val="183B56"/>
      </a:folHlink>
    </a:clrScheme>
    <a:fontScheme name="Times New Roman-Arial">
      <a:majorFont>
        <a:latin typeface="Arial" panose="02020603050405020304"/>
        <a:ea typeface=""/>
        <a:cs typeface=""/>
        <a:font script="Jpan" typeface="ＭＳ Ｐ明朝"/>
        <a:font script="Hang" typeface="바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 panose="020B0604020202020204"/>
        <a:ea typeface=""/>
        <a:cs typeface=""/>
        <a:font script="Jpan" typeface="ＭＳ Ｐゴシック"/>
        <a:font script="Hang" typeface="돋움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Presentation1" id="{A9AD3241-154C-2740-9C14-854ABD765FCE}" vid="{BE3E2D31-4906-1341-844B-962DFDAE7921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183B56"/>
      </a:accent1>
      <a:accent2>
        <a:srgbClr val="008C95"/>
      </a:accent2>
      <a:accent3>
        <a:srgbClr val="DF973E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</a:majorFont>
      <a:minorFont>
        <a:latin typeface="Arial"/>
        <a:ea typeface=""/>
        <a:cs typeface=""/>
      </a:minorFont>
    </a:fontScheme>
    <a:fmtScheme name="Office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>
          <a:solidFill>
            <a:schemeClr val="phClr"/>
          </a:solidFill>
        </a:ln>
        <a:ln w="12700" cap="flat">
          <a:solidFill>
            <a:schemeClr val="phClr"/>
          </a:solidFill>
        </a:ln>
        <a:ln w="19050" cap="flat">
          <a:solidFill>
            <a:schemeClr val="phClr"/>
          </a:solidFill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183B56"/>
      </a:accent1>
      <a:accent2>
        <a:srgbClr val="008C95"/>
      </a:accent2>
      <a:accent3>
        <a:srgbClr val="DF973E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</a:majorFont>
      <a:minorFont>
        <a:latin typeface="Arial"/>
        <a:ea typeface=""/>
        <a:cs typeface=""/>
      </a:minorFont>
    </a:fontScheme>
    <a:fmtScheme name="Office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>
          <a:solidFill>
            <a:schemeClr val="phClr"/>
          </a:solidFill>
        </a:ln>
        <a:ln w="12700" cap="flat">
          <a:solidFill>
            <a:schemeClr val="phClr"/>
          </a:solidFill>
        </a:ln>
        <a:ln w="19050" cap="flat">
          <a:solidFill>
            <a:schemeClr val="phClr"/>
          </a:solidFill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  <a:objectDefaults/>
  <a:extraClrSchemeLst/>
</a:theme>
</file>

<file path=ppt/theme/theme4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183B56"/>
      </a:accent1>
      <a:accent2>
        <a:srgbClr val="008C95"/>
      </a:accent2>
      <a:accent3>
        <a:srgbClr val="DF973E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</a:majorFont>
      <a:minorFont>
        <a:latin typeface="Arial"/>
        <a:ea typeface=""/>
        <a:cs typeface=""/>
      </a:minorFont>
    </a:fontScheme>
    <a:fmtScheme name="Office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>
          <a:solidFill>
            <a:schemeClr val="phClr"/>
          </a:solidFill>
        </a:ln>
        <a:ln w="12700" cap="flat">
          <a:solidFill>
            <a:schemeClr val="phClr"/>
          </a:solidFill>
        </a:ln>
        <a:ln w="19050" cap="flat">
          <a:solidFill>
            <a:schemeClr val="phClr"/>
          </a:solidFill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  <a:objectDefaults/>
  <a:extraClrSchemeLst/>
</a:theme>
</file>

<file path=ppt/theme/theme5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183B56"/>
      </a:accent1>
      <a:accent2>
        <a:srgbClr val="008C95"/>
      </a:accent2>
      <a:accent3>
        <a:srgbClr val="DF973E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</a:majorFont>
      <a:minorFont>
        <a:latin typeface="Arial"/>
        <a:ea typeface=""/>
        <a:cs typeface=""/>
      </a:minorFont>
    </a:fontScheme>
    <a:fmtScheme name="Office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>
          <a:solidFill>
            <a:schemeClr val="phClr"/>
          </a:solidFill>
        </a:ln>
        <a:ln w="12700" cap="flat">
          <a:solidFill>
            <a:schemeClr val="phClr"/>
          </a:solidFill>
        </a:ln>
        <a:ln w="19050" cap="flat">
          <a:solidFill>
            <a:schemeClr val="phClr"/>
          </a:solidFill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  <a:objectDefaults/>
  <a:extraClrSchemeLst/>
</a:theme>
</file>

<file path=ppt/theme/theme6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183B56"/>
      </a:accent1>
      <a:accent2>
        <a:srgbClr val="008C95"/>
      </a:accent2>
      <a:accent3>
        <a:srgbClr val="DF973E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</a:majorFont>
      <a:minorFont>
        <a:latin typeface="Arial"/>
        <a:ea typeface=""/>
        <a:cs typeface=""/>
      </a:minorFont>
    </a:fontScheme>
    <a:fmtScheme name="Office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>
          <a:solidFill>
            <a:schemeClr val="phClr"/>
          </a:solidFill>
        </a:ln>
        <a:ln w="12700" cap="flat">
          <a:solidFill>
            <a:schemeClr val="phClr"/>
          </a:solidFill>
        </a:ln>
        <a:ln w="19050" cap="flat">
          <a:solidFill>
            <a:schemeClr val="phClr"/>
          </a:solidFill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  <a:objectDefaults/>
  <a:extraClrSchemeLst/>
</a:theme>
</file>

<file path=ppt/theme/theme7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183B56"/>
      </a:accent1>
      <a:accent2>
        <a:srgbClr val="008C95"/>
      </a:accent2>
      <a:accent3>
        <a:srgbClr val="DF973E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</a:majorFont>
      <a:minorFont>
        <a:latin typeface="Arial"/>
        <a:ea typeface=""/>
        <a:cs typeface=""/>
      </a:minorFont>
    </a:fontScheme>
    <a:fmtScheme name="Office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>
          <a:solidFill>
            <a:schemeClr val="phClr"/>
          </a:solidFill>
        </a:ln>
        <a:ln w="12700" cap="flat">
          <a:solidFill>
            <a:schemeClr val="phClr"/>
          </a:solidFill>
        </a:ln>
        <a:ln w="19050" cap="flat">
          <a:solidFill>
            <a:schemeClr val="phClr"/>
          </a:solidFill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  <a:objectDefaults/>
  <a:extraClrSchemeLst/>
</a:theme>
</file>

<file path=ppt/theme/theme8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183B56"/>
      </a:accent1>
      <a:accent2>
        <a:srgbClr val="008C95"/>
      </a:accent2>
      <a:accent3>
        <a:srgbClr val="DF973E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</a:majorFont>
      <a:minorFont>
        <a:latin typeface="Arial"/>
        <a:ea typeface=""/>
        <a:cs typeface=""/>
      </a:minorFont>
    </a:fontScheme>
    <a:fmtScheme name="Office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>
          <a:solidFill>
            <a:schemeClr val="phClr"/>
          </a:solidFill>
        </a:ln>
        <a:ln w="12700" cap="flat">
          <a:solidFill>
            <a:schemeClr val="phClr"/>
          </a:solidFill>
        </a:ln>
        <a:ln w="19050" cap="flat">
          <a:solidFill>
            <a:schemeClr val="phClr"/>
          </a:solidFill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  <a:objectDefaults/>
  <a:extraClrSchemeLst/>
</a:theme>
</file>

<file path=ppt/theme/theme9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183B56"/>
      </a:accent1>
      <a:accent2>
        <a:srgbClr val="008C95"/>
      </a:accent2>
      <a:accent3>
        <a:srgbClr val="DF973E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</a:majorFont>
      <a:minorFont>
        <a:latin typeface="Arial"/>
        <a:ea typeface=""/>
        <a:cs typeface=""/>
      </a:minorFont>
    </a:fontScheme>
    <a:fmtScheme name="Office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>
          <a:solidFill>
            <a:schemeClr val="phClr"/>
          </a:solidFill>
        </a:ln>
        <a:ln w="12700" cap="flat">
          <a:solidFill>
            <a:schemeClr val="phClr"/>
          </a:solidFill>
        </a:ln>
        <a:ln w="19050" cap="flat">
          <a:solidFill>
            <a:schemeClr val="phClr"/>
          </a:solidFill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  <a:objectDefaults/>
  <a:extraClrSchemeLst/>
</a:theme>
</file>

<file path=ppt/theme/theme10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183B56"/>
      </a:accent1>
      <a:accent2>
        <a:srgbClr val="008C95"/>
      </a:accent2>
      <a:accent3>
        <a:srgbClr val="DF973E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</a:majorFont>
      <a:minorFont>
        <a:latin typeface="Arial"/>
        <a:ea typeface=""/>
        <a:cs typeface=""/>
      </a:minorFont>
    </a:fontScheme>
    <a:fmtScheme name="Office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>
          <a:solidFill>
            <a:schemeClr val="phClr"/>
          </a:solidFill>
        </a:ln>
        <a:ln w="12700" cap="flat">
          <a:solidFill>
            <a:schemeClr val="phClr"/>
          </a:solidFill>
        </a:ln>
        <a:ln w="19050" cap="flat">
          <a:solidFill>
            <a:schemeClr val="phClr"/>
          </a:solidFill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  <a:objectDefaults/>
  <a:extraClrSchemeLst/>
</a:theme>
</file>

<file path=ppt/theme/theme1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183B56"/>
      </a:accent1>
      <a:accent2>
        <a:srgbClr val="008C95"/>
      </a:accent2>
      <a:accent3>
        <a:srgbClr val="DF973E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</a:majorFont>
      <a:minorFont>
        <a:latin typeface="Arial"/>
        <a:ea typeface=""/>
        <a:cs typeface=""/>
      </a:minorFont>
    </a:fontScheme>
    <a:fmtScheme name="Office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>
          <a:solidFill>
            <a:schemeClr val="phClr"/>
          </a:solidFill>
        </a:ln>
        <a:ln w="12700" cap="flat">
          <a:solidFill>
            <a:schemeClr val="phClr"/>
          </a:solidFill>
        </a:ln>
        <a:ln w="19050" cap="flat">
          <a:solidFill>
            <a:schemeClr val="phClr"/>
          </a:solidFill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  <a:objectDefaults/>
  <a:extraClrSchemeLst/>
</a:theme>
</file>

<file path=ppt/theme/theme1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183B56"/>
      </a:accent1>
      <a:accent2>
        <a:srgbClr val="008C95"/>
      </a:accent2>
      <a:accent3>
        <a:srgbClr val="DF973E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</a:majorFont>
      <a:minorFont>
        <a:latin typeface="Arial"/>
        <a:ea typeface=""/>
        <a:cs typeface=""/>
      </a:minorFont>
    </a:fontScheme>
    <a:fmtScheme name="Office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>
          <a:solidFill>
            <a:schemeClr val="phClr"/>
          </a:solidFill>
        </a:ln>
        <a:ln w="12700" cap="flat">
          <a:solidFill>
            <a:schemeClr val="phClr"/>
          </a:solidFill>
        </a:ln>
        <a:ln w="19050" cap="flat">
          <a:solidFill>
            <a:schemeClr val="phClr"/>
          </a:solidFill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  <a:objectDefaults/>
  <a:extraClrSchemeLst/>
</a:theme>
</file>

<file path=ppt/theme/theme1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183B56"/>
      </a:accent1>
      <a:accent2>
        <a:srgbClr val="008C95"/>
      </a:accent2>
      <a:accent3>
        <a:srgbClr val="DF973E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</a:majorFont>
      <a:minorFont>
        <a:latin typeface="Arial"/>
        <a:ea typeface=""/>
        <a:cs typeface=""/>
      </a:minorFont>
    </a:fontScheme>
    <a:fmtScheme name="Office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>
          <a:solidFill>
            <a:schemeClr val="phClr"/>
          </a:solidFill>
        </a:ln>
        <a:ln w="12700" cap="flat">
          <a:solidFill>
            <a:schemeClr val="phClr"/>
          </a:solidFill>
        </a:ln>
        <a:ln w="19050" cap="flat">
          <a:solidFill>
            <a:schemeClr val="phClr"/>
          </a:solidFill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  <a:objectDefaults/>
  <a:extraClrSchemeLst/>
</a:theme>
</file>

<file path=ppt/theme/theme14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rial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318</TotalTime>
  <Words>829</Words>
  <Application>Microsoft Macintosh PowerPoint</Application>
  <PresentationFormat>Widescreen</PresentationFormat>
  <Paragraphs>291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13</vt:i4>
      </vt:variant>
      <vt:variant>
        <vt:lpstr>Slide Titles</vt:lpstr>
      </vt:variant>
      <vt:variant>
        <vt:i4>14</vt:i4>
      </vt:variant>
    </vt:vector>
  </HeadingPairs>
  <TitlesOfParts>
    <vt:vector size="29" baseType="lpstr">
      <vt:lpstr>Arial</vt:lpstr>
      <vt:lpstr>Wingdings</vt:lpstr>
      <vt:lpstr>Office 主题​​</vt:lpstr>
      <vt:lpstr>Office Theme</vt:lpstr>
      <vt:lpstr>Office Theme</vt:lpstr>
      <vt:lpstr>Office Theme</vt:lpstr>
      <vt:lpstr>Office Theme</vt:lpstr>
      <vt:lpstr>Office Theme</vt:lpstr>
      <vt:lpstr>Office Theme</vt:lpstr>
      <vt:lpstr>Office Theme</vt:lpstr>
      <vt:lpstr>Office Theme</vt:lpstr>
      <vt:lpstr>Office Theme</vt:lpstr>
      <vt:lpstr>Office Theme</vt:lpstr>
      <vt:lpstr>Office Theme</vt:lpstr>
      <vt:lpstr>Office Theme</vt:lpstr>
      <vt:lpstr>Research and Implementation of Key Technology in  Multi-FPGA Hardware Emulation 多FPGA硬件仿真关键技术研究与实现</vt:lpstr>
      <vt:lpstr>Contents</vt:lpstr>
      <vt:lpstr>Intro: From RTL Simulation to Multi-FPGA Prototyping</vt:lpstr>
      <vt:lpstr>Motivation: Multi-FPGA Prototyping Is Fast, but Hard to Debug</vt:lpstr>
      <vt:lpstr>Key Challenges of Replayable Multi-FPGA Emulation</vt:lpstr>
      <vt:lpstr>Research Gap and Goal</vt:lpstr>
      <vt:lpstr>REMUS: Overall Workflow and Mid-Term Scope</vt:lpstr>
      <vt:lpstr>Pregress1:  Cycle-Accurate Execution and Global Pause</vt:lpstr>
      <vt:lpstr>Progress2: Distributed State Capture, Restore and Replay</vt:lpstr>
      <vt:lpstr>Progress3: Automated Multi-FPGA Circuit Partitioning</vt:lpstr>
      <vt:lpstr>Progress4: Scalable Multi-FPGA Runtime</vt:lpstr>
      <vt:lpstr>Evaluation: Dual-FPGA Emulation System</vt:lpstr>
      <vt:lpstr>11. Future Work</vt:lpstr>
      <vt:lpstr>Thank you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cp:lastModifiedBy>Guanghui Hu</cp:lastModifiedBy>
  <cp:revision>111</cp:revision>
  <dcterms:modified xsi:type="dcterms:W3CDTF">2026-10-29T07:32:55Z</dcterms:modified>
</cp:coreProperties>
</file>