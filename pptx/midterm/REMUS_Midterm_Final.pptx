
<file path=[Content_Types].xml><?xml version="1.0" encoding="utf-8"?>
<Types xmlns="http://schemas.openxmlformats.org/package/2006/content-types">
  <Default Extension="rels" ContentType="application/vnd.openxmlformats-package.relationships+xml"/>
  <Override PartName="/ppt/media/merged01_image1.svg" ContentType="image/svg+xml"/>
  <Override PartName="/ppt/media/merged01_image2.png" ContentType="image/png"/>
  <Override PartName="/ppt/media/merged03_image.png" ContentType="image/png"/>
  <Override PartName="/ppt/media/merged03_image2.png" ContentType="image/png"/>
  <Override PartName="/ppt/media/merged03_image3.png" ContentType="image/png"/>
  <Override PartName="/ppt/media/merged03_image4.png" ContentType="image/png"/>
  <Override PartName="/ppt/media/merged04_image.png" ContentType="image/png"/>
  <Override PartName="/ppt/media/merged04_image2.png" ContentType="image/png"/>
  <Override PartName="/ppt/media/merged04_image3.png" ContentType="image/png"/>
  <Override PartName="/ppt/media/merged04_image4.png" ContentType="image/png"/>
  <Override PartName="/ppt/media/merged04_image5.png" ContentType="image/png"/>
  <Override PartName="/ppt/media/merged05_image.png" ContentType="image/png"/>
  <Override PartName="/ppt/media/merged05_image10.png" ContentType="image/png"/>
  <Override PartName="/ppt/media/merged05_image11.png" ContentType="image/png"/>
  <Override PartName="/ppt/media/merged05_image12.png" ContentType="image/png"/>
  <Override PartName="/ppt/media/merged05_image2.png" ContentType="image/png"/>
  <Override PartName="/ppt/media/merged05_image3.png" ContentType="image/png"/>
  <Override PartName="/ppt/media/merged05_image4.png" ContentType="image/png"/>
  <Override PartName="/ppt/media/merged05_image5.png" ContentType="image/png"/>
  <Override PartName="/ppt/media/merged05_image6.png" ContentType="image/png"/>
  <Override PartName="/ppt/media/merged05_image7.png" ContentType="image/png"/>
  <Override PartName="/ppt/media/merged05_image8.png" ContentType="image/png"/>
  <Override PartName="/ppt/media/merged05_image9.png" ContentType="image/png"/>
  <Override PartName="/ppt/media/merged06_image.png" ContentType="image/png"/>
  <Override PartName="/ppt/media/merged06_image2.png" ContentType="image/png"/>
  <Override PartName="/ppt/media/merged06_image3.png" ContentType="image/png"/>
  <Override PartName="/ppt/media/merged06_image4.png" ContentType="image/png"/>
  <Override PartName="/ppt/media/merged06_image5.png" ContentType="image/png"/>
  <Override PartName="/ppt/media/merged06_image6.png" ContentType="image/png"/>
  <Override PartName="/ppt/media/merged06_image7.png" ContentType="image/png"/>
  <Override PartName="/ppt/media/merged06_image8.png" ContentType="image/png"/>
  <Override PartName="/ppt/media/merged07_image.png" ContentType="image/png"/>
  <Override PartName="/ppt/media/merged07_image2.png" ContentType="image/png"/>
  <Override PartName="/ppt/media/merged07_image3.png" ContentType="image/png"/>
  <Override PartName="/ppt/media/merged07_image4.png" ContentType="image/png"/>
  <Override PartName="/ppt/media/merged07_image5.png" ContentType="image/png"/>
  <Override PartName="/ppt/media/merged07_image6.png" ContentType="image/png"/>
  <Override PartName="/ppt/media/merged07_image7.png" ContentType="image/png"/>
  <Override PartName="/ppt/media/merged07_image8.png" ContentType="image/png"/>
  <Override PartName="/ppt/media/merged08_image.png" ContentType="image/png"/>
  <Override PartName="/ppt/media/merged09_image.png" ContentType="image/png"/>
  <Override PartName="/ppt/media/merged12_image.jpg" ContentType="image/jpeg"/>
  <Override PartName="/ppt/media/merged12_image.png" ContentType="image/png"/>
  <Override PartName="/ppt/notesMasters/merged01_notesMaster1.xml" ContentType="application/vnd.openxmlformats-officedocument.presentationml.notesMaster+xml"/>
  <Override PartName="/ppt/notesMasters/merged02_notesMaster1.xml" ContentType="application/vnd.openxmlformats-officedocument.presentationml.notesMaster+xml"/>
  <Override PartName="/ppt/notesMasters/merged03_notesMaster1.xml" ContentType="application/vnd.openxmlformats-officedocument.presentationml.notesMaster+xml"/>
  <Override PartName="/ppt/notesMasters/merged04_notesMaster1.xml" ContentType="application/vnd.openxmlformats-officedocument.presentationml.notesMaster+xml"/>
  <Override PartName="/ppt/notesMasters/merged05_notesMaster1.xml" ContentType="application/vnd.openxmlformats-officedocument.presentationml.notesMaster+xml"/>
  <Override PartName="/ppt/notesMasters/merged06_notesMaster1.xml" ContentType="application/vnd.openxmlformats-officedocument.presentationml.notesMaster+xml"/>
  <Override PartName="/ppt/notesMasters/merged07_notesMaster1.xml" ContentType="application/vnd.openxmlformats-officedocument.presentationml.notesMaster+xml"/>
  <Override PartName="/ppt/notesMasters/merged08_notesMaster1.xml" ContentType="application/vnd.openxmlformats-officedocument.presentationml.notesMaster+xml"/>
  <Override PartName="/ppt/notesMasters/merged09_notesMaster1.xml" ContentType="application/vnd.openxmlformats-officedocument.presentationml.notesMaster+xml"/>
  <Override PartName="/ppt/notesMasters/merged10_notesMaster1.xml" ContentType="application/vnd.openxmlformats-officedocument.presentationml.notesMaster+xml"/>
  <Override PartName="/ppt/notesMasters/merged11_notesMaster1.xml" ContentType="application/vnd.openxmlformats-officedocument.presentationml.notesMaster+xml"/>
  <Override PartName="/ppt/notesMasters/merged12_notesMaster1.xml" ContentType="application/vnd.openxmlformats-officedocument.presentationml.notesMaster+xml"/>
  <Override PartName="/ppt/notesMasters/merged13_notesMaster1.xml" ContentType="application/vnd.openxmlformats-officedocument.presentationml.notesMaster+xml"/>
  <Override PartName="/ppt/notesMasters/theme/merged02_theme2.xml" ContentType="application/vnd.openxmlformats-officedocument.theme+xml"/>
  <Override PartName="/ppt/notesMasters/theme/merged03_theme2.xml" ContentType="application/vnd.openxmlformats-officedocument.theme+xml"/>
  <Override PartName="/ppt/notesMasters/theme/merged04_theme2.xml" ContentType="application/vnd.openxmlformats-officedocument.theme+xml"/>
  <Override PartName="/ppt/notesMasters/theme/merged05_theme2.xml" ContentType="application/vnd.openxmlformats-officedocument.theme+xml"/>
  <Override PartName="/ppt/notesMasters/theme/merged06_theme2.xml" ContentType="application/vnd.openxmlformats-officedocument.theme+xml"/>
  <Override PartName="/ppt/notesMasters/theme/merged07_theme2.xml" ContentType="application/vnd.openxmlformats-officedocument.theme+xml"/>
  <Override PartName="/ppt/notesMasters/theme/merged08_theme2.xml" ContentType="application/vnd.openxmlformats-officedocument.theme+xml"/>
  <Override PartName="/ppt/notesMasters/theme/merged09_theme2.xml" ContentType="application/vnd.openxmlformats-officedocument.theme+xml"/>
  <Override PartName="/ppt/notesMasters/theme/merged10_theme2.xml" ContentType="application/vnd.openxmlformats-officedocument.theme+xml"/>
  <Override PartName="/ppt/notesMasters/theme/merged11_theme2.xml" ContentType="application/vnd.openxmlformats-officedocument.theme+xml"/>
  <Override PartName="/ppt/notesMasters/theme/merged12_theme2.xml" ContentType="application/vnd.openxmlformats-officedocument.theme+xml"/>
  <Override PartName="/ppt/notesMasters/theme/merged13_theme2.xml" ContentType="application/vnd.openxmlformats-officedocument.theme+xml"/>
  <Override PartName="/ppt/notesSlides/merged01_notesSlide1.xml" ContentType="application/vnd.openxmlformats-officedocument.presentationml.notesSlide+xml"/>
  <Override PartName="/ppt/notesSlides/merged01_notesSlide3.xml" ContentType="application/vnd.openxmlformats-officedocument.presentationml.notesSlide+xml"/>
  <Override PartName="/ppt/notesSlides/merged02_notesSlide1.xml" ContentType="application/vnd.openxmlformats-officedocument.presentationml.notesSlide+xml"/>
  <Override PartName="/ppt/notesSlides/merged03_notesSlide1.xml" ContentType="application/vnd.openxmlformats-officedocument.presentationml.notesSlide+xml"/>
  <Override PartName="/ppt/notesSlides/merged04_notesSlide1.xml" ContentType="application/vnd.openxmlformats-officedocument.presentationml.notesSlide+xml"/>
  <Override PartName="/ppt/notesSlides/merged05_notesSlide1.xml" ContentType="application/vnd.openxmlformats-officedocument.presentationml.notesSlide+xml"/>
  <Override PartName="/ppt/notesSlides/merged06_notesSlide1.xml" ContentType="application/vnd.openxmlformats-officedocument.presentationml.notesSlide+xml"/>
  <Override PartName="/ppt/notesSlides/merged07_notesSlide1.xml" ContentType="application/vnd.openxmlformats-officedocument.presentationml.notesSlide+xml"/>
  <Override PartName="/ppt/notesSlides/merged08_notesSlide1.xml" ContentType="application/vnd.openxmlformats-officedocument.presentationml.notesSlide+xml"/>
  <Override PartName="/ppt/notesSlides/merged09_notesSlide1.xml" ContentType="application/vnd.openxmlformats-officedocument.presentationml.notesSlide+xml"/>
  <Override PartName="/ppt/notesSlides/merged10_notesSlide1.xml" ContentType="application/vnd.openxmlformats-officedocument.presentationml.notesSlide+xml"/>
  <Override PartName="/ppt/notesSlides/merged11_notesSlide1.xml" ContentType="application/vnd.openxmlformats-officedocument.presentationml.notesSlide+xml"/>
  <Override PartName="/ppt/notesSlides/merged12_notesSlide1.xml" ContentType="application/vnd.openxmlformats-officedocument.presentationml.notesSlide+xml"/>
  <Override PartName="/ppt/notesSlides/merged13_notesSlide1.xml" ContentType="application/vnd.openxmlformats-officedocument.presentationml.notesSlide+xml"/>
  <Override PartName="/ppt/presentation.xml" ContentType="application/vnd.openxmlformats-officedocument.presentationml.presentation.main+xml"/>
  <Override PartName="/ppt/slideLayouts/merged01_slideLayout1.xml" ContentType="application/vnd.openxmlformats-officedocument.presentationml.slideLayout+xml"/>
  <Override PartName="/ppt/slideLayouts/merged01_slideLayout2.xml" ContentType="application/vnd.openxmlformats-officedocument.presentationml.slideLayout+xml"/>
  <Override PartName="/ppt/slideLayouts/merged01_slideLayout3.xml" ContentType="application/vnd.openxmlformats-officedocument.presentationml.slideLayout+xml"/>
  <Override PartName="/ppt/slideLayouts/merged02_slideLayout1.xml" ContentType="application/vnd.openxmlformats-officedocument.presentationml.slideLayout+xml"/>
  <Override PartName="/ppt/slideLayouts/merged02_slideLayout2.xml" ContentType="application/vnd.openxmlformats-officedocument.presentationml.slideLayout+xml"/>
  <Override PartName="/ppt/slideLayouts/merged02_slideLayout3.xml" ContentType="application/vnd.openxmlformats-officedocument.presentationml.slideLayout+xml"/>
  <Override PartName="/ppt/slideLayouts/merged02_slideLayout4.xml" ContentType="application/vnd.openxmlformats-officedocument.presentationml.slideLayout+xml"/>
  <Override PartName="/ppt/slideLayouts/merged02_slideLayout5.xml" ContentType="application/vnd.openxmlformats-officedocument.presentationml.slideLayout+xml"/>
  <Override PartName="/ppt/slideLayouts/merged03_slideLayout1.xml" ContentType="application/vnd.openxmlformats-officedocument.presentationml.slideLayout+xml"/>
  <Override PartName="/ppt/slideLayouts/merged03_slideLayout2.xml" ContentType="application/vnd.openxmlformats-officedocument.presentationml.slideLayout+xml"/>
  <Override PartName="/ppt/slideLayouts/merged03_slideLayout3.xml" ContentType="application/vnd.openxmlformats-officedocument.presentationml.slideLayout+xml"/>
  <Override PartName="/ppt/slideLayouts/merged03_slideLayout4.xml" ContentType="application/vnd.openxmlformats-officedocument.presentationml.slideLayout+xml"/>
  <Override PartName="/ppt/slideLayouts/merged03_slideLayout5.xml" ContentType="application/vnd.openxmlformats-officedocument.presentationml.slideLayout+xml"/>
  <Override PartName="/ppt/slideLayouts/merged04_slideLayout1.xml" ContentType="application/vnd.openxmlformats-officedocument.presentationml.slideLayout+xml"/>
  <Override PartName="/ppt/slideLayouts/merged04_slideLayout2.xml" ContentType="application/vnd.openxmlformats-officedocument.presentationml.slideLayout+xml"/>
  <Override PartName="/ppt/slideLayouts/merged04_slideLayout3.xml" ContentType="application/vnd.openxmlformats-officedocument.presentationml.slideLayout+xml"/>
  <Override PartName="/ppt/slideLayouts/merged04_slideLayout4.xml" ContentType="application/vnd.openxmlformats-officedocument.presentationml.slideLayout+xml"/>
  <Override PartName="/ppt/slideLayouts/merged04_slideLayout5.xml" ContentType="application/vnd.openxmlformats-officedocument.presentationml.slideLayout+xml"/>
  <Override PartName="/ppt/slideLayouts/merged05_slideLayout1.xml" ContentType="application/vnd.openxmlformats-officedocument.presentationml.slideLayout+xml"/>
  <Override PartName="/ppt/slideLayouts/merged05_slideLayout2.xml" ContentType="application/vnd.openxmlformats-officedocument.presentationml.slideLayout+xml"/>
  <Override PartName="/ppt/slideLayouts/merged05_slideLayout3.xml" ContentType="application/vnd.openxmlformats-officedocument.presentationml.slideLayout+xml"/>
  <Override PartName="/ppt/slideLayouts/merged05_slideLayout4.xml" ContentType="application/vnd.openxmlformats-officedocument.presentationml.slideLayout+xml"/>
  <Override PartName="/ppt/slideLayouts/merged05_slideLayout5.xml" ContentType="application/vnd.openxmlformats-officedocument.presentationml.slideLayout+xml"/>
  <Override PartName="/ppt/slideLayouts/merged06_slideLayout1.xml" ContentType="application/vnd.openxmlformats-officedocument.presentationml.slideLayout+xml"/>
  <Override PartName="/ppt/slideLayouts/merged06_slideLayout2.xml" ContentType="application/vnd.openxmlformats-officedocument.presentationml.slideLayout+xml"/>
  <Override PartName="/ppt/slideLayouts/merged06_slideLayout3.xml" ContentType="application/vnd.openxmlformats-officedocument.presentationml.slideLayout+xml"/>
  <Override PartName="/ppt/slideLayouts/merged06_slideLayout4.xml" ContentType="application/vnd.openxmlformats-officedocument.presentationml.slideLayout+xml"/>
  <Override PartName="/ppt/slideLayouts/merged06_slideLayout5.xml" ContentType="application/vnd.openxmlformats-officedocument.presentationml.slideLayout+xml"/>
  <Override PartName="/ppt/slideLayouts/merged07_slideLayout1.xml" ContentType="application/vnd.openxmlformats-officedocument.presentationml.slideLayout+xml"/>
  <Override PartName="/ppt/slideLayouts/merged07_slideLayout2.xml" ContentType="application/vnd.openxmlformats-officedocument.presentationml.slideLayout+xml"/>
  <Override PartName="/ppt/slideLayouts/merged07_slideLayout3.xml" ContentType="application/vnd.openxmlformats-officedocument.presentationml.slideLayout+xml"/>
  <Override PartName="/ppt/slideLayouts/merged07_slideLayout4.xml" ContentType="application/vnd.openxmlformats-officedocument.presentationml.slideLayout+xml"/>
  <Override PartName="/ppt/slideLayouts/merged07_slideLayout5.xml" ContentType="application/vnd.openxmlformats-officedocument.presentationml.slideLayout+xml"/>
  <Override PartName="/ppt/slideLayouts/merged08_slideLayout1.xml" ContentType="application/vnd.openxmlformats-officedocument.presentationml.slideLayout+xml"/>
  <Override PartName="/ppt/slideLayouts/merged08_slideLayout2.xml" ContentType="application/vnd.openxmlformats-officedocument.presentationml.slideLayout+xml"/>
  <Override PartName="/ppt/slideLayouts/merged08_slideLayout3.xml" ContentType="application/vnd.openxmlformats-officedocument.presentationml.slideLayout+xml"/>
  <Override PartName="/ppt/slideLayouts/merged08_slideLayout4.xml" ContentType="application/vnd.openxmlformats-officedocument.presentationml.slideLayout+xml"/>
  <Override PartName="/ppt/slideLayouts/merged08_slideLayout5.xml" ContentType="application/vnd.openxmlformats-officedocument.presentationml.slideLayout+xml"/>
  <Override PartName="/ppt/slideLayouts/merged09_slideLayout1.xml" ContentType="application/vnd.openxmlformats-officedocument.presentationml.slideLayout+xml"/>
  <Override PartName="/ppt/slideLayouts/merged09_slideLayout2.xml" ContentType="application/vnd.openxmlformats-officedocument.presentationml.slideLayout+xml"/>
  <Override PartName="/ppt/slideLayouts/merged09_slideLayout3.xml" ContentType="application/vnd.openxmlformats-officedocument.presentationml.slideLayout+xml"/>
  <Override PartName="/ppt/slideLayouts/merged09_slideLayout4.xml" ContentType="application/vnd.openxmlformats-officedocument.presentationml.slideLayout+xml"/>
  <Override PartName="/ppt/slideLayouts/merged09_slideLayout5.xml" ContentType="application/vnd.openxmlformats-officedocument.presentationml.slideLayout+xml"/>
  <Override PartName="/ppt/slideLayouts/merged10_slideLayout1.xml" ContentType="application/vnd.openxmlformats-officedocument.presentationml.slideLayout+xml"/>
  <Override PartName="/ppt/slideLayouts/merged10_slideLayout2.xml" ContentType="application/vnd.openxmlformats-officedocument.presentationml.slideLayout+xml"/>
  <Override PartName="/ppt/slideLayouts/merged10_slideLayout3.xml" ContentType="application/vnd.openxmlformats-officedocument.presentationml.slideLayout+xml"/>
  <Override PartName="/ppt/slideLayouts/merged10_slideLayout4.xml" ContentType="application/vnd.openxmlformats-officedocument.presentationml.slideLayout+xml"/>
  <Override PartName="/ppt/slideLayouts/merged10_slideLayout5.xml" ContentType="application/vnd.openxmlformats-officedocument.presentationml.slideLayout+xml"/>
  <Override PartName="/ppt/slideLayouts/merged11_slideLayout1.xml" ContentType="application/vnd.openxmlformats-officedocument.presentationml.slideLayout+xml"/>
  <Override PartName="/ppt/slideLayouts/merged11_slideLayout2.xml" ContentType="application/vnd.openxmlformats-officedocument.presentationml.slideLayout+xml"/>
  <Override PartName="/ppt/slideLayouts/merged11_slideLayout3.xml" ContentType="application/vnd.openxmlformats-officedocument.presentationml.slideLayout+xml"/>
  <Override PartName="/ppt/slideLayouts/merged11_slideLayout4.xml" ContentType="application/vnd.openxmlformats-officedocument.presentationml.slideLayout+xml"/>
  <Override PartName="/ppt/slideLayouts/merged11_slideLayout5.xml" ContentType="application/vnd.openxmlformats-officedocument.presentationml.slideLayout+xml"/>
  <Override PartName="/ppt/slideLayouts/merged12_slideLayout1.xml" ContentType="application/vnd.openxmlformats-officedocument.presentationml.slideLayout+xml"/>
  <Override PartName="/ppt/slideLayouts/merged12_slideLayout2.xml" ContentType="application/vnd.openxmlformats-officedocument.presentationml.slideLayout+xml"/>
  <Override PartName="/ppt/slideLayouts/merged12_slideLayout3.xml" ContentType="application/vnd.openxmlformats-officedocument.presentationml.slideLayout+xml"/>
  <Override PartName="/ppt/slideLayouts/merged12_slideLayout4.xml" ContentType="application/vnd.openxmlformats-officedocument.presentationml.slideLayout+xml"/>
  <Override PartName="/ppt/slideLayouts/merged12_slideLayout5.xml" ContentType="application/vnd.openxmlformats-officedocument.presentationml.slideLayout+xml"/>
  <Override PartName="/ppt/slideLayouts/merged13_slideLayout1.xml" ContentType="application/vnd.openxmlformats-officedocument.presentationml.slideLayout+xml"/>
  <Override PartName="/ppt/slideLayouts/merged13_slideLayout2.xml" ContentType="application/vnd.openxmlformats-officedocument.presentationml.slideLayout+xml"/>
  <Override PartName="/ppt/slideLayouts/merged13_slideLayout3.xml" ContentType="application/vnd.openxmlformats-officedocument.presentationml.slideLayout+xml"/>
  <Override PartName="/ppt/slideLayouts/merged13_slideLayout4.xml" ContentType="application/vnd.openxmlformats-officedocument.presentationml.slideLayout+xml"/>
  <Override PartName="/ppt/slideLayouts/merged13_slideLayout5.xml" ContentType="application/vnd.openxmlformats-officedocument.presentationml.slideLayout+xml"/>
  <Override PartName="/ppt/slideMasters/merged01_slideMaster1.xml" ContentType="application/vnd.openxmlformats-officedocument.presentationml.slideMaster+xml"/>
  <Override PartName="/ppt/slideMasters/merged02_slideMaster1.xml" ContentType="application/vnd.openxmlformats-officedocument.presentationml.slideMaster+xml"/>
  <Override PartName="/ppt/slideMasters/merged03_slideMaster1.xml" ContentType="application/vnd.openxmlformats-officedocument.presentationml.slideMaster+xml"/>
  <Override PartName="/ppt/slideMasters/merged04_slideMaster1.xml" ContentType="application/vnd.openxmlformats-officedocument.presentationml.slideMaster+xml"/>
  <Override PartName="/ppt/slideMasters/merged05_slideMaster1.xml" ContentType="application/vnd.openxmlformats-officedocument.presentationml.slideMaster+xml"/>
  <Override PartName="/ppt/slideMasters/merged06_slideMaster1.xml" ContentType="application/vnd.openxmlformats-officedocument.presentationml.slideMaster+xml"/>
  <Override PartName="/ppt/slideMasters/merged07_slideMaster1.xml" ContentType="application/vnd.openxmlformats-officedocument.presentationml.slideMaster+xml"/>
  <Override PartName="/ppt/slideMasters/merged08_slideMaster1.xml" ContentType="application/vnd.openxmlformats-officedocument.presentationml.slideMaster+xml"/>
  <Override PartName="/ppt/slideMasters/merged09_slideMaster1.xml" ContentType="application/vnd.openxmlformats-officedocument.presentationml.slideMaster+xml"/>
  <Override PartName="/ppt/slideMasters/merged10_slideMaster1.xml" ContentType="application/vnd.openxmlformats-officedocument.presentationml.slideMaster+xml"/>
  <Override PartName="/ppt/slideMasters/merged11_slideMaster1.xml" ContentType="application/vnd.openxmlformats-officedocument.presentationml.slideMaster+xml"/>
  <Override PartName="/ppt/slideMasters/merged12_slideMaster1.xml" ContentType="application/vnd.openxmlformats-officedocument.presentationml.slideMaster+xml"/>
  <Override PartName="/ppt/slideMasters/merged13_slideMaster1.xml" ContentType="application/vnd.openxmlformats-officedocument.presentationml.slideMaster+xml"/>
  <Override PartName="/ppt/slides/charts/merged10_chart1.xml" ContentType="application/vnd.openxmlformats-officedocument.drawingml.chart+xml"/>
  <Override PartName="/ppt/slides/merged01_slide1.xml" ContentType="application/vnd.openxmlformats-officedocument.presentationml.slide+xml"/>
  <Override PartName="/ppt/slides/merged01_slide3.xml" ContentType="application/vnd.openxmlformats-officedocument.presentationml.slide+xml"/>
  <Override PartName="/ppt/slides/merged02_slide1.xml" ContentType="application/vnd.openxmlformats-officedocument.presentationml.slide+xml"/>
  <Override PartName="/ppt/slides/merged03_slide1.xml" ContentType="application/vnd.openxmlformats-officedocument.presentationml.slide+xml"/>
  <Override PartName="/ppt/slides/merged04_slide1.xml" ContentType="application/vnd.openxmlformats-officedocument.presentationml.slide+xml"/>
  <Override PartName="/ppt/slides/merged05_slide1.xml" ContentType="application/vnd.openxmlformats-officedocument.presentationml.slide+xml"/>
  <Override PartName="/ppt/slides/merged06_slide1.xml" ContentType="application/vnd.openxmlformats-officedocument.presentationml.slide+xml"/>
  <Override PartName="/ppt/slides/merged07_slide1.xml" ContentType="application/vnd.openxmlformats-officedocument.presentationml.slide+xml"/>
  <Override PartName="/ppt/slides/merged08_slide1.xml" ContentType="application/vnd.openxmlformats-officedocument.presentationml.slide+xml"/>
  <Override PartName="/ppt/slides/merged09_slide1.xml" ContentType="application/vnd.openxmlformats-officedocument.presentationml.slide+xml"/>
  <Override PartName="/ppt/slides/merged10_slide1.xml" ContentType="application/vnd.openxmlformats-officedocument.presentationml.slide+xml"/>
  <Override PartName="/ppt/slides/merged11_slide1.xml" ContentType="application/vnd.openxmlformats-officedocument.presentationml.slide+xml"/>
  <Override PartName="/ppt/slides/merged12_slide1.xml" ContentType="application/vnd.openxmlformats-officedocument.presentationml.slide+xml"/>
  <Override PartName="/ppt/slides/merged13_slide1.xml" ContentType="application/vnd.openxmlformats-officedocument.presentationml.slide+xml"/>
  <Override PartName="/ppt/theme/merged01_theme1.xml" ContentType="application/vnd.openxmlformats-officedocument.theme+xml"/>
  <Override PartName="/ppt/theme/merged01_theme2.xml" ContentType="application/vnd.openxmlformats-officedocument.theme+xml"/>
  <Override PartName="/ppt/theme/merged02_theme1.xml" ContentType="application/vnd.openxmlformats-officedocument.theme+xml"/>
  <Override PartName="/ppt/theme/merged03_theme1.xml" ContentType="application/vnd.openxmlformats-officedocument.theme+xml"/>
  <Override PartName="/ppt/theme/merged04_theme1.xml" ContentType="application/vnd.openxmlformats-officedocument.theme+xml"/>
  <Override PartName="/ppt/theme/merged05_theme1.xml" ContentType="application/vnd.openxmlformats-officedocument.theme+xml"/>
  <Override PartName="/ppt/theme/merged06_theme1.xml" ContentType="application/vnd.openxmlformats-officedocument.theme+xml"/>
  <Override PartName="/ppt/theme/merged07_theme1.xml" ContentType="application/vnd.openxmlformats-officedocument.theme+xml"/>
  <Override PartName="/ppt/theme/merged08_theme1.xml" ContentType="application/vnd.openxmlformats-officedocument.theme+xml"/>
  <Override PartName="/ppt/theme/merged09_theme1.xml" ContentType="application/vnd.openxmlformats-officedocument.theme+xml"/>
  <Override PartName="/ppt/theme/merged10_theme1.xml" ContentType="application/vnd.openxmlformats-officedocument.theme+xml"/>
  <Override PartName="/ppt/theme/merged11_theme1.xml" ContentType="application/vnd.openxmlformats-officedocument.theme+xml"/>
  <Override PartName="/ppt/theme/merged12_theme1.xml" ContentType="application/vnd.openxmlformats-officedocument.theme+xml"/>
  <Override PartName="/ppt/theme/merged13_theme1.xml" ContentType="application/vnd.openxmlformats-officedocument.theme+xml"/>
</Types>
</file>

<file path=_rels/.rels><?xml version='1.0' encoding='utf-8'?>
<Relationships xmlns="http://schemas.openxmlformats.org/package/2006/relationships"><Relationship Id="rId1" Type="http://schemas.openxmlformats.org/officeDocument/2006/relationships/officeDocument" Target="ppt/presentation.xml" /></Relationships>
</file>

<file path=ppt/presentation.xml><?xml version="1.0" encoding="utf-8"?>
<p:presentation xmlns:p="http://schemas.openxmlformats.org/presentationml/2006/main" xmlns:r="http://schemas.openxmlformats.org/officeDocument/2006/relationships">
  <p:sldMasterIdLst>
    <p:sldMasterId r:id="rId1" id="2147483648"/>
    <p:sldMasterId r:id="rId2" id="2147483649"/>
    <p:sldMasterId r:id="rId3" id="2147483650"/>
    <p:sldMasterId r:id="rId4" id="2147483651"/>
    <p:sldMasterId r:id="rId5" id="2147483652"/>
    <p:sldMasterId r:id="rId6" id="2147483653"/>
    <p:sldMasterId r:id="rId7" id="2147483654"/>
    <p:sldMasterId r:id="rId8" id="2147483655"/>
    <p:sldMasterId r:id="rId9" id="2147483656"/>
    <p:sldMasterId r:id="rId10" id="2147483657"/>
    <p:sldMasterId r:id="rId11" id="2147483658"/>
    <p:sldMasterId r:id="rId12" id="2147483659"/>
    <p:sldMasterId r:id="rId13" id="2147483660"/>
  </p:sldMasterIdLst>
  <p:notesMasterIdLst>
    <p:notesMasterId r:id="rId14"/>
  </p:notesMasterIdLst>
  <p:sldIdLst>
    <p:sldId r:id="rId15" id="256"/>
    <p:sldId r:id="rId16" id="257"/>
    <p:sldId r:id="rId17" id="258"/>
    <p:sldId r:id="rId18" id="259"/>
    <p:sldId r:id="rId19" id="260"/>
    <p:sldId r:id="rId20" id="261"/>
    <p:sldId r:id="rId21" id="262"/>
    <p:sldId r:id="rId22" id="263"/>
    <p:sldId r:id="rId23" id="264"/>
    <p:sldId r:id="rId24" id="265"/>
    <p:sldId r:id="rId25" id="266"/>
    <p:sldId r:id="rId26" id="267"/>
    <p:sldId r:id="rId27" id="268"/>
    <p:sldId r:id="rId28" id="269"/>
  </p:sldIdLst>
  <p:sldSz cx="12192000" cy="6858000" type="screen16x9"/>
  <p:notesSz cx="6858000" cy="9144000"/>
</p:presentation>
</file>

<file path=ppt/_rels/presentation.xml.rels><?xml version='1.0' encoding='utf-8'?>
<Relationships xmlns="http://schemas.openxmlformats.org/package/2006/relationships"><Relationship Id="rId1" Type="http://schemas.openxmlformats.org/officeDocument/2006/relationships/slideMaster" Target="slideMasters/merged01_slideMaster1.xml" /><Relationship Id="rId2" Type="http://schemas.openxmlformats.org/officeDocument/2006/relationships/slideMaster" Target="slideMasters/merged02_slideMaster1.xml" /><Relationship Id="rId3" Type="http://schemas.openxmlformats.org/officeDocument/2006/relationships/slideMaster" Target="slideMasters/merged03_slideMaster1.xml" /><Relationship Id="rId4" Type="http://schemas.openxmlformats.org/officeDocument/2006/relationships/slideMaster" Target="slideMasters/merged04_slideMaster1.xml" /><Relationship Id="rId5" Type="http://schemas.openxmlformats.org/officeDocument/2006/relationships/slideMaster" Target="slideMasters/merged05_slideMaster1.xml" /><Relationship Id="rId6" Type="http://schemas.openxmlformats.org/officeDocument/2006/relationships/slideMaster" Target="slideMasters/merged06_slideMaster1.xml" /><Relationship Id="rId7" Type="http://schemas.openxmlformats.org/officeDocument/2006/relationships/slideMaster" Target="slideMasters/merged07_slideMaster1.xml" /><Relationship Id="rId8" Type="http://schemas.openxmlformats.org/officeDocument/2006/relationships/slideMaster" Target="slideMasters/merged08_slideMaster1.xml" /><Relationship Id="rId9" Type="http://schemas.openxmlformats.org/officeDocument/2006/relationships/slideMaster" Target="slideMasters/merged09_slideMaster1.xml" /><Relationship Id="rId10" Type="http://schemas.openxmlformats.org/officeDocument/2006/relationships/slideMaster" Target="slideMasters/merged10_slideMaster1.xml" /><Relationship Id="rId11" Type="http://schemas.openxmlformats.org/officeDocument/2006/relationships/slideMaster" Target="slideMasters/merged11_slideMaster1.xml" /><Relationship Id="rId12" Type="http://schemas.openxmlformats.org/officeDocument/2006/relationships/slideMaster" Target="slideMasters/merged12_slideMaster1.xml" /><Relationship Id="rId13" Type="http://schemas.openxmlformats.org/officeDocument/2006/relationships/slideMaster" Target="slideMasters/merged13_slideMaster1.xml" /><Relationship Id="rId14" Type="http://schemas.openxmlformats.org/officeDocument/2006/relationships/notesMaster" Target="notesMasters/merged01_notesMaster1.xml" /><Relationship Id="rId15" Type="http://schemas.openxmlformats.org/officeDocument/2006/relationships/slide" Target="slides/merged01_slide1.xml" /><Relationship Id="rId16" Type="http://schemas.openxmlformats.org/officeDocument/2006/relationships/slide" Target="slides/merged02_slide1.xml" /><Relationship Id="rId17" Type="http://schemas.openxmlformats.org/officeDocument/2006/relationships/slide" Target="slides/merged03_slide1.xml" /><Relationship Id="rId18" Type="http://schemas.openxmlformats.org/officeDocument/2006/relationships/slide" Target="slides/merged04_slide1.xml" /><Relationship Id="rId19" Type="http://schemas.openxmlformats.org/officeDocument/2006/relationships/slide" Target="slides/merged05_slide1.xml" /><Relationship Id="rId20" Type="http://schemas.openxmlformats.org/officeDocument/2006/relationships/slide" Target="slides/merged06_slide1.xml" /><Relationship Id="rId21" Type="http://schemas.openxmlformats.org/officeDocument/2006/relationships/slide" Target="slides/merged07_slide1.xml" /><Relationship Id="rId22" Type="http://schemas.openxmlformats.org/officeDocument/2006/relationships/slide" Target="slides/merged08_slide1.xml" /><Relationship Id="rId23" Type="http://schemas.openxmlformats.org/officeDocument/2006/relationships/slide" Target="slides/merged09_slide1.xml" /><Relationship Id="rId24" Type="http://schemas.openxmlformats.org/officeDocument/2006/relationships/slide" Target="slides/merged10_slide1.xml" /><Relationship Id="rId25" Type="http://schemas.openxmlformats.org/officeDocument/2006/relationships/slide" Target="slides/merged11_slide1.xml" /><Relationship Id="rId26" Type="http://schemas.openxmlformats.org/officeDocument/2006/relationships/slide" Target="slides/merged12_slide1.xml" /><Relationship Id="rId27" Type="http://schemas.openxmlformats.org/officeDocument/2006/relationships/slide" Target="slides/merged13_slide1.xml" /><Relationship Id="rId28" Type="http://schemas.openxmlformats.org/officeDocument/2006/relationships/slide" Target="slides/merged01_slide3.xml" /></Relationships>
</file>

<file path=ppt/notesMasters/_rels/merged01_notesMaster1.xml.rels><?xml version='1.0' encoding='utf-8'?>
<Relationships xmlns="http://schemas.openxmlformats.org/package/2006/relationships"><Relationship Id="rId1" Type="http://schemas.openxmlformats.org/officeDocument/2006/relationships/theme" Target="../theme/merged01_theme2.xml" /></Relationships>
</file>

<file path=ppt/notesMasters/_rels/merged02_notesMaster1.xml.rels><?xml version='1.0' encoding='utf-8'?>
<Relationships xmlns="http://schemas.openxmlformats.org/package/2006/relationships"><Relationship Type="http://schemas.openxmlformats.org/officeDocument/2006/relationships/theme" Target="theme/merged02_theme2.xml" Id="Ra0019517e2054ed7" /></Relationships>
</file>

<file path=ppt/notesMasters/_rels/merged03_notesMaster1.xml.rels><?xml version='1.0' encoding='utf-8'?>
<Relationships xmlns="http://schemas.openxmlformats.org/package/2006/relationships"><Relationship Type="http://schemas.openxmlformats.org/officeDocument/2006/relationships/theme" Target="theme/merged03_theme2.xml" Id="R646fbd84adb44922" /></Relationships>
</file>

<file path=ppt/notesMasters/_rels/merged04_notesMaster1.xml.rels><?xml version='1.0' encoding='utf-8'?>
<Relationships xmlns="http://schemas.openxmlformats.org/package/2006/relationships"><Relationship Type="http://schemas.openxmlformats.org/officeDocument/2006/relationships/theme" Target="theme/merged04_theme2.xml" Id="R96a54a9328984f42" /></Relationships>
</file>

<file path=ppt/notesMasters/_rels/merged05_notesMaster1.xml.rels><?xml version='1.0' encoding='utf-8'?>
<Relationships xmlns="http://schemas.openxmlformats.org/package/2006/relationships"><Relationship Type="http://schemas.openxmlformats.org/officeDocument/2006/relationships/theme" Target="theme/merged05_theme2.xml" Id="R1164a42cbdde4649" /></Relationships>
</file>

<file path=ppt/notesMasters/_rels/merged06_notesMaster1.xml.rels><?xml version='1.0' encoding='utf-8'?>
<Relationships xmlns="http://schemas.openxmlformats.org/package/2006/relationships"><Relationship Type="http://schemas.openxmlformats.org/officeDocument/2006/relationships/theme" Target="theme/merged06_theme2.xml" Id="Rd2e0d2b8dec145b0" /></Relationships>
</file>

<file path=ppt/notesMasters/_rels/merged07_notesMaster1.xml.rels><?xml version='1.0' encoding='utf-8'?>
<Relationships xmlns="http://schemas.openxmlformats.org/package/2006/relationships"><Relationship Type="http://schemas.openxmlformats.org/officeDocument/2006/relationships/theme" Target="theme/merged07_theme2.xml" Id="Reff687c3ea354302" /></Relationships>
</file>

<file path=ppt/notesMasters/_rels/merged08_notesMaster1.xml.rels><?xml version='1.0' encoding='utf-8'?>
<Relationships xmlns="http://schemas.openxmlformats.org/package/2006/relationships"><Relationship Type="http://schemas.openxmlformats.org/officeDocument/2006/relationships/theme" Target="theme/merged08_theme2.xml" Id="Rdc43182a3e4e47ee" /></Relationships>
</file>

<file path=ppt/notesMasters/_rels/merged09_notesMaster1.xml.rels><?xml version='1.0' encoding='utf-8'?>
<Relationships xmlns="http://schemas.openxmlformats.org/package/2006/relationships"><Relationship Type="http://schemas.openxmlformats.org/officeDocument/2006/relationships/theme" Target="theme/merged09_theme2.xml" Id="Ra1a8fae7de7d415f" /></Relationships>
</file>

<file path=ppt/notesMasters/_rels/merged10_notesMaster1.xml.rels><?xml version='1.0' encoding='utf-8'?>
<Relationships xmlns="http://schemas.openxmlformats.org/package/2006/relationships"><Relationship Type="http://schemas.openxmlformats.org/officeDocument/2006/relationships/theme" Target="theme/merged10_theme2.xml" Id="R65e4afa78b774e22" /></Relationships>
</file>

<file path=ppt/notesMasters/_rels/merged11_notesMaster1.xml.rels><?xml version='1.0' encoding='utf-8'?>
<Relationships xmlns="http://schemas.openxmlformats.org/package/2006/relationships"><Relationship Type="http://schemas.openxmlformats.org/officeDocument/2006/relationships/theme" Target="theme/merged11_theme2.xml" Id="R0ddd02469ea6468a" /></Relationships>
</file>

<file path=ppt/notesMasters/_rels/merged12_notesMaster1.xml.rels><?xml version='1.0' encoding='utf-8'?>
<Relationships xmlns="http://schemas.openxmlformats.org/package/2006/relationships"><Relationship Type="http://schemas.openxmlformats.org/officeDocument/2006/relationships/theme" Target="theme/merged12_theme2.xml" Id="R9c0980eb564c45a5" /></Relationships>
</file>

<file path=ppt/notesMasters/_rels/merged13_notesMaster1.xml.rels><?xml version='1.0' encoding='utf-8'?>
<Relationships xmlns="http://schemas.openxmlformats.org/package/2006/relationships"><Relationship Type="http://schemas.openxmlformats.org/officeDocument/2006/relationships/theme" Target="theme/merged13_theme2.xml" Id="R77c7384a39e049ca" /></Relationships>
</file>

<file path=ppt/notesMasters/merged01_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C1EB5-D5BC-DE45-879B-24BB2CFFA33A}" type="datetimeFigureOut">
              <a:rPr kumimoji="1" lang="zh-CN" altLang="en-US" smtClean="0"/>
              <a:t>2026/10/29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77E10-6855-184D-B35B-F428F789FE47}" type="slidenum">
              <a:rPr kumimoji="1" lang="zh-CN" altLang="en-US" smtClean="0"/>
              <a:t>‹#›</a:t>
            </a:fld>
            <a:endParaRPr kumimoji="1" lang="zh-CN" altLang="en-US"/>
          </a:p>
        </p:txBody>
      </p:sp>
    </p:spTree>
    <p:extLst>
      <p:ext uri="{BB962C8B-B14F-4D97-AF65-F5344CB8AC3E}">
        <p14:creationId xmlns:p14="http://schemas.microsoft.com/office/powerpoint/2010/main" val="273633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2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3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4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5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6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7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8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09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10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11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12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merged13_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merged02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3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4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5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6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7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8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09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10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11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12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Masters/theme/merged13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merged01_notesSlide1.xml.rels><?xml version='1.0' encoding='utf-8'?>
<Relationships xmlns="http://schemas.openxmlformats.org/package/2006/relationships"><Relationship Id="rId2" Type="http://schemas.openxmlformats.org/officeDocument/2006/relationships/slide" Target="../slides/merged01_slide1.xml" /><Relationship Id="rId1" Type="http://schemas.openxmlformats.org/officeDocument/2006/relationships/notesMaster" Target="../notesMasters/merged01_notesMaster1.xml" /></Relationships>
</file>

<file path=ppt/notesSlides/_rels/merged01_notesSlide3.xml.rels><?xml version='1.0' encoding='utf-8'?>
<Relationships xmlns="http://schemas.openxmlformats.org/package/2006/relationships"><Relationship Id="rId2" Type="http://schemas.openxmlformats.org/officeDocument/2006/relationships/slide" Target="../slides/merged01_slide3.xml" /><Relationship Id="rId1" Type="http://schemas.openxmlformats.org/officeDocument/2006/relationships/notesMaster" Target="../notesMasters/merged01_notesMaster1.xml" /></Relationships>
</file>

<file path=ppt/notesSlides/_rels/merged02_notesSlide1.xml.rels><?xml version='1.0' encoding='utf-8'?>
<Relationships xmlns="http://schemas.openxmlformats.org/package/2006/relationships"><Relationship Type="http://schemas.openxmlformats.org/officeDocument/2006/relationships/notesMaster" Target="../notesMasters/merged02_notesMaster1.xml" Id="R58164e373518455d" /><Relationship Type="http://schemas.openxmlformats.org/officeDocument/2006/relationships/slide" Target="../slides/merged02_slide1.xml" Id="Rf439d495e3b24649" /></Relationships>
</file>

<file path=ppt/notesSlides/_rels/merged03_notesSlide1.xml.rels><?xml version='1.0' encoding='utf-8'?>
<Relationships xmlns="http://schemas.openxmlformats.org/package/2006/relationships"><Relationship Type="http://schemas.openxmlformats.org/officeDocument/2006/relationships/notesMaster" Target="../notesMasters/merged03_notesMaster1.xml" Id="Rbb81aa3a41a64c19" /><Relationship Type="http://schemas.openxmlformats.org/officeDocument/2006/relationships/slide" Target="../slides/merged03_slide1.xml" Id="R2671d5141a0448f1" /></Relationships>
</file>

<file path=ppt/notesSlides/_rels/merged04_notesSlide1.xml.rels><?xml version='1.0' encoding='utf-8'?>
<Relationships xmlns="http://schemas.openxmlformats.org/package/2006/relationships"><Relationship Type="http://schemas.openxmlformats.org/officeDocument/2006/relationships/notesMaster" Target="../notesMasters/merged04_notesMaster1.xml" Id="Rc7590d2aef2f4b15" /><Relationship Type="http://schemas.openxmlformats.org/officeDocument/2006/relationships/slide" Target="../slides/merged04_slide1.xml" Id="R5640c8308abe42fe" /></Relationships>
</file>

<file path=ppt/notesSlides/_rels/merged05_notesSlide1.xml.rels><?xml version='1.0' encoding='utf-8'?>
<Relationships xmlns="http://schemas.openxmlformats.org/package/2006/relationships"><Relationship Type="http://schemas.openxmlformats.org/officeDocument/2006/relationships/notesMaster" Target="../notesMasters/merged05_notesMaster1.xml" Id="Ra4757e8f69934f3e" /><Relationship Type="http://schemas.openxmlformats.org/officeDocument/2006/relationships/slide" Target="../slides/merged05_slide1.xml" Id="R2d83af93fc034502" /></Relationships>
</file>

<file path=ppt/notesSlides/_rels/merged06_notesSlide1.xml.rels><?xml version='1.0' encoding='utf-8'?>
<Relationships xmlns="http://schemas.openxmlformats.org/package/2006/relationships"><Relationship Type="http://schemas.openxmlformats.org/officeDocument/2006/relationships/notesMaster" Target="../notesMasters/merged06_notesMaster1.xml" Id="R34cd934b48fb44e4" /><Relationship Type="http://schemas.openxmlformats.org/officeDocument/2006/relationships/slide" Target="../slides/merged06_slide1.xml" Id="Raabac304f5cb4ff8" /></Relationships>
</file>

<file path=ppt/notesSlides/_rels/merged07_notesSlide1.xml.rels><?xml version='1.0' encoding='utf-8'?>
<Relationships xmlns="http://schemas.openxmlformats.org/package/2006/relationships"><Relationship Type="http://schemas.openxmlformats.org/officeDocument/2006/relationships/notesMaster" Target="../notesMasters/merged07_notesMaster1.xml" Id="R3261e842cf934823" /><Relationship Type="http://schemas.openxmlformats.org/officeDocument/2006/relationships/slide" Target="../slides/merged07_slide1.xml" Id="R6c4bb1fdcff24d2c" /></Relationships>
</file>

<file path=ppt/notesSlides/_rels/merged08_notesSlide1.xml.rels><?xml version='1.0' encoding='utf-8'?>
<Relationships xmlns="http://schemas.openxmlformats.org/package/2006/relationships"><Relationship Type="http://schemas.openxmlformats.org/officeDocument/2006/relationships/notesMaster" Target="../notesMasters/merged08_notesMaster1.xml" Id="R9daab48d28984c14" /><Relationship Type="http://schemas.openxmlformats.org/officeDocument/2006/relationships/slide" Target="../slides/merged08_slide1.xml" Id="R0cdf0d32d52b43f4" /></Relationships>
</file>

<file path=ppt/notesSlides/_rels/merged09_notesSlide1.xml.rels><?xml version='1.0' encoding='utf-8'?>
<Relationships xmlns="http://schemas.openxmlformats.org/package/2006/relationships"><Relationship Type="http://schemas.openxmlformats.org/officeDocument/2006/relationships/notesMaster" Target="../notesMasters/merged09_notesMaster1.xml" Id="Re473f59cb7514918" /><Relationship Type="http://schemas.openxmlformats.org/officeDocument/2006/relationships/slide" Target="../slides/merged09_slide1.xml" Id="R0c4ca0fa77eb4551" /></Relationships>
</file>

<file path=ppt/notesSlides/_rels/merged10_notesSlide1.xml.rels><?xml version='1.0' encoding='utf-8'?>
<Relationships xmlns="http://schemas.openxmlformats.org/package/2006/relationships"><Relationship Type="http://schemas.openxmlformats.org/officeDocument/2006/relationships/notesMaster" Target="../notesMasters/merged10_notesMaster1.xml" Id="R57a3dfad11394a12" /><Relationship Type="http://schemas.openxmlformats.org/officeDocument/2006/relationships/slide" Target="../slides/merged10_slide1.xml" Id="R5eb12125d70e4439" /></Relationships>
</file>

<file path=ppt/notesSlides/_rels/merged11_notesSlide1.xml.rels><?xml version='1.0' encoding='utf-8'?>
<Relationships xmlns="http://schemas.openxmlformats.org/package/2006/relationships"><Relationship Type="http://schemas.openxmlformats.org/officeDocument/2006/relationships/notesMaster" Target="../notesMasters/merged11_notesMaster1.xml" Id="R212f14f9585a4766" /><Relationship Type="http://schemas.openxmlformats.org/officeDocument/2006/relationships/slide" Target="../slides/merged11_slide1.xml" Id="R76acbb97f35a4600" /></Relationships>
</file>

<file path=ppt/notesSlides/_rels/merged12_notesSlide1.xml.rels><?xml version='1.0' encoding='utf-8'?>
<Relationships xmlns="http://schemas.openxmlformats.org/package/2006/relationships"><Relationship Type="http://schemas.openxmlformats.org/officeDocument/2006/relationships/notesMaster" Target="../notesMasters/merged12_notesMaster1.xml" Id="R183e6745908e4f20" /><Relationship Type="http://schemas.openxmlformats.org/officeDocument/2006/relationships/slide" Target="../slides/merged12_slide1.xml" Id="R74b8b7e064304fc8" /></Relationships>
</file>

<file path=ppt/notesSlides/_rels/merged13_notesSlide1.xml.rels><?xml version='1.0' encoding='utf-8'?>
<Relationships xmlns="http://schemas.openxmlformats.org/package/2006/relationships"><Relationship Type="http://schemas.openxmlformats.org/officeDocument/2006/relationships/notesMaster" Target="../notesMasters/merged13_notesMaster1.xml" Id="Racf5882f718242ad" /><Relationship Type="http://schemas.openxmlformats.org/officeDocument/2006/relationships/slide" Target="../slides/merged13_slide1.xml" Id="R2bc591d6811e43ae" /></Relationships>
</file>

<file path=ppt/notesSlides/merged01_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977E10-6855-184D-B35B-F428F789FE47}" type="slidenum">
              <a:rPr kumimoji="1" lang="zh-CN" altLang="en-US" smtClean="0"/>
              <a:t>0</a:t>
            </a:fld>
            <a:endParaRPr kumimoji="1" lang="zh-CN" altLang="en-US"/>
          </a:p>
        </p:txBody>
      </p:sp>
    </p:spTree>
    <p:extLst>
      <p:ext uri="{BB962C8B-B14F-4D97-AF65-F5344CB8AC3E}">
        <p14:creationId xmlns:p14="http://schemas.microsoft.com/office/powerpoint/2010/main" val="2378949787"/>
      </p:ext>
    </p:extLst>
  </p:cSld>
  <p:clrMapOvr>
    <a:masterClrMapping/>
  </p:clrMapOvr>
</p:notes>
</file>

<file path=ppt/notesSlides/merged01_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96977E10-6855-184D-B35B-F428F789FE47}" type="slidenum">
              <a:rPr kumimoji="1" lang="zh-CN" altLang="en-US" smtClean="0"/>
              <a:t>2</a:t>
            </a:fld>
            <a:endParaRPr kumimoji="1" lang="zh-CN" altLang="en-US"/>
          </a:p>
        </p:txBody>
      </p:sp>
    </p:spTree>
    <p:extLst>
      <p:ext uri="{BB962C8B-B14F-4D97-AF65-F5344CB8AC3E}">
        <p14:creationId xmlns:p14="http://schemas.microsoft.com/office/powerpoint/2010/main" val="2126904211"/>
      </p:ext>
    </p:extLst>
  </p:cSld>
  <p:clrMapOvr>
    <a:masterClrMapping/>
  </p:clrMapOvr>
</p:notes>
</file>

<file path=ppt/notesSlides/merged02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Place this page after the cover and before the background section. Introduce the defense in four parts. First, motivate replayable multi-FPGA emulation, identify the research gap and outline REMUS. Second, explain cycle-accurate execution and consistent pause, distributed state capture and replay, automated partitioning, and the scalable Runtime/Fabric design. Third, present the dual-FPGA direct-PCIe prototype and measured results. Finally, connect observed limitations to future work on resource balance, execution performance, runtime control and system expansion. The current content mapping is background 1-5, progress 6-9, prototype 10 and future work 11. These are content identifiers rather than final deck page numbers. Source: docs/midterm-presentation-outline.md. This contents page does not assert completion of all technical goals.</a:t>
            </a:r>
          </a:p>
        </p:txBody>
      </p:sp>
    </p:spTree>
  </p:cSld>
  <p:clrMapOvr>
    <a:masterClrMapping xmlns:a="http://schemas.openxmlformats.org/drawingml/2006/main"/>
  </p:clrMapOvr>
</p:notes>
</file>

<file path=ppt/notesSlides/merged03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Introduce the capacity-versus-observability motivation. RTL simulation provides visibility and flexible debugging, but long software workloads are slow. FPGA prototyping accelerates execution, while one FPGA limits design capacity. Partitioning across multiple FPGAs extends capacity. The next slide introduces the need for coordinated debugging. MHz-level execution is a general prototype characteristic here, not a measured REMUS performance result. Layout reference: figure/presentation-reference/midterm-background-01.png.</a:t>
            </a:r>
          </a:p>
        </p:txBody>
      </p:sp>
    </p:spTree>
  </p:cSld>
  <p:clrMapOvr>
    <a:masterClrMapping xmlns:a="http://schemas.openxmlformats.org/drawingml/2006/main"/>
  </p:clrMapOvr>
</p:notes>
</file>

<file path=ppt/notesSlides/merged04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Contrast typical prototyping strengths and common debug limitations with the target capabilities of replayable multi-FPGA emulation. This is a research motivation slide, not a completed-feature checklist or an empirical comparison of every prototyping system. The right panel and workflow express goals; REMUS implementation and validation status are reported later. Dump represents collection and aggregation of distributed state into a global snapshot. Restore and replay are conceptual stages; execution backends and correctness conditions are explained on the technical slides. The return loop represents another debugging iteration. Layout reference: figure/presentation-reference/midterm-background-02.png.</a:t>
            </a:r>
          </a:p>
        </p:txBody>
      </p:sp>
    </p:spTree>
  </p:cSld>
  <p:clrMapOvr>
    <a:masterClrMapping xmlns:a="http://schemas.openxmlformats.org/drawingml/2006/main"/>
  </p:clrMapOvr>
</p:notes>
</file>

<file path=ppt/notesSlides/merged05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introduces research challenges, not completed REMUS results. DUT logical cycles must remain aligned despite cross-FPGA communication latency; the pulse is conceptual, not a measured clock waveform. Global pause requires all partitions at the same DUT cycle and drained links, providing a stable boundary. Local partition states must be mapped and aggregated into a global snapshot for restoration and deterministic replay. Partitioning must balance resources and cut size while controlling Partition Propagation Depth (PPD) through granularity. Multiple chip icons and the partitioned circuit illustrate the problem, not an experimentally verified FPGA count. Reference: figure/presentation-reference/midterm-background-03.png.</a:t>
            </a:r>
          </a:p>
        </p:txBody>
      </p:sp>
    </p:spTree>
  </p:cSld>
  <p:clrMapOvr>
    <a:masterClrMapping xmlns:a="http://schemas.openxmlformats.org/drawingml/2006/main"/>
  </p:clrMapOvr>
</p:notes>
</file>

<file path=ppt/notesSlides/merged06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Research motivation: combine multi-FPGA deployment with replayable emulation. The prototype column indicates typical focus; amber marks system-dependent debug capabilities, not universal absence. The middle column represents scan-based single-FPGA replayable emulation such as the REMU foundation described in docs/thesis-writing-guidelines.md and src/proposal/significance_and_related_work.tex. A full-state snapshot in that setting fits within one FPGA's capacity. REMUS is explicitly a Research Goal: its checks are target capabilities, not measured results or a completed-feature checklist. The diagram is conceptual and does not establish restoration backend or a tested FPGA count. No exhaustive prior-art or novelty claim is made by this qualitative comparison. Layout: figure/presentation-reference/midterm-background-04.png.</a:t>
            </a:r>
          </a:p>
        </p:txBody>
      </p:sp>
    </p:spTree>
  </p:cSld>
  <p:clrMapOvr>
    <a:masterClrMapping xmlns:a="http://schemas.openxmlformats.org/drawingml/2006/main"/>
  </p:clrMapOvr>
</p:notes>
</file>

<file path=ppt/notesSlides/merged07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Overall target workflow and mid-term work areas, based on the user's updated five-stage reference figure/presentation-reference/midterm-background-05.png. The State Capture, Restore &amp; Replay card deliberately uses the same blue/teal styling as preceding stages, not yellow. Fabric routing and runtime control are folded into deployment; cycle execution and global pause form one stage. The four FPGA icons are an illustrative topology, not evidence of a tested four-FPGA system. State capture aggregates local states into a global snapshot; the final icon depicts the intended path from snapshot through restoration and replay to waveform reconstruction, not direct conversion of a dump into a waveform. Restore/replay is planned for further development and validation according to src/midterm/outline.md sections 1.1 and 1.7. Scope bullets are work areas, not completed-feature checks; implementation and experiment evidence belong on the later progress slides.</a:t>
            </a:r>
          </a:p>
        </p:txBody>
      </p:sp>
    </p:spTree>
  </p:cSld>
  <p:clrMapOvr>
    <a:masterClrMapping xmlns:a="http://schemas.openxmlformats.org/drawingml/2006/main"/>
  </p:clrMapOvr>
</p:notes>
</file>

<file path=ppt/notesSlides/merged08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REMUS builds on DUOHUAFEN's LI-TDM for cycle-accurate execution. The first-stage receive and last-stage send are omitted to reduce redundant communication; this is a protocol optimization, not a measured percentage speedup. Keep these implementation details in the narration. For global pause, the Host collects all receive-barrier acknowledgements before sampling stable counters. Barrier acknowledgement alone is not a valid global pause. In the illustrative example, B is at 41 and A at 42. The common target is 43; configure two steps for B and one for A while barriers remain held, then release B before A. LI-TDM dependencies still apply. Finally check stopped/pause status and final counters on all partitions. Equal logical cycles do not imply simultaneous physical stops or prove all-state equivalence. Required propagation must finish. The diagram's shared arrows are a simplified visual summary of Host operations on each partition, not FPGA-to-FPGA forwarding of Host commands. The cycle numbers are illustrative, not experimental data. Source: src/midterm/progress/cycle_control.tex. The right illustration is intentionally a raster crop per user request; the title, left text and page number are editable. The three requested supplementary callouts from the design reference are omitted.</a:t>
            </a:r>
          </a:p>
        </p:txBody>
      </p:sp>
    </p:spTree>
  </p:cSld>
  <p:clrMapOvr>
    <a:masterClrMapping xmlns:a="http://schemas.openxmlformats.org/drawingml/2006/main"/>
  </p:clrMapOvr>
</p:notes>
</file>

<file path=ppt/notesSlides/merged09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previous slide establishes a common DUT cycle. REMUS reuses REMU's local Scan Dump and organizes per-partition scan files as a Global Snapshot. Memory and input management retain the existing REMU mechanisms. FPGA Restore writes each partition's scan data back to the corresponding FPGA with the matching design and scan layout, restoring local registers and SRAM plus the memory-model data before execution resumes. Software restoration instead decodes local scan positions through state mapping and loads the corresponding RTL objects. Recorded inputs are replayed by logical cycle, enabling waveform observation. The user-approved conclusion summarizes reported tested functionality; it is not an all-state or all-cycle equivalence assertion. The displayed image specifically compares a TWO-PARTITION COSIM checkpoint at cycle 42080 with Icarus Verilog software RTL replay from checkpoint 2048. Six selected signals match at relative cycle 40032. Inputs remain unchanged after 2048 in this example. It is not a physical-board restore screenshot. The author separately confirmed board-vs-Cosim checkpoint consistency and FPGA restoration/replay results; original board comparison records are still being archived. Do not present this software example as direct evidence of physical FPGA restore or merge different observation sets into a full equivalence claim. Sources: src/midterm/progress/state_replay.tex; experiments/picorv32-cosim-replay.md; experiments/board-execution.md. Design: figure/presentation-reference/midterm-state-replay-07-v2.png. All slide text is editable; the experiment screenshot is an unchanged raster.</a:t>
            </a:r>
          </a:p>
        </p:txBody>
      </p:sp>
    </p:spTree>
  </p:cSld>
  <p:clrMapOvr>
    <a:masterClrMapping xmlns:a="http://schemas.openxmlformats.org/drawingml/2006/main"/>
  </p:clrMapOvr>
</p:notes>
</file>

<file path=ppt/notesSlides/merged10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REMUS implements adaptive RTL granularity selection, weighted hypergraph partitioning using KaHyPar, and path-cut analysis for LI-TDM configuration. The author reports preliminary observations on well-structured hierarchical designs: graph size around one tenth and hypergraph solver time around one seventh of the netlist-level baseline, with similar Cut Size, scalar balance and Path-Cut Number. The baseline runs are not finished. These ratios are NOT finalized results and are omitted from the slide. Confirm matched DUTs, configurations, graph-size definition and timing boundaries before publishing quantitative gains. Solver time is not total transformation time. The main chart uses archived KMH two-Part Vivado 2024.2 synthesis results: Part 0 LUT/FF/BRAM utilization 73.18/17.66/14.31 percent; Part 1 75.77/8.17/0.00 percent. BRAM counts are 288.5 and 0 tiles. URAM is 13 versus 0, omitted from the plot for focus. The scope is role_i/ClockResetCore_0/emu_system, including inserted infrastructure; not pure DUT, full board consumption, or post-route utilization. The denominator is whole-device capacity, not the remaining Part budget. The observed resource asymmetry does not isolate adaptive granularity or scalar weights as its sole cause. Constraints, module grouping and synthesis mapping may also matter. Exact build matching between partition summaries and synthesis reports remains to be completed, so no estimation-error or baseline-gain inference is made from their combination. This motivates the resource-modeling discussion and proposed multidimensional constraints on slide 11, without asserting that the planned improvement is already proven. Sources: experiments/synthesis-utilization.md (3.2); src/midterm/progress/partitioning.tex; src/midterm/problems.tex.</a:t>
            </a:r>
          </a:p>
        </p:txBody>
      </p:sp>
    </p:spTree>
  </p:cSld>
  <p:clrMapOvr>
    <a:masterClrMapping xmlns:a="http://schemas.openxmlformats.org/drawingml/2006/main"/>
  </p:clrMapOvr>
</p:notes>
</file>

<file path=ppt/notesSlides/merged11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Runtime operations such as global pause and state management require Host access to each FPGA's registers and memory. The baseline dual-board prototype uses a separate PCIe connection to each FPGA. Fabric provides a shared Host entry through the Ref node and carries resource requests over inter-FPGA links. Ref also retains its local DUT and resources. The diagrams illustrate architecture; three nodes and chain links do not claim a validated three-FPGA deployment. Access bandwidth is shared at Ref, and supported scale still depends on links and implementation constraints. Fabric components and the Driver backend are implemented; the dual-node Cosim environment is established. Current documented evidence does not establish complete end-to-end or Fabric board-level validation. At the user's request, these status lines and the illustrative-topology caption are omitted from the visible slide, not converted into success claims. Sources: src/midterm/progress/runtime.tex; ../docs/source/project-notes/fabric/status.md. Design reference: figure/presentation-reference/midterm-runtime-09-v1.png. All visible text, diagrams, and arrows are native editable PowerPoint elements.</a:t>
            </a:r>
          </a:p>
        </p:txBody>
      </p:sp>
    </p:spTree>
  </p:cSld>
  <p:clrMapOvr>
    <a:masterClrMapping xmlns:a="http://schemas.openxmlformats.org/drawingml/2006/main"/>
  </p:clrMapOvr>
</p:notes>
</file>

<file path=ppt/notesSlides/merged12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real dual-FPGA PCIe-direct prototype, not a completed Fabric board deployment. Two NM37 boards use VU37P devices with separate PCIe Host access and QSFP/Aurora board communication. The real photo is figure/remus-2fpga-hw.jpg; its oscilloscope is cropped away. PicoRV32 and Rocket run hand-written bare-metal workloads; Nanhu and single-core KMH run OpenSBI/Linux, as confirmed by the author in src/midterm/progress/prototype.tex. The terminal specifically belongs to KMH, not all four DUTs. The crop shows shell commands, cpuinfo and uname for Linux 6.12.0+. Image timestamps are not Host elapsed time. Performance comes from experiments/board-performance.md and raw/perf.txt. PicoRV32's longer runs are 0.326741 and 0.327423 MHz; combined cycles/time gives about 0.326834 MHz, rounded here to 0.327. KMH's 0.322073 MHz is a 1095817-cycle, 3.40238-second window BEFORE checkpoint save, not the full Linux boot or post-CLI rate. These are logical progress over Host time, not FPGA physical clocks. Pause records include 23 PicoRV32 observations from 0.803824 to 0.925013 ms and one KMH observation of 1.04744 ms, rounded to approximately 0.8–1.1 ms. They are Host-visible synchronized-pause times, not pure hardware barrier latency, independent repeat trials or a success-rate measurement. Detailed checkpoint timings and resources are intentionally omitted. Sources: src/midterm/progress/prototype.tex; experiments/board-execution.md; experiments/board-performance.md. Original photos are embedded unchanged and cropped only through PPT properties; all slide text/cells are editable.</a:t>
            </a:r>
          </a:p>
        </p:txBody>
      </p:sp>
    </p:spTree>
  </p:cSld>
  <p:clrMapOvr>
    <a:masterClrMapping xmlns:a="http://schemas.openxmlformats.org/drawingml/2006/main"/>
  </p:clrMapOvr>
</p:notes>
</file>

<file path=ppt/notesSlides/merged13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page combines the remaining problems with the work that addresses them; it does not repeat a separate problem list. First complete Fabric board-level integration and validation, then assemble a four-FPGA emulation system. That platform will support analysis of execution and communication overheads. Use the measurements to guide runtime changes, including interrupt-driven control to reduce Fabric polling overhead. Optimize partitioning for multiple resource types and communication cost, then evaluate whether those changes improve actual emulation performance. Do not promise a performance gain before the experiments. These technical activities may iterate rather than forming a strict one-pass sequence. Finally consolidate experimental results and complete the thesis. Fabric board validation, four-FPGA deployment and interrupt-driven control are future work, not completed results. No defense date is implied. Sources: src/midterm/problems.tex and src/midterm/next_plan.tex; wording and ordering follow the user's approved four-item plan. Design reference: figure/presentation-reference/midterm-future-work-11-v1.png. The user requested smaller 1., 2., 3., 4. numbering at the heading font size, replacing the large 01–04 in that image. All visible objects are native editable PowerPoint shapes, not an embedded design screenshot.</a:t>
            </a:r>
          </a:p>
        </p:txBody>
      </p:sp>
    </p:spTree>
  </p:cSld>
  <p:clrMapOvr>
    <a:masterClrMapping xmlns:a="http://schemas.openxmlformats.org/drawingml/2006/main"/>
  </p:clrMapOvr>
</p:notes>
</file>

<file path=ppt/slideLayouts/_rels/merged01_slideLayout1.xml.rels><?xml version='1.0' encoding='utf-8'?>
<Relationships xmlns="http://schemas.openxmlformats.org/package/2006/relationships"><Relationship Id="rId3" Type="http://schemas.openxmlformats.org/officeDocument/2006/relationships/image" Target="../media/merged01_image2.png" /><Relationship Id="rId2" Type="http://schemas.openxmlformats.org/officeDocument/2006/relationships/image" Target="../media/merged01_image1.svg" /><Relationship Id="rId1" Type="http://schemas.openxmlformats.org/officeDocument/2006/relationships/slideMaster" Target="../slideMasters/merged01_slideMaster1.xml" /></Relationships>
</file>

<file path=ppt/slideLayouts/_rels/merged01_slideLayout2.xml.rels><?xml version='1.0' encoding='utf-8'?>
<Relationships xmlns="http://schemas.openxmlformats.org/package/2006/relationships"><Relationship Id="rId1" Type="http://schemas.openxmlformats.org/officeDocument/2006/relationships/slideMaster" Target="../slideMasters/merged01_slideMaster1.xml" /></Relationships>
</file>

<file path=ppt/slideLayouts/_rels/merged01_slideLayout3.xml.rels><?xml version='1.0' encoding='utf-8'?>
<Relationships xmlns="http://schemas.openxmlformats.org/package/2006/relationships"><Relationship Id="rId3" Type="http://schemas.openxmlformats.org/officeDocument/2006/relationships/image" Target="../media/merged01_image2.png" /><Relationship Id="rId2" Type="http://schemas.openxmlformats.org/officeDocument/2006/relationships/image" Target="../media/merged01_image1.svg" /><Relationship Id="rId1" Type="http://schemas.openxmlformats.org/officeDocument/2006/relationships/slideMaster" Target="../slideMasters/merged01_slideMaster1.xml" /></Relationships>
</file>

<file path=ppt/slideLayouts/_rels/merged02_slideLayout1.xml.rels><?xml version='1.0' encoding='utf-8'?>
<Relationships xmlns="http://schemas.openxmlformats.org/package/2006/relationships"><Relationship Type="http://schemas.openxmlformats.org/officeDocument/2006/relationships/slideMaster" Target="../slideMasters/merged02_slideMaster1.xml" Id="Rd8a93fc1d4014f58" /></Relationships>
</file>

<file path=ppt/slideLayouts/_rels/merged02_slideLayout2.xml.rels><?xml version='1.0' encoding='utf-8'?>
<Relationships xmlns="http://schemas.openxmlformats.org/package/2006/relationships"><Relationship Type="http://schemas.openxmlformats.org/officeDocument/2006/relationships/slideMaster" Target="../slideMasters/merged02_slideMaster1.xml" Id="R16dae7f1229b40a2" /></Relationships>
</file>

<file path=ppt/slideLayouts/_rels/merged02_slideLayout3.xml.rels><?xml version='1.0' encoding='utf-8'?>
<Relationships xmlns="http://schemas.openxmlformats.org/package/2006/relationships"><Relationship Type="http://schemas.openxmlformats.org/officeDocument/2006/relationships/slideMaster" Target="../slideMasters/merged02_slideMaster1.xml" Id="Ra913217a3d644523" /></Relationships>
</file>

<file path=ppt/slideLayouts/_rels/merged02_slideLayout4.xml.rels><?xml version='1.0' encoding='utf-8'?>
<Relationships xmlns="http://schemas.openxmlformats.org/package/2006/relationships"><Relationship Type="http://schemas.openxmlformats.org/officeDocument/2006/relationships/slideMaster" Target="../slideMasters/merged02_slideMaster1.xml" Id="R9298dfc45ed245b7" /></Relationships>
</file>

<file path=ppt/slideLayouts/_rels/merged02_slideLayout5.xml.rels><?xml version='1.0' encoding='utf-8'?>
<Relationships xmlns="http://schemas.openxmlformats.org/package/2006/relationships"><Relationship Type="http://schemas.openxmlformats.org/officeDocument/2006/relationships/slideMaster" Target="../slideMasters/merged02_slideMaster1.xml" Id="R1b15948281e74dad" /></Relationships>
</file>

<file path=ppt/slideLayouts/_rels/merged03_slideLayout1.xml.rels><?xml version='1.0' encoding='utf-8'?>
<Relationships xmlns="http://schemas.openxmlformats.org/package/2006/relationships"><Relationship Type="http://schemas.openxmlformats.org/officeDocument/2006/relationships/slideMaster" Target="../slideMasters/merged03_slideMaster1.xml" Id="R2f90455357ef4ad5" /></Relationships>
</file>

<file path=ppt/slideLayouts/_rels/merged03_slideLayout2.xml.rels><?xml version='1.0' encoding='utf-8'?>
<Relationships xmlns="http://schemas.openxmlformats.org/package/2006/relationships"><Relationship Type="http://schemas.openxmlformats.org/officeDocument/2006/relationships/slideMaster" Target="../slideMasters/merged03_slideMaster1.xml" Id="R46c1c2a6bb0b4958" /></Relationships>
</file>

<file path=ppt/slideLayouts/_rels/merged03_slideLayout3.xml.rels><?xml version='1.0' encoding='utf-8'?>
<Relationships xmlns="http://schemas.openxmlformats.org/package/2006/relationships"><Relationship Type="http://schemas.openxmlformats.org/officeDocument/2006/relationships/slideMaster" Target="../slideMasters/merged03_slideMaster1.xml" Id="R88b20fa552864472" /></Relationships>
</file>

<file path=ppt/slideLayouts/_rels/merged03_slideLayout4.xml.rels><?xml version='1.0' encoding='utf-8'?>
<Relationships xmlns="http://schemas.openxmlformats.org/package/2006/relationships"><Relationship Type="http://schemas.openxmlformats.org/officeDocument/2006/relationships/slideMaster" Target="../slideMasters/merged03_slideMaster1.xml" Id="Rf08ec70c979941e3" /></Relationships>
</file>

<file path=ppt/slideLayouts/_rels/merged03_slideLayout5.xml.rels><?xml version='1.0' encoding='utf-8'?>
<Relationships xmlns="http://schemas.openxmlformats.org/package/2006/relationships"><Relationship Type="http://schemas.openxmlformats.org/officeDocument/2006/relationships/slideMaster" Target="../slideMasters/merged03_slideMaster1.xml" Id="R7384005fcf93418e" /></Relationships>
</file>

<file path=ppt/slideLayouts/_rels/merged04_slideLayout1.xml.rels><?xml version='1.0' encoding='utf-8'?>
<Relationships xmlns="http://schemas.openxmlformats.org/package/2006/relationships"><Relationship Type="http://schemas.openxmlformats.org/officeDocument/2006/relationships/slideMaster" Target="../slideMasters/merged04_slideMaster1.xml" Id="R4d88d4b5c850430f" /></Relationships>
</file>

<file path=ppt/slideLayouts/_rels/merged04_slideLayout2.xml.rels><?xml version='1.0' encoding='utf-8'?>
<Relationships xmlns="http://schemas.openxmlformats.org/package/2006/relationships"><Relationship Type="http://schemas.openxmlformats.org/officeDocument/2006/relationships/slideMaster" Target="../slideMasters/merged04_slideMaster1.xml" Id="R85cadb43412342ce" /></Relationships>
</file>

<file path=ppt/slideLayouts/_rels/merged04_slideLayout3.xml.rels><?xml version='1.0' encoding='utf-8'?>
<Relationships xmlns="http://schemas.openxmlformats.org/package/2006/relationships"><Relationship Type="http://schemas.openxmlformats.org/officeDocument/2006/relationships/slideMaster" Target="../slideMasters/merged04_slideMaster1.xml" Id="R72c5b7aa56394121" /></Relationships>
</file>

<file path=ppt/slideLayouts/_rels/merged04_slideLayout4.xml.rels><?xml version='1.0' encoding='utf-8'?>
<Relationships xmlns="http://schemas.openxmlformats.org/package/2006/relationships"><Relationship Type="http://schemas.openxmlformats.org/officeDocument/2006/relationships/slideMaster" Target="../slideMasters/merged04_slideMaster1.xml" Id="Rad79cc0802b34886" /></Relationships>
</file>

<file path=ppt/slideLayouts/_rels/merged04_slideLayout5.xml.rels><?xml version='1.0' encoding='utf-8'?>
<Relationships xmlns="http://schemas.openxmlformats.org/package/2006/relationships"><Relationship Type="http://schemas.openxmlformats.org/officeDocument/2006/relationships/slideMaster" Target="../slideMasters/merged04_slideMaster1.xml" Id="Rfa01cac4a4514432" /></Relationships>
</file>

<file path=ppt/slideLayouts/_rels/merged05_slideLayout1.xml.rels><?xml version='1.0' encoding='utf-8'?>
<Relationships xmlns="http://schemas.openxmlformats.org/package/2006/relationships"><Relationship Type="http://schemas.openxmlformats.org/officeDocument/2006/relationships/slideMaster" Target="../slideMasters/merged05_slideMaster1.xml" Id="R8ec228ed8f5649b1" /></Relationships>
</file>

<file path=ppt/slideLayouts/_rels/merged05_slideLayout2.xml.rels><?xml version='1.0' encoding='utf-8'?>
<Relationships xmlns="http://schemas.openxmlformats.org/package/2006/relationships"><Relationship Type="http://schemas.openxmlformats.org/officeDocument/2006/relationships/slideMaster" Target="../slideMasters/merged05_slideMaster1.xml" Id="R4fe5dedfda424595" /></Relationships>
</file>

<file path=ppt/slideLayouts/_rels/merged05_slideLayout3.xml.rels><?xml version='1.0' encoding='utf-8'?>
<Relationships xmlns="http://schemas.openxmlformats.org/package/2006/relationships"><Relationship Type="http://schemas.openxmlformats.org/officeDocument/2006/relationships/slideMaster" Target="../slideMasters/merged05_slideMaster1.xml" Id="Rabb1040eaea14a85" /></Relationships>
</file>

<file path=ppt/slideLayouts/_rels/merged05_slideLayout4.xml.rels><?xml version='1.0' encoding='utf-8'?>
<Relationships xmlns="http://schemas.openxmlformats.org/package/2006/relationships"><Relationship Type="http://schemas.openxmlformats.org/officeDocument/2006/relationships/slideMaster" Target="../slideMasters/merged05_slideMaster1.xml" Id="R6078a58c35b64a9a" /></Relationships>
</file>

<file path=ppt/slideLayouts/_rels/merged05_slideLayout5.xml.rels><?xml version='1.0' encoding='utf-8'?>
<Relationships xmlns="http://schemas.openxmlformats.org/package/2006/relationships"><Relationship Type="http://schemas.openxmlformats.org/officeDocument/2006/relationships/slideMaster" Target="../slideMasters/merged05_slideMaster1.xml" Id="R625ace709c6d4455" /></Relationships>
</file>

<file path=ppt/slideLayouts/_rels/merged06_slideLayout1.xml.rels><?xml version='1.0' encoding='utf-8'?>
<Relationships xmlns="http://schemas.openxmlformats.org/package/2006/relationships"><Relationship Type="http://schemas.openxmlformats.org/officeDocument/2006/relationships/slideMaster" Target="../slideMasters/merged06_slideMaster1.xml" Id="R95f0c1a1c2d94f3c" /></Relationships>
</file>

<file path=ppt/slideLayouts/_rels/merged06_slideLayout2.xml.rels><?xml version='1.0' encoding='utf-8'?>
<Relationships xmlns="http://schemas.openxmlformats.org/package/2006/relationships"><Relationship Type="http://schemas.openxmlformats.org/officeDocument/2006/relationships/slideMaster" Target="../slideMasters/merged06_slideMaster1.xml" Id="R4ba64159324b4568" /></Relationships>
</file>

<file path=ppt/slideLayouts/_rels/merged06_slideLayout3.xml.rels><?xml version='1.0' encoding='utf-8'?>
<Relationships xmlns="http://schemas.openxmlformats.org/package/2006/relationships"><Relationship Type="http://schemas.openxmlformats.org/officeDocument/2006/relationships/slideMaster" Target="../slideMasters/merged06_slideMaster1.xml" Id="R4dabd0e63a124619" /></Relationships>
</file>

<file path=ppt/slideLayouts/_rels/merged06_slideLayout4.xml.rels><?xml version='1.0' encoding='utf-8'?>
<Relationships xmlns="http://schemas.openxmlformats.org/package/2006/relationships"><Relationship Type="http://schemas.openxmlformats.org/officeDocument/2006/relationships/slideMaster" Target="../slideMasters/merged06_slideMaster1.xml" Id="R035a0ff0a27b4488" /></Relationships>
</file>

<file path=ppt/slideLayouts/_rels/merged06_slideLayout5.xml.rels><?xml version='1.0' encoding='utf-8'?>
<Relationships xmlns="http://schemas.openxmlformats.org/package/2006/relationships"><Relationship Type="http://schemas.openxmlformats.org/officeDocument/2006/relationships/slideMaster" Target="../slideMasters/merged06_slideMaster1.xml" Id="Rb6bae48a20be4e57" /></Relationships>
</file>

<file path=ppt/slideLayouts/_rels/merged07_slideLayout1.xml.rels><?xml version='1.0' encoding='utf-8'?>
<Relationships xmlns="http://schemas.openxmlformats.org/package/2006/relationships"><Relationship Type="http://schemas.openxmlformats.org/officeDocument/2006/relationships/slideMaster" Target="../slideMasters/merged07_slideMaster1.xml" Id="R22cb3a0719c34882" /></Relationships>
</file>

<file path=ppt/slideLayouts/_rels/merged07_slideLayout2.xml.rels><?xml version='1.0' encoding='utf-8'?>
<Relationships xmlns="http://schemas.openxmlformats.org/package/2006/relationships"><Relationship Type="http://schemas.openxmlformats.org/officeDocument/2006/relationships/slideMaster" Target="../slideMasters/merged07_slideMaster1.xml" Id="R91732c8977ab4238" /></Relationships>
</file>

<file path=ppt/slideLayouts/_rels/merged07_slideLayout3.xml.rels><?xml version='1.0' encoding='utf-8'?>
<Relationships xmlns="http://schemas.openxmlformats.org/package/2006/relationships"><Relationship Type="http://schemas.openxmlformats.org/officeDocument/2006/relationships/slideMaster" Target="../slideMasters/merged07_slideMaster1.xml" Id="R54337d171df1481c" /></Relationships>
</file>

<file path=ppt/slideLayouts/_rels/merged07_slideLayout4.xml.rels><?xml version='1.0' encoding='utf-8'?>
<Relationships xmlns="http://schemas.openxmlformats.org/package/2006/relationships"><Relationship Type="http://schemas.openxmlformats.org/officeDocument/2006/relationships/slideMaster" Target="../slideMasters/merged07_slideMaster1.xml" Id="R902108b9f73647cf" /></Relationships>
</file>

<file path=ppt/slideLayouts/_rels/merged07_slideLayout5.xml.rels><?xml version='1.0' encoding='utf-8'?>
<Relationships xmlns="http://schemas.openxmlformats.org/package/2006/relationships"><Relationship Type="http://schemas.openxmlformats.org/officeDocument/2006/relationships/slideMaster" Target="../slideMasters/merged07_slideMaster1.xml" Id="R53ca8ecd36594b68" /></Relationships>
</file>

<file path=ppt/slideLayouts/_rels/merged08_slideLayout1.xml.rels><?xml version='1.0' encoding='utf-8'?>
<Relationships xmlns="http://schemas.openxmlformats.org/package/2006/relationships"><Relationship Type="http://schemas.openxmlformats.org/officeDocument/2006/relationships/slideMaster" Target="../slideMasters/merged08_slideMaster1.xml" Id="R2bfb9b279f434ec9" /></Relationships>
</file>

<file path=ppt/slideLayouts/_rels/merged08_slideLayout2.xml.rels><?xml version='1.0' encoding='utf-8'?>
<Relationships xmlns="http://schemas.openxmlformats.org/package/2006/relationships"><Relationship Type="http://schemas.openxmlformats.org/officeDocument/2006/relationships/slideMaster" Target="../slideMasters/merged08_slideMaster1.xml" Id="R147fe9f08939409e" /></Relationships>
</file>

<file path=ppt/slideLayouts/_rels/merged08_slideLayout3.xml.rels><?xml version='1.0' encoding='utf-8'?>
<Relationships xmlns="http://schemas.openxmlformats.org/package/2006/relationships"><Relationship Type="http://schemas.openxmlformats.org/officeDocument/2006/relationships/slideMaster" Target="../slideMasters/merged08_slideMaster1.xml" Id="R7d3d967405814021" /></Relationships>
</file>

<file path=ppt/slideLayouts/_rels/merged08_slideLayout4.xml.rels><?xml version='1.0' encoding='utf-8'?>
<Relationships xmlns="http://schemas.openxmlformats.org/package/2006/relationships"><Relationship Type="http://schemas.openxmlformats.org/officeDocument/2006/relationships/slideMaster" Target="../slideMasters/merged08_slideMaster1.xml" Id="Rd04089c5ad404966" /></Relationships>
</file>

<file path=ppt/slideLayouts/_rels/merged08_slideLayout5.xml.rels><?xml version='1.0' encoding='utf-8'?>
<Relationships xmlns="http://schemas.openxmlformats.org/package/2006/relationships"><Relationship Type="http://schemas.openxmlformats.org/officeDocument/2006/relationships/slideMaster" Target="../slideMasters/merged08_slideMaster1.xml" Id="Rebd17cf04ebf41ce" /></Relationships>
</file>

<file path=ppt/slideLayouts/_rels/merged09_slideLayout1.xml.rels><?xml version='1.0' encoding='utf-8'?>
<Relationships xmlns="http://schemas.openxmlformats.org/package/2006/relationships"><Relationship Type="http://schemas.openxmlformats.org/officeDocument/2006/relationships/slideMaster" Target="../slideMasters/merged09_slideMaster1.xml" Id="R24ec513c488d4132" /></Relationships>
</file>

<file path=ppt/slideLayouts/_rels/merged09_slideLayout2.xml.rels><?xml version='1.0' encoding='utf-8'?>
<Relationships xmlns="http://schemas.openxmlformats.org/package/2006/relationships"><Relationship Type="http://schemas.openxmlformats.org/officeDocument/2006/relationships/slideMaster" Target="../slideMasters/merged09_slideMaster1.xml" Id="Re6eaca5a5f3e4f6a" /></Relationships>
</file>

<file path=ppt/slideLayouts/_rels/merged09_slideLayout3.xml.rels><?xml version='1.0' encoding='utf-8'?>
<Relationships xmlns="http://schemas.openxmlformats.org/package/2006/relationships"><Relationship Type="http://schemas.openxmlformats.org/officeDocument/2006/relationships/slideMaster" Target="../slideMasters/merged09_slideMaster1.xml" Id="R5fe5e528c0844c1c" /></Relationships>
</file>

<file path=ppt/slideLayouts/_rels/merged09_slideLayout4.xml.rels><?xml version='1.0' encoding='utf-8'?>
<Relationships xmlns="http://schemas.openxmlformats.org/package/2006/relationships"><Relationship Type="http://schemas.openxmlformats.org/officeDocument/2006/relationships/slideMaster" Target="../slideMasters/merged09_slideMaster1.xml" Id="Rb481e1830dff4576" /></Relationships>
</file>

<file path=ppt/slideLayouts/_rels/merged09_slideLayout5.xml.rels><?xml version='1.0' encoding='utf-8'?>
<Relationships xmlns="http://schemas.openxmlformats.org/package/2006/relationships"><Relationship Type="http://schemas.openxmlformats.org/officeDocument/2006/relationships/slideMaster" Target="../slideMasters/merged09_slideMaster1.xml" Id="R105217cd4d2e45f2" /></Relationships>
</file>

<file path=ppt/slideLayouts/_rels/merged10_slideLayout1.xml.rels><?xml version='1.0' encoding='utf-8'?>
<Relationships xmlns="http://schemas.openxmlformats.org/package/2006/relationships"><Relationship Type="http://schemas.openxmlformats.org/officeDocument/2006/relationships/slideMaster" Target="../slideMasters/merged10_slideMaster1.xml" Id="R5af22500c333430b" /></Relationships>
</file>

<file path=ppt/slideLayouts/_rels/merged10_slideLayout2.xml.rels><?xml version='1.0' encoding='utf-8'?>
<Relationships xmlns="http://schemas.openxmlformats.org/package/2006/relationships"><Relationship Type="http://schemas.openxmlformats.org/officeDocument/2006/relationships/slideMaster" Target="../slideMasters/merged10_slideMaster1.xml" Id="R58823194e05c44e1" /></Relationships>
</file>

<file path=ppt/slideLayouts/_rels/merged10_slideLayout3.xml.rels><?xml version='1.0' encoding='utf-8'?>
<Relationships xmlns="http://schemas.openxmlformats.org/package/2006/relationships"><Relationship Type="http://schemas.openxmlformats.org/officeDocument/2006/relationships/slideMaster" Target="../slideMasters/merged10_slideMaster1.xml" Id="Rc2e1e50922ee4073" /></Relationships>
</file>

<file path=ppt/slideLayouts/_rels/merged10_slideLayout4.xml.rels><?xml version='1.0' encoding='utf-8'?>
<Relationships xmlns="http://schemas.openxmlformats.org/package/2006/relationships"><Relationship Type="http://schemas.openxmlformats.org/officeDocument/2006/relationships/slideMaster" Target="../slideMasters/merged10_slideMaster1.xml" Id="Rd8ec961356554446" /></Relationships>
</file>

<file path=ppt/slideLayouts/_rels/merged10_slideLayout5.xml.rels><?xml version='1.0' encoding='utf-8'?>
<Relationships xmlns="http://schemas.openxmlformats.org/package/2006/relationships"><Relationship Type="http://schemas.openxmlformats.org/officeDocument/2006/relationships/slideMaster" Target="../slideMasters/merged10_slideMaster1.xml" Id="Rd851945b6fae4ab4" /></Relationships>
</file>

<file path=ppt/slideLayouts/_rels/merged11_slideLayout1.xml.rels><?xml version='1.0' encoding='utf-8'?>
<Relationships xmlns="http://schemas.openxmlformats.org/package/2006/relationships"><Relationship Type="http://schemas.openxmlformats.org/officeDocument/2006/relationships/slideMaster" Target="../slideMasters/merged11_slideMaster1.xml" Id="Rfc2c2041173e462b" /></Relationships>
</file>

<file path=ppt/slideLayouts/_rels/merged11_slideLayout2.xml.rels><?xml version='1.0' encoding='utf-8'?>
<Relationships xmlns="http://schemas.openxmlformats.org/package/2006/relationships"><Relationship Type="http://schemas.openxmlformats.org/officeDocument/2006/relationships/slideMaster" Target="../slideMasters/merged11_slideMaster1.xml" Id="R5cfb6d0caeb1475a" /></Relationships>
</file>

<file path=ppt/slideLayouts/_rels/merged11_slideLayout3.xml.rels><?xml version='1.0' encoding='utf-8'?>
<Relationships xmlns="http://schemas.openxmlformats.org/package/2006/relationships"><Relationship Type="http://schemas.openxmlformats.org/officeDocument/2006/relationships/slideMaster" Target="../slideMasters/merged11_slideMaster1.xml" Id="R62c6cd7b98da46df" /></Relationships>
</file>

<file path=ppt/slideLayouts/_rels/merged11_slideLayout4.xml.rels><?xml version='1.0' encoding='utf-8'?>
<Relationships xmlns="http://schemas.openxmlformats.org/package/2006/relationships"><Relationship Type="http://schemas.openxmlformats.org/officeDocument/2006/relationships/slideMaster" Target="../slideMasters/merged11_slideMaster1.xml" Id="Rac6f198b598141f5" /></Relationships>
</file>

<file path=ppt/slideLayouts/_rels/merged11_slideLayout5.xml.rels><?xml version='1.0' encoding='utf-8'?>
<Relationships xmlns="http://schemas.openxmlformats.org/package/2006/relationships"><Relationship Type="http://schemas.openxmlformats.org/officeDocument/2006/relationships/slideMaster" Target="../slideMasters/merged11_slideMaster1.xml" Id="Ref607325f41345fd" /></Relationships>
</file>

<file path=ppt/slideLayouts/_rels/merged12_slideLayout1.xml.rels><?xml version='1.0' encoding='utf-8'?>
<Relationships xmlns="http://schemas.openxmlformats.org/package/2006/relationships"><Relationship Type="http://schemas.openxmlformats.org/officeDocument/2006/relationships/slideMaster" Target="../slideMasters/merged12_slideMaster1.xml" Id="R43b88196752940cd" /></Relationships>
</file>

<file path=ppt/slideLayouts/_rels/merged12_slideLayout2.xml.rels><?xml version='1.0' encoding='utf-8'?>
<Relationships xmlns="http://schemas.openxmlformats.org/package/2006/relationships"><Relationship Type="http://schemas.openxmlformats.org/officeDocument/2006/relationships/slideMaster" Target="../slideMasters/merged12_slideMaster1.xml" Id="Rc09a0b0041b640cd" /></Relationships>
</file>

<file path=ppt/slideLayouts/_rels/merged12_slideLayout3.xml.rels><?xml version='1.0' encoding='utf-8'?>
<Relationships xmlns="http://schemas.openxmlformats.org/package/2006/relationships"><Relationship Type="http://schemas.openxmlformats.org/officeDocument/2006/relationships/slideMaster" Target="../slideMasters/merged12_slideMaster1.xml" Id="R23d4dc69c06f4b8f" /></Relationships>
</file>

<file path=ppt/slideLayouts/_rels/merged12_slideLayout4.xml.rels><?xml version='1.0' encoding='utf-8'?>
<Relationships xmlns="http://schemas.openxmlformats.org/package/2006/relationships"><Relationship Type="http://schemas.openxmlformats.org/officeDocument/2006/relationships/slideMaster" Target="../slideMasters/merged12_slideMaster1.xml" Id="Re232fdf6eed74cd2" /></Relationships>
</file>

<file path=ppt/slideLayouts/_rels/merged12_slideLayout5.xml.rels><?xml version='1.0' encoding='utf-8'?>
<Relationships xmlns="http://schemas.openxmlformats.org/package/2006/relationships"><Relationship Type="http://schemas.openxmlformats.org/officeDocument/2006/relationships/slideMaster" Target="../slideMasters/merged12_slideMaster1.xml" Id="R6cc1b00c8e7b46c1" /></Relationships>
</file>

<file path=ppt/slideLayouts/_rels/merged13_slideLayout1.xml.rels><?xml version='1.0' encoding='utf-8'?>
<Relationships xmlns="http://schemas.openxmlformats.org/package/2006/relationships"><Relationship Type="http://schemas.openxmlformats.org/officeDocument/2006/relationships/slideMaster" Target="../slideMasters/merged13_slideMaster1.xml" Id="R71b56f9e2e0640ec" /></Relationships>
</file>

<file path=ppt/slideLayouts/_rels/merged13_slideLayout2.xml.rels><?xml version='1.0' encoding='utf-8'?>
<Relationships xmlns="http://schemas.openxmlformats.org/package/2006/relationships"><Relationship Type="http://schemas.openxmlformats.org/officeDocument/2006/relationships/slideMaster" Target="../slideMasters/merged13_slideMaster1.xml" Id="Rea9fa27c9c434160" /></Relationships>
</file>

<file path=ppt/slideLayouts/_rels/merged13_slideLayout3.xml.rels><?xml version='1.0' encoding='utf-8'?>
<Relationships xmlns="http://schemas.openxmlformats.org/package/2006/relationships"><Relationship Type="http://schemas.openxmlformats.org/officeDocument/2006/relationships/slideMaster" Target="../slideMasters/merged13_slideMaster1.xml" Id="R63a0cfacab954e82" /></Relationships>
</file>

<file path=ppt/slideLayouts/_rels/merged13_slideLayout4.xml.rels><?xml version='1.0' encoding='utf-8'?>
<Relationships xmlns="http://schemas.openxmlformats.org/package/2006/relationships"><Relationship Type="http://schemas.openxmlformats.org/officeDocument/2006/relationships/slideMaster" Target="../slideMasters/merged13_slideMaster1.xml" Id="R5bef826ceecc4342" /></Relationships>
</file>

<file path=ppt/slideLayouts/_rels/merged13_slideLayout5.xml.rels><?xml version='1.0' encoding='utf-8'?>
<Relationships xmlns="http://schemas.openxmlformats.org/package/2006/relationships"><Relationship Type="http://schemas.openxmlformats.org/officeDocument/2006/relationships/slideMaster" Target="../slideMasters/merged13_slideMaster1.xml" Id="R42a030ca697c4cf8" /></Relationships>
</file>

<file path=ppt/slideLayouts/merged01_slideLayout1.xml><?xml version="1.0" encoding="utf-8"?>
<p:sldLayout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394E34-A4E1-0A47-81AD-0FFDFACE2D27}"/>
              </a:ext>
            </a:extLst>
          </p:cNvPr>
          <p:cNvSpPr>
            <a:spLocks noGrp="1"/>
          </p:cNvSpPr>
          <p:nvPr>
            <p:ph type="ctrTitle" hasCustomPrompt="1"/>
          </p:nvPr>
        </p:nvSpPr>
        <p:spPr>
          <a:xfrm>
            <a:off x="0" y="2168639"/>
            <a:ext cx="12192000" cy="1936882"/>
          </a:xfrm>
          <a:noFill/>
        </p:spPr>
        <p:txBody>
          <a:bodyPr anchor="ctr">
            <a:normAutofit/>
          </a:bodyPr>
          <a:lstStyle>
            <a:lvl1pPr algn="ctr">
              <a:defRPr sz="4800" b="1" baseline="0">
                <a:solidFill>
                  <a:srgbClr val="183B56"/>
                </a:solidFill>
                <a:latin typeface="Arial" panose="020B0502040504020204" pitchFamily="34" charset="0"/>
                <a:ea typeface="Noto Sans CJK SC" panose="020B0500000000000000" pitchFamily="34" charset="-122"/>
              </a:defRPr>
            </a:lvl1pPr>
          </a:lstStyle>
          <a:p>
            <a:r>
              <a:rPr kumimoji="1" lang="en-US" altLang="zh-CN" dirty="0"/>
              <a:t>Click to edit thesis title style</a:t>
            </a:r>
            <a:endParaRPr kumimoji="1" lang="zh-CN" altLang="en-US" dirty="0"/>
          </a:p>
        </p:txBody>
      </p:sp>
      <p:sp>
        <p:nvSpPr>
          <p:cNvPr id="4" name="日期占位符 3">
            <a:extLst>
              <a:ext uri="{FF2B5EF4-FFF2-40B4-BE49-F238E27FC236}">
                <a16:creationId xmlns:a16="http://schemas.microsoft.com/office/drawing/2014/main" id="{CF04E2E1-6F52-4247-B454-11914E0AE6B4}"/>
              </a:ext>
            </a:extLst>
          </p:cNvPr>
          <p:cNvSpPr>
            <a:spLocks noGrp="1"/>
          </p:cNvSpPr>
          <p:nvPr>
            <p:ph type="dt" sz="half" idx="10"/>
          </p:nvPr>
        </p:nvSpPr>
        <p:spPr/>
        <p:txBody>
          <a:bodyPr/>
          <a:lstStyle/>
          <a:p>
            <a:fld id="{94D87667-948B-4B5D-857A-C1426D142067}" type="datetime1">
              <a:rPr kumimoji="1" lang="en-US" altLang="zh-CN" smtClean="0"/>
              <a:t>10/29/26</a:t>
            </a:fld>
            <a:endParaRPr kumimoji="1" lang="zh-CN" altLang="en-US"/>
          </a:p>
        </p:txBody>
      </p:sp>
      <p:sp>
        <p:nvSpPr>
          <p:cNvPr id="5" name="页脚占位符 4">
            <a:extLst>
              <a:ext uri="{FF2B5EF4-FFF2-40B4-BE49-F238E27FC236}">
                <a16:creationId xmlns:a16="http://schemas.microsoft.com/office/drawing/2014/main" id="{F301D4FA-A75C-2F44-883E-4AC185027E0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F299D7-B793-0341-BA66-F6DDDC6B3353}"/>
              </a:ext>
            </a:extLst>
          </p:cNvPr>
          <p:cNvSpPr>
            <a:spLocks noGrp="1"/>
          </p:cNvSpPr>
          <p:nvPr>
            <p:ph type="sldNum" sz="quarter" idx="12"/>
          </p:nvPr>
        </p:nvSpPr>
        <p:spPr/>
        <p:txBody>
          <a:bodyPr/>
          <a:lstStyle/>
          <a:p>
            <a:fld id="{07B19D4B-9808-1A4C-B845-D9471D0CA790}" type="slidenum">
              <a:rPr kumimoji="1" lang="zh-CN" altLang="en-US" smtClean="0"/>
              <a:t>‹#›</a:t>
            </a:fld>
            <a:endParaRPr kumimoji="1" lang="zh-CN" altLang="en-US"/>
          </a:p>
        </p:txBody>
      </p:sp>
      <p:cxnSp>
        <p:nvCxnSpPr>
          <p:cNvPr id="19" name="Straight Connector 18">
            <a:extLst>
              <a:ext uri="{FF2B5EF4-FFF2-40B4-BE49-F238E27FC236}">
                <a16:creationId xmlns:a16="http://schemas.microsoft.com/office/drawing/2014/main" id="{807348DA-3C8B-894A-88C1-DD8DB3668BBF}"/>
              </a:ext>
            </a:extLst>
          </p:cNvPr>
          <p:cNvCxnSpPr>
            <a:cxnSpLocks/>
          </p:cNvCxnSpPr>
          <p:nvPr userDrawn="1"/>
        </p:nvCxnSpPr>
        <p:spPr>
          <a:xfrm>
            <a:off x="0" y="2152782"/>
            <a:ext cx="12192000" cy="0"/>
          </a:xfrm>
          <a:prstGeom prst="line">
            <a:avLst/>
          </a:prstGeom>
          <a:ln w="19050">
            <a:solidFill>
              <a:srgbClr val="008C95"/>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BC4B8A5C-1DD7-2741-8B92-2ABD8EAB5BB5}"/>
              </a:ext>
            </a:extLst>
          </p:cNvPr>
          <p:cNvCxnSpPr>
            <a:cxnSpLocks/>
          </p:cNvCxnSpPr>
          <p:nvPr userDrawn="1"/>
        </p:nvCxnSpPr>
        <p:spPr>
          <a:xfrm>
            <a:off x="0" y="4105521"/>
            <a:ext cx="12192000" cy="0"/>
          </a:xfrm>
          <a:prstGeom prst="line">
            <a:avLst/>
          </a:prstGeom>
          <a:ln w="19050">
            <a:solidFill>
              <a:srgbClr val="008C95"/>
            </a:solidFill>
          </a:ln>
        </p:spPr>
        <p:style>
          <a:lnRef idx="1">
            <a:schemeClr val="accent2"/>
          </a:lnRef>
          <a:fillRef idx="0">
            <a:schemeClr val="accent2"/>
          </a:fillRef>
          <a:effectRef idx="0">
            <a:schemeClr val="accent2"/>
          </a:effectRef>
          <a:fontRef idx="minor">
            <a:schemeClr val="tx1"/>
          </a:fontRef>
        </p:style>
      </p:cxnSp>
      <p:grpSp>
        <p:nvGrpSpPr>
          <p:cNvPr id="25" name="组合 24">
            <a:extLst>
              <a:ext uri="{FF2B5EF4-FFF2-40B4-BE49-F238E27FC236}">
                <a16:creationId xmlns:a16="http://schemas.microsoft.com/office/drawing/2014/main" id="{40F6F499-9268-48B1-0E1F-7474E513719E}"/>
              </a:ext>
            </a:extLst>
          </p:cNvPr>
          <p:cNvGrpSpPr/>
          <p:nvPr userDrawn="1"/>
        </p:nvGrpSpPr>
        <p:grpSpPr>
          <a:xfrm>
            <a:off x="2344895" y="163035"/>
            <a:ext cx="7502210" cy="702074"/>
            <a:chOff x="1710556" y="163035"/>
            <a:chExt cx="8770888" cy="820800"/>
          </a:xfrm>
        </p:grpSpPr>
        <p:pic>
          <p:nvPicPr>
            <p:cNvPr id="17" name="图形 16">
              <a:extLst>
                <a:ext uri="{FF2B5EF4-FFF2-40B4-BE49-F238E27FC236}">
                  <a16:creationId xmlns:a16="http://schemas.microsoft.com/office/drawing/2014/main" id="{89B545BD-DB44-DA80-F161-0D27802BED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10556" y="163035"/>
              <a:ext cx="3065676" cy="820800"/>
            </a:xfrm>
            <a:prstGeom prst="rect">
              <a:avLst/>
            </a:prstGeom>
          </p:spPr>
        </p:pic>
        <p:pic>
          <p:nvPicPr>
            <p:cNvPr id="24" name="图片 23">
              <a:extLst>
                <a:ext uri="{FF2B5EF4-FFF2-40B4-BE49-F238E27FC236}">
                  <a16:creationId xmlns:a16="http://schemas.microsoft.com/office/drawing/2014/main" id="{F64FA03D-454B-9320-C58F-1E11C182C9E6}"/>
                </a:ext>
              </a:extLst>
            </p:cNvPr>
            <p:cNvPicPr>
              <a:picLocks noChangeAspect="1"/>
            </p:cNvPicPr>
            <p:nvPr userDrawn="1"/>
          </p:nvPicPr>
          <p:blipFill>
            <a:blip r:embed="rId3"/>
            <a:stretch>
              <a:fillRect/>
            </a:stretch>
          </p:blipFill>
          <p:spPr>
            <a:xfrm>
              <a:off x="5061719" y="163860"/>
              <a:ext cx="5419725" cy="819150"/>
            </a:xfrm>
            <a:prstGeom prst="rect">
              <a:avLst/>
            </a:prstGeom>
          </p:spPr>
        </p:pic>
      </p:grpSp>
    </p:spTree>
    <p:extLst>
      <p:ext uri="{BB962C8B-B14F-4D97-AF65-F5344CB8AC3E}">
        <p14:creationId xmlns:p14="http://schemas.microsoft.com/office/powerpoint/2010/main" val="1855452625"/>
      </p:ext>
    </p:extLst>
  </p:cSld>
  <p:clrMapOvr>
    <a:masterClrMapping/>
  </p:clrMapOvr>
</p:sldLayout>
</file>

<file path=ppt/slideLayouts/merged01_slideLayout2.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106A9A-4523-DB41-B2D8-8F07F5110EAB}"/>
              </a:ext>
            </a:extLst>
          </p:cNvPr>
          <p:cNvSpPr>
            <a:spLocks noGrp="1"/>
          </p:cNvSpPr>
          <p:nvPr>
            <p:ph type="title"/>
          </p:nvPr>
        </p:nvSpPr>
        <p:spPr>
          <a:xfrm>
            <a:off x="236033" y="136526"/>
            <a:ext cx="11561957" cy="878236"/>
          </a:xfrm>
        </p:spPr>
        <p:txBody>
          <a:bodyPr>
            <a:normAutofit/>
          </a:bodyPr>
          <a:lstStyle>
            <a:lvl1pPr>
              <a:defRPr sz="3200" b="1" baseline="0">
                <a:solidFill>
                  <a:srgbClr val="183B56"/>
                </a:solidFill>
                <a:latin typeface="Arial" panose="020B0502040504020204" pitchFamily="34" charset="0"/>
                <a:ea typeface="Noto Sans CJK SC" panose="020B0500000000000000" pitchFamily="34" charset="-122"/>
              </a:defRPr>
            </a:lvl1pPr>
          </a:lstStyle>
          <a:p>
            <a:r>
              <a:rPr kumimoji="1" lang="en-US" altLang="zh-CN" dirty="0"/>
              <a:t>Click to edit Master title style</a:t>
            </a:r>
            <a:endParaRPr kumimoji="1" lang="zh-CN" altLang="en-US" dirty="0"/>
          </a:p>
        </p:txBody>
      </p:sp>
      <p:sp>
        <p:nvSpPr>
          <p:cNvPr id="3" name="内容占位符 2">
            <a:extLst>
              <a:ext uri="{FF2B5EF4-FFF2-40B4-BE49-F238E27FC236}">
                <a16:creationId xmlns:a16="http://schemas.microsoft.com/office/drawing/2014/main" id="{76300472-B359-3B42-A846-416180D84599}"/>
              </a:ext>
            </a:extLst>
          </p:cNvPr>
          <p:cNvSpPr>
            <a:spLocks noGrp="1"/>
          </p:cNvSpPr>
          <p:nvPr>
            <p:ph idx="1"/>
          </p:nvPr>
        </p:nvSpPr>
        <p:spPr>
          <a:xfrm>
            <a:off x="236033" y="1026272"/>
            <a:ext cx="11561956" cy="5318561"/>
          </a:xfrm>
        </p:spPr>
        <p:txBody>
          <a:bodyPr/>
          <a:lstStyle>
            <a:lvl1pPr indent="-300600">
              <a:lnSpc>
                <a:spcPct val="110000"/>
              </a:lnSpc>
              <a:buClr>
                <a:schemeClr val="accent2"/>
              </a:buClr>
              <a:defRPr sz="2400" baseline="0">
                <a:latin typeface="Arial" panose="020B0502040504020204" pitchFamily="34" charset="0"/>
                <a:ea typeface="Noto Sans CJK SC" panose="020B0500000000000000" pitchFamily="34" charset="-122"/>
              </a:defRPr>
            </a:lvl1pPr>
            <a:lvl2pPr indent="-300600">
              <a:lnSpc>
                <a:spcPct val="110000"/>
              </a:lnSpc>
              <a:buClr>
                <a:schemeClr val="accent6"/>
              </a:buClr>
              <a:defRPr sz="2200" baseline="0">
                <a:latin typeface="Arial" panose="020B0502040504020204" pitchFamily="34" charset="0"/>
                <a:ea typeface="Noto Sans CJK SC" panose="020B0500000000000000" pitchFamily="34" charset="-122"/>
              </a:defRPr>
            </a:lvl2pPr>
            <a:lvl3pPr>
              <a:lnSpc>
                <a:spcPct val="110000"/>
              </a:lnSpc>
              <a:defRPr sz="2000" baseline="0">
                <a:latin typeface="Arial" panose="020B0502040504020204" pitchFamily="34" charset="0"/>
                <a:ea typeface="Noto Sans CJK SC" panose="020B0500000000000000" pitchFamily="34" charset="-122"/>
              </a:defRPr>
            </a:lvl3pPr>
            <a:lvl4pPr>
              <a:lnSpc>
                <a:spcPct val="110000"/>
              </a:lnSpc>
              <a:defRPr baseline="0">
                <a:latin typeface="Arial" panose="020B0502040504020204" pitchFamily="34" charset="0"/>
                <a:ea typeface="Noto Sans CJK SC" panose="020B0500000000000000" pitchFamily="34" charset="-122"/>
              </a:defRPr>
            </a:lvl4pPr>
            <a:lvl5pPr>
              <a:lnSpc>
                <a:spcPct val="110000"/>
              </a:lnSpc>
              <a:defRPr baseline="0">
                <a:latin typeface="Arial" panose="020B0502040504020204" pitchFamily="34" charset="0"/>
                <a:ea typeface="Noto Sans CJK SC" panose="020B0500000000000000" pitchFamily="34" charset="-122"/>
              </a:defRPr>
            </a:lvl5pPr>
          </a:lstStyle>
          <a:p>
            <a:pPr lvl="0"/>
            <a:r>
              <a:rPr kumimoji="1" lang="en-US" altLang="zh-CN" dirty="0"/>
              <a:t>Click to edit Master text styles</a:t>
            </a:r>
          </a:p>
          <a:p>
            <a:pPr lvl="1"/>
            <a:r>
              <a:rPr kumimoji="1" lang="en-US" altLang="zh-CN" dirty="0"/>
              <a:t>Second level</a:t>
            </a:r>
          </a:p>
          <a:p>
            <a:pPr lvl="2"/>
            <a:r>
              <a:rPr kumimoji="1" lang="en-US" altLang="zh-CN" dirty="0"/>
              <a:t>Third level</a:t>
            </a:r>
          </a:p>
          <a:p>
            <a:pPr lvl="3"/>
            <a:r>
              <a:rPr kumimoji="1" lang="en-US" altLang="zh-CN" dirty="0"/>
              <a:t>Fourth level</a:t>
            </a:r>
          </a:p>
          <a:p>
            <a:pPr lvl="4"/>
            <a:r>
              <a:rPr kumimoji="1" lang="en-US" altLang="zh-CN" dirty="0"/>
              <a:t>Fifth level</a:t>
            </a:r>
            <a:endParaRPr kumimoji="1" lang="zh-CN" altLang="en-US" dirty="0"/>
          </a:p>
        </p:txBody>
      </p:sp>
      <p:sp>
        <p:nvSpPr>
          <p:cNvPr id="4" name="日期占位符 3">
            <a:extLst>
              <a:ext uri="{FF2B5EF4-FFF2-40B4-BE49-F238E27FC236}">
                <a16:creationId xmlns:a16="http://schemas.microsoft.com/office/drawing/2014/main" id="{08D07A5A-91FF-494E-8D02-89709B05C2CA}"/>
              </a:ext>
            </a:extLst>
          </p:cNvPr>
          <p:cNvSpPr>
            <a:spLocks noGrp="1"/>
          </p:cNvSpPr>
          <p:nvPr>
            <p:ph type="dt" sz="half" idx="10"/>
          </p:nvPr>
        </p:nvSpPr>
        <p:spPr/>
        <p:txBody>
          <a:bodyPr/>
          <a:lstStyle/>
          <a:p>
            <a:fld id="{BB34C70F-3263-4CD6-B96C-7BC8652CFC42}" type="datetime1">
              <a:rPr kumimoji="1" lang="en-US" altLang="zh-CN" smtClean="0"/>
              <a:t>10/29/26</a:t>
            </a:fld>
            <a:endParaRPr kumimoji="1" lang="zh-CN" altLang="en-US"/>
          </a:p>
        </p:txBody>
      </p:sp>
      <p:sp>
        <p:nvSpPr>
          <p:cNvPr id="5" name="页脚占位符 4">
            <a:extLst>
              <a:ext uri="{FF2B5EF4-FFF2-40B4-BE49-F238E27FC236}">
                <a16:creationId xmlns:a16="http://schemas.microsoft.com/office/drawing/2014/main" id="{E5CC6612-37BE-814F-ACA0-AE4950C232DB}"/>
              </a:ext>
            </a:extLst>
          </p:cNvPr>
          <p:cNvSpPr>
            <a:spLocks noGrp="1"/>
          </p:cNvSpPr>
          <p:nvPr>
            <p:ph type="ftr" sz="quarter" idx="11"/>
          </p:nvPr>
        </p:nvSpPr>
        <p:spPr>
          <a:xfrm>
            <a:off x="3947714" y="6367861"/>
            <a:ext cx="4114800" cy="365125"/>
          </a:xfrm>
        </p:spPr>
        <p:txBody>
          <a:bodyPr/>
          <a:lstStyle/>
          <a:p>
            <a:endParaRPr kumimoji="1" lang="zh-CN" altLang="en-US"/>
          </a:p>
        </p:txBody>
      </p:sp>
      <p:sp>
        <p:nvSpPr>
          <p:cNvPr id="6" name="灯片编号占位符 5">
            <a:extLst>
              <a:ext uri="{FF2B5EF4-FFF2-40B4-BE49-F238E27FC236}">
                <a16:creationId xmlns:a16="http://schemas.microsoft.com/office/drawing/2014/main" id="{47C18CA8-FF2C-BF49-A4D6-34924DCA1F4A}"/>
              </a:ext>
            </a:extLst>
          </p:cNvPr>
          <p:cNvSpPr>
            <a:spLocks noGrp="1"/>
          </p:cNvSpPr>
          <p:nvPr>
            <p:ph type="sldNum" sz="quarter" idx="12"/>
          </p:nvPr>
        </p:nvSpPr>
        <p:spPr>
          <a:xfrm>
            <a:off x="9030994" y="6367862"/>
            <a:ext cx="2743200" cy="365125"/>
          </a:xfrm>
        </p:spPr>
        <p:txBody>
          <a:bodyPr/>
          <a:lstStyle/>
          <a:p>
            <a:fld id="{07B19D4B-9808-1A4C-B845-D9471D0CA790}" type="slidenum">
              <a:rPr kumimoji="1" lang="zh-CN" altLang="en-US" smtClean="0"/>
              <a:t>‹#›</a:t>
            </a:fld>
            <a:endParaRPr kumimoji="1" lang="zh-CN" altLang="en-US"/>
          </a:p>
        </p:txBody>
      </p:sp>
      <p:cxnSp>
        <p:nvCxnSpPr>
          <p:cNvPr id="7" name="Straight Connector 6">
            <a:extLst>
              <a:ext uri="{FF2B5EF4-FFF2-40B4-BE49-F238E27FC236}">
                <a16:creationId xmlns:a16="http://schemas.microsoft.com/office/drawing/2014/main" id="{E619EE58-A2B4-1D47-95D9-98F374F7B60B}"/>
              </a:ext>
            </a:extLst>
          </p:cNvPr>
          <p:cNvCxnSpPr>
            <a:cxnSpLocks/>
          </p:cNvCxnSpPr>
          <p:nvPr userDrawn="1"/>
        </p:nvCxnSpPr>
        <p:spPr>
          <a:xfrm>
            <a:off x="236032" y="1014761"/>
            <a:ext cx="11561958" cy="0"/>
          </a:xfrm>
          <a:prstGeom prst="line">
            <a:avLst/>
          </a:prstGeom>
          <a:ln w="19050">
            <a:solidFill>
              <a:srgbClr val="008C95"/>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F0D88BD-6E18-6246-8AF7-B21FB95FBB25}"/>
              </a:ext>
            </a:extLst>
          </p:cNvPr>
          <p:cNvCxnSpPr>
            <a:cxnSpLocks/>
          </p:cNvCxnSpPr>
          <p:nvPr userDrawn="1"/>
        </p:nvCxnSpPr>
        <p:spPr>
          <a:xfrm>
            <a:off x="236032" y="6356349"/>
            <a:ext cx="11561957" cy="0"/>
          </a:xfrm>
          <a:prstGeom prst="line">
            <a:avLst/>
          </a:prstGeom>
          <a:ln w="19050">
            <a:solidFill>
              <a:srgbClr val="008C9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729639"/>
      </p:ext>
    </p:extLst>
  </p:cSld>
  <p:clrMapOvr>
    <a:masterClrMapping/>
  </p:clrMapOvr>
</p:sldLayout>
</file>

<file path=ppt/slideLayouts/merged01_slideLayout3.xml><?xml version="1.0" encoding="utf-8"?>
<p:sldLayout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reserve="1" userDrawn="1">
  <p:cSld name="结束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394E34-A4E1-0A47-81AD-0FFDFACE2D27}"/>
              </a:ext>
            </a:extLst>
          </p:cNvPr>
          <p:cNvSpPr>
            <a:spLocks noGrp="1"/>
          </p:cNvSpPr>
          <p:nvPr>
            <p:ph type="ctrTitle"/>
          </p:nvPr>
        </p:nvSpPr>
        <p:spPr>
          <a:xfrm>
            <a:off x="0" y="2205243"/>
            <a:ext cx="12192000" cy="1936882"/>
          </a:xfrm>
          <a:noFill/>
        </p:spPr>
        <p:txBody>
          <a:bodyPr anchor="ctr">
            <a:normAutofit/>
          </a:bodyPr>
          <a:lstStyle>
            <a:lvl1pPr algn="ctr">
              <a:defRPr sz="4800" b="1" baseline="0">
                <a:solidFill>
                  <a:srgbClr val="183B56"/>
                </a:solidFill>
                <a:latin typeface="Arial" panose="020B0502040504020204" pitchFamily="34" charset="0"/>
                <a:ea typeface="Noto Sans CJK SC" panose="020B0500000000000000" pitchFamily="34" charset="-122"/>
              </a:defRPr>
            </a:lvl1pPr>
          </a:lstStyle>
          <a:p>
            <a:r>
              <a:rPr kumimoji="1" lang="en-US" altLang="zh-CN" dirty="0"/>
              <a:t>Click to edit Master title style</a:t>
            </a:r>
            <a:endParaRPr kumimoji="1" lang="zh-CN" altLang="en-US" dirty="0"/>
          </a:p>
        </p:txBody>
      </p:sp>
      <p:sp>
        <p:nvSpPr>
          <p:cNvPr id="4" name="日期占位符 3">
            <a:extLst>
              <a:ext uri="{FF2B5EF4-FFF2-40B4-BE49-F238E27FC236}">
                <a16:creationId xmlns:a16="http://schemas.microsoft.com/office/drawing/2014/main" id="{CF04E2E1-6F52-4247-B454-11914E0AE6B4}"/>
              </a:ext>
            </a:extLst>
          </p:cNvPr>
          <p:cNvSpPr>
            <a:spLocks noGrp="1"/>
          </p:cNvSpPr>
          <p:nvPr>
            <p:ph type="dt" sz="half" idx="10"/>
          </p:nvPr>
        </p:nvSpPr>
        <p:spPr/>
        <p:txBody>
          <a:bodyPr/>
          <a:lstStyle/>
          <a:p>
            <a:fld id="{94D87667-948B-4B5D-857A-C1426D142067}" type="datetime1">
              <a:rPr kumimoji="1" lang="en-US" altLang="zh-CN" smtClean="0"/>
              <a:t>10/29/26</a:t>
            </a:fld>
            <a:endParaRPr kumimoji="1" lang="zh-CN" altLang="en-US"/>
          </a:p>
        </p:txBody>
      </p:sp>
      <p:sp>
        <p:nvSpPr>
          <p:cNvPr id="5" name="页脚占位符 4">
            <a:extLst>
              <a:ext uri="{FF2B5EF4-FFF2-40B4-BE49-F238E27FC236}">
                <a16:creationId xmlns:a16="http://schemas.microsoft.com/office/drawing/2014/main" id="{F301D4FA-A75C-2F44-883E-4AC185027E0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F299D7-B793-0341-BA66-F6DDDC6B3353}"/>
              </a:ext>
            </a:extLst>
          </p:cNvPr>
          <p:cNvSpPr>
            <a:spLocks noGrp="1"/>
          </p:cNvSpPr>
          <p:nvPr>
            <p:ph type="sldNum" sz="quarter" idx="12"/>
          </p:nvPr>
        </p:nvSpPr>
        <p:spPr/>
        <p:txBody>
          <a:bodyPr/>
          <a:lstStyle/>
          <a:p>
            <a:fld id="{07B19D4B-9808-1A4C-B845-D9471D0CA790}" type="slidenum">
              <a:rPr kumimoji="1" lang="zh-CN" altLang="en-US" smtClean="0"/>
              <a:t>‹#›</a:t>
            </a:fld>
            <a:endParaRPr kumimoji="1" lang="zh-CN" altLang="en-US"/>
          </a:p>
        </p:txBody>
      </p:sp>
      <p:grpSp>
        <p:nvGrpSpPr>
          <p:cNvPr id="25" name="组合 24">
            <a:extLst>
              <a:ext uri="{FF2B5EF4-FFF2-40B4-BE49-F238E27FC236}">
                <a16:creationId xmlns:a16="http://schemas.microsoft.com/office/drawing/2014/main" id="{40F6F499-9268-48B1-0E1F-7474E513719E}"/>
              </a:ext>
            </a:extLst>
          </p:cNvPr>
          <p:cNvGrpSpPr/>
          <p:nvPr userDrawn="1"/>
        </p:nvGrpSpPr>
        <p:grpSpPr>
          <a:xfrm>
            <a:off x="2344895" y="163035"/>
            <a:ext cx="7502210" cy="702074"/>
            <a:chOff x="1710556" y="163035"/>
            <a:chExt cx="8770888" cy="820800"/>
          </a:xfrm>
        </p:grpSpPr>
        <p:pic>
          <p:nvPicPr>
            <p:cNvPr id="17" name="图形 16">
              <a:extLst>
                <a:ext uri="{FF2B5EF4-FFF2-40B4-BE49-F238E27FC236}">
                  <a16:creationId xmlns:a16="http://schemas.microsoft.com/office/drawing/2014/main" id="{89B545BD-DB44-DA80-F161-0D27802BED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10556" y="163035"/>
              <a:ext cx="3065676" cy="820800"/>
            </a:xfrm>
            <a:prstGeom prst="rect">
              <a:avLst/>
            </a:prstGeom>
          </p:spPr>
        </p:pic>
        <p:pic>
          <p:nvPicPr>
            <p:cNvPr id="24" name="图片 23">
              <a:extLst>
                <a:ext uri="{FF2B5EF4-FFF2-40B4-BE49-F238E27FC236}">
                  <a16:creationId xmlns:a16="http://schemas.microsoft.com/office/drawing/2014/main" id="{F64FA03D-454B-9320-C58F-1E11C182C9E6}"/>
                </a:ext>
              </a:extLst>
            </p:cNvPr>
            <p:cNvPicPr>
              <a:picLocks noChangeAspect="1"/>
            </p:cNvPicPr>
            <p:nvPr userDrawn="1"/>
          </p:nvPicPr>
          <p:blipFill>
            <a:blip r:embed="rId3"/>
            <a:stretch>
              <a:fillRect/>
            </a:stretch>
          </p:blipFill>
          <p:spPr>
            <a:xfrm>
              <a:off x="5061719" y="163860"/>
              <a:ext cx="5419725" cy="819150"/>
            </a:xfrm>
            <a:prstGeom prst="rect">
              <a:avLst/>
            </a:prstGeom>
          </p:spPr>
        </p:pic>
      </p:grpSp>
    </p:spTree>
    <p:extLst>
      <p:ext uri="{BB962C8B-B14F-4D97-AF65-F5344CB8AC3E}">
        <p14:creationId xmlns:p14="http://schemas.microsoft.com/office/powerpoint/2010/main" val="81181001"/>
      </p:ext>
    </p:extLst>
  </p:cSld>
  <p:clrMapOvr>
    <a:masterClrMapping/>
  </p:clrMapOvr>
</p:sldLayout>
</file>

<file path=ppt/slideLayouts/merged02_slideLayout1.xml><?xml version="1.0" encoding="utf-8"?>
<p:sldLayout xmlns:p="http://schemas.openxmlformats.org/presentationml/2006/main" type="blank">
  <p:cSld name="Blank">
    <p:spTree>
      <p:nvGrpSpPr>
        <p:cNvPr id="1" name=""/>
        <p:cNvGrpSpPr/>
        <p:nvPr/>
      </p:nvGrpSpPr>
      <p:grpSpPr/>
    </p:spTree>
  </p:cSld>
</p:sldLayout>
</file>

<file path=ppt/slideLayouts/merged02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2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2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2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3_slideLayout1.xml><?xml version="1.0" encoding="utf-8"?>
<p:sldLayout xmlns:p="http://schemas.openxmlformats.org/presentationml/2006/main" type="blank">
  <p:cSld name="Blank">
    <p:spTree>
      <p:nvGrpSpPr>
        <p:cNvPr id="1" name=""/>
        <p:cNvGrpSpPr/>
        <p:nvPr/>
      </p:nvGrpSpPr>
      <p:grpSpPr/>
    </p:spTree>
  </p:cSld>
</p:sldLayout>
</file>

<file path=ppt/slideLayouts/merged03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3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3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3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4_slideLayout1.xml><?xml version="1.0" encoding="utf-8"?>
<p:sldLayout xmlns:p="http://schemas.openxmlformats.org/presentationml/2006/main" type="blank">
  <p:cSld name="Blank">
    <p:spTree>
      <p:nvGrpSpPr>
        <p:cNvPr id="1" name=""/>
        <p:cNvGrpSpPr/>
        <p:nvPr/>
      </p:nvGrpSpPr>
      <p:grpSpPr/>
    </p:spTree>
  </p:cSld>
</p:sldLayout>
</file>

<file path=ppt/slideLayouts/merged04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4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4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4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5_slideLayout1.xml><?xml version="1.0" encoding="utf-8"?>
<p:sldLayout xmlns:p="http://schemas.openxmlformats.org/presentationml/2006/main" type="blank">
  <p:cSld name="Blank">
    <p:spTree>
      <p:nvGrpSpPr>
        <p:cNvPr id="1" name=""/>
        <p:cNvGrpSpPr/>
        <p:nvPr/>
      </p:nvGrpSpPr>
      <p:grpSpPr/>
    </p:spTree>
  </p:cSld>
</p:sldLayout>
</file>

<file path=ppt/slideLayouts/merged05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5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5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5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6_slideLayout1.xml><?xml version="1.0" encoding="utf-8"?>
<p:sldLayout xmlns:p="http://schemas.openxmlformats.org/presentationml/2006/main" type="blank">
  <p:cSld name="Blank">
    <p:spTree>
      <p:nvGrpSpPr>
        <p:cNvPr id="1" name=""/>
        <p:cNvGrpSpPr/>
        <p:nvPr/>
      </p:nvGrpSpPr>
      <p:grpSpPr/>
    </p:spTree>
  </p:cSld>
</p:sldLayout>
</file>

<file path=ppt/slideLayouts/merged06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6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6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6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7_slideLayout1.xml><?xml version="1.0" encoding="utf-8"?>
<p:sldLayout xmlns:p="http://schemas.openxmlformats.org/presentationml/2006/main" type="blank">
  <p:cSld name="Blank">
    <p:spTree>
      <p:nvGrpSpPr>
        <p:cNvPr id="1" name=""/>
        <p:cNvGrpSpPr/>
        <p:nvPr/>
      </p:nvGrpSpPr>
      <p:grpSpPr/>
    </p:spTree>
  </p:cSld>
</p:sldLayout>
</file>

<file path=ppt/slideLayouts/merged07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7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7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7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8_slideLayout1.xml><?xml version="1.0" encoding="utf-8"?>
<p:sldLayout xmlns:p="http://schemas.openxmlformats.org/presentationml/2006/main" type="blank">
  <p:cSld name="Blank">
    <p:spTree>
      <p:nvGrpSpPr>
        <p:cNvPr id="1" name=""/>
        <p:cNvGrpSpPr/>
        <p:nvPr/>
      </p:nvGrpSpPr>
      <p:grpSpPr/>
    </p:spTree>
  </p:cSld>
</p:sldLayout>
</file>

<file path=ppt/slideLayouts/merged08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8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8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8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9_slideLayout1.xml><?xml version="1.0" encoding="utf-8"?>
<p:sldLayout xmlns:p="http://schemas.openxmlformats.org/presentationml/2006/main" type="blank">
  <p:cSld name="Blank">
    <p:spTree>
      <p:nvGrpSpPr>
        <p:cNvPr id="1" name=""/>
        <p:cNvGrpSpPr/>
        <p:nvPr/>
      </p:nvGrpSpPr>
      <p:grpSpPr/>
    </p:spTree>
  </p:cSld>
</p:sldLayout>
</file>

<file path=ppt/slideLayouts/merged09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9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9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09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0_slideLayout1.xml><?xml version="1.0" encoding="utf-8"?>
<p:sldLayout xmlns:p="http://schemas.openxmlformats.org/presentationml/2006/main" type="blank">
  <p:cSld name="Blank">
    <p:spTree>
      <p:nvGrpSpPr>
        <p:cNvPr id="1" name=""/>
        <p:cNvGrpSpPr/>
        <p:nvPr/>
      </p:nvGrpSpPr>
      <p:grpSpPr/>
    </p:spTree>
  </p:cSld>
</p:sldLayout>
</file>

<file path=ppt/slideLayouts/merged10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0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0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0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1_slideLayout1.xml><?xml version="1.0" encoding="utf-8"?>
<p:sldLayout xmlns:p="http://schemas.openxmlformats.org/presentationml/2006/main" type="blank">
  <p:cSld name="Blank">
    <p:spTree>
      <p:nvGrpSpPr>
        <p:cNvPr id="1" name=""/>
        <p:cNvGrpSpPr/>
        <p:nvPr/>
      </p:nvGrpSpPr>
      <p:grpSpPr/>
    </p:spTree>
  </p:cSld>
</p:sldLayout>
</file>

<file path=ppt/slideLayouts/merged11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1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1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1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2_slideLayout1.xml><?xml version="1.0" encoding="utf-8"?>
<p:sldLayout xmlns:p="http://schemas.openxmlformats.org/presentationml/2006/main" type="blank">
  <p:cSld name="Blank">
    <p:spTree>
      <p:nvGrpSpPr>
        <p:cNvPr id="1" name=""/>
        <p:cNvGrpSpPr/>
        <p:nvPr/>
      </p:nvGrpSpPr>
      <p:grpSpPr/>
    </p:spTree>
  </p:cSld>
</p:sldLayout>
</file>

<file path=ppt/slideLayouts/merged12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2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2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2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3_slideLayout1.xml><?xml version="1.0" encoding="utf-8"?>
<p:sldLayout xmlns:p="http://schemas.openxmlformats.org/presentationml/2006/main" type="blank">
  <p:cSld name="Blank">
    <p:spTree>
      <p:nvGrpSpPr>
        <p:cNvPr id="1" name=""/>
        <p:cNvGrpSpPr/>
        <p:nvPr/>
      </p:nvGrpSpPr>
      <p:grpSpPr/>
    </p:spTree>
  </p:cSld>
</p:sldLayout>
</file>

<file path=ppt/slideLayouts/merged13_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3_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3_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merged13_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merged01_slideMaster1.xml.rels><?xml version='1.0' encoding='utf-8'?>
<Relationships xmlns="http://schemas.openxmlformats.org/package/2006/relationships"><Relationship Id="rId3" Type="http://schemas.openxmlformats.org/officeDocument/2006/relationships/slideLayout" Target="../slideLayouts/merged01_slideLayout3.xml" /><Relationship Id="rId2" Type="http://schemas.openxmlformats.org/officeDocument/2006/relationships/slideLayout" Target="../slideLayouts/merged01_slideLayout2.xml" /><Relationship Id="rId1" Type="http://schemas.openxmlformats.org/officeDocument/2006/relationships/slideLayout" Target="../slideLayouts/merged01_slideLayout1.xml" /><Relationship Id="rId4" Type="http://schemas.openxmlformats.org/officeDocument/2006/relationships/theme" Target="../theme/merged01_theme1.xml" /></Relationships>
</file>

<file path=ppt/slideMasters/_rels/merged02_slideMaster1.xml.rels><?xml version='1.0' encoding='utf-8'?>
<Relationships xmlns="http://schemas.openxmlformats.org/package/2006/relationships"><Relationship Type="http://schemas.openxmlformats.org/officeDocument/2006/relationships/slideLayout" Target="../slideLayouts/merged02_slideLayout1.xml" Id="rId1" /><Relationship Type="http://schemas.openxmlformats.org/officeDocument/2006/relationships/theme" Target="../theme/merged02_theme1.xml" Id="R89e10da0cdd64b57" /><Relationship Type="http://schemas.openxmlformats.org/officeDocument/2006/relationships/slideLayout" Target="../slideLayouts/merged02_slideLayout2.xml" Id="rId2" /><Relationship Type="http://schemas.openxmlformats.org/officeDocument/2006/relationships/slideLayout" Target="../slideLayouts/merged02_slideLayout3.xml" Id="rId3" /><Relationship Type="http://schemas.openxmlformats.org/officeDocument/2006/relationships/slideLayout" Target="../slideLayouts/merged02_slideLayout4.xml" Id="rId4" /><Relationship Type="http://schemas.openxmlformats.org/officeDocument/2006/relationships/slideLayout" Target="../slideLayouts/merged02_slideLayout5.xml" Id="rId5" /></Relationships>
</file>

<file path=ppt/slideMasters/_rels/merged03_slideMaster1.xml.rels><?xml version='1.0' encoding='utf-8'?>
<Relationships xmlns="http://schemas.openxmlformats.org/package/2006/relationships"><Relationship Type="http://schemas.openxmlformats.org/officeDocument/2006/relationships/slideLayout" Target="../slideLayouts/merged03_slideLayout1.xml" Id="rId1" /><Relationship Type="http://schemas.openxmlformats.org/officeDocument/2006/relationships/theme" Target="../theme/merged03_theme1.xml" Id="R229a476099724e3a" /><Relationship Type="http://schemas.openxmlformats.org/officeDocument/2006/relationships/slideLayout" Target="../slideLayouts/merged03_slideLayout2.xml" Id="rId2" /><Relationship Type="http://schemas.openxmlformats.org/officeDocument/2006/relationships/slideLayout" Target="../slideLayouts/merged03_slideLayout3.xml" Id="rId3" /><Relationship Type="http://schemas.openxmlformats.org/officeDocument/2006/relationships/slideLayout" Target="../slideLayouts/merged03_slideLayout4.xml" Id="rId4" /><Relationship Type="http://schemas.openxmlformats.org/officeDocument/2006/relationships/slideLayout" Target="../slideLayouts/merged03_slideLayout5.xml" Id="rId5" /></Relationships>
</file>

<file path=ppt/slideMasters/_rels/merged04_slideMaster1.xml.rels><?xml version='1.0' encoding='utf-8'?>
<Relationships xmlns="http://schemas.openxmlformats.org/package/2006/relationships"><Relationship Type="http://schemas.openxmlformats.org/officeDocument/2006/relationships/slideLayout" Target="../slideLayouts/merged04_slideLayout1.xml" Id="rId1" /><Relationship Type="http://schemas.openxmlformats.org/officeDocument/2006/relationships/theme" Target="../theme/merged04_theme1.xml" Id="Rd33e56ac54364b41" /><Relationship Type="http://schemas.openxmlformats.org/officeDocument/2006/relationships/slideLayout" Target="../slideLayouts/merged04_slideLayout2.xml" Id="rId2" /><Relationship Type="http://schemas.openxmlformats.org/officeDocument/2006/relationships/slideLayout" Target="../slideLayouts/merged04_slideLayout3.xml" Id="rId3" /><Relationship Type="http://schemas.openxmlformats.org/officeDocument/2006/relationships/slideLayout" Target="../slideLayouts/merged04_slideLayout4.xml" Id="rId4" /><Relationship Type="http://schemas.openxmlformats.org/officeDocument/2006/relationships/slideLayout" Target="../slideLayouts/merged04_slideLayout5.xml" Id="rId5" /></Relationships>
</file>

<file path=ppt/slideMasters/_rels/merged05_slideMaster1.xml.rels><?xml version='1.0' encoding='utf-8'?>
<Relationships xmlns="http://schemas.openxmlformats.org/package/2006/relationships"><Relationship Type="http://schemas.openxmlformats.org/officeDocument/2006/relationships/slideLayout" Target="../slideLayouts/merged05_slideLayout1.xml" Id="rId1" /><Relationship Type="http://schemas.openxmlformats.org/officeDocument/2006/relationships/theme" Target="../theme/merged05_theme1.xml" Id="R43adfa6d4942413b" /><Relationship Type="http://schemas.openxmlformats.org/officeDocument/2006/relationships/slideLayout" Target="../slideLayouts/merged05_slideLayout2.xml" Id="rId2" /><Relationship Type="http://schemas.openxmlformats.org/officeDocument/2006/relationships/slideLayout" Target="../slideLayouts/merged05_slideLayout3.xml" Id="rId3" /><Relationship Type="http://schemas.openxmlformats.org/officeDocument/2006/relationships/slideLayout" Target="../slideLayouts/merged05_slideLayout4.xml" Id="rId4" /><Relationship Type="http://schemas.openxmlformats.org/officeDocument/2006/relationships/slideLayout" Target="../slideLayouts/merged05_slideLayout5.xml" Id="rId5" /></Relationships>
</file>

<file path=ppt/slideMasters/_rels/merged06_slideMaster1.xml.rels><?xml version='1.0' encoding='utf-8'?>
<Relationships xmlns="http://schemas.openxmlformats.org/package/2006/relationships"><Relationship Type="http://schemas.openxmlformats.org/officeDocument/2006/relationships/slideLayout" Target="../slideLayouts/merged06_slideLayout1.xml" Id="rId1" /><Relationship Type="http://schemas.openxmlformats.org/officeDocument/2006/relationships/theme" Target="../theme/merged06_theme1.xml" Id="Rb81c1f7057d2408a" /><Relationship Type="http://schemas.openxmlformats.org/officeDocument/2006/relationships/slideLayout" Target="../slideLayouts/merged06_slideLayout2.xml" Id="rId2" /><Relationship Type="http://schemas.openxmlformats.org/officeDocument/2006/relationships/slideLayout" Target="../slideLayouts/merged06_slideLayout3.xml" Id="rId3" /><Relationship Type="http://schemas.openxmlformats.org/officeDocument/2006/relationships/slideLayout" Target="../slideLayouts/merged06_slideLayout4.xml" Id="rId4" /><Relationship Type="http://schemas.openxmlformats.org/officeDocument/2006/relationships/slideLayout" Target="../slideLayouts/merged06_slideLayout5.xml" Id="rId5" /></Relationships>
</file>

<file path=ppt/slideMasters/_rels/merged07_slideMaster1.xml.rels><?xml version='1.0' encoding='utf-8'?>
<Relationships xmlns="http://schemas.openxmlformats.org/package/2006/relationships"><Relationship Type="http://schemas.openxmlformats.org/officeDocument/2006/relationships/slideLayout" Target="../slideLayouts/merged07_slideLayout1.xml" Id="rId1" /><Relationship Type="http://schemas.openxmlformats.org/officeDocument/2006/relationships/theme" Target="../theme/merged07_theme1.xml" Id="Rc7c793352fcf44f5" /><Relationship Type="http://schemas.openxmlformats.org/officeDocument/2006/relationships/slideLayout" Target="../slideLayouts/merged07_slideLayout2.xml" Id="rId2" /><Relationship Type="http://schemas.openxmlformats.org/officeDocument/2006/relationships/slideLayout" Target="../slideLayouts/merged07_slideLayout3.xml" Id="rId3" /><Relationship Type="http://schemas.openxmlformats.org/officeDocument/2006/relationships/slideLayout" Target="../slideLayouts/merged07_slideLayout4.xml" Id="rId4" /><Relationship Type="http://schemas.openxmlformats.org/officeDocument/2006/relationships/slideLayout" Target="../slideLayouts/merged07_slideLayout5.xml" Id="rId5" /></Relationships>
</file>

<file path=ppt/slideMasters/_rels/merged08_slideMaster1.xml.rels><?xml version='1.0' encoding='utf-8'?>
<Relationships xmlns="http://schemas.openxmlformats.org/package/2006/relationships"><Relationship Type="http://schemas.openxmlformats.org/officeDocument/2006/relationships/slideLayout" Target="../slideLayouts/merged08_slideLayout1.xml" Id="rId1" /><Relationship Type="http://schemas.openxmlformats.org/officeDocument/2006/relationships/theme" Target="../theme/merged08_theme1.xml" Id="Rf757c4e7f03845dc" /><Relationship Type="http://schemas.openxmlformats.org/officeDocument/2006/relationships/slideLayout" Target="../slideLayouts/merged08_slideLayout2.xml" Id="rId2" /><Relationship Type="http://schemas.openxmlformats.org/officeDocument/2006/relationships/slideLayout" Target="../slideLayouts/merged08_slideLayout3.xml" Id="rId3" /><Relationship Type="http://schemas.openxmlformats.org/officeDocument/2006/relationships/slideLayout" Target="../slideLayouts/merged08_slideLayout4.xml" Id="rId4" /><Relationship Type="http://schemas.openxmlformats.org/officeDocument/2006/relationships/slideLayout" Target="../slideLayouts/merged08_slideLayout5.xml" Id="rId5" /></Relationships>
</file>

<file path=ppt/slideMasters/_rels/merged09_slideMaster1.xml.rels><?xml version='1.0' encoding='utf-8'?>
<Relationships xmlns="http://schemas.openxmlformats.org/package/2006/relationships"><Relationship Type="http://schemas.openxmlformats.org/officeDocument/2006/relationships/slideLayout" Target="../slideLayouts/merged09_slideLayout1.xml" Id="rId1" /><Relationship Type="http://schemas.openxmlformats.org/officeDocument/2006/relationships/theme" Target="../theme/merged09_theme1.xml" Id="Ra967f05210e740ce" /><Relationship Type="http://schemas.openxmlformats.org/officeDocument/2006/relationships/slideLayout" Target="../slideLayouts/merged09_slideLayout2.xml" Id="rId2" /><Relationship Type="http://schemas.openxmlformats.org/officeDocument/2006/relationships/slideLayout" Target="../slideLayouts/merged09_slideLayout3.xml" Id="rId3" /><Relationship Type="http://schemas.openxmlformats.org/officeDocument/2006/relationships/slideLayout" Target="../slideLayouts/merged09_slideLayout4.xml" Id="rId4" /><Relationship Type="http://schemas.openxmlformats.org/officeDocument/2006/relationships/slideLayout" Target="../slideLayouts/merged09_slideLayout5.xml" Id="rId5" /></Relationships>
</file>

<file path=ppt/slideMasters/_rels/merged10_slideMaster1.xml.rels><?xml version='1.0' encoding='utf-8'?>
<Relationships xmlns="http://schemas.openxmlformats.org/package/2006/relationships"><Relationship Type="http://schemas.openxmlformats.org/officeDocument/2006/relationships/slideLayout" Target="../slideLayouts/merged10_slideLayout1.xml" Id="rId1" /><Relationship Type="http://schemas.openxmlformats.org/officeDocument/2006/relationships/theme" Target="../theme/merged10_theme1.xml" Id="R4848a0674f834547" /><Relationship Type="http://schemas.openxmlformats.org/officeDocument/2006/relationships/slideLayout" Target="../slideLayouts/merged10_slideLayout2.xml" Id="rId2" /><Relationship Type="http://schemas.openxmlformats.org/officeDocument/2006/relationships/slideLayout" Target="../slideLayouts/merged10_slideLayout3.xml" Id="rId3" /><Relationship Type="http://schemas.openxmlformats.org/officeDocument/2006/relationships/slideLayout" Target="../slideLayouts/merged10_slideLayout4.xml" Id="rId4" /><Relationship Type="http://schemas.openxmlformats.org/officeDocument/2006/relationships/slideLayout" Target="../slideLayouts/merged10_slideLayout5.xml" Id="rId5" /></Relationships>
</file>

<file path=ppt/slideMasters/_rels/merged11_slideMaster1.xml.rels><?xml version='1.0' encoding='utf-8'?>
<Relationships xmlns="http://schemas.openxmlformats.org/package/2006/relationships"><Relationship Type="http://schemas.openxmlformats.org/officeDocument/2006/relationships/slideLayout" Target="../slideLayouts/merged11_slideLayout1.xml" Id="rId1" /><Relationship Type="http://schemas.openxmlformats.org/officeDocument/2006/relationships/theme" Target="../theme/merged11_theme1.xml" Id="Rc4af97836b0240e6" /><Relationship Type="http://schemas.openxmlformats.org/officeDocument/2006/relationships/slideLayout" Target="../slideLayouts/merged11_slideLayout2.xml" Id="rId2" /><Relationship Type="http://schemas.openxmlformats.org/officeDocument/2006/relationships/slideLayout" Target="../slideLayouts/merged11_slideLayout3.xml" Id="rId3" /><Relationship Type="http://schemas.openxmlformats.org/officeDocument/2006/relationships/slideLayout" Target="../slideLayouts/merged11_slideLayout4.xml" Id="rId4" /><Relationship Type="http://schemas.openxmlformats.org/officeDocument/2006/relationships/slideLayout" Target="../slideLayouts/merged11_slideLayout5.xml" Id="rId5" /></Relationships>
</file>

<file path=ppt/slideMasters/_rels/merged12_slideMaster1.xml.rels><?xml version='1.0' encoding='utf-8'?>
<Relationships xmlns="http://schemas.openxmlformats.org/package/2006/relationships"><Relationship Type="http://schemas.openxmlformats.org/officeDocument/2006/relationships/slideLayout" Target="../slideLayouts/merged12_slideLayout1.xml" Id="rId1" /><Relationship Type="http://schemas.openxmlformats.org/officeDocument/2006/relationships/theme" Target="../theme/merged12_theme1.xml" Id="R03cb4b9843044201" /><Relationship Type="http://schemas.openxmlformats.org/officeDocument/2006/relationships/slideLayout" Target="../slideLayouts/merged12_slideLayout2.xml" Id="rId2" /><Relationship Type="http://schemas.openxmlformats.org/officeDocument/2006/relationships/slideLayout" Target="../slideLayouts/merged12_slideLayout3.xml" Id="rId3" /><Relationship Type="http://schemas.openxmlformats.org/officeDocument/2006/relationships/slideLayout" Target="../slideLayouts/merged12_slideLayout4.xml" Id="rId4" /><Relationship Type="http://schemas.openxmlformats.org/officeDocument/2006/relationships/slideLayout" Target="../slideLayouts/merged12_slideLayout5.xml" Id="rId5" /></Relationships>
</file>

<file path=ppt/slideMasters/_rels/merged13_slideMaster1.xml.rels><?xml version='1.0' encoding='utf-8'?>
<Relationships xmlns="http://schemas.openxmlformats.org/package/2006/relationships"><Relationship Type="http://schemas.openxmlformats.org/officeDocument/2006/relationships/slideLayout" Target="../slideLayouts/merged13_slideLayout1.xml" Id="rId1" /><Relationship Type="http://schemas.openxmlformats.org/officeDocument/2006/relationships/theme" Target="../theme/merged13_theme1.xml" Id="R97dcb4b5da634d86" /><Relationship Type="http://schemas.openxmlformats.org/officeDocument/2006/relationships/slideLayout" Target="../slideLayouts/merged13_slideLayout2.xml" Id="rId2" /><Relationship Type="http://schemas.openxmlformats.org/officeDocument/2006/relationships/slideLayout" Target="../slideLayouts/merged13_slideLayout3.xml" Id="rId3" /><Relationship Type="http://schemas.openxmlformats.org/officeDocument/2006/relationships/slideLayout" Target="../slideLayouts/merged13_slideLayout4.xml" Id="rId4" /><Relationship Type="http://schemas.openxmlformats.org/officeDocument/2006/relationships/slideLayout" Target="../slideLayouts/merged13_slideLayout5.xml" Id="rId5" /></Relationships>
</file>

<file path=ppt/slideMasters/merged01_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2B0DFF1-1291-DE47-8F2C-1E391F2D6661}"/>
              </a:ext>
            </a:extLst>
          </p:cNvPr>
          <p:cNvSpPr>
            <a:spLocks noGrp="1"/>
          </p:cNvSpPr>
          <p:nvPr>
            <p:ph type="title"/>
          </p:nvPr>
        </p:nvSpPr>
        <p:spPr>
          <a:xfrm>
            <a:off x="236033" y="136525"/>
            <a:ext cx="11117765" cy="103435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CEAAFEB-AE17-2F4B-AE1E-FEE09F451349}"/>
              </a:ext>
            </a:extLst>
          </p:cNvPr>
          <p:cNvSpPr>
            <a:spLocks noGrp="1"/>
          </p:cNvSpPr>
          <p:nvPr>
            <p:ph type="body" idx="1"/>
          </p:nvPr>
        </p:nvSpPr>
        <p:spPr>
          <a:xfrm>
            <a:off x="236033" y="1362731"/>
            <a:ext cx="11117764"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69475FE-666F-8749-974E-F6CE0EDFA06E}"/>
              </a:ext>
            </a:extLst>
          </p:cNvPr>
          <p:cNvSpPr>
            <a:spLocks noGrp="1"/>
          </p:cNvSpPr>
          <p:nvPr>
            <p:ph type="dt" sz="half" idx="2"/>
          </p:nvPr>
        </p:nvSpPr>
        <p:spPr>
          <a:xfrm>
            <a:off x="236034" y="6356349"/>
            <a:ext cx="2743200" cy="365125"/>
          </a:xfrm>
          <a:prstGeom prst="rect">
            <a:avLst/>
          </a:prstGeom>
        </p:spPr>
        <p:txBody>
          <a:bodyPr vert="horz" lIns="91440" tIns="45720" rIns="91440" bIns="45720" rtlCol="0" anchor="ctr"/>
          <a:lstStyle>
            <a:lvl1pPr algn="l">
              <a:defRPr sz="1200" baseline="0">
                <a:solidFill>
                  <a:schemeClr val="tx1">
                    <a:tint val="75000"/>
                  </a:schemeClr>
                </a:solidFill>
                <a:latin typeface="Arial" panose="020B0604020202020204" pitchFamily="34" charset="-128"/>
                <a:ea typeface="黑体" panose="02010609060101010101" pitchFamily="49" charset="-122"/>
              </a:defRPr>
            </a:lvl1pPr>
          </a:lstStyle>
          <a:p>
            <a:fld id="{AAF4E1C2-A3E4-429C-9E3F-465F66A51149}" type="datetime1">
              <a:rPr kumimoji="1" lang="en-US" altLang="zh-CN" smtClean="0"/>
              <a:t>10/29/26</a:t>
            </a:fld>
            <a:endParaRPr kumimoji="1" lang="zh-CN" altLang="en-US"/>
          </a:p>
        </p:txBody>
      </p:sp>
      <p:sp>
        <p:nvSpPr>
          <p:cNvPr id="5" name="页脚占位符 4">
            <a:extLst>
              <a:ext uri="{FF2B5EF4-FFF2-40B4-BE49-F238E27FC236}">
                <a16:creationId xmlns:a16="http://schemas.microsoft.com/office/drawing/2014/main" id="{D5E43BA4-0202-9344-9BD6-F0D7117826F0}"/>
              </a:ext>
            </a:extLst>
          </p:cNvPr>
          <p:cNvSpPr>
            <a:spLocks noGrp="1"/>
          </p:cNvSpPr>
          <p:nvPr>
            <p:ph type="ftr" sz="quarter" idx="3"/>
          </p:nvPr>
        </p:nvSpPr>
        <p:spPr>
          <a:xfrm>
            <a:off x="3737516" y="6356349"/>
            <a:ext cx="4114800" cy="365125"/>
          </a:xfrm>
          <a:prstGeom prst="rect">
            <a:avLst/>
          </a:prstGeom>
        </p:spPr>
        <p:txBody>
          <a:bodyPr vert="horz" lIns="91440" tIns="45720" rIns="91440" bIns="45720" rtlCol="0" anchor="ctr"/>
          <a:lstStyle>
            <a:lvl1pPr algn="ctr">
              <a:defRPr sz="1200" baseline="0">
                <a:solidFill>
                  <a:schemeClr val="tx1">
                    <a:tint val="75000"/>
                  </a:schemeClr>
                </a:solidFill>
                <a:latin typeface="Arial" panose="020B0604020202020204" pitchFamily="34" charset="-128"/>
                <a:ea typeface="黑体" panose="02010609060101010101" pitchFamily="49" charset="-122"/>
              </a:defRPr>
            </a:lvl1pPr>
          </a:lstStyle>
          <a:p>
            <a:endParaRPr kumimoji="1" lang="zh-CN" altLang="en-US"/>
          </a:p>
        </p:txBody>
      </p:sp>
      <p:sp>
        <p:nvSpPr>
          <p:cNvPr id="6" name="灯片编号占位符 5">
            <a:extLst>
              <a:ext uri="{FF2B5EF4-FFF2-40B4-BE49-F238E27FC236}">
                <a16:creationId xmlns:a16="http://schemas.microsoft.com/office/drawing/2014/main" id="{4E7E7285-2177-D44F-9A26-A9580302A1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B19D4B-9808-1A4C-B845-D9471D0CA790}" type="slidenum">
              <a:rPr kumimoji="1" lang="zh-CN" altLang="en-US" smtClean="0"/>
              <a:t>‹#›</a:t>
            </a:fld>
            <a:endParaRPr kumimoji="1" lang="zh-CN" altLang="en-US"/>
          </a:p>
        </p:txBody>
      </p:sp>
    </p:spTree>
    <p:extLst>
      <p:ext uri="{BB962C8B-B14F-4D97-AF65-F5344CB8AC3E}">
        <p14:creationId xmlns:p14="http://schemas.microsoft.com/office/powerpoint/2010/main" val="2981001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3600" kern="1200" baseline="0">
          <a:solidFill>
            <a:schemeClr val="tx1"/>
          </a:solidFill>
          <a:latin typeface="Arial" panose="020B0604020202020204" pitchFamily="34" charset="-128"/>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baseline="0">
          <a:solidFill>
            <a:schemeClr val="tx1"/>
          </a:solidFill>
          <a:latin typeface="Arial" panose="020B0604020202020204" pitchFamily="34" charset="-128"/>
          <a:ea typeface="黑体" panose="02010609060101010101" pitchFamily="49" charset="-122"/>
          <a:cs typeface="+mn-cs"/>
        </a:defRPr>
      </a:lvl1pPr>
      <a:lvl2pPr marL="685800" indent="-228600" algn="l" defTabSz="914400" rtl="0" eaLnBrk="1" latinLnBrk="0" hangingPunct="1">
        <a:lnSpc>
          <a:spcPct val="90000"/>
        </a:lnSpc>
        <a:spcBef>
          <a:spcPts val="500"/>
        </a:spcBef>
        <a:buFont typeface="Wingdings" pitchFamily="2" charset="2"/>
        <a:buChar char="Ø"/>
        <a:defRPr sz="2400" kern="1200" baseline="0">
          <a:solidFill>
            <a:schemeClr val="tx1"/>
          </a:solidFill>
          <a:latin typeface="Arial" panose="020B0604020202020204" pitchFamily="34" charset="-128"/>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Arial" panose="020B0604020202020204" pitchFamily="34" charset="-128"/>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128"/>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128"/>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p:bodyStyle>
    <p:otherStyle>
      <a:defPPr>
        <a:defRPr lang="zh-CN"/>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otherStyle>
  </p:txStyles>
</p:sldMaster>
</file>

<file path=ppt/slideMasters/merged02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2" r:id="rId1"/>
    <p:sldLayoutId xmlns:r="http://schemas.openxmlformats.org/officeDocument/2006/relationships" id="2147483653" r:id="rId2"/>
    <p:sldLayoutId xmlns:r="http://schemas.openxmlformats.org/officeDocument/2006/relationships" id="2147483654" r:id="rId3"/>
    <p:sldLayoutId xmlns:r="http://schemas.openxmlformats.org/officeDocument/2006/relationships" id="2147483655" r:id="rId4"/>
    <p:sldLayoutId xmlns:r="http://schemas.openxmlformats.org/officeDocument/2006/relationships" id="2147483656" r:id="rId5"/>
  </p:sldLayoutIdLst>
</p:sldMaster>
</file>

<file path=ppt/slideMasters/merged03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7" r:id="rId1"/>
    <p:sldLayoutId xmlns:r="http://schemas.openxmlformats.org/officeDocument/2006/relationships" id="2147483658" r:id="rId2"/>
    <p:sldLayoutId xmlns:r="http://schemas.openxmlformats.org/officeDocument/2006/relationships" id="2147483659" r:id="rId3"/>
    <p:sldLayoutId xmlns:r="http://schemas.openxmlformats.org/officeDocument/2006/relationships" id="2147483660" r:id="rId4"/>
    <p:sldLayoutId xmlns:r="http://schemas.openxmlformats.org/officeDocument/2006/relationships" id="2147483661" r:id="rId5"/>
  </p:sldLayoutIdLst>
</p:sldMaster>
</file>

<file path=ppt/slideMasters/merged04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2" r:id="rId1"/>
    <p:sldLayoutId xmlns:r="http://schemas.openxmlformats.org/officeDocument/2006/relationships" id="2147483663" r:id="rId2"/>
    <p:sldLayoutId xmlns:r="http://schemas.openxmlformats.org/officeDocument/2006/relationships" id="2147483664" r:id="rId3"/>
    <p:sldLayoutId xmlns:r="http://schemas.openxmlformats.org/officeDocument/2006/relationships" id="2147483665" r:id="rId4"/>
    <p:sldLayoutId xmlns:r="http://schemas.openxmlformats.org/officeDocument/2006/relationships" id="2147483666" r:id="rId5"/>
  </p:sldLayoutIdLst>
</p:sldMaster>
</file>

<file path=ppt/slideMasters/merged05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Id1"/>
    <p:sldLayoutId xmlns:r="http://schemas.openxmlformats.org/officeDocument/2006/relationships" id="2147483668" r:id="rId2"/>
    <p:sldLayoutId xmlns:r="http://schemas.openxmlformats.org/officeDocument/2006/relationships" id="2147483669" r:id="rId3"/>
    <p:sldLayoutId xmlns:r="http://schemas.openxmlformats.org/officeDocument/2006/relationships" id="2147483670" r:id="rId4"/>
    <p:sldLayoutId xmlns:r="http://schemas.openxmlformats.org/officeDocument/2006/relationships" id="2147483671" r:id="rId5"/>
  </p:sldLayoutIdLst>
</p:sldMaster>
</file>

<file path=ppt/slideMasters/merged06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2" r:id="rId1"/>
    <p:sldLayoutId xmlns:r="http://schemas.openxmlformats.org/officeDocument/2006/relationships" id="2147483673" r:id="rId2"/>
    <p:sldLayoutId xmlns:r="http://schemas.openxmlformats.org/officeDocument/2006/relationships" id="2147483674" r:id="rId3"/>
    <p:sldLayoutId xmlns:r="http://schemas.openxmlformats.org/officeDocument/2006/relationships" id="2147483675" r:id="rId4"/>
    <p:sldLayoutId xmlns:r="http://schemas.openxmlformats.org/officeDocument/2006/relationships" id="2147483676" r:id="rId5"/>
  </p:sldLayoutIdLst>
</p:sldMaster>
</file>

<file path=ppt/slideMasters/merged07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7" r:id="rId1"/>
    <p:sldLayoutId xmlns:r="http://schemas.openxmlformats.org/officeDocument/2006/relationships" id="2147483678" r:id="rId2"/>
    <p:sldLayoutId xmlns:r="http://schemas.openxmlformats.org/officeDocument/2006/relationships" id="2147483679" r:id="rId3"/>
    <p:sldLayoutId xmlns:r="http://schemas.openxmlformats.org/officeDocument/2006/relationships" id="2147483680" r:id="rId4"/>
    <p:sldLayoutId xmlns:r="http://schemas.openxmlformats.org/officeDocument/2006/relationships" id="2147483681" r:id="rId5"/>
  </p:sldLayoutIdLst>
</p:sldMaster>
</file>

<file path=ppt/slideMasters/merged08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2" r:id="rId1"/>
    <p:sldLayoutId xmlns:r="http://schemas.openxmlformats.org/officeDocument/2006/relationships" id="2147483683" r:id="rId2"/>
    <p:sldLayoutId xmlns:r="http://schemas.openxmlformats.org/officeDocument/2006/relationships" id="2147483684" r:id="rId3"/>
    <p:sldLayoutId xmlns:r="http://schemas.openxmlformats.org/officeDocument/2006/relationships" id="2147483685" r:id="rId4"/>
    <p:sldLayoutId xmlns:r="http://schemas.openxmlformats.org/officeDocument/2006/relationships" id="2147483686" r:id="rId5"/>
  </p:sldLayoutIdLst>
</p:sldMaster>
</file>

<file path=ppt/slideMasters/merged09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7" r:id="rId1"/>
    <p:sldLayoutId xmlns:r="http://schemas.openxmlformats.org/officeDocument/2006/relationships" id="2147483688" r:id="rId2"/>
    <p:sldLayoutId xmlns:r="http://schemas.openxmlformats.org/officeDocument/2006/relationships" id="2147483689" r:id="rId3"/>
    <p:sldLayoutId xmlns:r="http://schemas.openxmlformats.org/officeDocument/2006/relationships" id="2147483690" r:id="rId4"/>
    <p:sldLayoutId xmlns:r="http://schemas.openxmlformats.org/officeDocument/2006/relationships" id="2147483691" r:id="rId5"/>
  </p:sldLayoutIdLst>
</p:sldMaster>
</file>

<file path=ppt/slideMasters/merged10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2" r:id="rId1"/>
    <p:sldLayoutId xmlns:r="http://schemas.openxmlformats.org/officeDocument/2006/relationships" id="2147483693" r:id="rId2"/>
    <p:sldLayoutId xmlns:r="http://schemas.openxmlformats.org/officeDocument/2006/relationships" id="2147483694" r:id="rId3"/>
    <p:sldLayoutId xmlns:r="http://schemas.openxmlformats.org/officeDocument/2006/relationships" id="2147483695" r:id="rId4"/>
    <p:sldLayoutId xmlns:r="http://schemas.openxmlformats.org/officeDocument/2006/relationships" id="2147483696" r:id="rId5"/>
  </p:sldLayoutIdLst>
</p:sldMaster>
</file>

<file path=ppt/slideMasters/merged11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7" r:id="rId1"/>
    <p:sldLayoutId xmlns:r="http://schemas.openxmlformats.org/officeDocument/2006/relationships" id="2147483698" r:id="rId2"/>
    <p:sldLayoutId xmlns:r="http://schemas.openxmlformats.org/officeDocument/2006/relationships" id="2147483699" r:id="rId3"/>
    <p:sldLayoutId xmlns:r="http://schemas.openxmlformats.org/officeDocument/2006/relationships" id="2147483700" r:id="rId4"/>
    <p:sldLayoutId xmlns:r="http://schemas.openxmlformats.org/officeDocument/2006/relationships" id="2147483701" r:id="rId5"/>
  </p:sldLayoutIdLst>
</p:sldMaster>
</file>

<file path=ppt/slideMasters/merged12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2" r:id="rId1"/>
    <p:sldLayoutId xmlns:r="http://schemas.openxmlformats.org/officeDocument/2006/relationships" id="2147483703" r:id="rId2"/>
    <p:sldLayoutId xmlns:r="http://schemas.openxmlformats.org/officeDocument/2006/relationships" id="2147483704" r:id="rId3"/>
    <p:sldLayoutId xmlns:r="http://schemas.openxmlformats.org/officeDocument/2006/relationships" id="2147483705" r:id="rId4"/>
    <p:sldLayoutId xmlns:r="http://schemas.openxmlformats.org/officeDocument/2006/relationships" id="2147483706" r:id="rId5"/>
  </p:sldLayoutIdLst>
</p:sldMaster>
</file>

<file path=ppt/slideMasters/merged13_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7" r:id="rId1"/>
    <p:sldLayoutId xmlns:r="http://schemas.openxmlformats.org/officeDocument/2006/relationships" id="2147483708" r:id="rId2"/>
    <p:sldLayoutId xmlns:r="http://schemas.openxmlformats.org/officeDocument/2006/relationships" id="2147483709" r:id="rId3"/>
    <p:sldLayoutId xmlns:r="http://schemas.openxmlformats.org/officeDocument/2006/relationships" id="2147483710" r:id="rId4"/>
    <p:sldLayoutId xmlns:r="http://schemas.openxmlformats.org/officeDocument/2006/relationships" id="2147483711" r:id="rId5"/>
  </p:sldLayoutIdLst>
</p:sldMaster>
</file>

<file path=ppt/slides/_rels/merged01_slide1.xml.rels><?xml version='1.0' encoding='utf-8'?>
<Relationships xmlns="http://schemas.openxmlformats.org/package/2006/relationships"><Relationship Id="rId2" Type="http://schemas.openxmlformats.org/officeDocument/2006/relationships/notesSlide" Target="../notesSlides/merged01_notesSlide1.xml" /><Relationship Id="rId1" Type="http://schemas.openxmlformats.org/officeDocument/2006/relationships/slideLayout" Target="../slideLayouts/merged01_slideLayout1.xml" /></Relationships>
</file>

<file path=ppt/slides/_rels/merged01_slide3.xml.rels><?xml version='1.0' encoding='utf-8'?>
<Relationships xmlns="http://schemas.openxmlformats.org/package/2006/relationships"><Relationship Id="rId2" Type="http://schemas.openxmlformats.org/officeDocument/2006/relationships/notesSlide" Target="../notesSlides/merged01_notesSlide3.xml" /><Relationship Id="rId1" Type="http://schemas.openxmlformats.org/officeDocument/2006/relationships/slideLayout" Target="../slideLayouts/merged01_slideLayout3.xml" /></Relationships>
</file>

<file path=ppt/slides/_rels/merged02_slide1.xml.rels><?xml version='1.0' encoding='utf-8'?>
<Relationships xmlns="http://schemas.openxmlformats.org/package/2006/relationships"><Relationship Type="http://schemas.openxmlformats.org/officeDocument/2006/relationships/slideLayout" Target="../slideLayouts/merged02_slideLayout1.xml" Id="R5f7d11e67a2843f3" /><Relationship Type="http://schemas.openxmlformats.org/officeDocument/2006/relationships/notesSlide" Target="../notesSlides/merged02_notesSlide1.xml" Id="Rf7dce98168f64963" /></Relationships>
</file>

<file path=ppt/slides/_rels/merged03_slide1.xml.rels><?xml version='1.0' encoding='utf-8'?>
<Relationships xmlns="http://schemas.openxmlformats.org/package/2006/relationships"><Relationship Type="http://schemas.openxmlformats.org/officeDocument/2006/relationships/slideLayout" Target="../slideLayouts/merged03_slideLayout1.xml" Id="Rc6a3bd75c7344d77" /><Relationship Type="http://schemas.openxmlformats.org/officeDocument/2006/relationships/image" Target="../media/merged03_image.png" Id="R2de3c3112f384698" /><Relationship Type="http://schemas.openxmlformats.org/officeDocument/2006/relationships/image" Target="../media/merged03_image2.png" Id="R161f83e6988347c9" /><Relationship Type="http://schemas.openxmlformats.org/officeDocument/2006/relationships/image" Target="../media/merged03_image3.png" Id="Ra8451c42c9ff414f" /><Relationship Type="http://schemas.openxmlformats.org/officeDocument/2006/relationships/image" Target="../media/merged03_image4.png" Id="Ra1dc27e810e94956" /><Relationship Type="http://schemas.openxmlformats.org/officeDocument/2006/relationships/notesSlide" Target="../notesSlides/merged03_notesSlide1.xml" Id="Re7b5c5a0f76948d9" /></Relationships>
</file>

<file path=ppt/slides/_rels/merged04_slide1.xml.rels><?xml version='1.0' encoding='utf-8'?>
<Relationships xmlns="http://schemas.openxmlformats.org/package/2006/relationships"><Relationship Type="http://schemas.openxmlformats.org/officeDocument/2006/relationships/slideLayout" Target="../slideLayouts/merged04_slideLayout1.xml" Id="R584ff19ff3074a74" /><Relationship Type="http://schemas.openxmlformats.org/officeDocument/2006/relationships/image" Target="../media/merged04_image.png" Id="R1728d0081fc841c4" /><Relationship Type="http://schemas.openxmlformats.org/officeDocument/2006/relationships/image" Target="../media/merged04_image2.png" Id="R42ee548f53d9400a" /><Relationship Type="http://schemas.openxmlformats.org/officeDocument/2006/relationships/image" Target="../media/merged04_image3.png" Id="Rf7a27cac0c4d4595" /><Relationship Type="http://schemas.openxmlformats.org/officeDocument/2006/relationships/image" Target="../media/merged04_image4.png" Id="R024046477cb2474d" /><Relationship Type="http://schemas.openxmlformats.org/officeDocument/2006/relationships/image" Target="../media/merged04_image5.png" Id="R5066dde221b344b0" /><Relationship Type="http://schemas.openxmlformats.org/officeDocument/2006/relationships/notesSlide" Target="../notesSlides/merged04_notesSlide1.xml" Id="Rd1b28d3f6ce247d7" /></Relationships>
</file>

<file path=ppt/slides/_rels/merged05_slide1.xml.rels><?xml version='1.0' encoding='utf-8'?>
<Relationships xmlns="http://schemas.openxmlformats.org/package/2006/relationships"><Relationship Type="http://schemas.openxmlformats.org/officeDocument/2006/relationships/slideLayout" Target="../slideLayouts/merged05_slideLayout1.xml" Id="Rf210898bb4454eb0" /><Relationship Type="http://schemas.openxmlformats.org/officeDocument/2006/relationships/image" Target="../media/merged05_image.png" Id="R8077effb218d4ed0" /><Relationship Type="http://schemas.openxmlformats.org/officeDocument/2006/relationships/image" Target="../media/merged05_image2.png" Id="Rc417c64d03794cc4" /><Relationship Type="http://schemas.openxmlformats.org/officeDocument/2006/relationships/image" Target="../media/merged05_image3.png" Id="R76c29abcbffe4687" /><Relationship Type="http://schemas.openxmlformats.org/officeDocument/2006/relationships/image" Target="../media/merged05_image4.png" Id="R84c666b5e48d4577" /><Relationship Type="http://schemas.openxmlformats.org/officeDocument/2006/relationships/image" Target="../media/merged05_image5.png" Id="R27a9b8d6feab476f" /><Relationship Type="http://schemas.openxmlformats.org/officeDocument/2006/relationships/image" Target="../media/merged05_image6.png" Id="R2afb9644ba7a477c" /><Relationship Type="http://schemas.openxmlformats.org/officeDocument/2006/relationships/image" Target="../media/merged05_image7.png" Id="R31440147ed7845c0" /><Relationship Type="http://schemas.openxmlformats.org/officeDocument/2006/relationships/image" Target="../media/merged05_image8.png" Id="R7e2f816c7ca64fdf" /><Relationship Type="http://schemas.openxmlformats.org/officeDocument/2006/relationships/image" Target="../media/merged05_image9.png" Id="Re80b5aa27f754e36" /><Relationship Type="http://schemas.openxmlformats.org/officeDocument/2006/relationships/image" Target="../media/merged05_image10.png" Id="Rbe68f538fd0f48bb" /><Relationship Type="http://schemas.openxmlformats.org/officeDocument/2006/relationships/image" Target="../media/merged05_image11.png" Id="R71a329cefec54991" /><Relationship Type="http://schemas.openxmlformats.org/officeDocument/2006/relationships/image" Target="../media/merged05_image12.png" Id="R2f877a2370904d71" /><Relationship Type="http://schemas.openxmlformats.org/officeDocument/2006/relationships/notesSlide" Target="../notesSlides/merged05_notesSlide1.xml" Id="R39c1a78052b94784" /></Relationships>
</file>

<file path=ppt/slides/_rels/merged06_slide1.xml.rels><?xml version='1.0' encoding='utf-8'?>
<Relationships xmlns="http://schemas.openxmlformats.org/package/2006/relationships"><Relationship Type="http://schemas.openxmlformats.org/officeDocument/2006/relationships/slideLayout" Target="../slideLayouts/merged06_slideLayout1.xml" Id="R44a47053f88444a7" /><Relationship Type="http://schemas.openxmlformats.org/officeDocument/2006/relationships/image" Target="../media/merged06_image.png" Id="R08226750bf5e47db" /><Relationship Type="http://schemas.openxmlformats.org/officeDocument/2006/relationships/image" Target="../media/merged06_image2.png" Id="R93796b2a57774adb" /><Relationship Type="http://schemas.openxmlformats.org/officeDocument/2006/relationships/image" Target="../media/merged06_image3.png" Id="R9089391c6d9940e4" /><Relationship Type="http://schemas.openxmlformats.org/officeDocument/2006/relationships/image" Target="../media/merged06_image4.png" Id="Rddba46406b7a4c63" /><Relationship Type="http://schemas.openxmlformats.org/officeDocument/2006/relationships/image" Target="../media/merged06_image5.png" Id="Rccc30015c29b4f12" /><Relationship Type="http://schemas.openxmlformats.org/officeDocument/2006/relationships/image" Target="../media/merged06_image6.png" Id="R3087888df6c94e56" /><Relationship Type="http://schemas.openxmlformats.org/officeDocument/2006/relationships/image" Target="../media/merged06_image7.png" Id="Rc1bcec8b0ec84c3a" /><Relationship Type="http://schemas.openxmlformats.org/officeDocument/2006/relationships/image" Target="../media/merged06_image8.png" Id="Rbc8b3cfe85344baa" /><Relationship Type="http://schemas.openxmlformats.org/officeDocument/2006/relationships/notesSlide" Target="../notesSlides/merged06_notesSlide1.xml" Id="R927f6eead0624b86" /></Relationships>
</file>

<file path=ppt/slides/_rels/merged07_slide1.xml.rels><?xml version='1.0' encoding='utf-8'?>
<Relationships xmlns="http://schemas.openxmlformats.org/package/2006/relationships"><Relationship Type="http://schemas.openxmlformats.org/officeDocument/2006/relationships/slideLayout" Target="../slideLayouts/merged07_slideLayout1.xml" Id="R7fb7bbf018b349ef" /><Relationship Type="http://schemas.openxmlformats.org/officeDocument/2006/relationships/image" Target="../media/merged07_image.png" Id="R929d8bcde8104f70" /><Relationship Type="http://schemas.openxmlformats.org/officeDocument/2006/relationships/image" Target="../media/merged07_image2.png" Id="Rbb0253b9b05647a8" /><Relationship Type="http://schemas.openxmlformats.org/officeDocument/2006/relationships/image" Target="../media/merged07_image3.png" Id="Rf9e3b060ec4342c1" /><Relationship Type="http://schemas.openxmlformats.org/officeDocument/2006/relationships/image" Target="../media/merged07_image4.png" Id="R9553ab4c34234c1f" /><Relationship Type="http://schemas.openxmlformats.org/officeDocument/2006/relationships/image" Target="../media/merged07_image5.png" Id="Rab07b5aec71a431a" /><Relationship Type="http://schemas.openxmlformats.org/officeDocument/2006/relationships/image" Target="../media/merged07_image6.png" Id="R23690e0597184e7d" /><Relationship Type="http://schemas.openxmlformats.org/officeDocument/2006/relationships/image" Target="../media/merged07_image7.png" Id="R15b59909bb2f4cf0" /><Relationship Type="http://schemas.openxmlformats.org/officeDocument/2006/relationships/image" Target="../media/merged07_image8.png" Id="R3f82a8408d3a48b7" /><Relationship Type="http://schemas.openxmlformats.org/officeDocument/2006/relationships/notesSlide" Target="../notesSlides/merged07_notesSlide1.xml" Id="R9960368aea994e4c" /></Relationships>
</file>

<file path=ppt/slides/_rels/merged08_slide1.xml.rels><?xml version='1.0' encoding='utf-8'?>
<Relationships xmlns="http://schemas.openxmlformats.org/package/2006/relationships"><Relationship Type="http://schemas.openxmlformats.org/officeDocument/2006/relationships/slideLayout" Target="../slideLayouts/merged08_slideLayout1.xml" Id="Rce22d9f3125c4c5c" /><Relationship Type="http://schemas.openxmlformats.org/officeDocument/2006/relationships/image" Target="../media/merged08_image.png" Id="Rea51772dd4ee4e21" /><Relationship Type="http://schemas.openxmlformats.org/officeDocument/2006/relationships/notesSlide" Target="../notesSlides/merged08_notesSlide1.xml" Id="R9ff216a9629f45b4" /></Relationships>
</file>

<file path=ppt/slides/_rels/merged09_slide1.xml.rels><?xml version='1.0' encoding='utf-8'?>
<Relationships xmlns="http://schemas.openxmlformats.org/package/2006/relationships"><Relationship Type="http://schemas.openxmlformats.org/officeDocument/2006/relationships/slideLayout" Target="../slideLayouts/merged09_slideLayout1.xml" Id="Rbbd55ba2697741f4" /><Relationship Type="http://schemas.openxmlformats.org/officeDocument/2006/relationships/image" Target="../media/merged09_image.png" Id="R05493bfb9f5f4d15" /><Relationship Type="http://schemas.openxmlformats.org/officeDocument/2006/relationships/notesSlide" Target="../notesSlides/merged09_notesSlide1.xml" Id="R69c6f4eb7f9b407d" /></Relationships>
</file>

<file path=ppt/slides/_rels/merged10_slide1.xml.rels><?xml version='1.0' encoding='utf-8'?>
<Relationships xmlns="http://schemas.openxmlformats.org/package/2006/relationships"><Relationship Type="http://schemas.openxmlformats.org/officeDocument/2006/relationships/slideLayout" Target="../slideLayouts/merged10_slideLayout1.xml" Id="R6a89933b35ea487d" /><Relationship Type="http://schemas.openxmlformats.org/officeDocument/2006/relationships/chart" Target="charts/merged10_chart1.xml" Id="R77872e11e53f41fe" /><Relationship Type="http://schemas.openxmlformats.org/officeDocument/2006/relationships/notesSlide" Target="../notesSlides/merged10_notesSlide1.xml" Id="Rdcfde594735c4ceb" /></Relationships>
</file>

<file path=ppt/slides/_rels/merged11_slide1.xml.rels><?xml version='1.0' encoding='utf-8'?>
<Relationships xmlns="http://schemas.openxmlformats.org/package/2006/relationships"><Relationship Type="http://schemas.openxmlformats.org/officeDocument/2006/relationships/slideLayout" Target="../slideLayouts/merged11_slideLayout1.xml" Id="R59ed9a812d8e4d7c" /><Relationship Type="http://schemas.openxmlformats.org/officeDocument/2006/relationships/notesSlide" Target="../notesSlides/merged11_notesSlide1.xml" Id="Rfd209380746b4f5c" /></Relationships>
</file>

<file path=ppt/slides/_rels/merged12_slide1.xml.rels><?xml version='1.0' encoding='utf-8'?>
<Relationships xmlns="http://schemas.openxmlformats.org/package/2006/relationships"><Relationship Type="http://schemas.openxmlformats.org/officeDocument/2006/relationships/slideLayout" Target="../slideLayouts/merged12_slideLayout1.xml" Id="Rdce4bcaf038b42a7" /><Relationship Type="http://schemas.openxmlformats.org/officeDocument/2006/relationships/image" Target="../media/merged12_image.jpg" Id="R855e26c6cbf24c72" /><Relationship Type="http://schemas.openxmlformats.org/officeDocument/2006/relationships/image" Target="../media/merged12_image.png" Id="Rca55a36f0ba74fe1" /><Relationship Type="http://schemas.openxmlformats.org/officeDocument/2006/relationships/notesSlide" Target="../notesSlides/merged12_notesSlide1.xml" Id="R1560b92eb75541ff" /></Relationships>
</file>

<file path=ppt/slides/_rels/merged13_slide1.xml.rels><?xml version='1.0' encoding='utf-8'?>
<Relationships xmlns="http://schemas.openxmlformats.org/package/2006/relationships"><Relationship Type="http://schemas.openxmlformats.org/officeDocument/2006/relationships/slideLayout" Target="../slideLayouts/merged13_slideLayout1.xml" Id="R9fded58187334e54" /><Relationship Type="http://schemas.openxmlformats.org/officeDocument/2006/relationships/notesSlide" Target="../notesSlides/merged13_notesSlide1.xml" Id="R0f541557b1534294" /></Relationships>
</file>

<file path=ppt/slides/charts/merged10_chart1.xml><?xml version="1.0" encoding="utf-8"?>
<c:chartSpace xmlns:c="http://schemas.openxmlformats.org/drawingml/2006/chart">
  <c:date1904 val="0"/>
  <c:chart>
    <c:plotArea>
      <c:layout/>
      <c:barChart>
        <c:barDir val="col"/>
        <c:grouping val="clustered"/>
        <c:varyColors val="0"/>
        <c:ser>
          <c:idx val="0"/>
          <c:order val="0"/>
          <c:tx>
            <c:v>Part 0</c:v>
          </c:tx>
          <c:spPr>
            <a:solidFill xmlns:a="http://schemas.openxmlformats.org/drawingml/2006/main">
              <a:srgbClr val="183B56"/>
            </a:solidFill>
          </c:spPr>
          <c:invertIfNegative val="0"/>
          <c:cat>
            <c:strLit>
              <c:ptCount val="3"/>
              <c:pt idx="0">
                <c:v>LUT</c:v>
              </c:pt>
              <c:pt idx="1">
                <c:v>FF</c:v>
              </c:pt>
              <c:pt idx="2">
                <c:v>BRAM</c:v>
              </c:pt>
            </c:strLit>
          </c:cat>
          <c:val>
            <c:numLit>
              <c:formatCode>General</c:formatCode>
              <c:ptCount val="3"/>
              <c:pt idx="0">
                <c:v>73.18</c:v>
              </c:pt>
              <c:pt idx="1">
                <c:v>17.66</c:v>
              </c:pt>
              <c:pt idx="2">
                <c:v>14.31</c:v>
              </c:pt>
            </c:numLit>
          </c:val>
        </c:ser>
        <c:ser>
          <c:idx val="1"/>
          <c:order val="1"/>
          <c:tx>
            <c:v>Part 1</c:v>
          </c:tx>
          <c:spPr>
            <a:solidFill xmlns:a="http://schemas.openxmlformats.org/drawingml/2006/main">
              <a:srgbClr val="008C95"/>
            </a:solidFill>
          </c:spPr>
          <c:invertIfNegative val="0"/>
          <c:cat>
            <c:strLit>
              <c:ptCount val="3"/>
              <c:pt idx="0">
                <c:v>LUT</c:v>
              </c:pt>
              <c:pt idx="1">
                <c:v>FF</c:v>
              </c:pt>
              <c:pt idx="2">
                <c:v>BRAM</c:v>
              </c:pt>
            </c:strLit>
          </c:cat>
          <c:val>
            <c:numLit>
              <c:formatCode>General</c:formatCode>
              <c:ptCount val="3"/>
              <c:pt idx="0">
                <c:v>75.77</c:v>
              </c:pt>
              <c:pt idx="1">
                <c:v>8.17</c:v>
              </c:pt>
              <c:pt idx="2">
                <c:v>0</c:v>
              </c:pt>
            </c:numLit>
          </c:val>
        </c:ser>
        <c:dLbls>
          <c:txPr>
            <a:bodyPr xmlns:a="http://schemas.openxmlformats.org/drawingml/2006/main"/>
            <a:lstStyle xmlns:a="http://schemas.openxmlformats.org/drawingml/2006/main"/>
            <a:p xmlns:a="http://schemas.openxmlformats.org/drawingml/2006/main">
              <a:pPr>
                <a:defRPr sz="1800">
                  <a:solidFill>
                    <a:srgbClr val="20354A"/>
                  </a:solidFill>
                  <a:latin typeface="Arial"/>
                  <a:ea typeface="Arial"/>
                </a:defRPr>
              </a:pPr>
            </a:p>
          </c:txPr>
          <c:dLblPos val="outEnd"/>
          <c:showLegendKey val="0"/>
          <c:showVal val="1"/>
          <c:showCatName val="0"/>
          <c:showSerName val="0"/>
          <c:showPercent val="0"/>
        </c:dLbls>
        <c:gapWidth val="90"/>
        <c:overlap val="-15"/>
        <c:axId val="1"/>
        <c:axId val="2"/>
      </c:barChart>
      <c:catAx>
        <c:axId val="1"/>
        <c:scaling>
          <c:orientation val="minMax"/>
        </c:scaling>
        <c:delete val="0"/>
        <c:axPos val="b"/>
        <c:majorTickMark val="out"/>
        <c:minorTickMark val="none"/>
        <c:tickLblPos val="nextTo"/>
        <c:txPr>
          <a:bodyPr xmlns:a="http://schemas.openxmlformats.org/drawingml/2006/main"/>
          <a:lstStyle xmlns:a="http://schemas.openxmlformats.org/drawingml/2006/main"/>
          <a:p xmlns:a="http://schemas.openxmlformats.org/drawingml/2006/main">
            <a:pPr>
              <a:defRPr sz="1600">
                <a:solidFill>
                  <a:srgbClr val="20354A"/>
                </a:solidFill>
                <a:latin typeface="Arial"/>
                <a:ea typeface="Arial"/>
              </a:defRPr>
            </a:pPr>
          </a:p>
        </c:txPr>
        <c:crossAx val="2"/>
        <c:crosses val="autoZero"/>
        <c:auto val="1"/>
        <c:lblAlgn val="ctr"/>
        <c:lblOffset val="100"/>
      </c:catAx>
      <c:valAx>
        <c:axId val="2"/>
        <c:scaling>
          <c:orientation val="minMax"/>
          <c:max val="90"/>
          <c:min val="0"/>
        </c:scaling>
        <c:delete val="0"/>
        <c:axPos val="l"/>
        <c:majorGridlines>
          <c:spPr>
            <a:ln xmlns:a="http://schemas.openxmlformats.org/drawingml/2006/main" w="6350">
              <a:solidFill>
                <a:srgbClr val="DDE5EA"/>
              </a:solidFill>
            </a:ln>
          </c:spPr>
        </c:majorGridlines>
        <c:numFmt formatCode="0" sourceLinked="0"/>
        <c:majorTickMark val="out"/>
        <c:minorTickMark val="none"/>
        <c:tickLblPos val="nextTo"/>
        <c:txPr>
          <a:bodyPr xmlns:a="http://schemas.openxmlformats.org/drawingml/2006/main"/>
          <a:lstStyle xmlns:a="http://schemas.openxmlformats.org/drawingml/2006/main"/>
          <a:p xmlns:a="http://schemas.openxmlformats.org/drawingml/2006/main">
            <a:pPr>
              <a:defRPr sz="1600">
                <a:solidFill>
                  <a:srgbClr val="20354A"/>
                </a:solidFill>
                <a:latin typeface="Arial"/>
                <a:ea typeface="Arial"/>
              </a:defRPr>
            </a:pPr>
          </a:p>
        </c:txPr>
        <c:crossAx val="1"/>
        <c:crosses val="autoZero"/>
        <c:crossBetween val="between"/>
        <c:majorUnit val="20"/>
      </c:valAx>
      <c:spPr>
        <a:solidFill xmlns:a="http://schemas.openxmlformats.org/drawingml/2006/main">
          <a:srgbClr val="FFFFFF"/>
        </a:solidFill>
      </c:spPr>
    </c:plotArea>
    <c:legend>
      <c:legendPos val="t"/>
      <c:overlay val="0"/>
      <c:txPr>
        <a:bodyPr xmlns:a="http://schemas.openxmlformats.org/drawingml/2006/main"/>
        <a:lstStyle xmlns:a="http://schemas.openxmlformats.org/drawingml/2006/main"/>
        <a:p xmlns:a="http://schemas.openxmlformats.org/drawingml/2006/main">
          <a:pPr>
            <a:defRPr sz="1500">
              <a:solidFill>
                <a:srgbClr val="20354A"/>
              </a:solidFill>
              <a:latin typeface="Arial"/>
              <a:ea typeface="Arial"/>
            </a:defRPr>
          </a:pPr>
        </a:p>
      </c:txPr>
    </c:legend>
    <c:plotVisOnly val="1"/>
    <c:dispBlanksAs val="gap"/>
  </c:chart>
  <c:spPr>
    <a:solidFill xmlns:a="http://schemas.openxmlformats.org/drawingml/2006/main">
      <a:srgbClr val="FFFFFF"/>
    </a:solidFill>
  </c:spPr>
</c:chartSpace>
</file>

<file path=ppt/slides/merged01_slide1.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E89A815-281D-7EB0-BE02-A896DFB0F90C}"/>
              </a:ext>
            </a:extLst>
          </p:cNvPr>
          <p:cNvSpPr>
            <a:spLocks noGrp="1"/>
          </p:cNvSpPr>
          <p:nvPr>
            <p:ph type="ctrTitle"/>
          </p:nvPr>
        </p:nvSpPr>
        <p:spPr/>
        <p:txBody>
          <a:bodyPr>
            <a:noAutofit/>
          </a:bodyPr>
          <a:lstStyle/>
          <a:p>
            <a:r>
              <a:rPr kumimoji="1" lang="en-US" altLang="zh-CN" sz="3200" dirty="0">
                <a:cs typeface="+mn-cs"/>
              </a:rPr>
              <a:t>Research and Implementation of Key Technology in </a:t>
            </a:r>
            <a:br>
              <a:rPr kumimoji="1" lang="en-US" altLang="zh-CN" sz="3200" dirty="0">
                <a:cs typeface="+mn-cs"/>
              </a:rPr>
            </a:br>
            <a:r>
              <a:rPr kumimoji="1" lang="en-US" altLang="zh-CN" sz="3200" dirty="0">
                <a:cs typeface="+mn-cs"/>
              </a:rPr>
              <a:t>Multi-FPGA Hardware Emulation</a:t>
            </a:r>
            <a:br>
              <a:rPr kumimoji="1" lang="en-US" altLang="zh-CN" sz="3200" dirty="0">
                <a:cs typeface="+mn-cs"/>
              </a:rPr>
            </a:br>
            <a:r>
              <a:rPr kumimoji="1" lang="zh-CN" altLang="en-US" sz="3200" dirty="0">
                <a:cs typeface="+mn-cs"/>
              </a:rPr>
              <a:t>多</a:t>
            </a:r>
            <a:r>
              <a:rPr kumimoji="1" lang="en-US" altLang="zh-CN" sz="3200" dirty="0">
                <a:cs typeface="+mn-cs"/>
              </a:rPr>
              <a:t>FPGA</a:t>
            </a:r>
            <a:r>
              <a:rPr kumimoji="1" lang="zh-CN" altLang="en-US" sz="3200" dirty="0">
                <a:cs typeface="+mn-cs"/>
              </a:rPr>
              <a:t>硬件仿真关键技术研究与实现</a:t>
            </a:r>
          </a:p>
        </p:txBody>
      </p:sp>
      <p:sp>
        <p:nvSpPr>
          <p:cNvPr id="5" name="文本框 4">
            <a:extLst>
              <a:ext uri="{FF2B5EF4-FFF2-40B4-BE49-F238E27FC236}">
                <a16:creationId xmlns:a16="http://schemas.microsoft.com/office/drawing/2014/main" id="{BDE7984E-F309-04BD-1011-33A86C05AAB8}"/>
              </a:ext>
            </a:extLst>
          </p:cNvPr>
          <p:cNvSpPr txBox="1"/>
          <p:nvPr/>
        </p:nvSpPr>
        <p:spPr>
          <a:xfrm>
            <a:off x="5434598" y="6304001"/>
            <a:ext cx="1322798" cy="369332"/>
          </a:xfrm>
          <a:prstGeom prst="rect">
            <a:avLst/>
          </a:prstGeom>
          <a:noFill/>
        </p:spPr>
        <p:txBody>
          <a:bodyPr wrap="none" rtlCol="0">
            <a:spAutoFit/>
          </a:bodyPr>
          <a:lstStyle/>
          <a:p>
            <a:r>
              <a:rPr lang="en-US" altLang="zh-CN" dirty="0">
                <a:solidFill>
                  <a:srgbClr val="607184"/>
                </a:solidFill>
                <a:latin typeface="Arial" panose="020B0502040504020204" pitchFamily="34" charset="0"/>
                <a:ea typeface="Noto Sans CJK SC" panose="020B0500000000000000" pitchFamily="34" charset="-122"/>
              </a:rPr>
              <a:t>2026.10.30</a:t>
            </a:r>
            <a:endParaRPr lang="zh-CN" altLang="en-US" dirty="0">
              <a:latin typeface="Arial" panose="020B0502040504020204" pitchFamily="34" charset="0"/>
              <a:ea typeface="Noto Sans CJK SC" panose="020B0500000000000000" pitchFamily="34" charset="-122"/>
            </a:endParaRPr>
          </a:p>
        </p:txBody>
      </p:sp>
      <p:graphicFrame>
        <p:nvGraphicFramePr>
          <p:cNvPr id="9" name="表格 8">
            <a:extLst>
              <a:ext uri="{FF2B5EF4-FFF2-40B4-BE49-F238E27FC236}">
                <a16:creationId xmlns:a16="http://schemas.microsoft.com/office/drawing/2014/main" id="{8EE4F672-4FB0-DA03-8B3A-C56252FA1124}"/>
              </a:ext>
            </a:extLst>
          </p:cNvPr>
          <p:cNvGraphicFramePr>
            <a:graphicFrameLocks noGrp="1"/>
          </p:cNvGraphicFramePr>
          <p:nvPr>
            <p:extLst>
              <p:ext uri="{D42A27DB-BD31-4B8C-83A1-F6EECF244321}">
                <p14:modId xmlns:p14="http://schemas.microsoft.com/office/powerpoint/2010/main" val="1185780886"/>
              </p:ext>
            </p:extLst>
          </p:nvPr>
        </p:nvGraphicFramePr>
        <p:xfrm>
          <a:off x="1581354" y="4518961"/>
          <a:ext cx="9029286" cy="1371600"/>
        </p:xfrm>
        <a:graphic>
          <a:graphicData uri="http://schemas.openxmlformats.org/drawingml/2006/table">
            <a:tbl>
              <a:tblPr firstRow="1" bandRow="1">
                <a:effectLst/>
                <a:tableStyleId>{5C22544A-7EE6-4342-B048-85BDC9FD1C3A}</a:tableStyleId>
              </a:tblPr>
              <a:tblGrid>
                <a:gridCol w="3009762">
                  <a:extLst>
                    <a:ext uri="{9D8B030D-6E8A-4147-A177-3AD203B41FA5}">
                      <a16:colId xmlns:a16="http://schemas.microsoft.com/office/drawing/2014/main" val="3776854773"/>
                    </a:ext>
                  </a:extLst>
                </a:gridCol>
                <a:gridCol w="3009762">
                  <a:extLst>
                    <a:ext uri="{9D8B030D-6E8A-4147-A177-3AD203B41FA5}">
                      <a16:colId xmlns:a16="http://schemas.microsoft.com/office/drawing/2014/main" val="2475322704"/>
                    </a:ext>
                  </a:extLst>
                </a:gridCol>
                <a:gridCol w="3009762">
                  <a:extLst>
                    <a:ext uri="{9D8B030D-6E8A-4147-A177-3AD203B41FA5}">
                      <a16:colId xmlns:a16="http://schemas.microsoft.com/office/drawing/2014/main" val="1751818527"/>
                    </a:ext>
                  </a:extLst>
                </a:gridCol>
              </a:tblGrid>
              <a:tr h="370840">
                <a:tc>
                  <a:txBody>
                    <a:bodyPr/>
                    <a:lstStyle/>
                    <a:p>
                      <a:pPr algn="r"/>
                      <a:r>
                        <a:rPr lang="en-US" altLang="zh-CN" sz="2400" b="0" dirty="0">
                          <a:solidFill>
                            <a:schemeClr val="tx1"/>
                          </a:solidFill>
                          <a:effectLst/>
                          <a:latin typeface="Arial"/>
                          <a:ea typeface="Noto Sans CJK SC" panose="020B0500000000000000" pitchFamily="34" charset="-122"/>
                        </a:rPr>
                        <a:t>Student</a:t>
                      </a:r>
                      <a:r>
                        <a:rPr lang="zh-CN" altLang="en-US" sz="2400" b="0" dirty="0">
                          <a:solidFill>
                            <a:schemeClr val="tx1"/>
                          </a:solidFill>
                          <a:effectLst/>
                          <a:latin typeface="Arial"/>
                          <a:ea typeface="Noto Sans CJK SC" panose="020B0500000000000000" pitchFamily="34" charset="-122"/>
                        </a:rPr>
                        <a:t>：</a:t>
                      </a:r>
                      <a:endParaRPr lang="en-US" altLang="zh-CN" sz="2400" b="0" dirty="0">
                        <a:solidFill>
                          <a:schemeClr val="tx1"/>
                        </a:solidFill>
                        <a:effectLst/>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Hu</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a:solidFill>
                            <a:schemeClr val="tx1"/>
                          </a:solidFill>
                          <a:effectLst/>
                          <a:latin typeface="Arial"/>
                          <a:ea typeface="Noto Sans CJK SC" panose="020B0500000000000000" pitchFamily="34" charset="-122"/>
                        </a:rPr>
                        <a:t>Guanghui</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baseline="0" dirty="0">
                          <a:solidFill>
                            <a:schemeClr val="tx1"/>
                          </a:solidFill>
                          <a:effectLst/>
                          <a:latin typeface="Arial"/>
                          <a:ea typeface="Noto Sans CJK SC" panose="020B0500000000000000" pitchFamily="34" charset="-122"/>
                        </a:rPr>
                        <a:t>2024234318</a:t>
                      </a:r>
                      <a:endParaRPr lang="zh-CN" altLang="en-US" sz="2400" b="0" baseline="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003493"/>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Academic mentor</a:t>
                      </a:r>
                      <a:r>
                        <a:rPr lang="zh-CN" altLang="en-US" sz="2400" b="0" dirty="0">
                          <a:solidFill>
                            <a:schemeClr val="tx1"/>
                          </a:solidFill>
                          <a:effectLst/>
                          <a:latin typeface="Arial"/>
                          <a:ea typeface="Noto Sans CJK SC" panose="020B0500000000000000" pitchFamily="34" charset="-122"/>
                        </a:rPr>
                        <a:t>：</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Ha</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err="1">
                          <a:solidFill>
                            <a:schemeClr val="tx1"/>
                          </a:solidFill>
                          <a:effectLst/>
                          <a:latin typeface="Arial"/>
                          <a:ea typeface="Noto Sans CJK SC" panose="020B0500000000000000" pitchFamily="34" charset="-122"/>
                        </a:rPr>
                        <a:t>Yajun</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Professor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997686"/>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Enterprise mentor</a:t>
                      </a:r>
                      <a:r>
                        <a:rPr lang="zh-CN" altLang="en-US" sz="2400" b="0" dirty="0">
                          <a:solidFill>
                            <a:schemeClr val="tx1"/>
                          </a:solidFill>
                          <a:effectLst/>
                          <a:latin typeface="Arial"/>
                          <a:ea typeface="Noto Sans CJK SC" panose="020B0500000000000000" pitchFamily="34" charset="-122"/>
                        </a:rPr>
                        <a:t>：</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Zhang</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a:solidFill>
                            <a:schemeClr val="tx1"/>
                          </a:solidFill>
                          <a:effectLst/>
                          <a:latin typeface="Arial"/>
                          <a:ea typeface="Noto Sans CJK SC" panose="020B0500000000000000" pitchFamily="34" charset="-122"/>
                        </a:rPr>
                        <a:t>Ke</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Professor</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195710"/>
                  </a:ext>
                </a:extLst>
              </a:tr>
            </a:tbl>
          </a:graphicData>
        </a:graphic>
      </p:graphicFrame>
      <p:sp>
        <p:nvSpPr>
          <p:cNvPr id="10" name="文本框 9">
            <a:extLst>
              <a:ext uri="{FF2B5EF4-FFF2-40B4-BE49-F238E27FC236}">
                <a16:creationId xmlns:a16="http://schemas.microsoft.com/office/drawing/2014/main" id="{15FC0B23-12B0-DCD3-871F-A0FAF13175EA}"/>
              </a:ext>
            </a:extLst>
          </p:cNvPr>
          <p:cNvSpPr txBox="1"/>
          <p:nvPr/>
        </p:nvSpPr>
        <p:spPr>
          <a:xfrm>
            <a:off x="3040377" y="1577729"/>
            <a:ext cx="6111240" cy="461665"/>
          </a:xfrm>
          <a:prstGeom prst="rect">
            <a:avLst/>
          </a:prstGeom>
          <a:noFill/>
        </p:spPr>
        <p:txBody>
          <a:bodyPr wrap="square">
            <a:spAutoFit/>
          </a:bodyPr>
          <a:lstStyle/>
          <a:p>
            <a:pPr algn="ctr"/>
            <a:r>
              <a:rPr kumimoji="1" lang="zh-CN" altLang="en-US" sz="2400" b="1" dirty="0">
                <a:solidFill>
                  <a:srgbClr val="183B56"/>
                </a:solidFill>
                <a:latin typeface="Arial" panose="020B0502040504020204" pitchFamily="34" charset="0"/>
                <a:ea typeface="Noto Sans CJK SC" panose="020B0500000000000000" pitchFamily="34" charset="-122"/>
              </a:rPr>
              <a:t>硕士研究生开题答辩</a:t>
            </a:r>
          </a:p>
        </p:txBody>
      </p:sp>
    </p:spTree>
    <p:extLst>
      <p:ext uri="{BB962C8B-B14F-4D97-AF65-F5344CB8AC3E}">
        <p14:creationId xmlns:p14="http://schemas.microsoft.com/office/powerpoint/2010/main" val="1244152942"/>
      </p:ext>
    </p:extLst>
  </p:cSld>
  <p:clrMapOvr>
    <a:masterClrMapping/>
  </p:clrMapOvr>
</p:sld>
</file>

<file path=ppt/slides/merged01_slide3.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D26171-EEA5-0EAA-8509-169BE92BAEFD}"/>
              </a:ext>
            </a:extLst>
          </p:cNvPr>
          <p:cNvSpPr>
            <a:spLocks noGrp="1"/>
          </p:cNvSpPr>
          <p:nvPr>
            <p:ph type="ctrTitle"/>
          </p:nvPr>
        </p:nvSpPr>
        <p:spPr>
          <a:xfrm>
            <a:off x="0" y="1869066"/>
            <a:ext cx="12192000" cy="1936882"/>
          </a:xfrm>
        </p:spPr>
        <p:txBody>
          <a:bodyPr>
            <a:noAutofit/>
          </a:bodyPr>
          <a:lstStyle/>
          <a:p>
            <a:r>
              <a:rPr lang="en-US" altLang="zh-CN" sz="6000" dirty="0">
                <a:latin typeface="Arial"/>
              </a:rPr>
              <a:t>Thank you</a:t>
            </a:r>
            <a:endParaRPr lang="zh-CN" altLang="en-US" sz="6000" dirty="0">
              <a:latin typeface="Arial"/>
            </a:endParaRPr>
          </a:p>
        </p:txBody>
      </p:sp>
      <p:sp>
        <p:nvSpPr>
          <p:cNvPr id="4" name="文本框 3">
            <a:extLst>
              <a:ext uri="{FF2B5EF4-FFF2-40B4-BE49-F238E27FC236}">
                <a16:creationId xmlns:a16="http://schemas.microsoft.com/office/drawing/2014/main" id="{7EBF25D5-769F-1398-0AE8-3A1E9E021114}"/>
              </a:ext>
            </a:extLst>
          </p:cNvPr>
          <p:cNvSpPr txBox="1"/>
          <p:nvPr/>
        </p:nvSpPr>
        <p:spPr>
          <a:xfrm>
            <a:off x="5434598" y="6304001"/>
            <a:ext cx="1322798" cy="369332"/>
          </a:xfrm>
          <a:prstGeom prst="rect">
            <a:avLst/>
          </a:prstGeom>
          <a:noFill/>
        </p:spPr>
        <p:txBody>
          <a:bodyPr wrap="none" rtlCol="0">
            <a:spAutoFit/>
          </a:bodyPr>
          <a:lstStyle/>
          <a:p>
            <a:r>
              <a:rPr lang="en-US" altLang="zh-CN" dirty="0">
                <a:solidFill>
                  <a:srgbClr val="607184"/>
                </a:solidFill>
                <a:latin typeface="Arial" panose="020B0502040504020204" pitchFamily="34" charset="0"/>
                <a:ea typeface="Noto Sans CJK SC" panose="020B0500000000000000" pitchFamily="34" charset="-122"/>
              </a:rPr>
              <a:t>2026.10.30</a:t>
            </a:r>
            <a:endParaRPr lang="zh-CN" altLang="en-US" dirty="0">
              <a:latin typeface="Arial" panose="020B0502040504020204" pitchFamily="34" charset="0"/>
              <a:ea typeface="Noto Sans CJK SC" panose="020B0500000000000000" pitchFamily="34" charset="-122"/>
            </a:endParaRPr>
          </a:p>
        </p:txBody>
      </p:sp>
      <p:graphicFrame>
        <p:nvGraphicFramePr>
          <p:cNvPr id="6" name="表格 5">
            <a:extLst>
              <a:ext uri="{FF2B5EF4-FFF2-40B4-BE49-F238E27FC236}">
                <a16:creationId xmlns:a16="http://schemas.microsoft.com/office/drawing/2014/main" id="{A8249B18-D827-1034-C634-130B3003F53A}"/>
              </a:ext>
            </a:extLst>
          </p:cNvPr>
          <p:cNvGraphicFramePr>
            <a:graphicFrameLocks noGrp="1"/>
          </p:cNvGraphicFramePr>
          <p:nvPr>
            <p:extLst>
              <p:ext uri="{D42A27DB-BD31-4B8C-83A1-F6EECF244321}">
                <p14:modId xmlns:p14="http://schemas.microsoft.com/office/powerpoint/2010/main" val="1219502887"/>
              </p:ext>
            </p:extLst>
          </p:nvPr>
        </p:nvGraphicFramePr>
        <p:xfrm>
          <a:off x="2031998" y="4629596"/>
          <a:ext cx="8127999" cy="1371600"/>
        </p:xfrm>
        <a:graphic>
          <a:graphicData uri="http://schemas.openxmlformats.org/drawingml/2006/table">
            <a:tbl>
              <a:tblPr firstRow="1" bandRow="1">
                <a:effectLst/>
                <a:tableStyleId>{5C22544A-7EE6-4342-B048-85BDC9FD1C3A}</a:tableStyleId>
              </a:tblPr>
              <a:tblGrid>
                <a:gridCol w="2709333">
                  <a:extLst>
                    <a:ext uri="{9D8B030D-6E8A-4147-A177-3AD203B41FA5}">
                      <a16:colId xmlns:a16="http://schemas.microsoft.com/office/drawing/2014/main" val="3776854773"/>
                    </a:ext>
                  </a:extLst>
                </a:gridCol>
                <a:gridCol w="2709333">
                  <a:extLst>
                    <a:ext uri="{9D8B030D-6E8A-4147-A177-3AD203B41FA5}">
                      <a16:colId xmlns:a16="http://schemas.microsoft.com/office/drawing/2014/main" val="2475322704"/>
                    </a:ext>
                  </a:extLst>
                </a:gridCol>
                <a:gridCol w="2709333">
                  <a:extLst>
                    <a:ext uri="{9D8B030D-6E8A-4147-A177-3AD203B41FA5}">
                      <a16:colId xmlns:a16="http://schemas.microsoft.com/office/drawing/2014/main" val="1751818527"/>
                    </a:ext>
                  </a:extLst>
                </a:gridCol>
              </a:tblGrid>
              <a:tr h="370840">
                <a:tc>
                  <a:txBody>
                    <a:bodyPr/>
                    <a:lstStyle/>
                    <a:p>
                      <a:pPr algn="r"/>
                      <a:r>
                        <a:rPr lang="en-US" altLang="zh-CN" sz="2400" b="0" dirty="0">
                          <a:solidFill>
                            <a:schemeClr val="tx1"/>
                          </a:solidFill>
                          <a:effectLst/>
                          <a:latin typeface="Arial"/>
                          <a:ea typeface="Noto Sans CJK SC" panose="020B0500000000000000" pitchFamily="34" charset="-122"/>
                        </a:rPr>
                        <a:t>Student</a:t>
                      </a:r>
                      <a:r>
                        <a:rPr lang="zh-CN" altLang="en-US" sz="2400" b="0" dirty="0">
                          <a:solidFill>
                            <a:schemeClr val="tx1"/>
                          </a:solidFill>
                          <a:effectLst/>
                          <a:latin typeface="Arial"/>
                          <a:ea typeface="Noto Sans CJK SC" panose="020B0500000000000000" pitchFamily="34" charset="-122"/>
                        </a:rPr>
                        <a:t>：</a:t>
                      </a:r>
                      <a:endParaRPr lang="en-US" altLang="zh-CN" sz="2400" b="0" dirty="0">
                        <a:solidFill>
                          <a:schemeClr val="tx1"/>
                        </a:solidFill>
                        <a:effectLst/>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Hu</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a:solidFill>
                            <a:schemeClr val="tx1"/>
                          </a:solidFill>
                          <a:effectLst/>
                          <a:latin typeface="Arial"/>
                          <a:ea typeface="Noto Sans CJK SC" panose="020B0500000000000000" pitchFamily="34" charset="-122"/>
                        </a:rPr>
                        <a:t>Guanghui</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baseline="0" dirty="0">
                          <a:solidFill>
                            <a:schemeClr val="tx1"/>
                          </a:solidFill>
                          <a:effectLst/>
                          <a:latin typeface="Arial"/>
                          <a:ea typeface="Noto Sans CJK SC" panose="020B0500000000000000" pitchFamily="34" charset="-122"/>
                        </a:rPr>
                        <a:t>2024234318</a:t>
                      </a:r>
                      <a:endParaRPr lang="zh-CN" altLang="en-US" sz="2400" b="0" baseline="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003493"/>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Academic mentor</a:t>
                      </a:r>
                      <a:r>
                        <a:rPr lang="zh-CN" altLang="en-US" sz="2400" b="0" dirty="0">
                          <a:solidFill>
                            <a:schemeClr val="tx1"/>
                          </a:solidFill>
                          <a:effectLst/>
                          <a:latin typeface="Arial"/>
                          <a:ea typeface="Noto Sans CJK SC" panose="020B0500000000000000" pitchFamily="34" charset="-122"/>
                        </a:rPr>
                        <a:t>：</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Ha</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err="1">
                          <a:solidFill>
                            <a:schemeClr val="tx1"/>
                          </a:solidFill>
                          <a:effectLst/>
                          <a:latin typeface="Arial"/>
                          <a:ea typeface="Noto Sans CJK SC" panose="020B0500000000000000" pitchFamily="34" charset="-122"/>
                        </a:rPr>
                        <a:t>Yajun</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Professor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89398"/>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Arial"/>
                          <a:ea typeface="Noto Sans CJK SC" panose="020B0500000000000000" pitchFamily="34" charset="-122"/>
                        </a:rPr>
                        <a:t>Enterprise mentor</a:t>
                      </a:r>
                      <a:r>
                        <a:rPr lang="zh-CN" altLang="en-US" sz="2400" b="0" dirty="0">
                          <a:solidFill>
                            <a:schemeClr val="tx1"/>
                          </a:solidFill>
                          <a:effectLst/>
                          <a:latin typeface="Arial"/>
                          <a:ea typeface="Noto Sans CJK SC" panose="020B0500000000000000" pitchFamily="34" charset="-122"/>
                        </a:rPr>
                        <a:t>：</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Zhang</a:t>
                      </a:r>
                      <a:r>
                        <a:rPr lang="zh-CN" altLang="en-US" sz="2400" b="0" dirty="0">
                          <a:solidFill>
                            <a:schemeClr val="tx1"/>
                          </a:solidFill>
                          <a:effectLst/>
                          <a:latin typeface="Arial"/>
                          <a:ea typeface="Noto Sans CJK SC" panose="020B0500000000000000" pitchFamily="34" charset="-122"/>
                        </a:rPr>
                        <a:t xml:space="preserve"> </a:t>
                      </a:r>
                      <a:r>
                        <a:rPr lang="en-US" altLang="zh-CN" sz="2400" b="0" dirty="0">
                          <a:solidFill>
                            <a:schemeClr val="tx1"/>
                          </a:solidFill>
                          <a:effectLst/>
                          <a:latin typeface="Arial"/>
                          <a:ea typeface="Noto Sans CJK SC" panose="020B0500000000000000" pitchFamily="34" charset="-122"/>
                        </a:rPr>
                        <a:t>Ke</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Arial"/>
                          <a:ea typeface="Noto Sans CJK SC" panose="020B0500000000000000" pitchFamily="34" charset="-122"/>
                        </a:rPr>
                        <a:t>Professor</a:t>
                      </a:r>
                      <a:endParaRPr lang="zh-CN" altLang="en-US" sz="2400" b="0" dirty="0">
                        <a:latin typeface="Arial"/>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997686"/>
                  </a:ext>
                </a:extLst>
              </a:tr>
            </a:tbl>
          </a:graphicData>
        </a:graphic>
      </p:graphicFrame>
    </p:spTree>
    <p:extLst>
      <p:ext uri="{BB962C8B-B14F-4D97-AF65-F5344CB8AC3E}">
        <p14:creationId xmlns:p14="http://schemas.microsoft.com/office/powerpoint/2010/main" val="1605123573"/>
      </p:ext>
    </p:extLst>
  </p:cSld>
  <p:clrMapOvr>
    <a:masterClrMapping/>
  </p:clrMapOvr>
</p:sld>
</file>

<file path=ppt/slides/merged02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0.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200" b="1">
                <a:solidFill>
                  <a:srgbClr val="183B56"/>
                </a:solidFill>
                <a:latin typeface="Arial"/>
                <a:ea typeface="Arial"/>
              </a:rPr>
              <a:t>Contents</a:t>
            </a:r>
          </a:p>
        </p:txBody>
      </p:sp>
      <p:sp>
        <p:nvSpPr>
          <p:cNvPr id="100000" name="S00.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0.NarrativePath"/>
          <p:cNvSpPr/>
          <p:nvPr/>
        </p:nvSpPr>
        <p:spPr>
          <a:xfrm>
            <a:off x="982980" y="1536192"/>
            <a:ext cx="22860" cy="3785616"/>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02" name="S00.Section1.Number"/>
          <p:cNvSpPr/>
          <p:nvPr/>
        </p:nvSpPr>
        <p:spPr>
          <a:xfrm>
            <a:off x="704088" y="1316736"/>
            <a:ext cx="585216" cy="585216"/>
          </a:xfrm>
          <a:prstGeom prst="ellipse">
            <a:avLst/>
          </a:prstGeom>
          <a:solidFill>
            <a:srgbClr val="008C95"/>
          </a:solidFill>
          <a:ln>
            <a:noFill/>
          </a:ln>
        </p:spPr>
        <p:txBody>
          <a:bodyPr lIns="0" tIns="0" rIns="0" bIns="0" anchor="ctr">
            <a:noAutofit/>
          </a:bodyPr>
          <a:lstStyle/>
          <a:p>
            <a:pPr algn="ctr"/>
            <a:r>
              <a:rPr lang="en-US" sz="2200" b="1">
                <a:solidFill>
                  <a:srgbClr val="FFFFFF"/>
                </a:solidFill>
                <a:latin typeface="Arial"/>
                <a:ea typeface="Arial"/>
              </a:rPr>
              <a:t>01</a:t>
            </a:r>
          </a:p>
        </p:txBody>
      </p:sp>
      <p:sp>
        <p:nvSpPr>
          <p:cNvPr id="100003" name="S00.Section1.Heading"/>
          <p:cNvSpPr txBox="1"/>
          <p:nvPr/>
        </p:nvSpPr>
        <p:spPr>
          <a:xfrm>
            <a:off x="1682496" y="1280160"/>
            <a:ext cx="9738360" cy="475488"/>
          </a:xfrm>
          <a:prstGeom prst="rect">
            <a:avLst/>
          </a:prstGeom>
          <a:noFill/>
          <a:ln>
            <a:noFill/>
          </a:ln>
        </p:spPr>
        <p:txBody>
          <a:bodyPr lIns="0" tIns="0" rIns="0" bIns="0">
            <a:noAutofit/>
          </a:bodyPr>
          <a:lstStyle/>
          <a:p>
            <a:r>
              <a:rPr lang="en-US" sz="2700" b="1">
                <a:solidFill>
                  <a:srgbClr val="183B56"/>
                </a:solidFill>
                <a:latin typeface="Arial"/>
                <a:ea typeface="Arial"/>
              </a:rPr>
              <a:t>Background &amp; Research Goal</a:t>
            </a:r>
          </a:p>
        </p:txBody>
      </p:sp>
      <p:sp>
        <p:nvSpPr>
          <p:cNvPr id="100004" name="S00.Section1.Description"/>
          <p:cNvSpPr txBox="1"/>
          <p:nvPr/>
        </p:nvSpPr>
        <p:spPr>
          <a:xfrm>
            <a:off x="1682496" y="1865376"/>
            <a:ext cx="9738360" cy="438912"/>
          </a:xfrm>
          <a:prstGeom prst="rect">
            <a:avLst/>
          </a:prstGeom>
          <a:noFill/>
          <a:ln>
            <a:noFill/>
          </a:ln>
        </p:spPr>
        <p:txBody>
          <a:bodyPr lIns="0" tIns="0" rIns="0" bIns="0">
            <a:noAutofit/>
          </a:bodyPr>
          <a:lstStyle/>
          <a:p>
            <a:r>
              <a:rPr lang="en-US" sz="1900">
                <a:solidFill>
                  <a:srgbClr val="607184"/>
                </a:solidFill>
                <a:latin typeface="Arial"/>
                <a:ea typeface="Arial"/>
              </a:rPr>
              <a:t>Motivation, research gap and REMUS overview</a:t>
            </a:r>
          </a:p>
        </p:txBody>
      </p:sp>
      <p:sp>
        <p:nvSpPr>
          <p:cNvPr id="100005" name="S00.Section2.Number"/>
          <p:cNvSpPr/>
          <p:nvPr/>
        </p:nvSpPr>
        <p:spPr>
          <a:xfrm>
            <a:off x="704088" y="2578608"/>
            <a:ext cx="585216" cy="585216"/>
          </a:xfrm>
          <a:prstGeom prst="ellipse">
            <a:avLst/>
          </a:prstGeom>
          <a:solidFill>
            <a:srgbClr val="008C95"/>
          </a:solidFill>
          <a:ln>
            <a:noFill/>
          </a:ln>
        </p:spPr>
        <p:txBody>
          <a:bodyPr lIns="0" tIns="0" rIns="0" bIns="0" anchor="ctr">
            <a:noAutofit/>
          </a:bodyPr>
          <a:lstStyle/>
          <a:p>
            <a:pPr algn="ctr"/>
            <a:r>
              <a:rPr lang="en-US" sz="2200" b="1">
                <a:solidFill>
                  <a:srgbClr val="FFFFFF"/>
                </a:solidFill>
                <a:latin typeface="Arial"/>
                <a:ea typeface="Arial"/>
              </a:rPr>
              <a:t>02</a:t>
            </a:r>
          </a:p>
        </p:txBody>
      </p:sp>
      <p:sp>
        <p:nvSpPr>
          <p:cNvPr id="100006" name="S00.Section2.Heading"/>
          <p:cNvSpPr txBox="1"/>
          <p:nvPr/>
        </p:nvSpPr>
        <p:spPr>
          <a:xfrm>
            <a:off x="1682496" y="2542032"/>
            <a:ext cx="9738360" cy="475488"/>
          </a:xfrm>
          <a:prstGeom prst="rect">
            <a:avLst/>
          </a:prstGeom>
          <a:noFill/>
          <a:ln>
            <a:noFill/>
          </a:ln>
        </p:spPr>
        <p:txBody>
          <a:bodyPr lIns="0" tIns="0" rIns="0" bIns="0">
            <a:noAutofit/>
          </a:bodyPr>
          <a:lstStyle/>
          <a:p>
            <a:r>
              <a:rPr lang="en-US" sz="2700" b="1">
                <a:solidFill>
                  <a:srgbClr val="183B56"/>
                </a:solidFill>
                <a:latin typeface="Arial"/>
                <a:ea typeface="Arial"/>
              </a:rPr>
              <a:t>Research Progress</a:t>
            </a:r>
          </a:p>
        </p:txBody>
      </p:sp>
      <p:sp>
        <p:nvSpPr>
          <p:cNvPr id="100007" name="S00.Section2.Description"/>
          <p:cNvSpPr txBox="1"/>
          <p:nvPr/>
        </p:nvSpPr>
        <p:spPr>
          <a:xfrm>
            <a:off x="1682496" y="3127248"/>
            <a:ext cx="9738360" cy="438912"/>
          </a:xfrm>
          <a:prstGeom prst="rect">
            <a:avLst/>
          </a:prstGeom>
          <a:noFill/>
          <a:ln>
            <a:noFill/>
          </a:ln>
        </p:spPr>
        <p:txBody>
          <a:bodyPr lIns="0" tIns="0" rIns="0" bIns="0">
            <a:noAutofit/>
          </a:bodyPr>
          <a:lstStyle/>
          <a:p>
            <a:r>
              <a:rPr lang="en-US" sz="1900">
                <a:solidFill>
                  <a:srgbClr val="607184"/>
                </a:solidFill>
                <a:latin typeface="Arial"/>
                <a:ea typeface="Arial"/>
              </a:rPr>
              <a:t>Execution &amp; pause · State &amp; replay · Partitioning · Runtime</a:t>
            </a:r>
          </a:p>
        </p:txBody>
      </p:sp>
      <p:sp>
        <p:nvSpPr>
          <p:cNvPr id="100008" name="S00.Section3.Number"/>
          <p:cNvSpPr/>
          <p:nvPr/>
        </p:nvSpPr>
        <p:spPr>
          <a:xfrm>
            <a:off x="704088" y="3840480"/>
            <a:ext cx="585216" cy="585216"/>
          </a:xfrm>
          <a:prstGeom prst="ellipse">
            <a:avLst/>
          </a:prstGeom>
          <a:solidFill>
            <a:srgbClr val="008C95"/>
          </a:solidFill>
          <a:ln>
            <a:noFill/>
          </a:ln>
        </p:spPr>
        <p:txBody>
          <a:bodyPr lIns="0" tIns="0" rIns="0" bIns="0" anchor="ctr">
            <a:noAutofit/>
          </a:bodyPr>
          <a:lstStyle/>
          <a:p>
            <a:pPr algn="ctr"/>
            <a:r>
              <a:rPr lang="en-US" sz="2200" b="1">
                <a:solidFill>
                  <a:srgbClr val="FFFFFF"/>
                </a:solidFill>
                <a:latin typeface="Arial"/>
                <a:ea typeface="Arial"/>
              </a:rPr>
              <a:t>03</a:t>
            </a:r>
          </a:p>
        </p:txBody>
      </p:sp>
      <p:sp>
        <p:nvSpPr>
          <p:cNvPr id="100009" name="S00.Section3.Heading"/>
          <p:cNvSpPr txBox="1"/>
          <p:nvPr/>
        </p:nvSpPr>
        <p:spPr>
          <a:xfrm>
            <a:off x="1682496" y="3803904"/>
            <a:ext cx="9738360" cy="475488"/>
          </a:xfrm>
          <a:prstGeom prst="rect">
            <a:avLst/>
          </a:prstGeom>
          <a:noFill/>
          <a:ln>
            <a:noFill/>
          </a:ln>
        </p:spPr>
        <p:txBody>
          <a:bodyPr lIns="0" tIns="0" rIns="0" bIns="0">
            <a:noAutofit/>
          </a:bodyPr>
          <a:lstStyle/>
          <a:p>
            <a:r>
              <a:rPr lang="en-US" sz="2700" b="1">
                <a:solidFill>
                  <a:srgbClr val="183B56"/>
                </a:solidFill>
                <a:latin typeface="Arial"/>
                <a:ea typeface="Arial"/>
              </a:rPr>
              <a:t>Prototype &amp; Evaluation</a:t>
            </a:r>
          </a:p>
        </p:txBody>
      </p:sp>
      <p:sp>
        <p:nvSpPr>
          <p:cNvPr id="100010" name="S00.Section3.Description"/>
          <p:cNvSpPr txBox="1"/>
          <p:nvPr/>
        </p:nvSpPr>
        <p:spPr>
          <a:xfrm>
            <a:off x="1682496" y="4389120"/>
            <a:ext cx="9738360" cy="438912"/>
          </a:xfrm>
          <a:prstGeom prst="rect">
            <a:avLst/>
          </a:prstGeom>
          <a:noFill/>
          <a:ln>
            <a:noFill/>
          </a:ln>
        </p:spPr>
        <p:txBody>
          <a:bodyPr lIns="0" tIns="0" rIns="0" bIns="0">
            <a:noAutofit/>
          </a:bodyPr>
          <a:lstStyle/>
          <a:p>
            <a:r>
              <a:rPr lang="en-US" sz="1900">
                <a:solidFill>
                  <a:srgbClr val="607184"/>
                </a:solidFill>
                <a:latin typeface="Arial"/>
                <a:ea typeface="Arial"/>
              </a:rPr>
              <a:t>Dual-FPGA platform, workloads and experimental results</a:t>
            </a:r>
          </a:p>
        </p:txBody>
      </p:sp>
      <p:sp>
        <p:nvSpPr>
          <p:cNvPr id="100011" name="S00.Section4.Number"/>
          <p:cNvSpPr/>
          <p:nvPr/>
        </p:nvSpPr>
        <p:spPr>
          <a:xfrm>
            <a:off x="704088" y="5102352"/>
            <a:ext cx="585216" cy="585216"/>
          </a:xfrm>
          <a:prstGeom prst="ellipse">
            <a:avLst/>
          </a:prstGeom>
          <a:solidFill>
            <a:srgbClr val="008C95"/>
          </a:solidFill>
          <a:ln>
            <a:noFill/>
          </a:ln>
        </p:spPr>
        <p:txBody>
          <a:bodyPr lIns="0" tIns="0" rIns="0" bIns="0" anchor="ctr">
            <a:noAutofit/>
          </a:bodyPr>
          <a:lstStyle/>
          <a:p>
            <a:pPr algn="ctr"/>
            <a:r>
              <a:rPr lang="en-US" sz="2200" b="1">
                <a:solidFill>
                  <a:srgbClr val="FFFFFF"/>
                </a:solidFill>
                <a:latin typeface="Arial"/>
                <a:ea typeface="Arial"/>
              </a:rPr>
              <a:t>04</a:t>
            </a:r>
          </a:p>
        </p:txBody>
      </p:sp>
      <p:sp>
        <p:nvSpPr>
          <p:cNvPr id="100012" name="S00.Section4.Heading"/>
          <p:cNvSpPr txBox="1"/>
          <p:nvPr/>
        </p:nvSpPr>
        <p:spPr>
          <a:xfrm>
            <a:off x="1682496" y="5065776"/>
            <a:ext cx="9738360" cy="475488"/>
          </a:xfrm>
          <a:prstGeom prst="rect">
            <a:avLst/>
          </a:prstGeom>
          <a:noFill/>
          <a:ln>
            <a:noFill/>
          </a:ln>
        </p:spPr>
        <p:txBody>
          <a:bodyPr lIns="0" tIns="0" rIns="0" bIns="0">
            <a:noAutofit/>
          </a:bodyPr>
          <a:lstStyle/>
          <a:p>
            <a:r>
              <a:rPr lang="en-US" sz="2700" b="1">
                <a:solidFill>
                  <a:srgbClr val="183B56"/>
                </a:solidFill>
                <a:latin typeface="Arial"/>
                <a:ea typeface="Arial"/>
              </a:rPr>
              <a:t>Current Challenges &amp; Future Work</a:t>
            </a:r>
          </a:p>
        </p:txBody>
      </p:sp>
      <p:sp>
        <p:nvSpPr>
          <p:cNvPr id="100013" name="S00.Section4.Description"/>
          <p:cNvSpPr txBox="1"/>
          <p:nvPr/>
        </p:nvSpPr>
        <p:spPr>
          <a:xfrm>
            <a:off x="1682496" y="5650992"/>
            <a:ext cx="9738360" cy="438912"/>
          </a:xfrm>
          <a:prstGeom prst="rect">
            <a:avLst/>
          </a:prstGeom>
          <a:noFill/>
          <a:ln>
            <a:noFill/>
          </a:ln>
        </p:spPr>
        <p:txBody>
          <a:bodyPr lIns="0" tIns="0" rIns="0" bIns="0">
            <a:noAutofit/>
          </a:bodyPr>
          <a:lstStyle/>
          <a:p>
            <a:r>
              <a:rPr lang="en-US" sz="1900">
                <a:solidFill>
                  <a:srgbClr val="607184"/>
                </a:solidFill>
                <a:latin typeface="Arial"/>
                <a:ea typeface="Arial"/>
              </a:rPr>
              <a:t>Remaining limitations and the next research steps</a:t>
            </a:r>
          </a:p>
        </p:txBody>
      </p:sp>
    </p:spTree>
  </p:cSld>
</p:sld>
</file>

<file path=ppt/slides/merged03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1.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200" b="1">
                <a:solidFill>
                  <a:srgbClr val="183B56"/>
                </a:solidFill>
                <a:latin typeface="Arial"/>
                <a:ea typeface="Arial"/>
              </a:rPr>
              <a:t>1. From RTL Simulation to Multi-FPGA Prototyping</a:t>
            </a:r>
          </a:p>
        </p:txBody>
      </p:sp>
      <p:sp>
        <p:nvSpPr>
          <p:cNvPr id="100000" name="S01.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1.Stage1.Panel"/>
          <p:cNvSpPr/>
          <p:nvPr/>
        </p:nvSpPr>
        <p:spPr>
          <a:xfrm>
            <a:off x="320040" y="969264"/>
            <a:ext cx="11558016" cy="1600200"/>
          </a:xfrm>
          <a:prstGeom prst="roundRect">
            <a:avLst>
              <a:gd name="adj" fmla="val 100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2" name="S01.Stage1.Divider"/>
          <p:cNvSpPr/>
          <p:nvPr/>
        </p:nvSpPr>
        <p:spPr>
          <a:xfrm>
            <a:off x="4585716" y="1124712"/>
            <a:ext cx="8230" cy="1289304"/>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03" name="S01.Stage1.Heading"/>
          <p:cNvSpPr txBox="1"/>
          <p:nvPr/>
        </p:nvSpPr>
        <p:spPr>
          <a:xfrm>
            <a:off x="5047488" y="1152144"/>
            <a:ext cx="6492240" cy="365760"/>
          </a:xfrm>
          <a:prstGeom prst="rect">
            <a:avLst/>
          </a:prstGeom>
          <a:noFill/>
          <a:ln>
            <a:noFill/>
          </a:ln>
        </p:spPr>
        <p:txBody>
          <a:bodyPr lIns="0" tIns="0" rIns="0" bIns="0">
            <a:noAutofit/>
          </a:bodyPr>
          <a:lstStyle/>
          <a:p>
            <a:r>
              <a:rPr lang="en-US" sz="2200" b="1">
                <a:solidFill>
                  <a:srgbClr val="183B56"/>
                </a:solidFill>
                <a:latin typeface="Arial"/>
                <a:ea typeface="Arial"/>
              </a:rPr>
              <a:t>RTL Simulation</a:t>
            </a:r>
          </a:p>
        </p:txBody>
      </p:sp>
      <p:sp>
        <p:nvSpPr>
          <p:cNvPr id="100004" name="S01.Stage1.Bullet1"/>
          <p:cNvSpPr/>
          <p:nvPr/>
        </p:nvSpPr>
        <p:spPr>
          <a:xfrm>
            <a:off x="5166360" y="1632204"/>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5" name="S01.Stage1.Text1"/>
          <p:cNvSpPr txBox="1"/>
          <p:nvPr/>
        </p:nvSpPr>
        <p:spPr>
          <a:xfrm>
            <a:off x="5468112" y="1554480"/>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Full visibility</a:t>
            </a:r>
          </a:p>
        </p:txBody>
      </p:sp>
      <p:sp>
        <p:nvSpPr>
          <p:cNvPr id="100006" name="S01.Stage1.Bullet2"/>
          <p:cNvSpPr/>
          <p:nvPr/>
        </p:nvSpPr>
        <p:spPr>
          <a:xfrm>
            <a:off x="5166360" y="1924812"/>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7" name="S01.Stage1.Text2"/>
          <p:cNvSpPr txBox="1"/>
          <p:nvPr/>
        </p:nvSpPr>
        <p:spPr>
          <a:xfrm>
            <a:off x="5468112" y="1847088"/>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Flexible debugging</a:t>
            </a:r>
          </a:p>
        </p:txBody>
      </p:sp>
      <p:sp>
        <p:nvSpPr>
          <p:cNvPr id="100008" name="S01.Stage1.Bullet3"/>
          <p:cNvSpPr/>
          <p:nvPr/>
        </p:nvSpPr>
        <p:spPr>
          <a:xfrm>
            <a:off x="5166360" y="2217420"/>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9" name="S01.Stage1.Text3"/>
          <p:cNvSpPr txBox="1"/>
          <p:nvPr/>
        </p:nvSpPr>
        <p:spPr>
          <a:xfrm>
            <a:off x="5468112" y="2139696"/>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Low performance</a:t>
            </a:r>
          </a:p>
        </p:txBody>
      </p:sp>
      <p:sp>
        <p:nvSpPr>
          <p:cNvPr id="100010" name="S01.Stage2.Panel"/>
          <p:cNvSpPr/>
          <p:nvPr/>
        </p:nvSpPr>
        <p:spPr>
          <a:xfrm>
            <a:off x="320040" y="2999232"/>
            <a:ext cx="11558016" cy="1600200"/>
          </a:xfrm>
          <a:prstGeom prst="roundRect">
            <a:avLst>
              <a:gd name="adj" fmla="val 10000"/>
            </a:avLst>
          </a:prstGeom>
          <a:solidFill>
            <a:srgbClr val="F1F5F8"/>
          </a:solidFill>
          <a:ln>
            <a:noFill/>
          </a:ln>
        </p:spPr>
        <p:txBody>
          <a:bodyPr lIns="0" tIns="0" rIns="0" bIns="0">
            <a:noAutofit/>
          </a:bodyPr>
          <a:lstStyle/>
          <a:p>
            <a:endParaRPr lang="en-US" sz="1800">
              <a:solidFill>
                <a:srgbClr val="20354A"/>
              </a:solidFill>
              <a:latin typeface="Arial"/>
              <a:ea typeface="Arial"/>
            </a:endParaRPr>
          </a:p>
        </p:txBody>
      </p:sp>
      <p:sp>
        <p:nvSpPr>
          <p:cNvPr id="100011" name="S01.Stage2.Divider"/>
          <p:cNvSpPr/>
          <p:nvPr/>
        </p:nvSpPr>
        <p:spPr>
          <a:xfrm>
            <a:off x="4585716" y="3154680"/>
            <a:ext cx="8230" cy="1289304"/>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12" name="S01.Stage2.Heading"/>
          <p:cNvSpPr txBox="1"/>
          <p:nvPr/>
        </p:nvSpPr>
        <p:spPr>
          <a:xfrm>
            <a:off x="5047488" y="3182112"/>
            <a:ext cx="6492240" cy="365760"/>
          </a:xfrm>
          <a:prstGeom prst="rect">
            <a:avLst/>
          </a:prstGeom>
          <a:noFill/>
          <a:ln>
            <a:noFill/>
          </a:ln>
        </p:spPr>
        <p:txBody>
          <a:bodyPr lIns="0" tIns="0" rIns="0" bIns="0">
            <a:noAutofit/>
          </a:bodyPr>
          <a:lstStyle/>
          <a:p>
            <a:r>
              <a:rPr lang="en-US" sz="2200" b="1">
                <a:solidFill>
                  <a:srgbClr val="183B56"/>
                </a:solidFill>
                <a:latin typeface="Arial"/>
                <a:ea typeface="Arial"/>
              </a:rPr>
              <a:t>FPGA Prototyping</a:t>
            </a:r>
          </a:p>
        </p:txBody>
      </p:sp>
      <p:sp>
        <p:nvSpPr>
          <p:cNvPr id="100013" name="S01.Stage2.Bullet1"/>
          <p:cNvSpPr/>
          <p:nvPr/>
        </p:nvSpPr>
        <p:spPr>
          <a:xfrm>
            <a:off x="5166360" y="3662172"/>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4" name="S01.Stage2.Text1"/>
          <p:cNvSpPr txBox="1"/>
          <p:nvPr/>
        </p:nvSpPr>
        <p:spPr>
          <a:xfrm>
            <a:off x="5468112" y="3584448"/>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MHz-level execution</a:t>
            </a:r>
          </a:p>
        </p:txBody>
      </p:sp>
      <p:sp>
        <p:nvSpPr>
          <p:cNvPr id="100015" name="S01.Stage2.Bullet2"/>
          <p:cNvSpPr/>
          <p:nvPr/>
        </p:nvSpPr>
        <p:spPr>
          <a:xfrm>
            <a:off x="5166360" y="3954780"/>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6" name="S01.Stage2.Text2"/>
          <p:cNvSpPr txBox="1"/>
          <p:nvPr/>
        </p:nvSpPr>
        <p:spPr>
          <a:xfrm>
            <a:off x="5468112" y="3877056"/>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Long software workloads</a:t>
            </a:r>
          </a:p>
        </p:txBody>
      </p:sp>
      <p:sp>
        <p:nvSpPr>
          <p:cNvPr id="100017" name="S01.Stage2.Bullet3"/>
          <p:cNvSpPr/>
          <p:nvPr/>
        </p:nvSpPr>
        <p:spPr>
          <a:xfrm>
            <a:off x="5166360" y="4247388"/>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8" name="S01.Stage2.Text3"/>
          <p:cNvSpPr txBox="1"/>
          <p:nvPr/>
        </p:nvSpPr>
        <p:spPr>
          <a:xfrm>
            <a:off x="5468112" y="4169664"/>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Limited by single-FPGA capacity</a:t>
            </a:r>
          </a:p>
        </p:txBody>
      </p:sp>
      <p:sp>
        <p:nvSpPr>
          <p:cNvPr id="100019" name="S01.Stage3.Panel"/>
          <p:cNvSpPr/>
          <p:nvPr/>
        </p:nvSpPr>
        <p:spPr>
          <a:xfrm>
            <a:off x="320040" y="5020056"/>
            <a:ext cx="11558016" cy="1554480"/>
          </a:xfrm>
          <a:prstGeom prst="roundRect">
            <a:avLst>
              <a:gd name="adj" fmla="val 10000"/>
            </a:avLst>
          </a:prstGeom>
          <a:solidFill>
            <a:srgbClr val="FCF4E8"/>
          </a:solidFill>
          <a:ln>
            <a:noFill/>
          </a:ln>
        </p:spPr>
        <p:txBody>
          <a:bodyPr lIns="0" tIns="0" rIns="0" bIns="0">
            <a:noAutofit/>
          </a:bodyPr>
          <a:lstStyle/>
          <a:p>
            <a:endParaRPr lang="en-US" sz="1800">
              <a:solidFill>
                <a:srgbClr val="20354A"/>
              </a:solidFill>
              <a:latin typeface="Arial"/>
              <a:ea typeface="Arial"/>
            </a:endParaRPr>
          </a:p>
        </p:txBody>
      </p:sp>
      <p:sp>
        <p:nvSpPr>
          <p:cNvPr id="100020" name="S01.Stage3.Divider"/>
          <p:cNvSpPr/>
          <p:nvPr/>
        </p:nvSpPr>
        <p:spPr>
          <a:xfrm>
            <a:off x="4585716" y="5175504"/>
            <a:ext cx="8230" cy="1243584"/>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21" name="S01.Stage3.Heading"/>
          <p:cNvSpPr txBox="1"/>
          <p:nvPr/>
        </p:nvSpPr>
        <p:spPr>
          <a:xfrm>
            <a:off x="5047488" y="5202936"/>
            <a:ext cx="6492240" cy="365760"/>
          </a:xfrm>
          <a:prstGeom prst="rect">
            <a:avLst/>
          </a:prstGeom>
          <a:noFill/>
          <a:ln>
            <a:noFill/>
          </a:ln>
        </p:spPr>
        <p:txBody>
          <a:bodyPr lIns="0" tIns="0" rIns="0" bIns="0">
            <a:noAutofit/>
          </a:bodyPr>
          <a:lstStyle/>
          <a:p>
            <a:r>
              <a:rPr lang="en-US" sz="2200" b="1">
                <a:solidFill>
                  <a:srgbClr val="183B56"/>
                </a:solidFill>
                <a:latin typeface="Arial"/>
                <a:ea typeface="Arial"/>
              </a:rPr>
              <a:t>Multi-FPGA Prototyping</a:t>
            </a:r>
          </a:p>
        </p:txBody>
      </p:sp>
      <p:sp>
        <p:nvSpPr>
          <p:cNvPr id="100022" name="S01.Stage3.Bullet1"/>
          <p:cNvSpPr/>
          <p:nvPr/>
        </p:nvSpPr>
        <p:spPr>
          <a:xfrm>
            <a:off x="5166360" y="5682996"/>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3" name="S01.Stage3.Text1"/>
          <p:cNvSpPr txBox="1"/>
          <p:nvPr/>
        </p:nvSpPr>
        <p:spPr>
          <a:xfrm>
            <a:off x="5468112" y="5605272"/>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Partition large designs</a:t>
            </a:r>
          </a:p>
        </p:txBody>
      </p:sp>
      <p:sp>
        <p:nvSpPr>
          <p:cNvPr id="100024" name="S01.Stage3.Bullet2"/>
          <p:cNvSpPr/>
          <p:nvPr/>
        </p:nvSpPr>
        <p:spPr>
          <a:xfrm>
            <a:off x="5166360" y="5975604"/>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5" name="S01.Stage3.Text2"/>
          <p:cNvSpPr txBox="1"/>
          <p:nvPr/>
        </p:nvSpPr>
        <p:spPr>
          <a:xfrm>
            <a:off x="5468112" y="5897880"/>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Extend capacity</a:t>
            </a:r>
          </a:p>
        </p:txBody>
      </p:sp>
      <p:sp>
        <p:nvSpPr>
          <p:cNvPr id="100026" name="S01.Stage3.Bullet3"/>
          <p:cNvSpPr/>
          <p:nvPr/>
        </p:nvSpPr>
        <p:spPr>
          <a:xfrm>
            <a:off x="5166360" y="6268212"/>
            <a:ext cx="96012" cy="96012"/>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7" name="S01.Stage3.Text3"/>
          <p:cNvSpPr txBox="1"/>
          <p:nvPr/>
        </p:nvSpPr>
        <p:spPr>
          <a:xfrm>
            <a:off x="5468112" y="6190488"/>
            <a:ext cx="6126480" cy="292608"/>
          </a:xfrm>
          <a:prstGeom prst="rect">
            <a:avLst/>
          </a:prstGeom>
          <a:noFill/>
          <a:ln>
            <a:noFill/>
          </a:ln>
        </p:spPr>
        <p:txBody>
          <a:bodyPr lIns="0" tIns="0" rIns="0" bIns="0">
            <a:noAutofit/>
          </a:bodyPr>
          <a:lstStyle/>
          <a:p>
            <a:r>
              <a:rPr lang="en-US" sz="1800">
                <a:solidFill>
                  <a:srgbClr val="20354A"/>
                </a:solidFill>
                <a:latin typeface="Arial"/>
                <a:ea typeface="Arial"/>
              </a:rPr>
              <a:t>Enable large-scale SoC execution</a:t>
            </a:r>
          </a:p>
        </p:txBody>
      </p:sp>
      <p:sp>
        <p:nvSpPr>
          <p:cNvPr id="100028" name="S01.Progress1"/>
          <p:cNvSpPr/>
          <p:nvPr/>
        </p:nvSpPr>
        <p:spPr>
          <a:xfrm>
            <a:off x="5824728" y="2574036"/>
            <a:ext cx="557784" cy="416052"/>
          </a:xfrm>
          <a:prstGeom prst="downArrow">
            <a:avLst>
              <a:gd name="adj1" fmla="val 48000"/>
              <a:gd name="adj2" fmla="val 55000"/>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29" name="S01.Progress2"/>
          <p:cNvSpPr/>
          <p:nvPr/>
        </p:nvSpPr>
        <p:spPr>
          <a:xfrm>
            <a:off x="5824728" y="4604004"/>
            <a:ext cx="557784" cy="406908"/>
          </a:xfrm>
          <a:prstGeom prst="downArrow">
            <a:avLst>
              <a:gd name="adj1" fmla="val 48000"/>
              <a:gd name="adj2" fmla="val 55000"/>
            </a:avLst>
          </a:prstGeom>
          <a:solidFill>
            <a:srgbClr val="91A5B5"/>
          </a:solidFill>
          <a:ln>
            <a:noFill/>
          </a:ln>
        </p:spPr>
        <p:txBody>
          <a:bodyPr lIns="0" tIns="0" rIns="0" bIns="0">
            <a:noAutofit/>
          </a:bodyPr>
          <a:lstStyle/>
          <a:p>
            <a:endParaRPr lang="en-US" sz="1800">
              <a:solidFill>
                <a:srgbClr val="20354A"/>
              </a:solidFill>
              <a:latin typeface="Arial"/>
              <a:ea typeface="Arial"/>
            </a:endParaRPr>
          </a:p>
        </p:txBody>
      </p:sp>
      <p:pic>
        <p:nvPicPr>
          <p:cNvPr id="100030" name="S01.Monitor" descr="Waveform monitor"/>
          <p:cNvPicPr>
            <a:picLocks noChangeAspect="1"/>
          </p:cNvPicPr>
          <p:nvPr/>
        </p:nvPicPr>
        <p:blipFill>
          <a:blip xmlns:r="http://schemas.openxmlformats.org/officeDocument/2006/relationships" r:embed="R2de3c3112f384698"/>
          <a:srcRect l="12280" t="25518" r="12200" b="19936"/>
          <a:stretch>
            <a:fillRect/>
          </a:stretch>
        </p:blipFill>
        <p:spPr>
          <a:xfrm>
            <a:off x="1737360" y="1175004"/>
            <a:ext cx="1682496" cy="1215235"/>
          </a:xfrm>
          <a:prstGeom prst="rect">
            <a:avLst/>
          </a:prstGeom>
        </p:spPr>
      </p:pic>
      <p:pic>
        <p:nvPicPr>
          <p:cNvPr id="100031" name="S01.SingleFPGA" descr="FPGA chip"/>
          <p:cNvPicPr>
            <a:picLocks noChangeAspect="1"/>
          </p:cNvPicPr>
          <p:nvPr/>
        </p:nvPicPr>
        <p:blipFill>
          <a:blip xmlns:r="http://schemas.openxmlformats.org/officeDocument/2006/relationships" r:embed="R161f83e6988347c9"/>
          <a:srcRect l="21371" t="23684" r="21291" b="20972"/>
          <a:stretch>
            <a:fillRect/>
          </a:stretch>
        </p:blipFill>
        <p:spPr>
          <a:xfrm>
            <a:off x="1965960" y="3209544"/>
            <a:ext cx="1225296" cy="1182692"/>
          </a:xfrm>
          <a:prstGeom prst="rect">
            <a:avLst/>
          </a:prstGeom>
        </p:spPr>
      </p:pic>
      <p:pic>
        <p:nvPicPr>
          <p:cNvPr id="100032" name="S01.MultiFPGA.Left" descr="FPGA chip"/>
          <p:cNvPicPr>
            <a:picLocks noChangeAspect="1"/>
          </p:cNvPicPr>
          <p:nvPr/>
        </p:nvPicPr>
        <p:blipFill>
          <a:blip xmlns:r="http://schemas.openxmlformats.org/officeDocument/2006/relationships" r:embed="Ra8451c42c9ff414f"/>
          <a:srcRect l="21371" t="23684" r="21291" b="20972"/>
          <a:stretch>
            <a:fillRect/>
          </a:stretch>
        </p:blipFill>
        <p:spPr>
          <a:xfrm>
            <a:off x="1024128" y="5321808"/>
            <a:ext cx="1024128" cy="988519"/>
          </a:xfrm>
          <a:prstGeom prst="rect">
            <a:avLst/>
          </a:prstGeom>
        </p:spPr>
      </p:pic>
      <p:pic>
        <p:nvPicPr>
          <p:cNvPr id="100033" name="S01.MultiFPGA.Right" descr="FPGA chip"/>
          <p:cNvPicPr>
            <a:picLocks noChangeAspect="1"/>
          </p:cNvPicPr>
          <p:nvPr/>
        </p:nvPicPr>
        <p:blipFill>
          <a:blip xmlns:r="http://schemas.openxmlformats.org/officeDocument/2006/relationships" r:embed="Ra1dc27e810e94956"/>
          <a:srcRect l="21371" t="23684" r="21291" b="20972"/>
          <a:stretch>
            <a:fillRect/>
          </a:stretch>
        </p:blipFill>
        <p:spPr>
          <a:xfrm>
            <a:off x="3035808" y="5321808"/>
            <a:ext cx="1024128" cy="988519"/>
          </a:xfrm>
          <a:prstGeom prst="rect">
            <a:avLst/>
          </a:prstGeom>
        </p:spPr>
      </p:pic>
      <p:sp>
        <p:nvSpPr>
          <p:cNvPr id="100034" name="S01.MultiFPGA.Link"/>
          <p:cNvSpPr/>
          <p:nvPr/>
        </p:nvSpPr>
        <p:spPr>
          <a:xfrm>
            <a:off x="2093976" y="5655564"/>
            <a:ext cx="896112" cy="310896"/>
          </a:xfrm>
          <a:prstGeom prst="leftRightArrow">
            <a:avLst>
              <a:gd name="adj1" fmla="val 44000"/>
              <a:gd name="adj2" fmla="val 28000"/>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35" name="S01.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1</a:t>
            </a:r>
          </a:p>
        </p:txBody>
      </p:sp>
    </p:spTree>
  </p:cSld>
</p:sld>
</file>

<file path=ppt/slides/merged04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2.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2. Multi-FPGA Prototyping Is Fast, but Hard to Debug</a:t>
            </a:r>
          </a:p>
        </p:txBody>
      </p:sp>
      <p:sp>
        <p:nvSpPr>
          <p:cNvPr id="100000" name="S02.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2.Prototype.Panel"/>
          <p:cNvSpPr/>
          <p:nvPr/>
        </p:nvSpPr>
        <p:spPr>
          <a:xfrm>
            <a:off x="320040" y="969264"/>
            <a:ext cx="5687568" cy="5605272"/>
          </a:xfrm>
          <a:prstGeom prst="roundRect">
            <a:avLst>
              <a:gd name="adj" fmla="val 3000"/>
            </a:avLst>
          </a:prstGeom>
          <a:solidFill>
            <a:srgbClr val="FCF4E8"/>
          </a:solidFill>
          <a:ln>
            <a:noFill/>
          </a:ln>
        </p:spPr>
        <p:txBody>
          <a:bodyPr lIns="0" tIns="0" rIns="0" bIns="0">
            <a:noAutofit/>
          </a:bodyPr>
          <a:lstStyle/>
          <a:p>
            <a:endParaRPr lang="en-US" sz="1800">
              <a:solidFill>
                <a:srgbClr val="20354A"/>
              </a:solidFill>
              <a:latin typeface="Arial"/>
              <a:ea typeface="Arial"/>
            </a:endParaRPr>
          </a:p>
        </p:txBody>
      </p:sp>
      <p:sp>
        <p:nvSpPr>
          <p:cNvPr id="100002" name="S02.Prototype.Heading"/>
          <p:cNvSpPr txBox="1"/>
          <p:nvPr/>
        </p:nvSpPr>
        <p:spPr>
          <a:xfrm>
            <a:off x="502920" y="1207008"/>
            <a:ext cx="5321808" cy="384048"/>
          </a:xfrm>
          <a:prstGeom prst="rect">
            <a:avLst/>
          </a:prstGeom>
          <a:noFill/>
          <a:ln>
            <a:noFill/>
          </a:ln>
        </p:spPr>
        <p:txBody>
          <a:bodyPr lIns="0" tIns="0" rIns="0" bIns="0">
            <a:noAutofit/>
          </a:bodyPr>
          <a:lstStyle/>
          <a:p>
            <a:pPr algn="ctr"/>
            <a:r>
              <a:rPr lang="en-US" sz="2200" b="1">
                <a:solidFill>
                  <a:srgbClr val="183B56"/>
                </a:solidFill>
                <a:latin typeface="Arial"/>
                <a:ea typeface="Arial"/>
              </a:rPr>
              <a:t>Multi-FPGA Prototyping</a:t>
            </a:r>
          </a:p>
        </p:txBody>
      </p:sp>
      <p:sp>
        <p:nvSpPr>
          <p:cNvPr id="100003" name="S02.Prototype.Qualifier"/>
          <p:cNvSpPr txBox="1"/>
          <p:nvPr/>
        </p:nvSpPr>
        <p:spPr>
          <a:xfrm>
            <a:off x="548640" y="1664208"/>
            <a:ext cx="5230368" cy="274320"/>
          </a:xfrm>
          <a:prstGeom prst="rect">
            <a:avLst/>
          </a:prstGeom>
          <a:noFill/>
          <a:ln>
            <a:noFill/>
          </a:ln>
        </p:spPr>
        <p:txBody>
          <a:bodyPr lIns="0" tIns="0" rIns="0" bIns="0">
            <a:noAutofit/>
          </a:bodyPr>
          <a:lstStyle/>
          <a:p>
            <a:pPr algn="ctr"/>
            <a:r>
              <a:rPr lang="en-US" sz="1500">
                <a:solidFill>
                  <a:srgbClr val="607184"/>
                </a:solidFill>
                <a:latin typeface="Arial"/>
                <a:ea typeface="Arial"/>
              </a:rPr>
              <a:t>Typical strengths &amp; limitations</a:t>
            </a:r>
          </a:p>
        </p:txBody>
      </p:sp>
      <p:sp>
        <p:nvSpPr>
          <p:cNvPr id="100004" name="S02.Prototype.Divider"/>
          <p:cNvSpPr/>
          <p:nvPr/>
        </p:nvSpPr>
        <p:spPr>
          <a:xfrm>
            <a:off x="530352" y="4453128"/>
            <a:ext cx="5266944" cy="10973"/>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05" name="S02.Replay.Panel"/>
          <p:cNvSpPr/>
          <p:nvPr/>
        </p:nvSpPr>
        <p:spPr>
          <a:xfrm>
            <a:off x="6190488" y="969264"/>
            <a:ext cx="5687568" cy="5605272"/>
          </a:xfrm>
          <a:prstGeom prst="roundRect">
            <a:avLst>
              <a:gd name="adj" fmla="val 30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6" name="S02.Replay.Heading"/>
          <p:cNvSpPr txBox="1"/>
          <p:nvPr/>
        </p:nvSpPr>
        <p:spPr>
          <a:xfrm>
            <a:off x="6373368" y="1207008"/>
            <a:ext cx="5321808" cy="384048"/>
          </a:xfrm>
          <a:prstGeom prst="rect">
            <a:avLst/>
          </a:prstGeom>
          <a:noFill/>
          <a:ln>
            <a:noFill/>
          </a:ln>
        </p:spPr>
        <p:txBody>
          <a:bodyPr lIns="0" tIns="0" rIns="0" bIns="0">
            <a:noAutofit/>
          </a:bodyPr>
          <a:lstStyle/>
          <a:p>
            <a:pPr algn="ctr"/>
            <a:r>
              <a:rPr lang="en-US" sz="2200" b="1">
                <a:solidFill>
                  <a:srgbClr val="183B56"/>
                </a:solidFill>
                <a:latin typeface="Arial"/>
                <a:ea typeface="Arial"/>
              </a:rPr>
              <a:t>Replayable Multi-FPGA Emulation</a:t>
            </a:r>
          </a:p>
        </p:txBody>
      </p:sp>
      <p:sp>
        <p:nvSpPr>
          <p:cNvPr id="100007" name="S02.Replay.Qualifier"/>
          <p:cNvSpPr txBox="1"/>
          <p:nvPr/>
        </p:nvSpPr>
        <p:spPr>
          <a:xfrm>
            <a:off x="6419088" y="1664208"/>
            <a:ext cx="5230368" cy="274320"/>
          </a:xfrm>
          <a:prstGeom prst="rect">
            <a:avLst/>
          </a:prstGeom>
          <a:noFill/>
          <a:ln>
            <a:noFill/>
          </a:ln>
        </p:spPr>
        <p:txBody>
          <a:bodyPr lIns="0" tIns="0" rIns="0" bIns="0">
            <a:noAutofit/>
          </a:bodyPr>
          <a:lstStyle/>
          <a:p>
            <a:pPr algn="ctr"/>
            <a:r>
              <a:rPr lang="en-US" sz="1500">
                <a:solidFill>
                  <a:srgbClr val="607184"/>
                </a:solidFill>
                <a:latin typeface="Arial"/>
                <a:ea typeface="Arial"/>
              </a:rPr>
              <a:t>Target capabilities</a:t>
            </a:r>
          </a:p>
        </p:txBody>
      </p:sp>
      <p:sp>
        <p:nvSpPr>
          <p:cNvPr id="100008" name="S02.Replay.Divider"/>
          <p:cNvSpPr/>
          <p:nvPr/>
        </p:nvSpPr>
        <p:spPr>
          <a:xfrm>
            <a:off x="6400800" y="4453128"/>
            <a:ext cx="5266944" cy="10973"/>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09" name="S02.Prototype.Item1.Badge"/>
          <p:cNvSpPr/>
          <p:nvPr/>
        </p:nvSpPr>
        <p:spPr>
          <a:xfrm>
            <a:off x="795528" y="2084832"/>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0" name="S02.Prototype.Item1.CheckShort"/>
          <p:cNvSpPr/>
          <p:nvPr/>
        </p:nvSpPr>
        <p:spPr>
          <a:xfrm rot="2700000">
            <a:off x="868680" y="2244852"/>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11" name="S02.Prototype.Item1.CheckLong"/>
          <p:cNvSpPr/>
          <p:nvPr/>
        </p:nvSpPr>
        <p:spPr>
          <a:xfrm rot="18900000">
            <a:off x="909828" y="2219249"/>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12" name="S02.Prototype.Text1"/>
          <p:cNvSpPr txBox="1"/>
          <p:nvPr/>
        </p:nvSpPr>
        <p:spPr>
          <a:xfrm>
            <a:off x="1280160" y="2087575"/>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Large design capacity</a:t>
            </a:r>
          </a:p>
        </p:txBody>
      </p:sp>
      <p:sp>
        <p:nvSpPr>
          <p:cNvPr id="100013" name="S02.Prototype.Item2.Badge"/>
          <p:cNvSpPr/>
          <p:nvPr/>
        </p:nvSpPr>
        <p:spPr>
          <a:xfrm>
            <a:off x="795528" y="2542032"/>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4" name="S02.Prototype.Item2.CheckShort"/>
          <p:cNvSpPr/>
          <p:nvPr/>
        </p:nvSpPr>
        <p:spPr>
          <a:xfrm rot="2700000">
            <a:off x="868680" y="2702052"/>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15" name="S02.Prototype.Item2.CheckLong"/>
          <p:cNvSpPr/>
          <p:nvPr/>
        </p:nvSpPr>
        <p:spPr>
          <a:xfrm rot="18900000">
            <a:off x="909828" y="2676449"/>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16" name="S02.Prototype.Text2"/>
          <p:cNvSpPr txBox="1"/>
          <p:nvPr/>
        </p:nvSpPr>
        <p:spPr>
          <a:xfrm>
            <a:off x="1280160" y="2544775"/>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High execution speed</a:t>
            </a:r>
          </a:p>
        </p:txBody>
      </p:sp>
      <p:sp>
        <p:nvSpPr>
          <p:cNvPr id="100017" name="S02.Prototype.Item3.Badge"/>
          <p:cNvSpPr/>
          <p:nvPr/>
        </p:nvSpPr>
        <p:spPr>
          <a:xfrm>
            <a:off x="795528" y="2999232"/>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8" name="S02.Prototype.Item3.CheckShort"/>
          <p:cNvSpPr/>
          <p:nvPr/>
        </p:nvSpPr>
        <p:spPr>
          <a:xfrm rot="2700000">
            <a:off x="868680" y="3159252"/>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19" name="S02.Prototype.Item3.CheckLong"/>
          <p:cNvSpPr/>
          <p:nvPr/>
        </p:nvSpPr>
        <p:spPr>
          <a:xfrm rot="18900000">
            <a:off x="909828" y="3133649"/>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20" name="S02.Prototype.Text3"/>
          <p:cNvSpPr txBox="1"/>
          <p:nvPr/>
        </p:nvSpPr>
        <p:spPr>
          <a:xfrm>
            <a:off x="1280160" y="3001975"/>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Long software workloads</a:t>
            </a:r>
          </a:p>
        </p:txBody>
      </p:sp>
      <p:sp>
        <p:nvSpPr>
          <p:cNvPr id="100021" name="S02.Prototype.Item4.Badge"/>
          <p:cNvSpPr/>
          <p:nvPr/>
        </p:nvSpPr>
        <p:spPr>
          <a:xfrm>
            <a:off x="795528" y="3456432"/>
            <a:ext cx="310896" cy="310896"/>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22" name="S02.Prototype.Item4.Minus"/>
          <p:cNvSpPr/>
          <p:nvPr/>
        </p:nvSpPr>
        <p:spPr>
          <a:xfrm>
            <a:off x="868680" y="3592678"/>
            <a:ext cx="16459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23" name="S02.Prototype.Text4"/>
          <p:cNvSpPr txBox="1"/>
          <p:nvPr/>
        </p:nvSpPr>
        <p:spPr>
          <a:xfrm>
            <a:off x="1280160" y="3459175"/>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Limited visibility</a:t>
            </a:r>
          </a:p>
        </p:txBody>
      </p:sp>
      <p:sp>
        <p:nvSpPr>
          <p:cNvPr id="100024" name="S02.Prototype.Item5.Badge"/>
          <p:cNvSpPr/>
          <p:nvPr/>
        </p:nvSpPr>
        <p:spPr>
          <a:xfrm>
            <a:off x="795528" y="3913632"/>
            <a:ext cx="310896" cy="310896"/>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25" name="S02.Prototype.Item5.Minus"/>
          <p:cNvSpPr/>
          <p:nvPr/>
        </p:nvSpPr>
        <p:spPr>
          <a:xfrm>
            <a:off x="868680" y="4049878"/>
            <a:ext cx="16459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26" name="S02.Prototype.Text5"/>
          <p:cNvSpPr txBox="1"/>
          <p:nvPr/>
        </p:nvSpPr>
        <p:spPr>
          <a:xfrm>
            <a:off x="1280160" y="3916375"/>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Limited full-state replay</a:t>
            </a:r>
          </a:p>
        </p:txBody>
      </p:sp>
      <p:sp>
        <p:nvSpPr>
          <p:cNvPr id="100027" name="S02.Replay.Item1.Badge"/>
          <p:cNvSpPr/>
          <p:nvPr/>
        </p:nvSpPr>
        <p:spPr>
          <a:xfrm>
            <a:off x="6556248" y="2084832"/>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8" name="S02.Replay.Item1.CheckShort"/>
          <p:cNvSpPr/>
          <p:nvPr/>
        </p:nvSpPr>
        <p:spPr>
          <a:xfrm rot="2700000">
            <a:off x="6629400" y="2244852"/>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29" name="S02.Replay.Item1.CheckLong"/>
          <p:cNvSpPr/>
          <p:nvPr/>
        </p:nvSpPr>
        <p:spPr>
          <a:xfrm rot="18900000">
            <a:off x="6670548" y="2219249"/>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0" name="S02.Replay.Text1"/>
          <p:cNvSpPr txBox="1"/>
          <p:nvPr/>
        </p:nvSpPr>
        <p:spPr>
          <a:xfrm>
            <a:off x="7040880" y="2087575"/>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Run large RTL designs</a:t>
            </a:r>
          </a:p>
        </p:txBody>
      </p:sp>
      <p:sp>
        <p:nvSpPr>
          <p:cNvPr id="100031" name="S02.Replay.Item2.Badge"/>
          <p:cNvSpPr/>
          <p:nvPr/>
        </p:nvSpPr>
        <p:spPr>
          <a:xfrm>
            <a:off x="6556248" y="2478024"/>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32" name="S02.Replay.Item2.CheckShort"/>
          <p:cNvSpPr/>
          <p:nvPr/>
        </p:nvSpPr>
        <p:spPr>
          <a:xfrm rot="2700000">
            <a:off x="6629400" y="2638044"/>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3" name="S02.Replay.Item2.CheckLong"/>
          <p:cNvSpPr/>
          <p:nvPr/>
        </p:nvSpPr>
        <p:spPr>
          <a:xfrm rot="18900000">
            <a:off x="6670548" y="2612441"/>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4" name="S02.Replay.Text2"/>
          <p:cNvSpPr txBox="1"/>
          <p:nvPr/>
        </p:nvSpPr>
        <p:spPr>
          <a:xfrm>
            <a:off x="7040880" y="2480767"/>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Cycle-consistent global pause</a:t>
            </a:r>
          </a:p>
        </p:txBody>
      </p:sp>
      <p:sp>
        <p:nvSpPr>
          <p:cNvPr id="100035" name="S02.Replay.Item3.Badge"/>
          <p:cNvSpPr/>
          <p:nvPr/>
        </p:nvSpPr>
        <p:spPr>
          <a:xfrm>
            <a:off x="6556248" y="2871216"/>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36" name="S02.Replay.Item3.CheckShort"/>
          <p:cNvSpPr/>
          <p:nvPr/>
        </p:nvSpPr>
        <p:spPr>
          <a:xfrm rot="2700000">
            <a:off x="6629400" y="3031236"/>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7" name="S02.Replay.Item3.CheckLong"/>
          <p:cNvSpPr/>
          <p:nvPr/>
        </p:nvSpPr>
        <p:spPr>
          <a:xfrm rot="18900000">
            <a:off x="6670548" y="3005633"/>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8" name="S02.Replay.Text3"/>
          <p:cNvSpPr txBox="1"/>
          <p:nvPr/>
        </p:nvSpPr>
        <p:spPr>
          <a:xfrm>
            <a:off x="7040880" y="2873959"/>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Full-state extraction</a:t>
            </a:r>
          </a:p>
        </p:txBody>
      </p:sp>
      <p:sp>
        <p:nvSpPr>
          <p:cNvPr id="100039" name="S02.Replay.Item4.Badge"/>
          <p:cNvSpPr/>
          <p:nvPr/>
        </p:nvSpPr>
        <p:spPr>
          <a:xfrm>
            <a:off x="6556248" y="3264408"/>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0" name="S02.Replay.Item4.CheckShort"/>
          <p:cNvSpPr/>
          <p:nvPr/>
        </p:nvSpPr>
        <p:spPr>
          <a:xfrm rot="2700000">
            <a:off x="6629400" y="3424428"/>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1" name="S02.Replay.Item4.CheckLong"/>
          <p:cNvSpPr/>
          <p:nvPr/>
        </p:nvSpPr>
        <p:spPr>
          <a:xfrm rot="18900000">
            <a:off x="6670548" y="3398825"/>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2" name="S02.Replay.Text4"/>
          <p:cNvSpPr txBox="1"/>
          <p:nvPr/>
        </p:nvSpPr>
        <p:spPr>
          <a:xfrm>
            <a:off x="7040880" y="3267151"/>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State restore</a:t>
            </a:r>
          </a:p>
        </p:txBody>
      </p:sp>
      <p:sp>
        <p:nvSpPr>
          <p:cNvPr id="100043" name="S02.Replay.Item5.Badge"/>
          <p:cNvSpPr/>
          <p:nvPr/>
        </p:nvSpPr>
        <p:spPr>
          <a:xfrm>
            <a:off x="6556248" y="3657600"/>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4" name="S02.Replay.Item5.CheckShort"/>
          <p:cNvSpPr/>
          <p:nvPr/>
        </p:nvSpPr>
        <p:spPr>
          <a:xfrm rot="2700000">
            <a:off x="6629400" y="3817620"/>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5" name="S02.Replay.Item5.CheckLong"/>
          <p:cNvSpPr/>
          <p:nvPr/>
        </p:nvSpPr>
        <p:spPr>
          <a:xfrm rot="18900000">
            <a:off x="6670548" y="3792017"/>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6" name="S02.Replay.Text5"/>
          <p:cNvSpPr txBox="1"/>
          <p:nvPr/>
        </p:nvSpPr>
        <p:spPr>
          <a:xfrm>
            <a:off x="7040880" y="3660343"/>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Deterministic replay</a:t>
            </a:r>
          </a:p>
        </p:txBody>
      </p:sp>
      <p:sp>
        <p:nvSpPr>
          <p:cNvPr id="100047" name="S02.Replay.Item6.Badge"/>
          <p:cNvSpPr/>
          <p:nvPr/>
        </p:nvSpPr>
        <p:spPr>
          <a:xfrm>
            <a:off x="6556248" y="4050792"/>
            <a:ext cx="310896" cy="3108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8" name="S02.Replay.Item6.CheckShort"/>
          <p:cNvSpPr/>
          <p:nvPr/>
        </p:nvSpPr>
        <p:spPr>
          <a:xfrm rot="2700000">
            <a:off x="6629400" y="4210812"/>
            <a:ext cx="96012"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9" name="S02.Replay.Item6.CheckLong"/>
          <p:cNvSpPr/>
          <p:nvPr/>
        </p:nvSpPr>
        <p:spPr>
          <a:xfrm rot="18900000">
            <a:off x="6670548" y="4185209"/>
            <a:ext cx="146304" cy="39319"/>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50" name="S02.Replay.Text6"/>
          <p:cNvSpPr txBox="1"/>
          <p:nvPr/>
        </p:nvSpPr>
        <p:spPr>
          <a:xfrm>
            <a:off x="7040880" y="4053535"/>
            <a:ext cx="4572000" cy="310896"/>
          </a:xfrm>
          <a:prstGeom prst="rect">
            <a:avLst/>
          </a:prstGeom>
          <a:noFill/>
          <a:ln>
            <a:noFill/>
          </a:ln>
        </p:spPr>
        <p:txBody>
          <a:bodyPr lIns="0" tIns="0" rIns="0" bIns="0">
            <a:noAutofit/>
          </a:bodyPr>
          <a:lstStyle/>
          <a:p>
            <a:r>
              <a:rPr lang="en-US" sz="1800">
                <a:solidFill>
                  <a:srgbClr val="20354A"/>
                </a:solidFill>
                <a:latin typeface="Arial"/>
                <a:ea typeface="Arial"/>
              </a:rPr>
              <a:t>Waveform reconstruction</a:t>
            </a:r>
          </a:p>
        </p:txBody>
      </p:sp>
      <p:pic>
        <p:nvPicPr>
          <p:cNvPr id="100051" name="S02.Prototype.FPGA1" descr="FPGA chip"/>
          <p:cNvPicPr>
            <a:picLocks noChangeAspect="1"/>
          </p:cNvPicPr>
          <p:nvPr/>
        </p:nvPicPr>
        <p:blipFill>
          <a:blip xmlns:r="http://schemas.openxmlformats.org/officeDocument/2006/relationships" r:embed="R1728d0081fc841c4"/>
          <a:srcRect l="21371" t="23684" r="21291" b="20972"/>
          <a:stretch>
            <a:fillRect/>
          </a:stretch>
        </p:blipFill>
        <p:spPr>
          <a:xfrm>
            <a:off x="996696" y="4901184"/>
            <a:ext cx="859536" cy="829650"/>
          </a:xfrm>
          <a:prstGeom prst="rect">
            <a:avLst/>
          </a:prstGeom>
        </p:spPr>
      </p:pic>
      <p:pic>
        <p:nvPicPr>
          <p:cNvPr id="100052" name="S02.Prototype.FPGA2" descr="FPGA chip"/>
          <p:cNvPicPr>
            <a:picLocks noChangeAspect="1"/>
          </p:cNvPicPr>
          <p:nvPr/>
        </p:nvPicPr>
        <p:blipFill>
          <a:blip xmlns:r="http://schemas.openxmlformats.org/officeDocument/2006/relationships" r:embed="R42ee548f53d9400a"/>
          <a:srcRect l="21371" t="23684" r="21291" b="20972"/>
          <a:stretch>
            <a:fillRect/>
          </a:stretch>
        </p:blipFill>
        <p:spPr>
          <a:xfrm>
            <a:off x="2734056" y="4901184"/>
            <a:ext cx="859536" cy="829650"/>
          </a:xfrm>
          <a:prstGeom prst="rect">
            <a:avLst/>
          </a:prstGeom>
        </p:spPr>
      </p:pic>
      <p:pic>
        <p:nvPicPr>
          <p:cNvPr id="100053" name="S02.Prototype.FPGA3" descr="FPGA chip"/>
          <p:cNvPicPr>
            <a:picLocks noChangeAspect="1"/>
          </p:cNvPicPr>
          <p:nvPr/>
        </p:nvPicPr>
        <p:blipFill>
          <a:blip xmlns:r="http://schemas.openxmlformats.org/officeDocument/2006/relationships" r:embed="Rf7a27cac0c4d4595"/>
          <a:srcRect l="21371" t="23684" r="21291" b="20972"/>
          <a:stretch>
            <a:fillRect/>
          </a:stretch>
        </p:blipFill>
        <p:spPr>
          <a:xfrm>
            <a:off x="4471416" y="4901184"/>
            <a:ext cx="859536" cy="829650"/>
          </a:xfrm>
          <a:prstGeom prst="rect">
            <a:avLst/>
          </a:prstGeom>
        </p:spPr>
      </p:pic>
      <p:sp>
        <p:nvSpPr>
          <p:cNvPr id="100054" name="S02.Prototype.Run"/>
          <p:cNvSpPr txBox="1"/>
          <p:nvPr/>
        </p:nvSpPr>
        <p:spPr>
          <a:xfrm>
            <a:off x="2432304" y="4599432"/>
            <a:ext cx="1463040" cy="274320"/>
          </a:xfrm>
          <a:prstGeom prst="rect">
            <a:avLst/>
          </a:prstGeom>
          <a:noFill/>
          <a:ln>
            <a:noFill/>
          </a:ln>
        </p:spPr>
        <p:txBody>
          <a:bodyPr lIns="0" tIns="0" rIns="0" bIns="0">
            <a:noAutofit/>
          </a:bodyPr>
          <a:lstStyle/>
          <a:p>
            <a:pPr algn="ctr"/>
            <a:r>
              <a:rPr lang="en-US" sz="1800" b="1">
                <a:solidFill>
                  <a:srgbClr val="183B56"/>
                </a:solidFill>
                <a:latin typeface="Arial"/>
                <a:ea typeface="Arial"/>
              </a:rPr>
              <a:t>Run</a:t>
            </a:r>
          </a:p>
        </p:txBody>
      </p:sp>
      <p:sp>
        <p:nvSpPr>
          <p:cNvPr id="100055" name="S02.Prototype.Link1"/>
          <p:cNvSpPr/>
          <p:nvPr/>
        </p:nvSpPr>
        <p:spPr>
          <a:xfrm>
            <a:off x="1911096" y="5184648"/>
            <a:ext cx="768096" cy="237744"/>
          </a:xfrm>
          <a:prstGeom prs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56" name="S02.Prototype.Link2"/>
          <p:cNvSpPr/>
          <p:nvPr/>
        </p:nvSpPr>
        <p:spPr>
          <a:xfrm>
            <a:off x="3648456" y="5184648"/>
            <a:ext cx="768096" cy="237744"/>
          </a:xfrm>
          <a:prstGeom prs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57" name="S02.Prototype.VisibilityArrow"/>
          <p:cNvSpPr/>
          <p:nvPr/>
        </p:nvSpPr>
        <p:spPr>
          <a:xfrm>
            <a:off x="3026664" y="5779008"/>
            <a:ext cx="274320" cy="274320"/>
          </a:xfrm>
          <a:prstGeom prst="downArrow">
            <a:avLst/>
          </a:prstGeom>
          <a:solidFill>
            <a:srgbClr val="91A5B5"/>
          </a:solidFill>
          <a:ln>
            <a:noFill/>
          </a:ln>
        </p:spPr>
        <p:txBody>
          <a:bodyPr lIns="0" tIns="0" rIns="0" bIns="0">
            <a:noAutofit/>
          </a:bodyPr>
          <a:lstStyle/>
          <a:p>
            <a:endParaRPr lang="en-US" sz="1800">
              <a:solidFill>
                <a:srgbClr val="20354A"/>
              </a:solidFill>
              <a:latin typeface="Arial"/>
              <a:ea typeface="Arial"/>
            </a:endParaRPr>
          </a:p>
        </p:txBody>
      </p:sp>
      <p:sp>
        <p:nvSpPr>
          <p:cNvPr id="100058" name="S02.Prototype.Visibility"/>
          <p:cNvSpPr/>
          <p:nvPr/>
        </p:nvSpPr>
        <p:spPr>
          <a:xfrm>
            <a:off x="1920240" y="6071616"/>
            <a:ext cx="2487168" cy="365760"/>
          </a:xfrm>
          <a:prstGeom prst="roundRect">
            <a:avLst>
              <a:gd name="adj" fmla="val 15000"/>
            </a:avLst>
          </a:prstGeom>
          <a:solidFill>
            <a:srgbClr val="E0E7EC"/>
          </a:solidFill>
          <a:ln>
            <a:noFill/>
          </a:ln>
        </p:spPr>
        <p:txBody>
          <a:bodyPr lIns="0" tIns="0" rIns="0" bIns="0" anchor="ctr">
            <a:noAutofit/>
          </a:bodyPr>
          <a:lstStyle/>
          <a:p>
            <a:pPr algn="ctr"/>
            <a:r>
              <a:rPr lang="en-US" sz="1800" b="1">
                <a:solidFill>
                  <a:srgbClr val="183B56"/>
                </a:solidFill>
                <a:latin typeface="Arial"/>
                <a:ea typeface="Arial"/>
              </a:rPr>
              <a:t>Limited visibility</a:t>
            </a:r>
          </a:p>
        </p:txBody>
      </p:sp>
      <p:sp>
        <p:nvSpPr>
          <p:cNvPr id="100059" name="S02.Workflow.Run"/>
          <p:cNvSpPr/>
          <p:nvPr/>
        </p:nvSpPr>
        <p:spPr>
          <a:xfrm>
            <a:off x="6382512" y="5074920"/>
            <a:ext cx="950976" cy="466344"/>
          </a:xfrm>
          <a:prstGeom prst="roundRect">
            <a:avLst>
              <a:gd name="adj" fmla="val 14000"/>
            </a:avLst>
          </a:prstGeom>
          <a:solidFill>
            <a:srgbClr val="FFFFFF"/>
          </a:solidFill>
          <a:ln w="15240">
            <a:solidFill>
              <a:srgbClr val="008C95"/>
            </a:solidFill>
          </a:ln>
        </p:spPr>
        <p:txBody>
          <a:bodyPr lIns="0" tIns="0" rIns="0" bIns="0" anchor="ctr">
            <a:noAutofit/>
          </a:bodyPr>
          <a:lstStyle/>
          <a:p>
            <a:pPr algn="ctr"/>
            <a:r>
              <a:rPr lang="en-US" sz="1600" b="1">
                <a:solidFill>
                  <a:srgbClr val="183B56"/>
                </a:solidFill>
                <a:latin typeface="Arial"/>
                <a:ea typeface="Arial"/>
              </a:rPr>
              <a:t>Run</a:t>
            </a:r>
          </a:p>
        </p:txBody>
      </p:sp>
      <p:sp>
        <p:nvSpPr>
          <p:cNvPr id="100060" name="S02.Workflow.Pause"/>
          <p:cNvSpPr/>
          <p:nvPr/>
        </p:nvSpPr>
        <p:spPr>
          <a:xfrm>
            <a:off x="7470648" y="5074920"/>
            <a:ext cx="950976" cy="466344"/>
          </a:xfrm>
          <a:prstGeom prst="roundRect">
            <a:avLst>
              <a:gd name="adj" fmla="val 14000"/>
            </a:avLst>
          </a:prstGeom>
          <a:solidFill>
            <a:srgbClr val="FFF0D8"/>
          </a:solidFill>
          <a:ln w="15240">
            <a:solidFill>
              <a:srgbClr val="DF973E"/>
            </a:solidFill>
          </a:ln>
        </p:spPr>
        <p:txBody>
          <a:bodyPr lIns="0" tIns="0" rIns="0" bIns="0" anchor="ctr">
            <a:noAutofit/>
          </a:bodyPr>
          <a:lstStyle/>
          <a:p>
            <a:pPr algn="ctr"/>
            <a:r>
              <a:rPr lang="en-US" sz="1600" b="1">
                <a:solidFill>
                  <a:srgbClr val="183B56"/>
                </a:solidFill>
                <a:latin typeface="Arial"/>
                <a:ea typeface="Arial"/>
              </a:rPr>
              <a:t>Pause</a:t>
            </a:r>
          </a:p>
        </p:txBody>
      </p:sp>
      <p:sp>
        <p:nvSpPr>
          <p:cNvPr id="100061" name="S02.Workflow.Dump"/>
          <p:cNvSpPr/>
          <p:nvPr/>
        </p:nvSpPr>
        <p:spPr>
          <a:xfrm>
            <a:off x="8558784" y="5074920"/>
            <a:ext cx="950976" cy="466344"/>
          </a:xfrm>
          <a:prstGeom prst="roundRect">
            <a:avLst>
              <a:gd name="adj" fmla="val 14000"/>
            </a:avLst>
          </a:prstGeom>
          <a:solidFill>
            <a:srgbClr val="FFFFFF"/>
          </a:solidFill>
          <a:ln w="15240">
            <a:solidFill>
              <a:srgbClr val="008C95"/>
            </a:solidFill>
          </a:ln>
        </p:spPr>
        <p:txBody>
          <a:bodyPr lIns="0" tIns="0" rIns="0" bIns="0" anchor="ctr">
            <a:noAutofit/>
          </a:bodyPr>
          <a:lstStyle/>
          <a:p>
            <a:pPr algn="ctr"/>
            <a:r>
              <a:rPr lang="en-US" sz="1600" b="1">
                <a:solidFill>
                  <a:srgbClr val="183B56"/>
                </a:solidFill>
                <a:latin typeface="Arial"/>
                <a:ea typeface="Arial"/>
              </a:rPr>
              <a:t>Dump</a:t>
            </a:r>
          </a:p>
        </p:txBody>
      </p:sp>
      <p:sp>
        <p:nvSpPr>
          <p:cNvPr id="100062" name="S02.Workflow.Restore"/>
          <p:cNvSpPr/>
          <p:nvPr/>
        </p:nvSpPr>
        <p:spPr>
          <a:xfrm>
            <a:off x="9646920" y="5074920"/>
            <a:ext cx="950976" cy="466344"/>
          </a:xfrm>
          <a:prstGeom prst="roundRect">
            <a:avLst>
              <a:gd name="adj" fmla="val 14000"/>
            </a:avLst>
          </a:prstGeom>
          <a:solidFill>
            <a:srgbClr val="FFFFFF"/>
          </a:solidFill>
          <a:ln w="15240">
            <a:solidFill>
              <a:srgbClr val="008C95"/>
            </a:solidFill>
          </a:ln>
        </p:spPr>
        <p:txBody>
          <a:bodyPr lIns="0" tIns="0" rIns="0" bIns="0" anchor="ctr">
            <a:noAutofit/>
          </a:bodyPr>
          <a:lstStyle/>
          <a:p>
            <a:pPr algn="ctr"/>
            <a:r>
              <a:rPr lang="en-US" sz="1600" b="1">
                <a:solidFill>
                  <a:srgbClr val="183B56"/>
                </a:solidFill>
                <a:latin typeface="Arial"/>
                <a:ea typeface="Arial"/>
              </a:rPr>
              <a:t>Restore</a:t>
            </a:r>
          </a:p>
        </p:txBody>
      </p:sp>
      <p:sp>
        <p:nvSpPr>
          <p:cNvPr id="100063" name="S02.Workflow.Replay"/>
          <p:cNvSpPr/>
          <p:nvPr/>
        </p:nvSpPr>
        <p:spPr>
          <a:xfrm>
            <a:off x="10735056" y="5074920"/>
            <a:ext cx="950976" cy="466344"/>
          </a:xfrm>
          <a:prstGeom prst="roundRect">
            <a:avLst>
              <a:gd name="adj" fmla="val 14000"/>
            </a:avLst>
          </a:prstGeom>
          <a:solidFill>
            <a:srgbClr val="FFFFFF"/>
          </a:solidFill>
          <a:ln w="15240">
            <a:solidFill>
              <a:srgbClr val="008C95"/>
            </a:solidFill>
          </a:ln>
        </p:spPr>
        <p:txBody>
          <a:bodyPr lIns="0" tIns="0" rIns="0" bIns="0" anchor="ctr">
            <a:noAutofit/>
          </a:bodyPr>
          <a:lstStyle/>
          <a:p>
            <a:pPr algn="ctr"/>
            <a:r>
              <a:rPr lang="en-US" sz="1600" b="1">
                <a:solidFill>
                  <a:srgbClr val="183B56"/>
                </a:solidFill>
                <a:latin typeface="Arial"/>
                <a:ea typeface="Arial"/>
              </a:rPr>
              <a:t>Replay</a:t>
            </a:r>
          </a:p>
        </p:txBody>
      </p:sp>
      <p:cxnSp>
        <p:nvCxnSpPr>
          <p:cNvPr id="100064" name="S02.Workflow.RunToPause"/>
          <p:cNvCxnSpPr>
            <a:stCxn id="100059" idx="0"/>
            <a:endCxn id="100060" idx="0"/>
          </p:cNvCxnSpPr>
          <p:nvPr/>
        </p:nvCxnSpPr>
        <p:spPr>
          <a:xfrm>
            <a:off x="7333488" y="5308092"/>
            <a:ext cx="137160" cy="0"/>
          </a:xfrm>
          <a:prstGeom prst="straightConnector1">
            <a:avLst/>
          </a:prstGeom>
          <a:ln w="22860">
            <a:solidFill>
              <a:srgbClr val="183B56"/>
            </a:solidFill>
            <a:tailEnd type="triangle"/>
          </a:ln>
        </p:spPr>
      </p:cxnSp>
      <p:cxnSp>
        <p:nvCxnSpPr>
          <p:cNvPr id="100065" name="S02.Workflow.PauseToDump"/>
          <p:cNvCxnSpPr>
            <a:stCxn id="100060" idx="0"/>
            <a:endCxn id="100061" idx="0"/>
          </p:cNvCxnSpPr>
          <p:nvPr/>
        </p:nvCxnSpPr>
        <p:spPr>
          <a:xfrm>
            <a:off x="8421624" y="5308092"/>
            <a:ext cx="137160" cy="0"/>
          </a:xfrm>
          <a:prstGeom prst="straightConnector1">
            <a:avLst/>
          </a:prstGeom>
          <a:ln w="22860">
            <a:solidFill>
              <a:srgbClr val="183B56"/>
            </a:solidFill>
            <a:tailEnd type="triangle"/>
          </a:ln>
        </p:spPr>
      </p:cxnSp>
      <p:cxnSp>
        <p:nvCxnSpPr>
          <p:cNvPr id="100066" name="S02.Workflow.DumpToRestore"/>
          <p:cNvCxnSpPr>
            <a:stCxn id="100061" idx="0"/>
            <a:endCxn id="100062" idx="0"/>
          </p:cNvCxnSpPr>
          <p:nvPr/>
        </p:nvCxnSpPr>
        <p:spPr>
          <a:xfrm>
            <a:off x="9509760" y="5308092"/>
            <a:ext cx="137160" cy="0"/>
          </a:xfrm>
          <a:prstGeom prst="straightConnector1">
            <a:avLst/>
          </a:prstGeom>
          <a:ln w="22860">
            <a:solidFill>
              <a:srgbClr val="183B56"/>
            </a:solidFill>
            <a:tailEnd type="triangle"/>
          </a:ln>
        </p:spPr>
      </p:cxnSp>
      <p:cxnSp>
        <p:nvCxnSpPr>
          <p:cNvPr id="100067" name="S02.Workflow.RestoreToReplay"/>
          <p:cNvCxnSpPr>
            <a:stCxn id="100062" idx="0"/>
            <a:endCxn id="100063" idx="0"/>
          </p:cNvCxnSpPr>
          <p:nvPr/>
        </p:nvCxnSpPr>
        <p:spPr>
          <a:xfrm>
            <a:off x="10597896" y="5308092"/>
            <a:ext cx="137160" cy="0"/>
          </a:xfrm>
          <a:prstGeom prst="straightConnector1">
            <a:avLst/>
          </a:prstGeom>
          <a:ln w="22860">
            <a:solidFill>
              <a:srgbClr val="183B56"/>
            </a:solidFill>
            <a:tailEnd type="triangle"/>
          </a:ln>
        </p:spPr>
      </p:cxnSp>
      <p:cxnSp>
        <p:nvCxnSpPr>
          <p:cNvPr id="100068" name="S02.Workflow.ReturnTop"/>
          <p:cNvCxnSpPr/>
          <p:nvPr/>
        </p:nvCxnSpPr>
        <p:spPr>
          <a:xfrm>
            <a:off x="6858000" y="4773168"/>
            <a:ext cx="4352544" cy="0"/>
          </a:xfrm>
          <a:prstGeom prst="straightConnector1">
            <a:avLst/>
          </a:prstGeom>
          <a:ln w="31750">
            <a:solidFill>
              <a:srgbClr val="DF973E"/>
            </a:solidFill>
          </a:ln>
        </p:spPr>
      </p:cxnSp>
      <p:cxnSp>
        <p:nvCxnSpPr>
          <p:cNvPr id="100069" name="S02.Workflow.ReturnRight"/>
          <p:cNvCxnSpPr/>
          <p:nvPr/>
        </p:nvCxnSpPr>
        <p:spPr>
          <a:xfrm>
            <a:off x="11210544" y="4773168"/>
            <a:ext cx="0" cy="301752"/>
          </a:xfrm>
          <a:prstGeom prst="straightConnector1">
            <a:avLst/>
          </a:prstGeom>
          <a:ln w="31750">
            <a:solidFill>
              <a:srgbClr val="DF973E"/>
            </a:solidFill>
          </a:ln>
        </p:spPr>
      </p:cxnSp>
      <p:cxnSp>
        <p:nvCxnSpPr>
          <p:cNvPr id="100070" name="S02.Workflow.ReturnLeft"/>
          <p:cNvCxnSpPr/>
          <p:nvPr/>
        </p:nvCxnSpPr>
        <p:spPr>
          <a:xfrm>
            <a:off x="6858000" y="4773168"/>
            <a:ext cx="0" cy="301752"/>
          </a:xfrm>
          <a:prstGeom prst="straightConnector1">
            <a:avLst/>
          </a:prstGeom>
          <a:ln w="31750">
            <a:solidFill>
              <a:srgbClr val="DF973E"/>
            </a:solidFill>
            <a:tailEnd type="triangle"/>
          </a:ln>
        </p:spPr>
      </p:cxnSp>
      <p:pic>
        <p:nvPicPr>
          <p:cNvPr id="100071" name="S02.Workflow.Snapshot" descr="Global snapshot"/>
          <p:cNvPicPr>
            <a:picLocks noChangeAspect="1"/>
          </p:cNvPicPr>
          <p:nvPr/>
        </p:nvPicPr>
        <p:blipFill>
          <a:blip xmlns:r="http://schemas.openxmlformats.org/officeDocument/2006/relationships" r:embed="R024046477cb2474d"/>
          <a:srcRect l="16746" t="16427" r="16746" b="11961"/>
          <a:stretch>
            <a:fillRect/>
          </a:stretch>
        </p:blipFill>
        <p:spPr>
          <a:xfrm>
            <a:off x="8782812" y="5742432"/>
            <a:ext cx="502920" cy="541513"/>
          </a:xfrm>
          <a:prstGeom prst="rect">
            <a:avLst/>
          </a:prstGeom>
        </p:spPr>
      </p:pic>
      <p:pic>
        <p:nvPicPr>
          <p:cNvPr id="100072" name="S02.Workflow.Waveform" descr="Waveform monitor"/>
          <p:cNvPicPr>
            <a:picLocks noChangeAspect="1"/>
          </p:cNvPicPr>
          <p:nvPr/>
        </p:nvPicPr>
        <p:blipFill>
          <a:blip xmlns:r="http://schemas.openxmlformats.org/officeDocument/2006/relationships" r:embed="R5066dde221b344b0"/>
          <a:srcRect l="12280" t="25518" r="12200" b="19936"/>
          <a:stretch>
            <a:fillRect/>
          </a:stretch>
        </p:blipFill>
        <p:spPr>
          <a:xfrm>
            <a:off x="10844784" y="5751576"/>
            <a:ext cx="731520" cy="528363"/>
          </a:xfrm>
          <a:prstGeom prst="rect">
            <a:avLst/>
          </a:prstGeom>
        </p:spPr>
      </p:pic>
      <p:cxnSp>
        <p:nvCxnSpPr>
          <p:cNvPr id="100073" name="S02.Workflow.DumpOutput"/>
          <p:cNvCxnSpPr>
            <a:stCxn id="100061" idx="0"/>
            <a:endCxn id="100071" idx="0"/>
          </p:cNvCxnSpPr>
          <p:nvPr/>
        </p:nvCxnSpPr>
        <p:spPr>
          <a:xfrm>
            <a:off x="9034272" y="5541264"/>
            <a:ext cx="0" cy="201168"/>
          </a:xfrm>
          <a:prstGeom prst="straightConnector1">
            <a:avLst/>
          </a:prstGeom>
          <a:ln w="22860">
            <a:solidFill>
              <a:srgbClr val="183B56"/>
            </a:solidFill>
            <a:tailEnd type="triangle"/>
          </a:ln>
        </p:spPr>
      </p:cxnSp>
      <p:cxnSp>
        <p:nvCxnSpPr>
          <p:cNvPr id="100074" name="S02.Workflow.ReplayOutput"/>
          <p:cNvCxnSpPr>
            <a:stCxn id="100063" idx="0"/>
            <a:endCxn id="100072" idx="0"/>
          </p:cNvCxnSpPr>
          <p:nvPr/>
        </p:nvCxnSpPr>
        <p:spPr>
          <a:xfrm>
            <a:off x="11210544" y="5541264"/>
            <a:ext cx="0" cy="210312"/>
          </a:xfrm>
          <a:prstGeom prst="straightConnector1">
            <a:avLst/>
          </a:prstGeom>
          <a:ln w="22860">
            <a:solidFill>
              <a:srgbClr val="183B56"/>
            </a:solidFill>
            <a:tailEnd type="triangle"/>
          </a:ln>
        </p:spPr>
      </p:cxnSp>
      <p:sp>
        <p:nvSpPr>
          <p:cNvPr id="100075" name="S02.Workflow.SnapshotLabel"/>
          <p:cNvSpPr txBox="1"/>
          <p:nvPr/>
        </p:nvSpPr>
        <p:spPr>
          <a:xfrm>
            <a:off x="8119872" y="6336792"/>
            <a:ext cx="1828800" cy="228600"/>
          </a:xfrm>
          <a:prstGeom prst="rect">
            <a:avLst/>
          </a:prstGeom>
          <a:noFill/>
          <a:ln>
            <a:noFill/>
          </a:ln>
        </p:spPr>
        <p:txBody>
          <a:bodyPr lIns="0" tIns="0" rIns="0" bIns="0">
            <a:noAutofit/>
          </a:bodyPr>
          <a:lstStyle/>
          <a:p>
            <a:pPr algn="ctr"/>
            <a:r>
              <a:rPr lang="en-US" sz="1400">
                <a:solidFill>
                  <a:srgbClr val="183B56"/>
                </a:solidFill>
                <a:latin typeface="Arial"/>
                <a:ea typeface="Arial"/>
              </a:rPr>
              <a:t>Global snapshot</a:t>
            </a:r>
          </a:p>
        </p:txBody>
      </p:sp>
      <p:sp>
        <p:nvSpPr>
          <p:cNvPr id="100076" name="S02.Workflow.WaveformLabel"/>
          <p:cNvSpPr txBox="1"/>
          <p:nvPr/>
        </p:nvSpPr>
        <p:spPr>
          <a:xfrm>
            <a:off x="10625328" y="6336792"/>
            <a:ext cx="1170432" cy="228600"/>
          </a:xfrm>
          <a:prstGeom prst="rect">
            <a:avLst/>
          </a:prstGeom>
          <a:noFill/>
          <a:ln>
            <a:noFill/>
          </a:ln>
        </p:spPr>
        <p:txBody>
          <a:bodyPr lIns="0" tIns="0" rIns="0" bIns="0">
            <a:noAutofit/>
          </a:bodyPr>
          <a:lstStyle/>
          <a:p>
            <a:pPr algn="ctr"/>
            <a:r>
              <a:rPr lang="en-US" sz="1400">
                <a:solidFill>
                  <a:srgbClr val="183B56"/>
                </a:solidFill>
                <a:latin typeface="Arial"/>
                <a:ea typeface="Arial"/>
              </a:rPr>
              <a:t>Waveform</a:t>
            </a:r>
          </a:p>
        </p:txBody>
      </p:sp>
      <p:sp>
        <p:nvSpPr>
          <p:cNvPr id="100077" name="S02.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2</a:t>
            </a:r>
          </a:p>
        </p:txBody>
      </p:sp>
    </p:spTree>
  </p:cSld>
</p:sld>
</file>

<file path=ppt/slides/merged05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3.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3. Key Challenges of Replayable Multi-FPGA Emulation</a:t>
            </a:r>
          </a:p>
        </p:txBody>
      </p:sp>
      <p:sp>
        <p:nvSpPr>
          <p:cNvPr id="100000" name="S03.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3.Cycle.Panel"/>
          <p:cNvSpPr/>
          <p:nvPr/>
        </p:nvSpPr>
        <p:spPr>
          <a:xfrm>
            <a:off x="320040" y="1024128"/>
            <a:ext cx="5687568" cy="2404872"/>
          </a:xfrm>
          <a:prstGeom prst="roundRect">
            <a:avLst>
              <a:gd name="adj" fmla="val 65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2" name="S03.Cycle.Divider"/>
          <p:cNvSpPr/>
          <p:nvPr/>
        </p:nvSpPr>
        <p:spPr>
          <a:xfrm>
            <a:off x="2313432" y="1252728"/>
            <a:ext cx="8230" cy="1947672"/>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03" name="S03.Cycle.Heading"/>
          <p:cNvSpPr txBox="1"/>
          <p:nvPr/>
        </p:nvSpPr>
        <p:spPr>
          <a:xfrm>
            <a:off x="2532888" y="1234440"/>
            <a:ext cx="3264408" cy="640080"/>
          </a:xfrm>
          <a:prstGeom prst="rect">
            <a:avLst/>
          </a:prstGeom>
          <a:noFill/>
          <a:ln>
            <a:noFill/>
          </a:ln>
        </p:spPr>
        <p:txBody>
          <a:bodyPr lIns="0" tIns="0" rIns="0" bIns="0">
            <a:noAutofit/>
          </a:bodyPr>
          <a:lstStyle/>
          <a:p>
            <a:r>
              <a:rPr lang="en-US" sz="2000" b="1">
                <a:solidFill>
                  <a:srgbClr val="183B56"/>
                </a:solidFill>
                <a:latin typeface="Arial"/>
                <a:ea typeface="Arial"/>
              </a:rPr>
              <a:t>Cycle-Accurate</a:t>
            </a:r>
          </a:p>
          <a:p>
            <a:r>
              <a:rPr lang="en-US" sz="2000" b="1">
                <a:solidFill>
                  <a:srgbClr val="183B56"/>
                </a:solidFill>
                <a:latin typeface="Arial"/>
                <a:ea typeface="Arial"/>
              </a:rPr>
              <a:t>Execution</a:t>
            </a:r>
          </a:p>
        </p:txBody>
      </p:sp>
      <p:sp>
        <p:nvSpPr>
          <p:cNvPr id="100004" name="S03.Cycle.Bullet1"/>
          <p:cNvSpPr/>
          <p:nvPr/>
        </p:nvSpPr>
        <p:spPr>
          <a:xfrm>
            <a:off x="2569464" y="2052828"/>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5" name="S03.Cycle.Text1"/>
          <p:cNvSpPr txBox="1"/>
          <p:nvPr/>
        </p:nvSpPr>
        <p:spPr>
          <a:xfrm>
            <a:off x="2807208" y="1975104"/>
            <a:ext cx="3017520" cy="557784"/>
          </a:xfrm>
          <a:prstGeom prst="rect">
            <a:avLst/>
          </a:prstGeom>
          <a:noFill/>
          <a:ln>
            <a:noFill/>
          </a:ln>
        </p:spPr>
        <p:txBody>
          <a:bodyPr lIns="0" tIns="0" rIns="0" bIns="0">
            <a:noAutofit/>
          </a:bodyPr>
          <a:lstStyle/>
          <a:p>
            <a:r>
              <a:rPr lang="en-US" sz="1700">
                <a:solidFill>
                  <a:srgbClr val="20354A"/>
                </a:solidFill>
                <a:latin typeface="Arial"/>
                <a:ea typeface="Arial"/>
              </a:rPr>
              <a:t>Align DUT cycles across</a:t>
            </a:r>
          </a:p>
          <a:p>
            <a:r>
              <a:rPr lang="en-US" sz="1700">
                <a:solidFill>
                  <a:srgbClr val="20354A"/>
                </a:solidFill>
                <a:latin typeface="Arial"/>
                <a:ea typeface="Arial"/>
              </a:rPr>
              <a:t>partitions</a:t>
            </a:r>
          </a:p>
        </p:txBody>
      </p:sp>
      <p:sp>
        <p:nvSpPr>
          <p:cNvPr id="100006" name="S03.Cycle.Bullet2"/>
          <p:cNvSpPr/>
          <p:nvPr/>
        </p:nvSpPr>
        <p:spPr>
          <a:xfrm>
            <a:off x="2569464" y="2674620"/>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7" name="S03.Cycle.Text2"/>
          <p:cNvSpPr txBox="1"/>
          <p:nvPr/>
        </p:nvSpPr>
        <p:spPr>
          <a:xfrm>
            <a:off x="2807208" y="2596896"/>
            <a:ext cx="3017520" cy="557784"/>
          </a:xfrm>
          <a:prstGeom prst="rect">
            <a:avLst/>
          </a:prstGeom>
          <a:noFill/>
          <a:ln>
            <a:noFill/>
          </a:ln>
        </p:spPr>
        <p:txBody>
          <a:bodyPr lIns="0" tIns="0" rIns="0" bIns="0">
            <a:noAutofit/>
          </a:bodyPr>
          <a:lstStyle/>
          <a:p>
            <a:r>
              <a:rPr lang="en-US" sz="1700">
                <a:solidFill>
                  <a:srgbClr val="20354A"/>
                </a:solidFill>
                <a:latin typeface="Arial"/>
                <a:ea typeface="Arial"/>
              </a:rPr>
              <a:t>Account for cross-FPGA</a:t>
            </a:r>
          </a:p>
          <a:p>
            <a:r>
              <a:rPr lang="en-US" sz="1700">
                <a:solidFill>
                  <a:srgbClr val="20354A"/>
                </a:solidFill>
                <a:latin typeface="Arial"/>
                <a:ea typeface="Arial"/>
              </a:rPr>
              <a:t>communication latency</a:t>
            </a:r>
          </a:p>
        </p:txBody>
      </p:sp>
      <p:sp>
        <p:nvSpPr>
          <p:cNvPr id="100008" name="S03.Pause.Panel"/>
          <p:cNvSpPr/>
          <p:nvPr/>
        </p:nvSpPr>
        <p:spPr>
          <a:xfrm>
            <a:off x="6190488" y="1024128"/>
            <a:ext cx="5687568" cy="2404872"/>
          </a:xfrm>
          <a:prstGeom prst="roundRect">
            <a:avLst>
              <a:gd name="adj" fmla="val 6500"/>
            </a:avLst>
          </a:prstGeom>
          <a:solidFill>
            <a:srgbClr val="F1F5F8"/>
          </a:solidFill>
          <a:ln>
            <a:noFill/>
          </a:ln>
        </p:spPr>
        <p:txBody>
          <a:bodyPr lIns="0" tIns="0" rIns="0" bIns="0">
            <a:noAutofit/>
          </a:bodyPr>
          <a:lstStyle/>
          <a:p>
            <a:endParaRPr lang="en-US" sz="1800">
              <a:solidFill>
                <a:srgbClr val="20354A"/>
              </a:solidFill>
              <a:latin typeface="Arial"/>
              <a:ea typeface="Arial"/>
            </a:endParaRPr>
          </a:p>
        </p:txBody>
      </p:sp>
      <p:sp>
        <p:nvSpPr>
          <p:cNvPr id="100009" name="S03.Pause.Divider"/>
          <p:cNvSpPr/>
          <p:nvPr/>
        </p:nvSpPr>
        <p:spPr>
          <a:xfrm>
            <a:off x="8183880" y="1252728"/>
            <a:ext cx="8230" cy="1947672"/>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10" name="S03.Pause.Heading"/>
          <p:cNvSpPr txBox="1"/>
          <p:nvPr/>
        </p:nvSpPr>
        <p:spPr>
          <a:xfrm>
            <a:off x="8403336" y="1234440"/>
            <a:ext cx="3264408" cy="640080"/>
          </a:xfrm>
          <a:prstGeom prst="rect">
            <a:avLst/>
          </a:prstGeom>
          <a:noFill/>
          <a:ln>
            <a:noFill/>
          </a:ln>
        </p:spPr>
        <p:txBody>
          <a:bodyPr lIns="0" tIns="0" rIns="0" bIns="0">
            <a:noAutofit/>
          </a:bodyPr>
          <a:lstStyle/>
          <a:p>
            <a:r>
              <a:rPr lang="en-US" sz="2000" b="1">
                <a:solidFill>
                  <a:srgbClr val="183B56"/>
                </a:solidFill>
                <a:latin typeface="Arial"/>
                <a:ea typeface="Arial"/>
              </a:rPr>
              <a:t>Cycle-Consistent</a:t>
            </a:r>
          </a:p>
          <a:p>
            <a:r>
              <a:rPr lang="en-US" sz="2000" b="1">
                <a:solidFill>
                  <a:srgbClr val="183B56"/>
                </a:solidFill>
                <a:latin typeface="Arial"/>
                <a:ea typeface="Arial"/>
              </a:rPr>
              <a:t>Global Pause</a:t>
            </a:r>
          </a:p>
        </p:txBody>
      </p:sp>
      <p:sp>
        <p:nvSpPr>
          <p:cNvPr id="100011" name="S03.Pause.Bullet1"/>
          <p:cNvSpPr/>
          <p:nvPr/>
        </p:nvSpPr>
        <p:spPr>
          <a:xfrm>
            <a:off x="8439912" y="2052828"/>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2" name="S03.Pause.Text1"/>
          <p:cNvSpPr txBox="1"/>
          <p:nvPr/>
        </p:nvSpPr>
        <p:spPr>
          <a:xfrm>
            <a:off x="8677656" y="1975104"/>
            <a:ext cx="3017520" cy="557784"/>
          </a:xfrm>
          <a:prstGeom prst="rect">
            <a:avLst/>
          </a:prstGeom>
          <a:noFill/>
          <a:ln>
            <a:noFill/>
          </a:ln>
        </p:spPr>
        <p:txBody>
          <a:bodyPr lIns="0" tIns="0" rIns="0" bIns="0">
            <a:noAutofit/>
          </a:bodyPr>
          <a:lstStyle/>
          <a:p>
            <a:r>
              <a:rPr lang="en-US" sz="1700">
                <a:solidFill>
                  <a:srgbClr val="20354A"/>
                </a:solidFill>
                <a:latin typeface="Arial"/>
                <a:ea typeface="Arial"/>
              </a:rPr>
              <a:t>Stop partitions at the</a:t>
            </a:r>
          </a:p>
          <a:p>
            <a:r>
              <a:rPr lang="en-US" sz="1700">
                <a:solidFill>
                  <a:srgbClr val="20354A"/>
                </a:solidFill>
                <a:latin typeface="Arial"/>
                <a:ea typeface="Arial"/>
              </a:rPr>
              <a:t>same logical cycle</a:t>
            </a:r>
          </a:p>
        </p:txBody>
      </p:sp>
      <p:sp>
        <p:nvSpPr>
          <p:cNvPr id="100013" name="S03.Pause.Bullet2"/>
          <p:cNvSpPr/>
          <p:nvPr/>
        </p:nvSpPr>
        <p:spPr>
          <a:xfrm>
            <a:off x="8439912" y="2674620"/>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4" name="S03.Pause.Text2"/>
          <p:cNvSpPr txBox="1"/>
          <p:nvPr/>
        </p:nvSpPr>
        <p:spPr>
          <a:xfrm>
            <a:off x="8677656" y="2596896"/>
            <a:ext cx="3017520" cy="557784"/>
          </a:xfrm>
          <a:prstGeom prst="rect">
            <a:avLst/>
          </a:prstGeom>
          <a:noFill/>
          <a:ln>
            <a:noFill/>
          </a:ln>
        </p:spPr>
        <p:txBody>
          <a:bodyPr lIns="0" tIns="0" rIns="0" bIns="0">
            <a:noAutofit/>
          </a:bodyPr>
          <a:lstStyle/>
          <a:p>
            <a:r>
              <a:rPr lang="en-US" sz="1700">
                <a:solidFill>
                  <a:srgbClr val="20354A"/>
                </a:solidFill>
                <a:latin typeface="Arial"/>
                <a:ea typeface="Arial"/>
              </a:rPr>
              <a:t>Drain links for a stable</a:t>
            </a:r>
          </a:p>
          <a:p>
            <a:r>
              <a:rPr lang="en-US" sz="1700">
                <a:solidFill>
                  <a:srgbClr val="20354A"/>
                </a:solidFill>
                <a:latin typeface="Arial"/>
                <a:ea typeface="Arial"/>
              </a:rPr>
              <a:t>snapshot boundary</a:t>
            </a:r>
          </a:p>
        </p:txBody>
      </p:sp>
      <p:sp>
        <p:nvSpPr>
          <p:cNvPr id="100015" name="S03.State.Panel"/>
          <p:cNvSpPr/>
          <p:nvPr/>
        </p:nvSpPr>
        <p:spPr>
          <a:xfrm>
            <a:off x="320040" y="3675888"/>
            <a:ext cx="5687568" cy="2404872"/>
          </a:xfrm>
          <a:prstGeom prst="roundRect">
            <a:avLst>
              <a:gd name="adj" fmla="val 6500"/>
            </a:avLst>
          </a:prstGeom>
          <a:solidFill>
            <a:srgbClr val="FCF4E8"/>
          </a:solidFill>
          <a:ln>
            <a:noFill/>
          </a:ln>
        </p:spPr>
        <p:txBody>
          <a:bodyPr lIns="0" tIns="0" rIns="0" bIns="0">
            <a:noAutofit/>
          </a:bodyPr>
          <a:lstStyle/>
          <a:p>
            <a:endParaRPr lang="en-US" sz="1800">
              <a:solidFill>
                <a:srgbClr val="20354A"/>
              </a:solidFill>
              <a:latin typeface="Arial"/>
              <a:ea typeface="Arial"/>
            </a:endParaRPr>
          </a:p>
        </p:txBody>
      </p:sp>
      <p:sp>
        <p:nvSpPr>
          <p:cNvPr id="100016" name="S03.State.Divider"/>
          <p:cNvSpPr/>
          <p:nvPr/>
        </p:nvSpPr>
        <p:spPr>
          <a:xfrm>
            <a:off x="2313432" y="3904488"/>
            <a:ext cx="8230" cy="1947672"/>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17" name="S03.State.Heading"/>
          <p:cNvSpPr txBox="1"/>
          <p:nvPr/>
        </p:nvSpPr>
        <p:spPr>
          <a:xfrm>
            <a:off x="2532888" y="3886200"/>
            <a:ext cx="3264408" cy="640080"/>
          </a:xfrm>
          <a:prstGeom prst="rect">
            <a:avLst/>
          </a:prstGeom>
          <a:noFill/>
          <a:ln>
            <a:noFill/>
          </a:ln>
        </p:spPr>
        <p:txBody>
          <a:bodyPr lIns="0" tIns="0" rIns="0" bIns="0">
            <a:noAutofit/>
          </a:bodyPr>
          <a:lstStyle/>
          <a:p>
            <a:r>
              <a:rPr lang="en-US" sz="2000" b="1">
                <a:solidFill>
                  <a:srgbClr val="183B56"/>
                </a:solidFill>
                <a:latin typeface="Arial"/>
                <a:ea typeface="Arial"/>
              </a:rPr>
              <a:t>Distributed State</a:t>
            </a:r>
          </a:p>
          <a:p>
            <a:r>
              <a:rPr lang="en-US" sz="2000" b="1">
                <a:solidFill>
                  <a:srgbClr val="183B56"/>
                </a:solidFill>
                <a:latin typeface="Arial"/>
                <a:ea typeface="Arial"/>
              </a:rPr>
              <a:t>Management</a:t>
            </a:r>
          </a:p>
        </p:txBody>
      </p:sp>
      <p:sp>
        <p:nvSpPr>
          <p:cNvPr id="100018" name="S03.State.Bullet1"/>
          <p:cNvSpPr/>
          <p:nvPr/>
        </p:nvSpPr>
        <p:spPr>
          <a:xfrm>
            <a:off x="2569464" y="4704588"/>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9" name="S03.State.Text1"/>
          <p:cNvSpPr txBox="1"/>
          <p:nvPr/>
        </p:nvSpPr>
        <p:spPr>
          <a:xfrm>
            <a:off x="2807208" y="4626864"/>
            <a:ext cx="3017520" cy="557784"/>
          </a:xfrm>
          <a:prstGeom prst="rect">
            <a:avLst/>
          </a:prstGeom>
          <a:noFill/>
          <a:ln>
            <a:noFill/>
          </a:ln>
        </p:spPr>
        <p:txBody>
          <a:bodyPr lIns="0" tIns="0" rIns="0" bIns="0">
            <a:noAutofit/>
          </a:bodyPr>
          <a:lstStyle/>
          <a:p>
            <a:r>
              <a:rPr lang="en-US" sz="1700">
                <a:solidFill>
                  <a:srgbClr val="20354A"/>
                </a:solidFill>
                <a:latin typeface="Arial"/>
                <a:ea typeface="Arial"/>
              </a:rPr>
              <a:t>Extract local states</a:t>
            </a:r>
          </a:p>
        </p:txBody>
      </p:sp>
      <p:sp>
        <p:nvSpPr>
          <p:cNvPr id="100020" name="S03.State.Bullet2"/>
          <p:cNvSpPr/>
          <p:nvPr/>
        </p:nvSpPr>
        <p:spPr>
          <a:xfrm>
            <a:off x="2569464" y="5326380"/>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1" name="S03.State.Text2"/>
          <p:cNvSpPr txBox="1"/>
          <p:nvPr/>
        </p:nvSpPr>
        <p:spPr>
          <a:xfrm>
            <a:off x="2807208" y="5248656"/>
            <a:ext cx="3017520" cy="557784"/>
          </a:xfrm>
          <a:prstGeom prst="rect">
            <a:avLst/>
          </a:prstGeom>
          <a:noFill/>
          <a:ln>
            <a:noFill/>
          </a:ln>
        </p:spPr>
        <p:txBody>
          <a:bodyPr lIns="0" tIns="0" rIns="0" bIns="0">
            <a:noAutofit/>
          </a:bodyPr>
          <a:lstStyle/>
          <a:p>
            <a:r>
              <a:rPr lang="en-US" sz="1700">
                <a:solidFill>
                  <a:srgbClr val="20354A"/>
                </a:solidFill>
                <a:latin typeface="Arial"/>
                <a:ea typeface="Arial"/>
              </a:rPr>
              <a:t>Form a global snapshot</a:t>
            </a:r>
          </a:p>
          <a:p>
            <a:r>
              <a:rPr lang="en-US" sz="1700">
                <a:solidFill>
                  <a:srgbClr val="20354A"/>
                </a:solidFill>
                <a:latin typeface="Arial"/>
                <a:ea typeface="Arial"/>
              </a:rPr>
              <a:t>for restore and replay</a:t>
            </a:r>
          </a:p>
        </p:txBody>
      </p:sp>
      <p:sp>
        <p:nvSpPr>
          <p:cNvPr id="100022" name="S03.Partition.Panel"/>
          <p:cNvSpPr/>
          <p:nvPr/>
        </p:nvSpPr>
        <p:spPr>
          <a:xfrm>
            <a:off x="6190488" y="3675888"/>
            <a:ext cx="5687568" cy="2404872"/>
          </a:xfrm>
          <a:prstGeom prst="roundRect">
            <a:avLst>
              <a:gd name="adj" fmla="val 65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23" name="S03.Partition.Divider"/>
          <p:cNvSpPr/>
          <p:nvPr/>
        </p:nvSpPr>
        <p:spPr>
          <a:xfrm>
            <a:off x="8183880" y="3904488"/>
            <a:ext cx="8230" cy="1947672"/>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24" name="S03.Partition.Heading"/>
          <p:cNvSpPr txBox="1"/>
          <p:nvPr/>
        </p:nvSpPr>
        <p:spPr>
          <a:xfrm>
            <a:off x="8403336" y="3886200"/>
            <a:ext cx="3264408" cy="640080"/>
          </a:xfrm>
          <a:prstGeom prst="rect">
            <a:avLst/>
          </a:prstGeom>
          <a:noFill/>
          <a:ln>
            <a:noFill/>
          </a:ln>
        </p:spPr>
        <p:txBody>
          <a:bodyPr lIns="0" tIns="0" rIns="0" bIns="0">
            <a:noAutofit/>
          </a:bodyPr>
          <a:lstStyle/>
          <a:p>
            <a:r>
              <a:rPr lang="en-US" sz="2000" b="1">
                <a:solidFill>
                  <a:srgbClr val="183B56"/>
                </a:solidFill>
                <a:latin typeface="Arial"/>
                <a:ea typeface="Arial"/>
              </a:rPr>
              <a:t>Automated</a:t>
            </a:r>
          </a:p>
          <a:p>
            <a:r>
              <a:rPr lang="en-US" sz="2000" b="1">
                <a:solidFill>
                  <a:srgbClr val="183B56"/>
                </a:solidFill>
                <a:latin typeface="Arial"/>
                <a:ea typeface="Arial"/>
              </a:rPr>
              <a:t>Partitioning</a:t>
            </a:r>
          </a:p>
        </p:txBody>
      </p:sp>
      <p:sp>
        <p:nvSpPr>
          <p:cNvPr id="100025" name="S03.Partition.Bullet1"/>
          <p:cNvSpPr/>
          <p:nvPr/>
        </p:nvSpPr>
        <p:spPr>
          <a:xfrm>
            <a:off x="8439912" y="4704588"/>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6" name="S03.Partition.Text1"/>
          <p:cNvSpPr txBox="1"/>
          <p:nvPr/>
        </p:nvSpPr>
        <p:spPr>
          <a:xfrm>
            <a:off x="8677656" y="4626864"/>
            <a:ext cx="3017520" cy="557784"/>
          </a:xfrm>
          <a:prstGeom prst="rect">
            <a:avLst/>
          </a:prstGeom>
          <a:noFill/>
          <a:ln>
            <a:noFill/>
          </a:ln>
        </p:spPr>
        <p:txBody>
          <a:bodyPr lIns="0" tIns="0" rIns="0" bIns="0">
            <a:noAutofit/>
          </a:bodyPr>
          <a:lstStyle/>
          <a:p>
            <a:r>
              <a:rPr lang="en-US" sz="1700">
                <a:solidFill>
                  <a:srgbClr val="20354A"/>
                </a:solidFill>
                <a:latin typeface="Arial"/>
                <a:ea typeface="Arial"/>
              </a:rPr>
              <a:t>Balance resources and</a:t>
            </a:r>
          </a:p>
          <a:p>
            <a:r>
              <a:rPr lang="en-US" sz="1700">
                <a:solidFill>
                  <a:srgbClr val="20354A"/>
                </a:solidFill>
                <a:latin typeface="Arial"/>
                <a:ea typeface="Arial"/>
              </a:rPr>
              <a:t>cut size</a:t>
            </a:r>
          </a:p>
        </p:txBody>
      </p:sp>
      <p:sp>
        <p:nvSpPr>
          <p:cNvPr id="100027" name="S03.Partition.Bullet2"/>
          <p:cNvSpPr/>
          <p:nvPr/>
        </p:nvSpPr>
        <p:spPr>
          <a:xfrm>
            <a:off x="8439912" y="5326380"/>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8" name="S03.Partition.Text2"/>
          <p:cNvSpPr txBox="1"/>
          <p:nvPr/>
        </p:nvSpPr>
        <p:spPr>
          <a:xfrm>
            <a:off x="8677656" y="5248656"/>
            <a:ext cx="3017520" cy="749808"/>
          </a:xfrm>
          <a:prstGeom prst="rect">
            <a:avLst/>
          </a:prstGeom>
          <a:noFill/>
          <a:ln>
            <a:noFill/>
          </a:ln>
        </p:spPr>
        <p:txBody>
          <a:bodyPr lIns="0" tIns="0" rIns="0" bIns="0">
            <a:noAutofit/>
          </a:bodyPr>
          <a:lstStyle/>
          <a:p>
            <a:r>
              <a:rPr lang="en-US" sz="1700">
                <a:solidFill>
                  <a:srgbClr val="20354A"/>
                </a:solidFill>
                <a:latin typeface="Arial"/>
                <a:ea typeface="Arial"/>
              </a:rPr>
              <a:t>Control Partition</a:t>
            </a:r>
          </a:p>
          <a:p>
            <a:r>
              <a:rPr lang="en-US" sz="1700">
                <a:solidFill>
                  <a:srgbClr val="20354A"/>
                </a:solidFill>
                <a:latin typeface="Arial"/>
                <a:ea typeface="Arial"/>
              </a:rPr>
              <a:t>Propagation Depth (PPD)</a:t>
            </a:r>
          </a:p>
          <a:p>
            <a:r>
              <a:rPr lang="en-US" sz="1700">
                <a:solidFill>
                  <a:srgbClr val="20354A"/>
                </a:solidFill>
                <a:latin typeface="Arial"/>
                <a:ea typeface="Arial"/>
              </a:rPr>
              <a:t>through granularity</a:t>
            </a:r>
          </a:p>
        </p:txBody>
      </p:sp>
      <p:pic>
        <p:nvPicPr>
          <p:cNvPr id="100029" name="S03.Cycle.Left" descr="FPGA chip"/>
          <p:cNvPicPr>
            <a:picLocks noChangeAspect="1"/>
          </p:cNvPicPr>
          <p:nvPr/>
        </p:nvPicPr>
        <p:blipFill>
          <a:blip xmlns:r="http://schemas.openxmlformats.org/officeDocument/2006/relationships" r:embed="R8077effb218d4ed0"/>
          <a:srcRect l="21371" t="23684" r="21291" b="20972"/>
          <a:stretch>
            <a:fillRect/>
          </a:stretch>
        </p:blipFill>
        <p:spPr>
          <a:xfrm>
            <a:off x="502920" y="2029968"/>
            <a:ext cx="603504" cy="582519"/>
          </a:xfrm>
          <a:prstGeom prst="rect">
            <a:avLst/>
          </a:prstGeom>
        </p:spPr>
      </p:pic>
      <p:pic>
        <p:nvPicPr>
          <p:cNvPr id="100030" name="S03.Cycle.Right" descr="FPGA chip"/>
          <p:cNvPicPr>
            <a:picLocks noChangeAspect="1"/>
          </p:cNvPicPr>
          <p:nvPr/>
        </p:nvPicPr>
        <p:blipFill>
          <a:blip xmlns:r="http://schemas.openxmlformats.org/officeDocument/2006/relationships" r:embed="Rc417c64d03794cc4"/>
          <a:srcRect l="21371" t="23684" r="21291" b="20972"/>
          <a:stretch>
            <a:fillRect/>
          </a:stretch>
        </p:blipFill>
        <p:spPr>
          <a:xfrm>
            <a:off x="1618488" y="2029968"/>
            <a:ext cx="603504" cy="582519"/>
          </a:xfrm>
          <a:prstGeom prst="rect">
            <a:avLst/>
          </a:prstGeom>
        </p:spPr>
      </p:pic>
      <p:pic>
        <p:nvPicPr>
          <p:cNvPr id="100031" name="S03.Cycle.Clock" descr="Logical cycle progression"/>
          <p:cNvPicPr>
            <a:picLocks noChangeAspect="1"/>
          </p:cNvPicPr>
          <p:nvPr/>
        </p:nvPicPr>
        <p:blipFill>
          <a:blip xmlns:r="http://schemas.openxmlformats.org/officeDocument/2006/relationships" r:embed="R76c29abcbffe4687"/>
          <a:srcRect l="13078" t="10047" r="12918" b="10526"/>
          <a:stretch>
            <a:fillRect/>
          </a:stretch>
        </p:blipFill>
        <p:spPr>
          <a:xfrm>
            <a:off x="1143000" y="1435608"/>
            <a:ext cx="438912" cy="471073"/>
          </a:xfrm>
          <a:prstGeom prst="rect">
            <a:avLst/>
          </a:prstGeom>
        </p:spPr>
      </p:pic>
      <p:cxnSp>
        <p:nvCxnSpPr>
          <p:cNvPr id="100032" name="S03.Cycle.Pulse0"/>
          <p:cNvCxnSpPr/>
          <p:nvPr/>
        </p:nvCxnSpPr>
        <p:spPr>
          <a:xfrm>
            <a:off x="1133856" y="2377440"/>
            <a:ext cx="82296" cy="0"/>
          </a:xfrm>
          <a:prstGeom prst="straightConnector1">
            <a:avLst/>
          </a:prstGeom>
          <a:ln w="29210">
            <a:solidFill>
              <a:srgbClr val="DF973E"/>
            </a:solidFill>
          </a:ln>
        </p:spPr>
      </p:cxnSp>
      <p:cxnSp>
        <p:nvCxnSpPr>
          <p:cNvPr id="100033" name="S03.Cycle.Pulse1"/>
          <p:cNvCxnSpPr/>
          <p:nvPr/>
        </p:nvCxnSpPr>
        <p:spPr>
          <a:xfrm>
            <a:off x="1216152" y="2148840"/>
            <a:ext cx="0" cy="228600"/>
          </a:xfrm>
          <a:prstGeom prst="straightConnector1">
            <a:avLst/>
          </a:prstGeom>
          <a:ln w="29210">
            <a:solidFill>
              <a:srgbClr val="DF973E"/>
            </a:solidFill>
          </a:ln>
        </p:spPr>
      </p:cxnSp>
      <p:cxnSp>
        <p:nvCxnSpPr>
          <p:cNvPr id="100034" name="S03.Cycle.Pulse2"/>
          <p:cNvCxnSpPr/>
          <p:nvPr/>
        </p:nvCxnSpPr>
        <p:spPr>
          <a:xfrm>
            <a:off x="1216152" y="2148840"/>
            <a:ext cx="118872" cy="0"/>
          </a:xfrm>
          <a:prstGeom prst="straightConnector1">
            <a:avLst/>
          </a:prstGeom>
          <a:ln w="29210">
            <a:solidFill>
              <a:srgbClr val="DF973E"/>
            </a:solidFill>
          </a:ln>
        </p:spPr>
      </p:cxnSp>
      <p:cxnSp>
        <p:nvCxnSpPr>
          <p:cNvPr id="100035" name="S03.Cycle.Pulse3"/>
          <p:cNvCxnSpPr/>
          <p:nvPr/>
        </p:nvCxnSpPr>
        <p:spPr>
          <a:xfrm>
            <a:off x="1335024" y="2148840"/>
            <a:ext cx="0" cy="228600"/>
          </a:xfrm>
          <a:prstGeom prst="straightConnector1">
            <a:avLst/>
          </a:prstGeom>
          <a:ln w="29210">
            <a:solidFill>
              <a:srgbClr val="DF973E"/>
            </a:solidFill>
          </a:ln>
        </p:spPr>
      </p:cxnSp>
      <p:cxnSp>
        <p:nvCxnSpPr>
          <p:cNvPr id="100036" name="S03.Cycle.Pulse4"/>
          <p:cNvCxnSpPr/>
          <p:nvPr/>
        </p:nvCxnSpPr>
        <p:spPr>
          <a:xfrm>
            <a:off x="1335024" y="2377440"/>
            <a:ext cx="118872" cy="0"/>
          </a:xfrm>
          <a:prstGeom prst="straightConnector1">
            <a:avLst/>
          </a:prstGeom>
          <a:ln w="29210">
            <a:solidFill>
              <a:srgbClr val="DF973E"/>
            </a:solidFill>
          </a:ln>
        </p:spPr>
      </p:cxnSp>
      <p:cxnSp>
        <p:nvCxnSpPr>
          <p:cNvPr id="100037" name="S03.Cycle.Pulse5"/>
          <p:cNvCxnSpPr/>
          <p:nvPr/>
        </p:nvCxnSpPr>
        <p:spPr>
          <a:xfrm>
            <a:off x="1453896" y="2148840"/>
            <a:ext cx="0" cy="228600"/>
          </a:xfrm>
          <a:prstGeom prst="straightConnector1">
            <a:avLst/>
          </a:prstGeom>
          <a:ln w="29210">
            <a:solidFill>
              <a:srgbClr val="DF973E"/>
            </a:solidFill>
          </a:ln>
        </p:spPr>
      </p:cxnSp>
      <p:cxnSp>
        <p:nvCxnSpPr>
          <p:cNvPr id="100038" name="S03.Cycle.Pulse6"/>
          <p:cNvCxnSpPr/>
          <p:nvPr/>
        </p:nvCxnSpPr>
        <p:spPr>
          <a:xfrm>
            <a:off x="1453896" y="2148840"/>
            <a:ext cx="109728" cy="0"/>
          </a:xfrm>
          <a:prstGeom prst="straightConnector1">
            <a:avLst/>
          </a:prstGeom>
          <a:ln w="29210">
            <a:solidFill>
              <a:srgbClr val="DF973E"/>
            </a:solidFill>
          </a:ln>
        </p:spPr>
      </p:cxnSp>
      <p:cxnSp>
        <p:nvCxnSpPr>
          <p:cNvPr id="100039" name="S03.Cycle.Pulse7"/>
          <p:cNvCxnSpPr/>
          <p:nvPr/>
        </p:nvCxnSpPr>
        <p:spPr>
          <a:xfrm>
            <a:off x="1563624" y="2148840"/>
            <a:ext cx="0" cy="228600"/>
          </a:xfrm>
          <a:prstGeom prst="straightConnector1">
            <a:avLst/>
          </a:prstGeom>
          <a:ln w="29210">
            <a:solidFill>
              <a:srgbClr val="DF973E"/>
            </a:solidFill>
          </a:ln>
        </p:spPr>
      </p:cxnSp>
      <p:cxnSp>
        <p:nvCxnSpPr>
          <p:cNvPr id="100040" name="S03.Cycle.Pulse8"/>
          <p:cNvCxnSpPr/>
          <p:nvPr/>
        </p:nvCxnSpPr>
        <p:spPr>
          <a:xfrm>
            <a:off x="1563624" y="2377440"/>
            <a:ext cx="27432" cy="0"/>
          </a:xfrm>
          <a:prstGeom prst="straightConnector1">
            <a:avLst/>
          </a:prstGeom>
          <a:ln w="29210">
            <a:solidFill>
              <a:srgbClr val="DF973E"/>
            </a:solidFill>
          </a:ln>
        </p:spPr>
      </p:cxnSp>
      <p:sp>
        <p:nvSpPr>
          <p:cNvPr id="100041" name="S03.Cycle.Label"/>
          <p:cNvSpPr txBox="1"/>
          <p:nvPr/>
        </p:nvSpPr>
        <p:spPr>
          <a:xfrm>
            <a:off x="475488" y="2862072"/>
            <a:ext cx="1773936" cy="256032"/>
          </a:xfrm>
          <a:prstGeom prst="rect">
            <a:avLst/>
          </a:prstGeom>
          <a:noFill/>
          <a:ln>
            <a:noFill/>
          </a:ln>
        </p:spPr>
        <p:txBody>
          <a:bodyPr lIns="0" tIns="0" rIns="0" bIns="0">
            <a:noAutofit/>
          </a:bodyPr>
          <a:lstStyle/>
          <a:p>
            <a:pPr algn="ctr"/>
            <a:r>
              <a:rPr lang="en-US" sz="1400">
                <a:solidFill>
                  <a:srgbClr val="183B56"/>
                </a:solidFill>
                <a:latin typeface="Arial"/>
                <a:ea typeface="Arial"/>
              </a:rPr>
              <a:t>DUT cycle n</a:t>
            </a:r>
          </a:p>
        </p:txBody>
      </p:sp>
      <p:pic>
        <p:nvPicPr>
          <p:cNvPr id="100042" name="S03.Pause.Top" descr="FPGA chip"/>
          <p:cNvPicPr>
            <a:picLocks noChangeAspect="1"/>
          </p:cNvPicPr>
          <p:nvPr/>
        </p:nvPicPr>
        <p:blipFill>
          <a:blip xmlns:r="http://schemas.openxmlformats.org/officeDocument/2006/relationships" r:embed="R84c666b5e48d4577"/>
          <a:srcRect l="21371" t="23684" r="21291" b="20972"/>
          <a:stretch>
            <a:fillRect/>
          </a:stretch>
        </p:blipFill>
        <p:spPr>
          <a:xfrm>
            <a:off x="6922008" y="1353312"/>
            <a:ext cx="539496" cy="520737"/>
          </a:xfrm>
          <a:prstGeom prst="rect">
            <a:avLst/>
          </a:prstGeom>
        </p:spPr>
      </p:pic>
      <p:pic>
        <p:nvPicPr>
          <p:cNvPr id="100043" name="S03.Pause.Left" descr="FPGA chip"/>
          <p:cNvPicPr>
            <a:picLocks noChangeAspect="1"/>
          </p:cNvPicPr>
          <p:nvPr/>
        </p:nvPicPr>
        <p:blipFill>
          <a:blip xmlns:r="http://schemas.openxmlformats.org/officeDocument/2006/relationships" r:embed="R27a9b8d6feab476f"/>
          <a:srcRect l="21371" t="23684" r="21291" b="20972"/>
          <a:stretch>
            <a:fillRect/>
          </a:stretch>
        </p:blipFill>
        <p:spPr>
          <a:xfrm>
            <a:off x="6409944" y="2414016"/>
            <a:ext cx="539496" cy="520737"/>
          </a:xfrm>
          <a:prstGeom prst="rect">
            <a:avLst/>
          </a:prstGeom>
        </p:spPr>
      </p:pic>
      <p:pic>
        <p:nvPicPr>
          <p:cNvPr id="100044" name="S03.Pause.Right" descr="FPGA chip"/>
          <p:cNvPicPr>
            <a:picLocks noChangeAspect="1"/>
          </p:cNvPicPr>
          <p:nvPr/>
        </p:nvPicPr>
        <p:blipFill>
          <a:blip xmlns:r="http://schemas.openxmlformats.org/officeDocument/2006/relationships" r:embed="R2afb9644ba7a477c"/>
          <a:srcRect l="21371" t="23684" r="21291" b="20972"/>
          <a:stretch>
            <a:fillRect/>
          </a:stretch>
        </p:blipFill>
        <p:spPr>
          <a:xfrm>
            <a:off x="7434072" y="2414016"/>
            <a:ext cx="539496" cy="520737"/>
          </a:xfrm>
          <a:prstGeom prst="rect">
            <a:avLst/>
          </a:prstGeom>
        </p:spPr>
      </p:pic>
      <p:cxnSp>
        <p:nvCxnSpPr>
          <p:cNvPr id="100045" name="S03.Pause.SyncLeft"/>
          <p:cNvCxnSpPr>
            <a:stCxn id="100042" idx="0"/>
            <a:endCxn id="100043" idx="0"/>
          </p:cNvCxnSpPr>
          <p:nvPr/>
        </p:nvCxnSpPr>
        <p:spPr>
          <a:xfrm flipH="1">
            <a:off x="6679692" y="1874049"/>
            <a:ext cx="512064" cy="539967"/>
          </a:xfrm>
          <a:prstGeom prst="straightConnector1">
            <a:avLst/>
          </a:prstGeom>
          <a:ln w="25400">
            <a:solidFill>
              <a:srgbClr val="DF973E"/>
            </a:solidFill>
          </a:ln>
        </p:spPr>
      </p:cxnSp>
      <p:cxnSp>
        <p:nvCxnSpPr>
          <p:cNvPr id="100046" name="S03.Pause.SyncRight"/>
          <p:cNvCxnSpPr>
            <a:stCxn id="100042" idx="0"/>
            <a:endCxn id="100044" idx="0"/>
          </p:cNvCxnSpPr>
          <p:nvPr/>
        </p:nvCxnSpPr>
        <p:spPr>
          <a:xfrm>
            <a:off x="7191756" y="1874049"/>
            <a:ext cx="512064" cy="539967"/>
          </a:xfrm>
          <a:prstGeom prst="straightConnector1">
            <a:avLst/>
          </a:prstGeom>
          <a:ln w="25400">
            <a:solidFill>
              <a:srgbClr val="DF973E"/>
            </a:solidFill>
          </a:ln>
        </p:spPr>
      </p:cxnSp>
      <p:cxnSp>
        <p:nvCxnSpPr>
          <p:cNvPr id="100047" name="S03.Pause.SyncBottom"/>
          <p:cNvCxnSpPr>
            <a:stCxn id="100043" idx="0"/>
            <a:endCxn id="100044" idx="0"/>
          </p:cNvCxnSpPr>
          <p:nvPr/>
        </p:nvCxnSpPr>
        <p:spPr>
          <a:xfrm>
            <a:off x="6949440" y="2674384"/>
            <a:ext cx="484632" cy="0"/>
          </a:xfrm>
          <a:prstGeom prst="straightConnector1">
            <a:avLst/>
          </a:prstGeom>
          <a:ln w="25400">
            <a:solidFill>
              <a:srgbClr val="DF973E"/>
            </a:solidFill>
          </a:ln>
        </p:spPr>
      </p:cxnSp>
      <p:pic>
        <p:nvPicPr>
          <p:cNvPr id="100048" name="S03.Pause.Symbol" descr="Coordinated pause"/>
          <p:cNvPicPr>
            <a:picLocks noChangeAspect="1"/>
          </p:cNvPicPr>
          <p:nvPr/>
        </p:nvPicPr>
        <p:blipFill>
          <a:blip xmlns:r="http://schemas.openxmlformats.org/officeDocument/2006/relationships" r:embed="R31440147ed7845c0"/>
          <a:srcRect l="11164" t="11323" r="10765" b="10606"/>
          <a:stretch>
            <a:fillRect/>
          </a:stretch>
        </p:blipFill>
        <p:spPr>
          <a:xfrm>
            <a:off x="6967728" y="1956816"/>
            <a:ext cx="448056" cy="448056"/>
          </a:xfrm>
          <a:prstGeom prst="rect">
            <a:avLst/>
          </a:prstGeom>
        </p:spPr>
      </p:pic>
      <p:sp>
        <p:nvSpPr>
          <p:cNvPr id="100049" name="S03.Pause.Label"/>
          <p:cNvSpPr txBox="1"/>
          <p:nvPr/>
        </p:nvSpPr>
        <p:spPr>
          <a:xfrm>
            <a:off x="6373368" y="3063240"/>
            <a:ext cx="1645920" cy="256032"/>
          </a:xfrm>
          <a:prstGeom prst="rect">
            <a:avLst/>
          </a:prstGeom>
          <a:noFill/>
          <a:ln>
            <a:noFill/>
          </a:ln>
        </p:spPr>
        <p:txBody>
          <a:bodyPr lIns="0" tIns="0" rIns="0" bIns="0">
            <a:noAutofit/>
          </a:bodyPr>
          <a:lstStyle/>
          <a:p>
            <a:pPr algn="ctr"/>
            <a:r>
              <a:rPr lang="en-US" sz="1300">
                <a:solidFill>
                  <a:srgbClr val="183B56"/>
                </a:solidFill>
                <a:latin typeface="Arial"/>
                <a:ea typeface="Arial"/>
              </a:rPr>
              <a:t>Same DUT cycle n</a:t>
            </a:r>
          </a:p>
        </p:txBody>
      </p:sp>
      <p:pic>
        <p:nvPicPr>
          <p:cNvPr id="100050" name="S03.State.FPGA1" descr="FPGA chip"/>
          <p:cNvPicPr>
            <a:picLocks noChangeAspect="1"/>
          </p:cNvPicPr>
          <p:nvPr/>
        </p:nvPicPr>
        <p:blipFill>
          <a:blip xmlns:r="http://schemas.openxmlformats.org/officeDocument/2006/relationships" r:embed="R7e2f816c7ca64fdf"/>
          <a:srcRect l="21371" t="23684" r="21291" b="20972"/>
          <a:stretch>
            <a:fillRect/>
          </a:stretch>
        </p:blipFill>
        <p:spPr>
          <a:xfrm>
            <a:off x="484632" y="4251960"/>
            <a:ext cx="502920" cy="485433"/>
          </a:xfrm>
          <a:prstGeom prst="rect">
            <a:avLst/>
          </a:prstGeom>
        </p:spPr>
      </p:pic>
      <p:pic>
        <p:nvPicPr>
          <p:cNvPr id="100051" name="S03.State.FPGA2" descr="FPGA chip"/>
          <p:cNvPicPr>
            <a:picLocks noChangeAspect="1"/>
          </p:cNvPicPr>
          <p:nvPr/>
        </p:nvPicPr>
        <p:blipFill>
          <a:blip xmlns:r="http://schemas.openxmlformats.org/officeDocument/2006/relationships" r:embed="Re80b5aa27f754e36"/>
          <a:srcRect l="21371" t="23684" r="21291" b="20972"/>
          <a:stretch>
            <a:fillRect/>
          </a:stretch>
        </p:blipFill>
        <p:spPr>
          <a:xfrm>
            <a:off x="1106424" y="4251960"/>
            <a:ext cx="502920" cy="485433"/>
          </a:xfrm>
          <a:prstGeom prst="rect">
            <a:avLst/>
          </a:prstGeom>
        </p:spPr>
      </p:pic>
      <p:pic>
        <p:nvPicPr>
          <p:cNvPr id="100052" name="S03.State.FPGA3" descr="FPGA chip"/>
          <p:cNvPicPr>
            <a:picLocks noChangeAspect="1"/>
          </p:cNvPicPr>
          <p:nvPr/>
        </p:nvPicPr>
        <p:blipFill>
          <a:blip xmlns:r="http://schemas.openxmlformats.org/officeDocument/2006/relationships" r:embed="Rbe68f538fd0f48bb"/>
          <a:srcRect l="21371" t="23684" r="21291" b="20972"/>
          <a:stretch>
            <a:fillRect/>
          </a:stretch>
        </p:blipFill>
        <p:spPr>
          <a:xfrm>
            <a:off x="1728216" y="4251960"/>
            <a:ext cx="502920" cy="485433"/>
          </a:xfrm>
          <a:prstGeom prst="rect">
            <a:avLst/>
          </a:prstGeom>
        </p:spPr>
      </p:pic>
      <p:sp>
        <p:nvSpPr>
          <p:cNvPr id="100053" name="S03.State.LocalLabel"/>
          <p:cNvSpPr txBox="1"/>
          <p:nvPr/>
        </p:nvSpPr>
        <p:spPr>
          <a:xfrm>
            <a:off x="475488" y="3886200"/>
            <a:ext cx="1773936" cy="246888"/>
          </a:xfrm>
          <a:prstGeom prst="rect">
            <a:avLst/>
          </a:prstGeom>
          <a:noFill/>
          <a:ln>
            <a:noFill/>
          </a:ln>
        </p:spPr>
        <p:txBody>
          <a:bodyPr lIns="0" tIns="0" rIns="0" bIns="0">
            <a:noAutofit/>
          </a:bodyPr>
          <a:lstStyle/>
          <a:p>
            <a:pPr algn="ctr"/>
            <a:r>
              <a:rPr lang="en-US" sz="1400">
                <a:solidFill>
                  <a:srgbClr val="183B56"/>
                </a:solidFill>
                <a:latin typeface="Arial"/>
                <a:ea typeface="Arial"/>
              </a:rPr>
              <a:t>Local states</a:t>
            </a:r>
          </a:p>
        </p:txBody>
      </p:sp>
      <p:pic>
        <p:nvPicPr>
          <p:cNvPr id="100054" name="S03.State.Snapshot" descr="Global snapshot"/>
          <p:cNvPicPr>
            <a:picLocks noChangeAspect="1"/>
          </p:cNvPicPr>
          <p:nvPr/>
        </p:nvPicPr>
        <p:blipFill>
          <a:blip xmlns:r="http://schemas.openxmlformats.org/officeDocument/2006/relationships" r:embed="R71a329cefec54991"/>
          <a:srcRect l="16746" t="16427" r="16746" b="11961"/>
          <a:stretch>
            <a:fillRect/>
          </a:stretch>
        </p:blipFill>
        <p:spPr>
          <a:xfrm>
            <a:off x="1129284" y="5193792"/>
            <a:ext cx="457200" cy="492285"/>
          </a:xfrm>
          <a:prstGeom prst="rect">
            <a:avLst/>
          </a:prstGeom>
        </p:spPr>
      </p:pic>
      <p:cxnSp>
        <p:nvCxnSpPr>
          <p:cNvPr id="100055" name="S03.State.Drop1"/>
          <p:cNvCxnSpPr/>
          <p:nvPr/>
        </p:nvCxnSpPr>
        <p:spPr>
          <a:xfrm>
            <a:off x="736092" y="4736592"/>
            <a:ext cx="0" cy="320040"/>
          </a:xfrm>
          <a:prstGeom prst="straightConnector1">
            <a:avLst/>
          </a:prstGeom>
          <a:ln w="25400">
            <a:solidFill>
              <a:srgbClr val="008C95"/>
            </a:solidFill>
          </a:ln>
        </p:spPr>
      </p:cxnSp>
      <p:cxnSp>
        <p:nvCxnSpPr>
          <p:cNvPr id="100056" name="S03.State.Drop2"/>
          <p:cNvCxnSpPr/>
          <p:nvPr/>
        </p:nvCxnSpPr>
        <p:spPr>
          <a:xfrm>
            <a:off x="1357884" y="4736592"/>
            <a:ext cx="0" cy="320040"/>
          </a:xfrm>
          <a:prstGeom prst="straightConnector1">
            <a:avLst/>
          </a:prstGeom>
          <a:ln w="25400">
            <a:solidFill>
              <a:srgbClr val="008C95"/>
            </a:solidFill>
          </a:ln>
        </p:spPr>
      </p:cxnSp>
      <p:cxnSp>
        <p:nvCxnSpPr>
          <p:cNvPr id="100057" name="S03.State.Drop3"/>
          <p:cNvCxnSpPr/>
          <p:nvPr/>
        </p:nvCxnSpPr>
        <p:spPr>
          <a:xfrm>
            <a:off x="1979676" y="4736592"/>
            <a:ext cx="0" cy="320040"/>
          </a:xfrm>
          <a:prstGeom prst="straightConnector1">
            <a:avLst/>
          </a:prstGeom>
          <a:ln w="25400">
            <a:solidFill>
              <a:srgbClr val="008C95"/>
            </a:solidFill>
          </a:ln>
        </p:spPr>
      </p:cxnSp>
      <p:cxnSp>
        <p:nvCxnSpPr>
          <p:cNvPr id="100058" name="S03.State.Bus"/>
          <p:cNvCxnSpPr/>
          <p:nvPr/>
        </p:nvCxnSpPr>
        <p:spPr>
          <a:xfrm>
            <a:off x="736092" y="5056632"/>
            <a:ext cx="1243584" cy="0"/>
          </a:xfrm>
          <a:prstGeom prst="straightConnector1">
            <a:avLst/>
          </a:prstGeom>
          <a:ln w="25400">
            <a:solidFill>
              <a:srgbClr val="008C95"/>
            </a:solidFill>
          </a:ln>
        </p:spPr>
      </p:cxnSp>
      <p:cxnSp>
        <p:nvCxnSpPr>
          <p:cNvPr id="100059" name="S03.State.Aggregate"/>
          <p:cNvCxnSpPr/>
          <p:nvPr/>
        </p:nvCxnSpPr>
        <p:spPr>
          <a:xfrm>
            <a:off x="1357884" y="5056632"/>
            <a:ext cx="0" cy="137160"/>
          </a:xfrm>
          <a:prstGeom prst="straightConnector1">
            <a:avLst/>
          </a:prstGeom>
          <a:ln w="25400">
            <a:solidFill>
              <a:srgbClr val="008C95"/>
            </a:solidFill>
            <a:tailEnd type="triangle"/>
          </a:ln>
        </p:spPr>
      </p:cxnSp>
      <p:sp>
        <p:nvSpPr>
          <p:cNvPr id="100060" name="S03.State.GlobalLabel"/>
          <p:cNvSpPr txBox="1"/>
          <p:nvPr/>
        </p:nvSpPr>
        <p:spPr>
          <a:xfrm>
            <a:off x="475488" y="5760720"/>
            <a:ext cx="1773936" cy="228600"/>
          </a:xfrm>
          <a:prstGeom prst="rect">
            <a:avLst/>
          </a:prstGeom>
          <a:noFill/>
          <a:ln>
            <a:noFill/>
          </a:ln>
        </p:spPr>
        <p:txBody>
          <a:bodyPr lIns="0" tIns="0" rIns="0" bIns="0">
            <a:noAutofit/>
          </a:bodyPr>
          <a:lstStyle/>
          <a:p>
            <a:pPr algn="ctr"/>
            <a:r>
              <a:rPr lang="en-US" sz="1300">
                <a:solidFill>
                  <a:srgbClr val="183B56"/>
                </a:solidFill>
                <a:latin typeface="Arial"/>
                <a:ea typeface="Arial"/>
              </a:rPr>
              <a:t>Global snapshot</a:t>
            </a:r>
          </a:p>
        </p:txBody>
      </p:sp>
      <p:pic>
        <p:nvPicPr>
          <p:cNvPr id="100061" name="S03.Partition.Circuit" descr="Circuit partitioning"/>
          <p:cNvPicPr>
            <a:picLocks noChangeAspect="1"/>
          </p:cNvPicPr>
          <p:nvPr/>
        </p:nvPicPr>
        <p:blipFill>
          <a:blip xmlns:r="http://schemas.openxmlformats.org/officeDocument/2006/relationships" r:embed="R2f877a2370904d71"/>
          <a:srcRect l="15869" t="18660" r="15789" b="18660"/>
          <a:stretch>
            <a:fillRect/>
          </a:stretch>
        </p:blipFill>
        <p:spPr>
          <a:xfrm>
            <a:off x="6455664" y="4288536"/>
            <a:ext cx="1481328" cy="1358605"/>
          </a:xfrm>
          <a:prstGeom prst="rect">
            <a:avLst/>
          </a:prstGeom>
        </p:spPr>
      </p:pic>
      <p:sp>
        <p:nvSpPr>
          <p:cNvPr id="100062" name="S03.Partition.Label"/>
          <p:cNvSpPr txBox="1"/>
          <p:nvPr/>
        </p:nvSpPr>
        <p:spPr>
          <a:xfrm>
            <a:off x="6373368" y="5852160"/>
            <a:ext cx="1682496" cy="246888"/>
          </a:xfrm>
          <a:prstGeom prst="rect">
            <a:avLst/>
          </a:prstGeom>
          <a:noFill/>
          <a:ln>
            <a:noFill/>
          </a:ln>
        </p:spPr>
        <p:txBody>
          <a:bodyPr lIns="0" tIns="0" rIns="0" bIns="0">
            <a:noAutofit/>
          </a:bodyPr>
          <a:lstStyle/>
          <a:p>
            <a:pPr algn="ctr"/>
            <a:r>
              <a:rPr lang="en-US" sz="1300">
                <a:solidFill>
                  <a:srgbClr val="183B56"/>
                </a:solidFill>
                <a:latin typeface="Arial"/>
                <a:ea typeface="Arial"/>
              </a:rPr>
              <a:t>Partitioned design</a:t>
            </a:r>
          </a:p>
        </p:txBody>
      </p:sp>
      <p:sp>
        <p:nvSpPr>
          <p:cNvPr id="100063" name="S03.Takeaway"/>
          <p:cNvSpPr txBox="1"/>
          <p:nvPr/>
        </p:nvSpPr>
        <p:spPr>
          <a:xfrm>
            <a:off x="502920" y="6355080"/>
            <a:ext cx="11155680" cy="320040"/>
          </a:xfrm>
          <a:prstGeom prst="rect">
            <a:avLst/>
          </a:prstGeom>
          <a:noFill/>
          <a:ln>
            <a:noFill/>
          </a:ln>
        </p:spPr>
        <p:txBody>
          <a:bodyPr lIns="0" tIns="0" rIns="0" bIns="0">
            <a:noAutofit/>
          </a:bodyPr>
          <a:lstStyle/>
          <a:p>
            <a:pPr algn="ctr"/>
            <a:r>
              <a:rPr lang="en-US" sz="1800" b="1">
                <a:solidFill>
                  <a:srgbClr val="183B56"/>
                </a:solidFill>
                <a:latin typeface="Arial"/>
                <a:ea typeface="Arial"/>
              </a:rPr>
              <a:t>Replayable emulation requires scalable deployment and globally coordinated debugging.</a:t>
            </a:r>
          </a:p>
        </p:txBody>
      </p:sp>
      <p:sp>
        <p:nvSpPr>
          <p:cNvPr id="100064" name="S03.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3</a:t>
            </a:r>
          </a:p>
        </p:txBody>
      </p:sp>
    </p:spTree>
  </p:cSld>
</p:sld>
</file>

<file path=ppt/slides/merged06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4.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200" b="1">
                <a:solidFill>
                  <a:srgbClr val="183B56"/>
                </a:solidFill>
                <a:latin typeface="Arial"/>
                <a:ea typeface="Arial"/>
              </a:rPr>
              <a:t>4. Research Gap and Goal</a:t>
            </a:r>
          </a:p>
        </p:txBody>
      </p:sp>
      <p:sp>
        <p:nvSpPr>
          <p:cNvPr id="100000" name="S04.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4.Prototype.Panel"/>
          <p:cNvSpPr/>
          <p:nvPr/>
        </p:nvSpPr>
        <p:spPr>
          <a:xfrm>
            <a:off x="320040" y="969264"/>
            <a:ext cx="3712464" cy="4892040"/>
          </a:xfrm>
          <a:prstGeom prst="roundRect">
            <a:avLst>
              <a:gd name="adj" fmla="val 45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2" name="S04.Prototype.Heading"/>
          <p:cNvSpPr txBox="1"/>
          <p:nvPr/>
        </p:nvSpPr>
        <p:spPr>
          <a:xfrm>
            <a:off x="448056" y="1115568"/>
            <a:ext cx="3456432" cy="640080"/>
          </a:xfrm>
          <a:prstGeom prst="rect">
            <a:avLst/>
          </a:prstGeom>
          <a:noFill/>
          <a:ln>
            <a:noFill/>
          </a:ln>
        </p:spPr>
        <p:txBody>
          <a:bodyPr lIns="0" tIns="0" rIns="0" bIns="0">
            <a:noAutofit/>
          </a:bodyPr>
          <a:lstStyle/>
          <a:p>
            <a:pPr algn="ctr"/>
            <a:r>
              <a:rPr lang="en-US" sz="2100" b="1">
                <a:solidFill>
                  <a:srgbClr val="183B56"/>
                </a:solidFill>
                <a:latin typeface="Arial"/>
                <a:ea typeface="Arial"/>
              </a:rPr>
              <a:t>Multi-FPGA</a:t>
            </a:r>
          </a:p>
          <a:p>
            <a:pPr algn="ctr"/>
            <a:r>
              <a:rPr lang="en-US" sz="2100" b="1">
                <a:solidFill>
                  <a:srgbClr val="183B56"/>
                </a:solidFill>
                <a:latin typeface="Arial"/>
                <a:ea typeface="Arial"/>
              </a:rPr>
              <a:t>Prototyping</a:t>
            </a:r>
          </a:p>
        </p:txBody>
      </p:sp>
      <p:sp>
        <p:nvSpPr>
          <p:cNvPr id="100003" name="S04.Prototype.Qualifier"/>
          <p:cNvSpPr txBox="1"/>
          <p:nvPr/>
        </p:nvSpPr>
        <p:spPr>
          <a:xfrm>
            <a:off x="484632" y="1865376"/>
            <a:ext cx="3383280" cy="246888"/>
          </a:xfrm>
          <a:prstGeom prst="rect">
            <a:avLst/>
          </a:prstGeom>
          <a:noFill/>
          <a:ln>
            <a:noFill/>
          </a:ln>
        </p:spPr>
        <p:txBody>
          <a:bodyPr lIns="0" tIns="0" rIns="0" bIns="0">
            <a:noAutofit/>
          </a:bodyPr>
          <a:lstStyle/>
          <a:p>
            <a:pPr algn="ctr"/>
            <a:r>
              <a:rPr lang="en-US" sz="1400" b="0">
                <a:solidFill>
                  <a:srgbClr val="607184"/>
                </a:solidFill>
                <a:latin typeface="Arial"/>
                <a:ea typeface="Arial"/>
              </a:rPr>
              <a:t>Primary focus: capacity &amp; speed</a:t>
            </a:r>
          </a:p>
        </p:txBody>
      </p:sp>
      <p:sp>
        <p:nvSpPr>
          <p:cNvPr id="100004" name="S04.Prototype.Divider"/>
          <p:cNvSpPr/>
          <p:nvPr/>
        </p:nvSpPr>
        <p:spPr>
          <a:xfrm>
            <a:off x="502920" y="3182112"/>
            <a:ext cx="3346704" cy="10973"/>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05" name="S04.Prototype.Status1"/>
          <p:cNvSpPr/>
          <p:nvPr/>
        </p:nvSpPr>
        <p:spPr>
          <a:xfrm>
            <a:off x="548640" y="336499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6" name="S04.Prototype.CheckShort1"/>
          <p:cNvSpPr/>
          <p:nvPr/>
        </p:nvSpPr>
        <p:spPr>
          <a:xfrm rot="2700000">
            <a:off x="609905" y="350306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07" name="S04.Prototype.CheckLong1"/>
          <p:cNvSpPr/>
          <p:nvPr/>
        </p:nvSpPr>
        <p:spPr>
          <a:xfrm rot="18900000">
            <a:off x="647395" y="348112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08" name="S04.Prototype.Text1"/>
          <p:cNvSpPr txBox="1"/>
          <p:nvPr/>
        </p:nvSpPr>
        <p:spPr>
          <a:xfrm>
            <a:off x="960120" y="335859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Scalable deployment</a:t>
            </a:r>
          </a:p>
        </p:txBody>
      </p:sp>
      <p:sp>
        <p:nvSpPr>
          <p:cNvPr id="100009" name="S04.Prototype.Status2"/>
          <p:cNvSpPr/>
          <p:nvPr/>
        </p:nvSpPr>
        <p:spPr>
          <a:xfrm>
            <a:off x="548640" y="373075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10" name="S04.Prototype.CheckShort2"/>
          <p:cNvSpPr/>
          <p:nvPr/>
        </p:nvSpPr>
        <p:spPr>
          <a:xfrm rot="2700000">
            <a:off x="609905" y="386882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11" name="S04.Prototype.CheckLong2"/>
          <p:cNvSpPr/>
          <p:nvPr/>
        </p:nvSpPr>
        <p:spPr>
          <a:xfrm rot="18900000">
            <a:off x="647395" y="384688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12" name="S04.Prototype.Text2"/>
          <p:cNvSpPr txBox="1"/>
          <p:nvPr/>
        </p:nvSpPr>
        <p:spPr>
          <a:xfrm>
            <a:off x="960120" y="372435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Fast execution</a:t>
            </a:r>
          </a:p>
        </p:txBody>
      </p:sp>
      <p:sp>
        <p:nvSpPr>
          <p:cNvPr id="100013" name="S04.Prototype.Status3"/>
          <p:cNvSpPr/>
          <p:nvPr/>
        </p:nvSpPr>
        <p:spPr>
          <a:xfrm>
            <a:off x="548640" y="4096512"/>
            <a:ext cx="265176" cy="265176"/>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14" name="S04.Prototype.Variable3"/>
          <p:cNvSpPr txBox="1"/>
          <p:nvPr/>
        </p:nvSpPr>
        <p:spPr>
          <a:xfrm>
            <a:off x="548640" y="4094683"/>
            <a:ext cx="265176" cy="265176"/>
          </a:xfrm>
          <a:prstGeom prst="rect">
            <a:avLst/>
          </a:prstGeom>
          <a:noFill/>
          <a:ln>
            <a:noFill/>
          </a:ln>
        </p:spPr>
        <p:txBody>
          <a:bodyPr lIns="0" tIns="0" rIns="0" bIns="0" anchor="ctr">
            <a:noAutofit/>
          </a:bodyPr>
          <a:lstStyle/>
          <a:p>
            <a:pPr algn="ctr"/>
            <a:r>
              <a:rPr lang="en-US" sz="1700" b="1">
                <a:solidFill>
                  <a:srgbClr val="FFFFFF"/>
                </a:solidFill>
                <a:latin typeface="Arial"/>
                <a:ea typeface="Arial"/>
              </a:rPr>
              <a:t>?</a:t>
            </a:r>
          </a:p>
        </p:txBody>
      </p:sp>
      <p:sp>
        <p:nvSpPr>
          <p:cNvPr id="100015" name="S04.Prototype.Text3"/>
          <p:cNvSpPr txBox="1"/>
          <p:nvPr/>
        </p:nvSpPr>
        <p:spPr>
          <a:xfrm>
            <a:off x="960120" y="409011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Cycle-consistent pause</a:t>
            </a:r>
          </a:p>
        </p:txBody>
      </p:sp>
      <p:sp>
        <p:nvSpPr>
          <p:cNvPr id="100016" name="S04.Prototype.Status4"/>
          <p:cNvSpPr/>
          <p:nvPr/>
        </p:nvSpPr>
        <p:spPr>
          <a:xfrm>
            <a:off x="548640" y="4462272"/>
            <a:ext cx="265176" cy="265176"/>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17" name="S04.Prototype.Variable4"/>
          <p:cNvSpPr txBox="1"/>
          <p:nvPr/>
        </p:nvSpPr>
        <p:spPr>
          <a:xfrm>
            <a:off x="548640" y="4460443"/>
            <a:ext cx="265176" cy="265176"/>
          </a:xfrm>
          <a:prstGeom prst="rect">
            <a:avLst/>
          </a:prstGeom>
          <a:noFill/>
          <a:ln>
            <a:noFill/>
          </a:ln>
        </p:spPr>
        <p:txBody>
          <a:bodyPr lIns="0" tIns="0" rIns="0" bIns="0" anchor="ctr">
            <a:noAutofit/>
          </a:bodyPr>
          <a:lstStyle/>
          <a:p>
            <a:pPr algn="ctr"/>
            <a:r>
              <a:rPr lang="en-US" sz="1700" b="1">
                <a:solidFill>
                  <a:srgbClr val="FFFFFF"/>
                </a:solidFill>
                <a:latin typeface="Arial"/>
                <a:ea typeface="Arial"/>
              </a:rPr>
              <a:t>?</a:t>
            </a:r>
          </a:p>
        </p:txBody>
      </p:sp>
      <p:sp>
        <p:nvSpPr>
          <p:cNvPr id="100018" name="S04.Prototype.Text4"/>
          <p:cNvSpPr txBox="1"/>
          <p:nvPr/>
        </p:nvSpPr>
        <p:spPr>
          <a:xfrm>
            <a:off x="960120" y="445587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Global snapshot</a:t>
            </a:r>
          </a:p>
        </p:txBody>
      </p:sp>
      <p:sp>
        <p:nvSpPr>
          <p:cNvPr id="100019" name="S04.Prototype.Status5"/>
          <p:cNvSpPr/>
          <p:nvPr/>
        </p:nvSpPr>
        <p:spPr>
          <a:xfrm>
            <a:off x="548640" y="4828032"/>
            <a:ext cx="265176" cy="265176"/>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20" name="S04.Prototype.Variable5"/>
          <p:cNvSpPr txBox="1"/>
          <p:nvPr/>
        </p:nvSpPr>
        <p:spPr>
          <a:xfrm>
            <a:off x="548640" y="4826203"/>
            <a:ext cx="265176" cy="265176"/>
          </a:xfrm>
          <a:prstGeom prst="rect">
            <a:avLst/>
          </a:prstGeom>
          <a:noFill/>
          <a:ln>
            <a:noFill/>
          </a:ln>
        </p:spPr>
        <p:txBody>
          <a:bodyPr lIns="0" tIns="0" rIns="0" bIns="0" anchor="ctr">
            <a:noAutofit/>
          </a:bodyPr>
          <a:lstStyle/>
          <a:p>
            <a:pPr algn="ctr"/>
            <a:r>
              <a:rPr lang="en-US" sz="1700" b="1">
                <a:solidFill>
                  <a:srgbClr val="FFFFFF"/>
                </a:solidFill>
                <a:latin typeface="Arial"/>
                <a:ea typeface="Arial"/>
              </a:rPr>
              <a:t>?</a:t>
            </a:r>
          </a:p>
        </p:txBody>
      </p:sp>
      <p:sp>
        <p:nvSpPr>
          <p:cNvPr id="100021" name="S04.Prototype.Text5"/>
          <p:cNvSpPr txBox="1"/>
          <p:nvPr/>
        </p:nvSpPr>
        <p:spPr>
          <a:xfrm>
            <a:off x="960120" y="482163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Deterministic replay</a:t>
            </a:r>
          </a:p>
        </p:txBody>
      </p:sp>
      <p:sp>
        <p:nvSpPr>
          <p:cNvPr id="100022" name="S04.Prototype.Status6"/>
          <p:cNvSpPr/>
          <p:nvPr/>
        </p:nvSpPr>
        <p:spPr>
          <a:xfrm>
            <a:off x="548640" y="5193792"/>
            <a:ext cx="265176" cy="265176"/>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23" name="S04.Prototype.Variable6"/>
          <p:cNvSpPr txBox="1"/>
          <p:nvPr/>
        </p:nvSpPr>
        <p:spPr>
          <a:xfrm>
            <a:off x="548640" y="5191963"/>
            <a:ext cx="265176" cy="265176"/>
          </a:xfrm>
          <a:prstGeom prst="rect">
            <a:avLst/>
          </a:prstGeom>
          <a:noFill/>
          <a:ln>
            <a:noFill/>
          </a:ln>
        </p:spPr>
        <p:txBody>
          <a:bodyPr lIns="0" tIns="0" rIns="0" bIns="0" anchor="ctr">
            <a:noAutofit/>
          </a:bodyPr>
          <a:lstStyle/>
          <a:p>
            <a:pPr algn="ctr"/>
            <a:r>
              <a:rPr lang="en-US" sz="1700" b="1">
                <a:solidFill>
                  <a:srgbClr val="FFFFFF"/>
                </a:solidFill>
                <a:latin typeface="Arial"/>
                <a:ea typeface="Arial"/>
              </a:rPr>
              <a:t>?</a:t>
            </a:r>
          </a:p>
        </p:txBody>
      </p:sp>
      <p:sp>
        <p:nvSpPr>
          <p:cNvPr id="100024" name="S04.Prototype.Text6"/>
          <p:cNvSpPr txBox="1"/>
          <p:nvPr/>
        </p:nvSpPr>
        <p:spPr>
          <a:xfrm>
            <a:off x="960120" y="518739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Waveform reconstruction</a:t>
            </a:r>
          </a:p>
        </p:txBody>
      </p:sp>
      <p:sp>
        <p:nvSpPr>
          <p:cNvPr id="100025" name="S04.Prototype.Scope"/>
          <p:cNvSpPr txBox="1"/>
          <p:nvPr/>
        </p:nvSpPr>
        <p:spPr>
          <a:xfrm>
            <a:off x="484632" y="5577840"/>
            <a:ext cx="3383280" cy="228600"/>
          </a:xfrm>
          <a:prstGeom prst="rect">
            <a:avLst/>
          </a:prstGeom>
          <a:noFill/>
          <a:ln>
            <a:noFill/>
          </a:ln>
        </p:spPr>
        <p:txBody>
          <a:bodyPr lIns="0" tIns="0" rIns="0" bIns="0">
            <a:noAutofit/>
          </a:bodyPr>
          <a:lstStyle/>
          <a:p>
            <a:pPr algn="ctr"/>
            <a:r>
              <a:rPr lang="en-US" sz="1200">
                <a:solidFill>
                  <a:srgbClr val="607184"/>
                </a:solidFill>
                <a:latin typeface="Arial"/>
                <a:ea typeface="Arial"/>
              </a:rPr>
              <a:t>Debug support varies by system</a:t>
            </a:r>
          </a:p>
        </p:txBody>
      </p:sp>
      <p:sp>
        <p:nvSpPr>
          <p:cNvPr id="100026" name="S04.Single.Panel"/>
          <p:cNvSpPr/>
          <p:nvPr/>
        </p:nvSpPr>
        <p:spPr>
          <a:xfrm>
            <a:off x="4242816" y="969264"/>
            <a:ext cx="3712464" cy="4892040"/>
          </a:xfrm>
          <a:prstGeom prst="roundRect">
            <a:avLst>
              <a:gd name="adj" fmla="val 4500"/>
            </a:avLst>
          </a:prstGeom>
          <a:solidFill>
            <a:srgbClr val="F1F5F8"/>
          </a:solidFill>
          <a:ln>
            <a:noFill/>
          </a:ln>
        </p:spPr>
        <p:txBody>
          <a:bodyPr lIns="0" tIns="0" rIns="0" bIns="0">
            <a:noAutofit/>
          </a:bodyPr>
          <a:lstStyle/>
          <a:p>
            <a:endParaRPr lang="en-US" sz="1800">
              <a:solidFill>
                <a:srgbClr val="20354A"/>
              </a:solidFill>
              <a:latin typeface="Arial"/>
              <a:ea typeface="Arial"/>
            </a:endParaRPr>
          </a:p>
        </p:txBody>
      </p:sp>
      <p:sp>
        <p:nvSpPr>
          <p:cNvPr id="100027" name="S04.Single.Heading"/>
          <p:cNvSpPr txBox="1"/>
          <p:nvPr/>
        </p:nvSpPr>
        <p:spPr>
          <a:xfrm>
            <a:off x="4370832" y="1115568"/>
            <a:ext cx="3456432" cy="640080"/>
          </a:xfrm>
          <a:prstGeom prst="rect">
            <a:avLst/>
          </a:prstGeom>
          <a:noFill/>
          <a:ln>
            <a:noFill/>
          </a:ln>
        </p:spPr>
        <p:txBody>
          <a:bodyPr lIns="0" tIns="0" rIns="0" bIns="0">
            <a:noAutofit/>
          </a:bodyPr>
          <a:lstStyle/>
          <a:p>
            <a:pPr algn="ctr"/>
            <a:r>
              <a:rPr lang="en-US" sz="2100" b="1">
                <a:solidFill>
                  <a:srgbClr val="183B56"/>
                </a:solidFill>
                <a:latin typeface="Arial"/>
                <a:ea typeface="Arial"/>
              </a:rPr>
              <a:t>Single-FPGA</a:t>
            </a:r>
          </a:p>
          <a:p>
            <a:pPr algn="ctr"/>
            <a:r>
              <a:rPr lang="en-US" sz="2100" b="1">
                <a:solidFill>
                  <a:srgbClr val="183B56"/>
                </a:solidFill>
                <a:latin typeface="Arial"/>
                <a:ea typeface="Arial"/>
              </a:rPr>
              <a:t>Replayable Emulation</a:t>
            </a:r>
          </a:p>
        </p:txBody>
      </p:sp>
      <p:sp>
        <p:nvSpPr>
          <p:cNvPr id="100028" name="S04.Single.Qualifier"/>
          <p:cNvSpPr txBox="1"/>
          <p:nvPr/>
        </p:nvSpPr>
        <p:spPr>
          <a:xfrm>
            <a:off x="4407408" y="1865376"/>
            <a:ext cx="3383280" cy="246888"/>
          </a:xfrm>
          <a:prstGeom prst="rect">
            <a:avLst/>
          </a:prstGeom>
          <a:noFill/>
          <a:ln>
            <a:noFill/>
          </a:ln>
        </p:spPr>
        <p:txBody>
          <a:bodyPr lIns="0" tIns="0" rIns="0" bIns="0">
            <a:noAutofit/>
          </a:bodyPr>
          <a:lstStyle/>
          <a:p>
            <a:pPr algn="ctr"/>
            <a:r>
              <a:rPr lang="en-US" sz="1400" b="0">
                <a:solidFill>
                  <a:srgbClr val="607184"/>
                </a:solidFill>
                <a:latin typeface="Arial"/>
                <a:ea typeface="Arial"/>
              </a:rPr>
              <a:t>Scan-based state &amp; replay</a:t>
            </a:r>
          </a:p>
        </p:txBody>
      </p:sp>
      <p:sp>
        <p:nvSpPr>
          <p:cNvPr id="100029" name="S04.Single.Divider"/>
          <p:cNvSpPr/>
          <p:nvPr/>
        </p:nvSpPr>
        <p:spPr>
          <a:xfrm>
            <a:off x="4425696" y="3182112"/>
            <a:ext cx="3346704" cy="10973"/>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30" name="S04.Single.Status1"/>
          <p:cNvSpPr/>
          <p:nvPr/>
        </p:nvSpPr>
        <p:spPr>
          <a:xfrm>
            <a:off x="4471416" y="3364992"/>
            <a:ext cx="265176" cy="265176"/>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31" name="S04.Single.Minus1"/>
          <p:cNvSpPr/>
          <p:nvPr/>
        </p:nvSpPr>
        <p:spPr>
          <a:xfrm>
            <a:off x="4530852" y="3478378"/>
            <a:ext cx="146304" cy="38405"/>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2" name="S04.Single.Text1"/>
          <p:cNvSpPr txBox="1"/>
          <p:nvPr/>
        </p:nvSpPr>
        <p:spPr>
          <a:xfrm>
            <a:off x="4882896" y="335859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Limited by one FPGA</a:t>
            </a:r>
          </a:p>
        </p:txBody>
      </p:sp>
      <p:sp>
        <p:nvSpPr>
          <p:cNvPr id="100033" name="S04.Single.Status2"/>
          <p:cNvSpPr/>
          <p:nvPr/>
        </p:nvSpPr>
        <p:spPr>
          <a:xfrm>
            <a:off x="4471416" y="373075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34" name="S04.Single.CheckShort2"/>
          <p:cNvSpPr/>
          <p:nvPr/>
        </p:nvSpPr>
        <p:spPr>
          <a:xfrm rot="2700000">
            <a:off x="4532681" y="386882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5" name="S04.Single.CheckLong2"/>
          <p:cNvSpPr/>
          <p:nvPr/>
        </p:nvSpPr>
        <p:spPr>
          <a:xfrm rot="18900000">
            <a:off x="4570171" y="384688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6" name="S04.Single.Text2"/>
          <p:cNvSpPr txBox="1"/>
          <p:nvPr/>
        </p:nvSpPr>
        <p:spPr>
          <a:xfrm>
            <a:off x="4882896" y="372435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Fast execution</a:t>
            </a:r>
          </a:p>
        </p:txBody>
      </p:sp>
      <p:sp>
        <p:nvSpPr>
          <p:cNvPr id="100037" name="S04.Single.Status3"/>
          <p:cNvSpPr/>
          <p:nvPr/>
        </p:nvSpPr>
        <p:spPr>
          <a:xfrm>
            <a:off x="4471416" y="409651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38" name="S04.Single.CheckShort3"/>
          <p:cNvSpPr/>
          <p:nvPr/>
        </p:nvSpPr>
        <p:spPr>
          <a:xfrm rot="2700000">
            <a:off x="4532681" y="423458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39" name="S04.Single.CheckLong3"/>
          <p:cNvSpPr/>
          <p:nvPr/>
        </p:nvSpPr>
        <p:spPr>
          <a:xfrm rot="18900000">
            <a:off x="4570171" y="421264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0" name="S04.Single.Text3"/>
          <p:cNvSpPr txBox="1"/>
          <p:nvPr/>
        </p:nvSpPr>
        <p:spPr>
          <a:xfrm>
            <a:off x="4882896" y="409011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Cycle-controlled pause</a:t>
            </a:r>
          </a:p>
        </p:txBody>
      </p:sp>
      <p:sp>
        <p:nvSpPr>
          <p:cNvPr id="100041" name="S04.Single.Status4"/>
          <p:cNvSpPr/>
          <p:nvPr/>
        </p:nvSpPr>
        <p:spPr>
          <a:xfrm>
            <a:off x="4471416" y="446227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2" name="S04.Single.CheckShort4"/>
          <p:cNvSpPr/>
          <p:nvPr/>
        </p:nvSpPr>
        <p:spPr>
          <a:xfrm rot="2700000">
            <a:off x="4532681" y="460034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3" name="S04.Single.CheckLong4"/>
          <p:cNvSpPr/>
          <p:nvPr/>
        </p:nvSpPr>
        <p:spPr>
          <a:xfrm rot="18900000">
            <a:off x="4570171" y="457840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4" name="S04.Single.Text4"/>
          <p:cNvSpPr txBox="1"/>
          <p:nvPr/>
        </p:nvSpPr>
        <p:spPr>
          <a:xfrm>
            <a:off x="4882896" y="445587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Full-state snapshot</a:t>
            </a:r>
          </a:p>
        </p:txBody>
      </p:sp>
      <p:sp>
        <p:nvSpPr>
          <p:cNvPr id="100045" name="S04.Single.Status5"/>
          <p:cNvSpPr/>
          <p:nvPr/>
        </p:nvSpPr>
        <p:spPr>
          <a:xfrm>
            <a:off x="4471416" y="482803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6" name="S04.Single.CheckShort5"/>
          <p:cNvSpPr/>
          <p:nvPr/>
        </p:nvSpPr>
        <p:spPr>
          <a:xfrm rot="2700000">
            <a:off x="4532681" y="496610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7" name="S04.Single.CheckLong5"/>
          <p:cNvSpPr/>
          <p:nvPr/>
        </p:nvSpPr>
        <p:spPr>
          <a:xfrm rot="18900000">
            <a:off x="4570171" y="494416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48" name="S04.Single.Text5"/>
          <p:cNvSpPr txBox="1"/>
          <p:nvPr/>
        </p:nvSpPr>
        <p:spPr>
          <a:xfrm>
            <a:off x="4882896" y="482163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Deterministic replay</a:t>
            </a:r>
          </a:p>
        </p:txBody>
      </p:sp>
      <p:sp>
        <p:nvSpPr>
          <p:cNvPr id="100049" name="S04.Single.Status6"/>
          <p:cNvSpPr/>
          <p:nvPr/>
        </p:nvSpPr>
        <p:spPr>
          <a:xfrm>
            <a:off x="4471416" y="519379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50" name="S04.Single.CheckShort6"/>
          <p:cNvSpPr/>
          <p:nvPr/>
        </p:nvSpPr>
        <p:spPr>
          <a:xfrm rot="2700000">
            <a:off x="4532681" y="533186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51" name="S04.Single.CheckLong6"/>
          <p:cNvSpPr/>
          <p:nvPr/>
        </p:nvSpPr>
        <p:spPr>
          <a:xfrm rot="18900000">
            <a:off x="4570171" y="530992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52" name="S04.Single.Text6"/>
          <p:cNvSpPr txBox="1"/>
          <p:nvPr/>
        </p:nvSpPr>
        <p:spPr>
          <a:xfrm>
            <a:off x="4882896" y="518739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Waveform reconstruction</a:t>
            </a:r>
          </a:p>
        </p:txBody>
      </p:sp>
      <p:sp>
        <p:nvSpPr>
          <p:cNvPr id="100053" name="S04.Single.Scope"/>
          <p:cNvSpPr txBox="1"/>
          <p:nvPr/>
        </p:nvSpPr>
        <p:spPr>
          <a:xfrm>
            <a:off x="4407408" y="5577840"/>
            <a:ext cx="3383280" cy="228600"/>
          </a:xfrm>
          <a:prstGeom prst="rect">
            <a:avLst/>
          </a:prstGeom>
          <a:noFill/>
          <a:ln>
            <a:noFill/>
          </a:ln>
        </p:spPr>
        <p:txBody>
          <a:bodyPr lIns="0" tIns="0" rIns="0" bIns="0">
            <a:noAutofit/>
          </a:bodyPr>
          <a:lstStyle/>
          <a:p>
            <a:pPr algn="ctr"/>
            <a:r>
              <a:rPr lang="en-US" sz="1200">
                <a:solidFill>
                  <a:srgbClr val="607184"/>
                </a:solidFill>
                <a:latin typeface="Arial"/>
                <a:ea typeface="Arial"/>
              </a:rPr>
              <a:t>Replay within single-FPGA capacity</a:t>
            </a:r>
          </a:p>
        </p:txBody>
      </p:sp>
      <p:sp>
        <p:nvSpPr>
          <p:cNvPr id="100054" name="S04.REMUS.Panel"/>
          <p:cNvSpPr/>
          <p:nvPr/>
        </p:nvSpPr>
        <p:spPr>
          <a:xfrm>
            <a:off x="8165592" y="969264"/>
            <a:ext cx="3712464" cy="4892040"/>
          </a:xfrm>
          <a:prstGeom prst="roundRect">
            <a:avLst>
              <a:gd name="adj" fmla="val 4500"/>
            </a:avLst>
          </a:prstGeom>
          <a:solidFill>
            <a:srgbClr val="FCF4E8"/>
          </a:solidFill>
          <a:ln>
            <a:noFill/>
          </a:ln>
        </p:spPr>
        <p:txBody>
          <a:bodyPr lIns="0" tIns="0" rIns="0" bIns="0">
            <a:noAutofit/>
          </a:bodyPr>
          <a:lstStyle/>
          <a:p>
            <a:endParaRPr lang="en-US" sz="1800">
              <a:solidFill>
                <a:srgbClr val="20354A"/>
              </a:solidFill>
              <a:latin typeface="Arial"/>
              <a:ea typeface="Arial"/>
            </a:endParaRPr>
          </a:p>
        </p:txBody>
      </p:sp>
      <p:sp>
        <p:nvSpPr>
          <p:cNvPr id="100055" name="S04.REMUS.Heading"/>
          <p:cNvSpPr txBox="1"/>
          <p:nvPr/>
        </p:nvSpPr>
        <p:spPr>
          <a:xfrm>
            <a:off x="8293608" y="1280160"/>
            <a:ext cx="3456432" cy="640080"/>
          </a:xfrm>
          <a:prstGeom prst="rect">
            <a:avLst/>
          </a:prstGeom>
          <a:noFill/>
          <a:ln>
            <a:noFill/>
          </a:ln>
        </p:spPr>
        <p:txBody>
          <a:bodyPr lIns="0" tIns="0" rIns="0" bIns="0">
            <a:noAutofit/>
          </a:bodyPr>
          <a:lstStyle/>
          <a:p>
            <a:pPr algn="ctr"/>
            <a:r>
              <a:rPr lang="en-US" sz="2100" b="1">
                <a:solidFill>
                  <a:srgbClr val="183B56"/>
                </a:solidFill>
                <a:latin typeface="Arial"/>
                <a:ea typeface="Arial"/>
              </a:rPr>
              <a:t>This Work: REMUS</a:t>
            </a:r>
          </a:p>
        </p:txBody>
      </p:sp>
      <p:sp>
        <p:nvSpPr>
          <p:cNvPr id="100056" name="S04.REMUS.Qualifier"/>
          <p:cNvSpPr txBox="1"/>
          <p:nvPr/>
        </p:nvSpPr>
        <p:spPr>
          <a:xfrm>
            <a:off x="8330184" y="1865376"/>
            <a:ext cx="3383280" cy="246888"/>
          </a:xfrm>
          <a:prstGeom prst="rect">
            <a:avLst/>
          </a:prstGeom>
          <a:noFill/>
          <a:ln>
            <a:noFill/>
          </a:ln>
        </p:spPr>
        <p:txBody>
          <a:bodyPr lIns="0" tIns="0" rIns="0" bIns="0">
            <a:noAutofit/>
          </a:bodyPr>
          <a:lstStyle/>
          <a:p>
            <a:pPr algn="ctr"/>
            <a:r>
              <a:rPr lang="en-US" sz="1400" b="1">
                <a:solidFill>
                  <a:srgbClr val="008C95"/>
                </a:solidFill>
                <a:latin typeface="Arial"/>
                <a:ea typeface="Arial"/>
              </a:rPr>
              <a:t>Research Goal</a:t>
            </a:r>
          </a:p>
        </p:txBody>
      </p:sp>
      <p:sp>
        <p:nvSpPr>
          <p:cNvPr id="100057" name="S04.REMUS.Divider"/>
          <p:cNvSpPr/>
          <p:nvPr/>
        </p:nvSpPr>
        <p:spPr>
          <a:xfrm>
            <a:off x="8348472" y="3182112"/>
            <a:ext cx="3346704" cy="10973"/>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58" name="S04.REMUS.Status1"/>
          <p:cNvSpPr/>
          <p:nvPr/>
        </p:nvSpPr>
        <p:spPr>
          <a:xfrm>
            <a:off x="8394192" y="336499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59" name="S04.REMUS.CheckShort1"/>
          <p:cNvSpPr/>
          <p:nvPr/>
        </p:nvSpPr>
        <p:spPr>
          <a:xfrm rot="2700000">
            <a:off x="8455457" y="350306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60" name="S04.REMUS.CheckLong1"/>
          <p:cNvSpPr/>
          <p:nvPr/>
        </p:nvSpPr>
        <p:spPr>
          <a:xfrm rot="18900000">
            <a:off x="8492947" y="348112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61" name="S04.REMUS.Text1"/>
          <p:cNvSpPr txBox="1"/>
          <p:nvPr/>
        </p:nvSpPr>
        <p:spPr>
          <a:xfrm>
            <a:off x="8805672" y="335859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Scalable deployment</a:t>
            </a:r>
          </a:p>
        </p:txBody>
      </p:sp>
      <p:sp>
        <p:nvSpPr>
          <p:cNvPr id="100062" name="S04.REMUS.Status2"/>
          <p:cNvSpPr/>
          <p:nvPr/>
        </p:nvSpPr>
        <p:spPr>
          <a:xfrm>
            <a:off x="8394192" y="373075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63" name="S04.REMUS.CheckShort2"/>
          <p:cNvSpPr/>
          <p:nvPr/>
        </p:nvSpPr>
        <p:spPr>
          <a:xfrm rot="2700000">
            <a:off x="8455457" y="386882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64" name="S04.REMUS.CheckLong2"/>
          <p:cNvSpPr/>
          <p:nvPr/>
        </p:nvSpPr>
        <p:spPr>
          <a:xfrm rot="18900000">
            <a:off x="8492947" y="384688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65" name="S04.REMUS.Text2"/>
          <p:cNvSpPr txBox="1"/>
          <p:nvPr/>
        </p:nvSpPr>
        <p:spPr>
          <a:xfrm>
            <a:off x="8805672" y="372435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Fast execution</a:t>
            </a:r>
          </a:p>
        </p:txBody>
      </p:sp>
      <p:sp>
        <p:nvSpPr>
          <p:cNvPr id="100066" name="S04.REMUS.Status3"/>
          <p:cNvSpPr/>
          <p:nvPr/>
        </p:nvSpPr>
        <p:spPr>
          <a:xfrm>
            <a:off x="8394192" y="409651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67" name="S04.REMUS.CheckShort3"/>
          <p:cNvSpPr/>
          <p:nvPr/>
        </p:nvSpPr>
        <p:spPr>
          <a:xfrm rot="2700000">
            <a:off x="8455457" y="423458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68" name="S04.REMUS.CheckLong3"/>
          <p:cNvSpPr/>
          <p:nvPr/>
        </p:nvSpPr>
        <p:spPr>
          <a:xfrm rot="18900000">
            <a:off x="8492947" y="421264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69" name="S04.REMUS.Text3"/>
          <p:cNvSpPr txBox="1"/>
          <p:nvPr/>
        </p:nvSpPr>
        <p:spPr>
          <a:xfrm>
            <a:off x="8805672" y="409011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Cycle-consistent pause</a:t>
            </a:r>
          </a:p>
        </p:txBody>
      </p:sp>
      <p:sp>
        <p:nvSpPr>
          <p:cNvPr id="100070" name="S04.REMUS.Status4"/>
          <p:cNvSpPr/>
          <p:nvPr/>
        </p:nvSpPr>
        <p:spPr>
          <a:xfrm>
            <a:off x="8394192" y="446227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71" name="S04.REMUS.CheckShort4"/>
          <p:cNvSpPr/>
          <p:nvPr/>
        </p:nvSpPr>
        <p:spPr>
          <a:xfrm rot="2700000">
            <a:off x="8455457" y="460034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72" name="S04.REMUS.CheckLong4"/>
          <p:cNvSpPr/>
          <p:nvPr/>
        </p:nvSpPr>
        <p:spPr>
          <a:xfrm rot="18900000">
            <a:off x="8492947" y="457840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73" name="S04.REMUS.Text4"/>
          <p:cNvSpPr txBox="1"/>
          <p:nvPr/>
        </p:nvSpPr>
        <p:spPr>
          <a:xfrm>
            <a:off x="8805672" y="445587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Global snapshot</a:t>
            </a:r>
          </a:p>
        </p:txBody>
      </p:sp>
      <p:sp>
        <p:nvSpPr>
          <p:cNvPr id="100074" name="S04.REMUS.Status5"/>
          <p:cNvSpPr/>
          <p:nvPr/>
        </p:nvSpPr>
        <p:spPr>
          <a:xfrm>
            <a:off x="8394192" y="482803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75" name="S04.REMUS.CheckShort5"/>
          <p:cNvSpPr/>
          <p:nvPr/>
        </p:nvSpPr>
        <p:spPr>
          <a:xfrm rot="2700000">
            <a:off x="8455457" y="496610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76" name="S04.REMUS.CheckLong5"/>
          <p:cNvSpPr/>
          <p:nvPr/>
        </p:nvSpPr>
        <p:spPr>
          <a:xfrm rot="18900000">
            <a:off x="8492947" y="494416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77" name="S04.REMUS.Text5"/>
          <p:cNvSpPr txBox="1"/>
          <p:nvPr/>
        </p:nvSpPr>
        <p:spPr>
          <a:xfrm>
            <a:off x="8805672" y="482163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Deterministic replay</a:t>
            </a:r>
          </a:p>
        </p:txBody>
      </p:sp>
      <p:sp>
        <p:nvSpPr>
          <p:cNvPr id="100078" name="S04.REMUS.Status6"/>
          <p:cNvSpPr/>
          <p:nvPr/>
        </p:nvSpPr>
        <p:spPr>
          <a:xfrm>
            <a:off x="8394192" y="5193792"/>
            <a:ext cx="265176" cy="26517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79" name="S04.REMUS.CheckShort6"/>
          <p:cNvSpPr/>
          <p:nvPr/>
        </p:nvSpPr>
        <p:spPr>
          <a:xfrm rot="2700000">
            <a:off x="8455457" y="5331866"/>
            <a:ext cx="84125"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80" name="S04.REMUS.CheckLong6"/>
          <p:cNvSpPr/>
          <p:nvPr/>
        </p:nvSpPr>
        <p:spPr>
          <a:xfrm rot="18900000">
            <a:off x="8492947" y="5309921"/>
            <a:ext cx="125273" cy="33833"/>
          </a:xfrm>
          <a:prstGeom prst="rect">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081" name="S04.REMUS.Text6"/>
          <p:cNvSpPr txBox="1"/>
          <p:nvPr/>
        </p:nvSpPr>
        <p:spPr>
          <a:xfrm>
            <a:off x="8805672" y="5187391"/>
            <a:ext cx="2916936" cy="310896"/>
          </a:xfrm>
          <a:prstGeom prst="rect">
            <a:avLst/>
          </a:prstGeom>
          <a:noFill/>
          <a:ln>
            <a:noFill/>
          </a:ln>
        </p:spPr>
        <p:txBody>
          <a:bodyPr lIns="0" tIns="0" rIns="0" bIns="0">
            <a:noAutofit/>
          </a:bodyPr>
          <a:lstStyle/>
          <a:p>
            <a:r>
              <a:rPr lang="en-US" sz="1700">
                <a:solidFill>
                  <a:srgbClr val="20354A"/>
                </a:solidFill>
                <a:latin typeface="Arial"/>
                <a:ea typeface="Arial"/>
              </a:rPr>
              <a:t>Waveform reconstruction</a:t>
            </a:r>
          </a:p>
        </p:txBody>
      </p:sp>
      <p:sp>
        <p:nvSpPr>
          <p:cNvPr id="100082" name="S04.REMUS.Scope"/>
          <p:cNvSpPr txBox="1"/>
          <p:nvPr/>
        </p:nvSpPr>
        <p:spPr>
          <a:xfrm>
            <a:off x="8330184" y="5577840"/>
            <a:ext cx="3383280" cy="228600"/>
          </a:xfrm>
          <a:prstGeom prst="rect">
            <a:avLst/>
          </a:prstGeom>
          <a:noFill/>
          <a:ln>
            <a:noFill/>
          </a:ln>
        </p:spPr>
        <p:txBody>
          <a:bodyPr lIns="0" tIns="0" rIns="0" bIns="0">
            <a:noAutofit/>
          </a:bodyPr>
          <a:lstStyle/>
          <a:p>
            <a:pPr algn="ctr"/>
            <a:r>
              <a:rPr lang="en-US" sz="1200">
                <a:solidFill>
                  <a:srgbClr val="607184"/>
                </a:solidFill>
                <a:latin typeface="Arial"/>
                <a:ea typeface="Arial"/>
              </a:rPr>
              <a:t>Target capabilities; validation follows</a:t>
            </a:r>
          </a:p>
        </p:txBody>
      </p:sp>
      <p:pic>
        <p:nvPicPr>
          <p:cNvPr id="100083" name="S04.Prototype.Left" descr="FPGA chip"/>
          <p:cNvPicPr>
            <a:picLocks noChangeAspect="1"/>
          </p:cNvPicPr>
          <p:nvPr/>
        </p:nvPicPr>
        <p:blipFill>
          <a:blip xmlns:r="http://schemas.openxmlformats.org/officeDocument/2006/relationships" r:embed="R08226750bf5e47db"/>
          <a:srcRect l="21371" t="23684" r="21291" b="20972"/>
          <a:stretch>
            <a:fillRect/>
          </a:stretch>
        </p:blipFill>
        <p:spPr>
          <a:xfrm>
            <a:off x="832104" y="2231136"/>
            <a:ext cx="832104" cy="803171"/>
          </a:xfrm>
          <a:prstGeom prst="rect">
            <a:avLst/>
          </a:prstGeom>
        </p:spPr>
      </p:pic>
      <p:pic>
        <p:nvPicPr>
          <p:cNvPr id="100084" name="S04.Prototype.Right" descr="FPGA chip"/>
          <p:cNvPicPr>
            <a:picLocks noChangeAspect="1"/>
          </p:cNvPicPr>
          <p:nvPr/>
        </p:nvPicPr>
        <p:blipFill>
          <a:blip xmlns:r="http://schemas.openxmlformats.org/officeDocument/2006/relationships" r:embed="R93796b2a57774adb"/>
          <a:srcRect l="21371" t="23684" r="21291" b="20972"/>
          <a:stretch>
            <a:fillRect/>
          </a:stretch>
        </p:blipFill>
        <p:spPr>
          <a:xfrm>
            <a:off x="2688336" y="2231136"/>
            <a:ext cx="832104" cy="803171"/>
          </a:xfrm>
          <a:prstGeom prst="rect">
            <a:avLst/>
          </a:prstGeom>
        </p:spPr>
      </p:pic>
      <p:sp>
        <p:nvSpPr>
          <p:cNvPr id="100085" name="S04.Prototype.Link"/>
          <p:cNvSpPr/>
          <p:nvPr/>
        </p:nvSpPr>
        <p:spPr>
          <a:xfrm>
            <a:off x="1746504" y="2514600"/>
            <a:ext cx="859536" cy="246888"/>
          </a:xfrm>
          <a:prstGeom prst="lef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pic>
        <p:nvPicPr>
          <p:cNvPr id="100086" name="S04.Single.FPGA" descr="FPGA chip"/>
          <p:cNvPicPr>
            <a:picLocks noChangeAspect="1"/>
          </p:cNvPicPr>
          <p:nvPr/>
        </p:nvPicPr>
        <p:blipFill>
          <a:blip xmlns:r="http://schemas.openxmlformats.org/officeDocument/2006/relationships" r:embed="R9089391c6d9940e4"/>
          <a:srcRect l="21371" t="23684" r="21291" b="20972"/>
          <a:stretch>
            <a:fillRect/>
          </a:stretch>
        </p:blipFill>
        <p:spPr>
          <a:xfrm>
            <a:off x="4736592" y="2231136"/>
            <a:ext cx="832104" cy="803171"/>
          </a:xfrm>
          <a:prstGeom prst="rect">
            <a:avLst/>
          </a:prstGeom>
        </p:spPr>
      </p:pic>
      <p:sp>
        <p:nvSpPr>
          <p:cNvPr id="100087" name="S04.Single.Host"/>
          <p:cNvSpPr/>
          <p:nvPr/>
        </p:nvSpPr>
        <p:spPr>
          <a:xfrm>
            <a:off x="6163056" y="2331720"/>
            <a:ext cx="1069848" cy="594360"/>
          </a:xfrm>
          <a:prstGeom prst="roundRect">
            <a:avLst>
              <a:gd name="adj" fmla="val 6500"/>
            </a:avLst>
          </a:prstGeom>
          <a:solidFill>
            <a:srgbClr val="FFFFFF"/>
          </a:solidFill>
          <a:ln w="31750">
            <a:solidFill>
              <a:srgbClr val="183B56"/>
            </a:solidFill>
          </a:ln>
        </p:spPr>
        <p:txBody>
          <a:bodyPr lIns="0" tIns="0" rIns="0" bIns="0">
            <a:noAutofit/>
          </a:bodyPr>
          <a:lstStyle/>
          <a:p>
            <a:endParaRPr lang="en-US" sz="1800">
              <a:solidFill>
                <a:srgbClr val="20354A"/>
              </a:solidFill>
              <a:latin typeface="Arial"/>
              <a:ea typeface="Arial"/>
            </a:endParaRPr>
          </a:p>
        </p:txBody>
      </p:sp>
      <p:sp>
        <p:nvSpPr>
          <p:cNvPr id="100088" name="S04.Single.HostStand"/>
          <p:cNvSpPr/>
          <p:nvPr/>
        </p:nvSpPr>
        <p:spPr>
          <a:xfrm>
            <a:off x="6643116" y="2935224"/>
            <a:ext cx="109728" cy="109728"/>
          </a:xfrm>
          <a:prstGeom prst="rect">
            <a:avLst/>
          </a:prstGeom>
          <a:solidFill>
            <a:srgbClr val="183B56"/>
          </a:solidFill>
          <a:ln>
            <a:noFill/>
          </a:ln>
        </p:spPr>
        <p:txBody>
          <a:bodyPr lIns="0" tIns="0" rIns="0" bIns="0">
            <a:noAutofit/>
          </a:bodyPr>
          <a:lstStyle/>
          <a:p>
            <a:endParaRPr lang="en-US" sz="1800">
              <a:solidFill>
                <a:srgbClr val="20354A"/>
              </a:solidFill>
              <a:latin typeface="Arial"/>
              <a:ea typeface="Arial"/>
            </a:endParaRPr>
          </a:p>
        </p:txBody>
      </p:sp>
      <p:sp>
        <p:nvSpPr>
          <p:cNvPr id="100089" name="S04.Single.HostFoot"/>
          <p:cNvSpPr/>
          <p:nvPr/>
        </p:nvSpPr>
        <p:spPr>
          <a:xfrm>
            <a:off x="6460236" y="3044952"/>
            <a:ext cx="475488" cy="41148"/>
          </a:xfrm>
          <a:prstGeom prst="rect">
            <a:avLst/>
          </a:prstGeom>
          <a:solidFill>
            <a:srgbClr val="183B56"/>
          </a:solidFill>
          <a:ln>
            <a:noFill/>
          </a:ln>
        </p:spPr>
        <p:txBody>
          <a:bodyPr lIns="0" tIns="0" rIns="0" bIns="0">
            <a:noAutofit/>
          </a:bodyPr>
          <a:lstStyle/>
          <a:p>
            <a:endParaRPr lang="en-US" sz="1800">
              <a:solidFill>
                <a:srgbClr val="20354A"/>
              </a:solidFill>
              <a:latin typeface="Arial"/>
              <a:ea typeface="Arial"/>
            </a:endParaRPr>
          </a:p>
        </p:txBody>
      </p:sp>
      <p:pic>
        <p:nvPicPr>
          <p:cNvPr id="100090" name="S04.Single.Snapshot" descr="Global snapshot"/>
          <p:cNvPicPr>
            <a:picLocks noChangeAspect="1"/>
          </p:cNvPicPr>
          <p:nvPr/>
        </p:nvPicPr>
        <p:blipFill>
          <a:blip xmlns:r="http://schemas.openxmlformats.org/officeDocument/2006/relationships" r:embed="Rddba46406b7a4c63"/>
          <a:srcRect l="16746" t="16427" r="16746" b="11961"/>
          <a:stretch>
            <a:fillRect/>
          </a:stretch>
        </p:blipFill>
        <p:spPr>
          <a:xfrm>
            <a:off x="6496812" y="2404872"/>
            <a:ext cx="402336" cy="433211"/>
          </a:xfrm>
          <a:prstGeom prst="rect">
            <a:avLst/>
          </a:prstGeom>
        </p:spPr>
      </p:pic>
      <p:cxnSp>
        <p:nvCxnSpPr>
          <p:cNvPr id="100091" name="S04.Single.StateTransfer"/>
          <p:cNvCxnSpPr>
            <a:stCxn id="100086" idx="0"/>
            <a:endCxn id="100087" idx="0"/>
          </p:cNvCxnSpPr>
          <p:nvPr/>
        </p:nvCxnSpPr>
        <p:spPr>
          <a:xfrm flipV="1">
            <a:off x="5568696" y="2628900"/>
            <a:ext cx="594360" cy="3821"/>
          </a:xfrm>
          <a:prstGeom prst="straightConnector1">
            <a:avLst/>
          </a:prstGeom>
          <a:ln w="25400">
            <a:solidFill>
              <a:srgbClr val="183B56"/>
            </a:solidFill>
            <a:headEnd type="triangle"/>
            <a:tailEnd type="triangle"/>
          </a:ln>
        </p:spPr>
      </p:cxnSp>
      <p:pic>
        <p:nvPicPr>
          <p:cNvPr id="100092" name="S04.REMUS.Left" descr="FPGA chip"/>
          <p:cNvPicPr>
            <a:picLocks noChangeAspect="1"/>
          </p:cNvPicPr>
          <p:nvPr/>
        </p:nvPicPr>
        <p:blipFill>
          <a:blip xmlns:r="http://schemas.openxmlformats.org/officeDocument/2006/relationships" r:embed="Rccc30015c29b4f12"/>
          <a:srcRect l="21371" t="23684" r="21291" b="20972"/>
          <a:stretch>
            <a:fillRect/>
          </a:stretch>
        </p:blipFill>
        <p:spPr>
          <a:xfrm>
            <a:off x="8394192" y="2331720"/>
            <a:ext cx="640080" cy="617824"/>
          </a:xfrm>
          <a:prstGeom prst="rect">
            <a:avLst/>
          </a:prstGeom>
        </p:spPr>
      </p:pic>
      <p:pic>
        <p:nvPicPr>
          <p:cNvPr id="100093" name="S04.REMUS.Right" descr="FPGA chip"/>
          <p:cNvPicPr>
            <a:picLocks noChangeAspect="1"/>
          </p:cNvPicPr>
          <p:nvPr/>
        </p:nvPicPr>
        <p:blipFill>
          <a:blip xmlns:r="http://schemas.openxmlformats.org/officeDocument/2006/relationships" r:embed="R3087888df6c94e56"/>
          <a:srcRect l="21371" t="23684" r="21291" b="20972"/>
          <a:stretch>
            <a:fillRect/>
          </a:stretch>
        </p:blipFill>
        <p:spPr>
          <a:xfrm>
            <a:off x="9454896" y="2331720"/>
            <a:ext cx="640080" cy="617824"/>
          </a:xfrm>
          <a:prstGeom prst="rect">
            <a:avLst/>
          </a:prstGeom>
        </p:spPr>
      </p:pic>
      <p:sp>
        <p:nvSpPr>
          <p:cNvPr id="100094" name="S04.REMUS.Link"/>
          <p:cNvSpPr/>
          <p:nvPr/>
        </p:nvSpPr>
        <p:spPr>
          <a:xfrm>
            <a:off x="9075420" y="2551176"/>
            <a:ext cx="338328" cy="182880"/>
          </a:xfrm>
          <a:prstGeom prst="lef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pic>
        <p:nvPicPr>
          <p:cNvPr id="100095" name="S04.REMUS.Replay" descr="Restore and replay"/>
          <p:cNvPicPr>
            <a:picLocks noChangeAspect="1"/>
          </p:cNvPicPr>
          <p:nvPr/>
        </p:nvPicPr>
        <p:blipFill>
          <a:blip xmlns:r="http://schemas.openxmlformats.org/officeDocument/2006/relationships" r:embed="Rc1bcec8b0ec84c3a"/>
          <a:srcRect l="13476" t="12679" r="12200" b="13237"/>
          <a:stretch>
            <a:fillRect/>
          </a:stretch>
        </p:blipFill>
        <p:spPr>
          <a:xfrm>
            <a:off x="10296144" y="2386584"/>
            <a:ext cx="521208" cy="519530"/>
          </a:xfrm>
          <a:prstGeom prst="rect">
            <a:avLst/>
          </a:prstGeom>
        </p:spPr>
      </p:pic>
      <p:pic>
        <p:nvPicPr>
          <p:cNvPr id="100096" name="S04.REMUS.Snapshot" descr="Global snapshot"/>
          <p:cNvPicPr>
            <a:picLocks noChangeAspect="1"/>
          </p:cNvPicPr>
          <p:nvPr/>
        </p:nvPicPr>
        <p:blipFill>
          <a:blip xmlns:r="http://schemas.openxmlformats.org/officeDocument/2006/relationships" r:embed="Rbc8b3cfe85344baa"/>
          <a:srcRect l="16746" t="16427" r="16746" b="11961"/>
          <a:stretch>
            <a:fillRect/>
          </a:stretch>
        </p:blipFill>
        <p:spPr>
          <a:xfrm>
            <a:off x="11055096" y="2368296"/>
            <a:ext cx="502920" cy="541513"/>
          </a:xfrm>
          <a:prstGeom prst="rect">
            <a:avLst/>
          </a:prstGeom>
        </p:spPr>
      </p:pic>
      <p:sp>
        <p:nvSpPr>
          <p:cNvPr id="100097" name="S04.Goal.Panel"/>
          <p:cNvSpPr/>
          <p:nvPr/>
        </p:nvSpPr>
        <p:spPr>
          <a:xfrm>
            <a:off x="320040" y="6016752"/>
            <a:ext cx="11558016" cy="576072"/>
          </a:xfrm>
          <a:prstGeom prst="roundRect">
            <a:avLst>
              <a:gd name="adj" fmla="val 150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98" name="S04.Goal.Target0"/>
          <p:cNvSpPr/>
          <p:nvPr/>
        </p:nvSpPr>
        <p:spPr>
          <a:xfrm>
            <a:off x="900684" y="6089904"/>
            <a:ext cx="429768" cy="429768"/>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99" name="S04.Goal.Target1"/>
          <p:cNvSpPr/>
          <p:nvPr/>
        </p:nvSpPr>
        <p:spPr>
          <a:xfrm>
            <a:off x="955548" y="6144768"/>
            <a:ext cx="320040" cy="320040"/>
          </a:xfrm>
          <a:prstGeom prst="ellipse">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100" name="S04.Goal.Target2"/>
          <p:cNvSpPr/>
          <p:nvPr/>
        </p:nvSpPr>
        <p:spPr>
          <a:xfrm>
            <a:off x="1001268" y="6190488"/>
            <a:ext cx="228600" cy="228600"/>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101" name="S04.Goal.Target3"/>
          <p:cNvSpPr/>
          <p:nvPr/>
        </p:nvSpPr>
        <p:spPr>
          <a:xfrm>
            <a:off x="1056132" y="6245352"/>
            <a:ext cx="118872" cy="118872"/>
          </a:xfrm>
          <a:prstGeom prst="ellipse">
            <a:avLst/>
          </a:prstGeom>
          <a:solidFill>
            <a:srgbClr val="FFFFFF"/>
          </a:solidFill>
          <a:ln>
            <a:noFill/>
          </a:ln>
        </p:spPr>
        <p:txBody>
          <a:bodyPr lIns="0" tIns="0" rIns="0" bIns="0">
            <a:noAutofit/>
          </a:bodyPr>
          <a:lstStyle/>
          <a:p>
            <a:endParaRPr lang="en-US" sz="1800">
              <a:solidFill>
                <a:srgbClr val="20354A"/>
              </a:solidFill>
              <a:latin typeface="Arial"/>
              <a:ea typeface="Arial"/>
            </a:endParaRPr>
          </a:p>
        </p:txBody>
      </p:sp>
      <p:sp>
        <p:nvSpPr>
          <p:cNvPr id="100102" name="S04.Goal.Target4"/>
          <p:cNvSpPr/>
          <p:nvPr/>
        </p:nvSpPr>
        <p:spPr>
          <a:xfrm>
            <a:off x="1085850" y="6275070"/>
            <a:ext cx="59436" cy="59436"/>
          </a:xfrm>
          <a:prstGeom prst="ellipse">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103" name="S04.Goal.Arrow"/>
          <p:cNvSpPr/>
          <p:nvPr/>
        </p:nvSpPr>
        <p:spPr>
          <a:xfrm rot="18900000">
            <a:off x="1138428" y="6089904"/>
            <a:ext cx="265176" cy="91440"/>
          </a:xfrm>
          <a:prstGeom prs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104" name="S04.Goal.Divider"/>
          <p:cNvSpPr/>
          <p:nvPr/>
        </p:nvSpPr>
        <p:spPr>
          <a:xfrm>
            <a:off x="1801368" y="6117336"/>
            <a:ext cx="8230" cy="365760"/>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105" name="S04.Goal.Text"/>
          <p:cNvSpPr txBox="1"/>
          <p:nvPr/>
        </p:nvSpPr>
        <p:spPr>
          <a:xfrm>
            <a:off x="2066544" y="6062472"/>
            <a:ext cx="9500616" cy="502920"/>
          </a:xfrm>
          <a:prstGeom prst="rect">
            <a:avLst/>
          </a:prstGeom>
          <a:noFill/>
          <a:ln>
            <a:noFill/>
          </a:ln>
        </p:spPr>
        <p:txBody>
          <a:bodyPr lIns="0" tIns="0" rIns="0" bIns="0">
            <a:noAutofit/>
          </a:bodyPr>
          <a:lstStyle/>
          <a:p>
            <a:r>
              <a:rPr lang="en-US" sz="1800">
                <a:solidFill>
                  <a:srgbClr val="183B56"/>
                </a:solidFill>
                <a:latin typeface="Arial"/>
                <a:ea typeface="Arial"/>
              </a:rPr>
              <a:t>Goal: combine multi-FPGA scalability with replayable emulation</a:t>
            </a:r>
          </a:p>
          <a:p>
            <a:r>
              <a:rPr lang="en-US" sz="1800">
                <a:solidFill>
                  <a:srgbClr val="183B56"/>
                </a:solidFill>
                <a:latin typeface="Arial"/>
                <a:ea typeface="Arial"/>
              </a:rPr>
              <a:t>for large-scale SoC debugging.</a:t>
            </a:r>
          </a:p>
        </p:txBody>
      </p:sp>
      <p:sp>
        <p:nvSpPr>
          <p:cNvPr id="100106" name="S04.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4</a:t>
            </a:r>
          </a:p>
        </p:txBody>
      </p:sp>
    </p:spTree>
  </p:cSld>
</p:sld>
</file>

<file path=ppt/slides/merged07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5.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5. REMUS: Overall Workflow and Mid-Term Scope</a:t>
            </a:r>
          </a:p>
        </p:txBody>
      </p:sp>
      <p:sp>
        <p:nvSpPr>
          <p:cNvPr id="100000" name="S05.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5.Workflow.Heading"/>
          <p:cNvSpPr txBox="1"/>
          <p:nvPr/>
        </p:nvSpPr>
        <p:spPr>
          <a:xfrm>
            <a:off x="320040" y="960120"/>
            <a:ext cx="7315200" cy="365760"/>
          </a:xfrm>
          <a:prstGeom prst="rect">
            <a:avLst/>
          </a:prstGeom>
          <a:noFill/>
          <a:ln>
            <a:noFill/>
          </a:ln>
        </p:spPr>
        <p:txBody>
          <a:bodyPr lIns="0" tIns="0" rIns="0" bIns="0">
            <a:noAutofit/>
          </a:bodyPr>
          <a:lstStyle/>
          <a:p>
            <a:r>
              <a:rPr lang="en-US" sz="2200" b="1">
                <a:solidFill>
                  <a:srgbClr val="183B56"/>
                </a:solidFill>
                <a:latin typeface="Arial"/>
                <a:ea typeface="Arial"/>
              </a:rPr>
              <a:t>Overall Workflow</a:t>
            </a:r>
          </a:p>
        </p:txBody>
      </p:sp>
      <p:sp>
        <p:nvSpPr>
          <p:cNvPr id="100002" name="S05.RTL.Panel"/>
          <p:cNvSpPr/>
          <p:nvPr/>
        </p:nvSpPr>
        <p:spPr>
          <a:xfrm>
            <a:off x="320040" y="1463040"/>
            <a:ext cx="1938528" cy="3072384"/>
          </a:xfrm>
          <a:prstGeom prst="roundRect">
            <a:avLst>
              <a:gd name="adj" fmla="val 65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3" name="S05.RTL.Number"/>
          <p:cNvSpPr/>
          <p:nvPr/>
        </p:nvSpPr>
        <p:spPr>
          <a:xfrm>
            <a:off x="1074420" y="1609344"/>
            <a:ext cx="429768" cy="429768"/>
          </a:xfrm>
          <a:prstGeom prst="ellipse">
            <a:avLst/>
          </a:prstGeom>
          <a:solidFill>
            <a:srgbClr val="008C95"/>
          </a:solidFill>
          <a:ln>
            <a:noFill/>
          </a:ln>
        </p:spPr>
        <p:txBody>
          <a:bodyPr lIns="0" tIns="0" rIns="0" bIns="0" anchor="ctr">
            <a:noAutofit/>
          </a:bodyPr>
          <a:lstStyle/>
          <a:p>
            <a:pPr algn="ctr"/>
            <a:r>
              <a:rPr lang="en-US" sz="2100" b="1">
                <a:solidFill>
                  <a:srgbClr val="FFFFFF"/>
                </a:solidFill>
                <a:latin typeface="Arial"/>
                <a:ea typeface="Arial"/>
              </a:rPr>
              <a:t>1</a:t>
            </a:r>
          </a:p>
        </p:txBody>
      </p:sp>
      <p:sp>
        <p:nvSpPr>
          <p:cNvPr id="100004" name="S05.RTL.Title"/>
          <p:cNvSpPr txBox="1"/>
          <p:nvPr/>
        </p:nvSpPr>
        <p:spPr>
          <a:xfrm>
            <a:off x="411480" y="2139696"/>
            <a:ext cx="1755648" cy="768096"/>
          </a:xfrm>
          <a:prstGeom prst="rect">
            <a:avLst/>
          </a:prstGeom>
          <a:noFill/>
          <a:ln>
            <a:noFill/>
          </a:ln>
        </p:spPr>
        <p:txBody>
          <a:bodyPr lIns="0" tIns="0" rIns="0" bIns="0">
            <a:noAutofit/>
          </a:bodyPr>
          <a:lstStyle/>
          <a:p>
            <a:pPr algn="ctr"/>
            <a:r>
              <a:rPr lang="en-US" sz="1700" b="1">
                <a:solidFill>
                  <a:srgbClr val="183B56"/>
                </a:solidFill>
                <a:latin typeface="Arial"/>
                <a:ea typeface="Arial"/>
              </a:rPr>
              <a:t>RTL Design</a:t>
            </a:r>
          </a:p>
        </p:txBody>
      </p:sp>
      <p:sp>
        <p:nvSpPr>
          <p:cNvPr id="100005" name="S05.Partition.Panel"/>
          <p:cNvSpPr/>
          <p:nvPr/>
        </p:nvSpPr>
        <p:spPr>
          <a:xfrm>
            <a:off x="2450592" y="1463040"/>
            <a:ext cx="2057400" cy="3072384"/>
          </a:xfrm>
          <a:prstGeom prst="roundRect">
            <a:avLst>
              <a:gd name="adj" fmla="val 65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6" name="S05.Partition.Number"/>
          <p:cNvSpPr/>
          <p:nvPr/>
        </p:nvSpPr>
        <p:spPr>
          <a:xfrm>
            <a:off x="3264408" y="1609344"/>
            <a:ext cx="429768" cy="429768"/>
          </a:xfrm>
          <a:prstGeom prst="ellipse">
            <a:avLst/>
          </a:prstGeom>
          <a:solidFill>
            <a:srgbClr val="008C95"/>
          </a:solidFill>
          <a:ln>
            <a:noFill/>
          </a:ln>
        </p:spPr>
        <p:txBody>
          <a:bodyPr lIns="0" tIns="0" rIns="0" bIns="0" anchor="ctr">
            <a:noAutofit/>
          </a:bodyPr>
          <a:lstStyle/>
          <a:p>
            <a:pPr algn="ctr"/>
            <a:r>
              <a:rPr lang="en-US" sz="2100" b="1">
                <a:solidFill>
                  <a:srgbClr val="FFFFFF"/>
                </a:solidFill>
                <a:latin typeface="Arial"/>
                <a:ea typeface="Arial"/>
              </a:rPr>
              <a:t>2</a:t>
            </a:r>
          </a:p>
        </p:txBody>
      </p:sp>
      <p:sp>
        <p:nvSpPr>
          <p:cNvPr id="100007" name="S05.Partition.Title"/>
          <p:cNvSpPr txBox="1"/>
          <p:nvPr/>
        </p:nvSpPr>
        <p:spPr>
          <a:xfrm>
            <a:off x="2542032" y="2139696"/>
            <a:ext cx="1874520" cy="768096"/>
          </a:xfrm>
          <a:prstGeom prst="rect">
            <a:avLst/>
          </a:prstGeom>
          <a:noFill/>
          <a:ln>
            <a:noFill/>
          </a:ln>
        </p:spPr>
        <p:txBody>
          <a:bodyPr lIns="0" tIns="0" rIns="0" bIns="0">
            <a:noAutofit/>
          </a:bodyPr>
          <a:lstStyle/>
          <a:p>
            <a:pPr algn="ctr"/>
            <a:r>
              <a:rPr lang="en-US" sz="1700" b="1">
                <a:solidFill>
                  <a:srgbClr val="183B56"/>
                </a:solidFill>
                <a:latin typeface="Arial"/>
                <a:ea typeface="Arial"/>
              </a:rPr>
              <a:t>Automated</a:t>
            </a:r>
          </a:p>
          <a:p>
            <a:pPr algn="ctr"/>
            <a:r>
              <a:rPr lang="en-US" sz="1700" b="1">
                <a:solidFill>
                  <a:srgbClr val="183B56"/>
                </a:solidFill>
                <a:latin typeface="Arial"/>
                <a:ea typeface="Arial"/>
              </a:rPr>
              <a:t>Partitioning</a:t>
            </a:r>
          </a:p>
        </p:txBody>
      </p:sp>
      <p:sp>
        <p:nvSpPr>
          <p:cNvPr id="100008" name="S05.Deploy.Panel"/>
          <p:cNvSpPr/>
          <p:nvPr/>
        </p:nvSpPr>
        <p:spPr>
          <a:xfrm>
            <a:off x="4700016" y="1463040"/>
            <a:ext cx="2157984" cy="3072384"/>
          </a:xfrm>
          <a:prstGeom prst="roundRect">
            <a:avLst>
              <a:gd name="adj" fmla="val 65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9" name="S05.Deploy.Number"/>
          <p:cNvSpPr/>
          <p:nvPr/>
        </p:nvSpPr>
        <p:spPr>
          <a:xfrm>
            <a:off x="5564124" y="1609344"/>
            <a:ext cx="429768" cy="429768"/>
          </a:xfrm>
          <a:prstGeom prst="ellipse">
            <a:avLst/>
          </a:prstGeom>
          <a:solidFill>
            <a:srgbClr val="008C95"/>
          </a:solidFill>
          <a:ln>
            <a:noFill/>
          </a:ln>
        </p:spPr>
        <p:txBody>
          <a:bodyPr lIns="0" tIns="0" rIns="0" bIns="0" anchor="ctr">
            <a:noAutofit/>
          </a:bodyPr>
          <a:lstStyle/>
          <a:p>
            <a:pPr algn="ctr"/>
            <a:r>
              <a:rPr lang="en-US" sz="2100" b="1">
                <a:solidFill>
                  <a:srgbClr val="FFFFFF"/>
                </a:solidFill>
                <a:latin typeface="Arial"/>
                <a:ea typeface="Arial"/>
              </a:rPr>
              <a:t>3</a:t>
            </a:r>
          </a:p>
        </p:txBody>
      </p:sp>
      <p:sp>
        <p:nvSpPr>
          <p:cNvPr id="100010" name="S05.Deploy.Title"/>
          <p:cNvSpPr txBox="1"/>
          <p:nvPr/>
        </p:nvSpPr>
        <p:spPr>
          <a:xfrm>
            <a:off x="4791456" y="2139696"/>
            <a:ext cx="1975104" cy="768096"/>
          </a:xfrm>
          <a:prstGeom prst="rect">
            <a:avLst/>
          </a:prstGeom>
          <a:noFill/>
          <a:ln>
            <a:noFill/>
          </a:ln>
        </p:spPr>
        <p:txBody>
          <a:bodyPr lIns="0" tIns="0" rIns="0" bIns="0">
            <a:noAutofit/>
          </a:bodyPr>
          <a:lstStyle/>
          <a:p>
            <a:pPr algn="ctr"/>
            <a:r>
              <a:rPr lang="en-US" sz="1700" b="1">
                <a:solidFill>
                  <a:srgbClr val="183B56"/>
                </a:solidFill>
                <a:latin typeface="Arial"/>
                <a:ea typeface="Arial"/>
              </a:rPr>
              <a:t>Multi-FPGA</a:t>
            </a:r>
          </a:p>
          <a:p>
            <a:pPr algn="ctr"/>
            <a:r>
              <a:rPr lang="en-US" sz="1700" b="1">
                <a:solidFill>
                  <a:srgbClr val="183B56"/>
                </a:solidFill>
                <a:latin typeface="Arial"/>
                <a:ea typeface="Arial"/>
              </a:rPr>
              <a:t>Deployment</a:t>
            </a:r>
          </a:p>
        </p:txBody>
      </p:sp>
      <p:sp>
        <p:nvSpPr>
          <p:cNvPr id="100011" name="S05.Deploy.Caption"/>
          <p:cNvSpPr txBox="1"/>
          <p:nvPr/>
        </p:nvSpPr>
        <p:spPr>
          <a:xfrm>
            <a:off x="4791456" y="2798064"/>
            <a:ext cx="1975104" cy="466344"/>
          </a:xfrm>
          <a:prstGeom prst="rect">
            <a:avLst/>
          </a:prstGeom>
          <a:noFill/>
          <a:ln>
            <a:noFill/>
          </a:ln>
        </p:spPr>
        <p:txBody>
          <a:bodyPr lIns="0" tIns="0" rIns="0" bIns="0">
            <a:noAutofit/>
          </a:bodyPr>
          <a:lstStyle/>
          <a:p>
            <a:pPr algn="ctr"/>
            <a:r>
              <a:rPr lang="en-US" sz="1400">
                <a:solidFill>
                  <a:srgbClr val="20354A"/>
                </a:solidFill>
                <a:latin typeface="Arial"/>
                <a:ea typeface="Arial"/>
              </a:rPr>
              <a:t>Fabric routing &amp;</a:t>
            </a:r>
          </a:p>
          <a:p>
            <a:pPr algn="ctr"/>
            <a:r>
              <a:rPr lang="en-US" sz="1400">
                <a:solidFill>
                  <a:srgbClr val="20354A"/>
                </a:solidFill>
                <a:latin typeface="Arial"/>
                <a:ea typeface="Arial"/>
              </a:rPr>
              <a:t>runtime control</a:t>
            </a:r>
          </a:p>
        </p:txBody>
      </p:sp>
      <p:sp>
        <p:nvSpPr>
          <p:cNvPr id="100012" name="S05.Cycle.Panel"/>
          <p:cNvSpPr/>
          <p:nvPr/>
        </p:nvSpPr>
        <p:spPr>
          <a:xfrm>
            <a:off x="7050024" y="1463040"/>
            <a:ext cx="2606040" cy="3072384"/>
          </a:xfrm>
          <a:prstGeom prst="roundRect">
            <a:avLst>
              <a:gd name="adj" fmla="val 65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13" name="S05.Cycle.Number"/>
          <p:cNvSpPr/>
          <p:nvPr/>
        </p:nvSpPr>
        <p:spPr>
          <a:xfrm>
            <a:off x="8138160" y="1609344"/>
            <a:ext cx="429768" cy="429768"/>
          </a:xfrm>
          <a:prstGeom prst="ellipse">
            <a:avLst/>
          </a:prstGeom>
          <a:solidFill>
            <a:srgbClr val="008C95"/>
          </a:solidFill>
          <a:ln>
            <a:noFill/>
          </a:ln>
        </p:spPr>
        <p:txBody>
          <a:bodyPr lIns="0" tIns="0" rIns="0" bIns="0" anchor="ctr">
            <a:noAutofit/>
          </a:bodyPr>
          <a:lstStyle/>
          <a:p>
            <a:pPr algn="ctr"/>
            <a:r>
              <a:rPr lang="en-US" sz="2100" b="1">
                <a:solidFill>
                  <a:srgbClr val="FFFFFF"/>
                </a:solidFill>
                <a:latin typeface="Arial"/>
                <a:ea typeface="Arial"/>
              </a:rPr>
              <a:t>4</a:t>
            </a:r>
          </a:p>
        </p:txBody>
      </p:sp>
      <p:sp>
        <p:nvSpPr>
          <p:cNvPr id="100014" name="S05.Cycle.Title"/>
          <p:cNvSpPr txBox="1"/>
          <p:nvPr/>
        </p:nvSpPr>
        <p:spPr>
          <a:xfrm>
            <a:off x="7141464" y="2139696"/>
            <a:ext cx="2423160" cy="768096"/>
          </a:xfrm>
          <a:prstGeom prst="rect">
            <a:avLst/>
          </a:prstGeom>
          <a:noFill/>
          <a:ln>
            <a:noFill/>
          </a:ln>
        </p:spPr>
        <p:txBody>
          <a:bodyPr lIns="0" tIns="0" rIns="0" bIns="0">
            <a:noAutofit/>
          </a:bodyPr>
          <a:lstStyle/>
          <a:p>
            <a:pPr algn="ctr"/>
            <a:r>
              <a:rPr lang="en-US" sz="1700" b="1">
                <a:solidFill>
                  <a:srgbClr val="183B56"/>
                </a:solidFill>
                <a:latin typeface="Arial"/>
                <a:ea typeface="Arial"/>
              </a:rPr>
              <a:t>Cycle-Accurate</a:t>
            </a:r>
          </a:p>
          <a:p>
            <a:pPr algn="ctr"/>
            <a:r>
              <a:rPr lang="en-US" sz="1700" b="1">
                <a:solidFill>
                  <a:srgbClr val="183B56"/>
                </a:solidFill>
                <a:latin typeface="Arial"/>
                <a:ea typeface="Arial"/>
              </a:rPr>
              <a:t>Execution &amp; Global Pause</a:t>
            </a:r>
          </a:p>
        </p:txBody>
      </p:sp>
      <p:sp>
        <p:nvSpPr>
          <p:cNvPr id="100015" name="S05.Cycle.Caption"/>
          <p:cNvSpPr txBox="1"/>
          <p:nvPr/>
        </p:nvSpPr>
        <p:spPr>
          <a:xfrm>
            <a:off x="7141464" y="2980944"/>
            <a:ext cx="2423160" cy="466344"/>
          </a:xfrm>
          <a:prstGeom prst="rect">
            <a:avLst/>
          </a:prstGeom>
          <a:noFill/>
          <a:ln>
            <a:noFill/>
          </a:ln>
        </p:spPr>
        <p:txBody>
          <a:bodyPr lIns="0" tIns="0" rIns="0" bIns="0">
            <a:noAutofit/>
          </a:bodyPr>
          <a:lstStyle/>
          <a:p>
            <a:pPr algn="ctr"/>
            <a:r>
              <a:rPr lang="en-US" sz="1400">
                <a:solidFill>
                  <a:srgbClr val="20354A"/>
                </a:solidFill>
                <a:latin typeface="Arial"/>
                <a:ea typeface="Arial"/>
              </a:rPr>
              <a:t>Synchronized DUT cycles</a:t>
            </a:r>
          </a:p>
        </p:txBody>
      </p:sp>
      <p:sp>
        <p:nvSpPr>
          <p:cNvPr id="100016" name="S05.State.Panel"/>
          <p:cNvSpPr/>
          <p:nvPr/>
        </p:nvSpPr>
        <p:spPr>
          <a:xfrm>
            <a:off x="9848088" y="1463040"/>
            <a:ext cx="2029968" cy="3072384"/>
          </a:xfrm>
          <a:prstGeom prst="roundRect">
            <a:avLst>
              <a:gd name="adj" fmla="val 65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17" name="S05.State.Number"/>
          <p:cNvSpPr/>
          <p:nvPr/>
        </p:nvSpPr>
        <p:spPr>
          <a:xfrm>
            <a:off x="10648188" y="1609344"/>
            <a:ext cx="429768" cy="429768"/>
          </a:xfrm>
          <a:prstGeom prst="ellipse">
            <a:avLst/>
          </a:prstGeom>
          <a:solidFill>
            <a:srgbClr val="008C95"/>
          </a:solidFill>
          <a:ln>
            <a:noFill/>
          </a:ln>
        </p:spPr>
        <p:txBody>
          <a:bodyPr lIns="0" tIns="0" rIns="0" bIns="0" anchor="ctr">
            <a:noAutofit/>
          </a:bodyPr>
          <a:lstStyle/>
          <a:p>
            <a:pPr algn="ctr"/>
            <a:r>
              <a:rPr lang="en-US" sz="2100" b="1">
                <a:solidFill>
                  <a:srgbClr val="FFFFFF"/>
                </a:solidFill>
                <a:latin typeface="Arial"/>
                <a:ea typeface="Arial"/>
              </a:rPr>
              <a:t>5</a:t>
            </a:r>
          </a:p>
        </p:txBody>
      </p:sp>
      <p:sp>
        <p:nvSpPr>
          <p:cNvPr id="100018" name="S05.State.Title"/>
          <p:cNvSpPr txBox="1"/>
          <p:nvPr/>
        </p:nvSpPr>
        <p:spPr>
          <a:xfrm>
            <a:off x="9939528" y="2139696"/>
            <a:ext cx="1847088" cy="768096"/>
          </a:xfrm>
          <a:prstGeom prst="rect">
            <a:avLst/>
          </a:prstGeom>
          <a:noFill/>
          <a:ln>
            <a:noFill/>
          </a:ln>
        </p:spPr>
        <p:txBody>
          <a:bodyPr lIns="0" tIns="0" rIns="0" bIns="0">
            <a:noAutofit/>
          </a:bodyPr>
          <a:lstStyle/>
          <a:p>
            <a:pPr algn="ctr"/>
            <a:r>
              <a:rPr lang="en-US" sz="1700" b="1">
                <a:solidFill>
                  <a:srgbClr val="183B56"/>
                </a:solidFill>
                <a:latin typeface="Arial"/>
                <a:ea typeface="Arial"/>
              </a:rPr>
              <a:t>State Capture,</a:t>
            </a:r>
          </a:p>
          <a:p>
            <a:pPr algn="ctr"/>
            <a:r>
              <a:rPr lang="en-US" sz="1700" b="1">
                <a:solidFill>
                  <a:srgbClr val="183B56"/>
                </a:solidFill>
                <a:latin typeface="Arial"/>
                <a:ea typeface="Arial"/>
              </a:rPr>
              <a:t>Restore &amp; Replay</a:t>
            </a:r>
          </a:p>
        </p:txBody>
      </p:sp>
      <p:sp>
        <p:nvSpPr>
          <p:cNvPr id="100019" name="S05.State.Caption"/>
          <p:cNvSpPr txBox="1"/>
          <p:nvPr/>
        </p:nvSpPr>
        <p:spPr>
          <a:xfrm>
            <a:off x="9939528" y="2798064"/>
            <a:ext cx="1847088" cy="466344"/>
          </a:xfrm>
          <a:prstGeom prst="rect">
            <a:avLst/>
          </a:prstGeom>
          <a:noFill/>
          <a:ln>
            <a:noFill/>
          </a:ln>
        </p:spPr>
        <p:txBody>
          <a:bodyPr lIns="0" tIns="0" rIns="0" bIns="0">
            <a:noAutofit/>
          </a:bodyPr>
          <a:lstStyle/>
          <a:p>
            <a:pPr algn="ctr"/>
            <a:r>
              <a:rPr lang="en-US" sz="1400">
                <a:solidFill>
                  <a:srgbClr val="20354A"/>
                </a:solidFill>
                <a:latin typeface="Arial"/>
                <a:ea typeface="Arial"/>
              </a:rPr>
              <a:t>Debug and replay support</a:t>
            </a:r>
          </a:p>
        </p:txBody>
      </p:sp>
      <p:sp>
        <p:nvSpPr>
          <p:cNvPr id="100020" name="S05.Workflow.Arrow1"/>
          <p:cNvSpPr/>
          <p:nvPr/>
        </p:nvSpPr>
        <p:spPr>
          <a:xfrm>
            <a:off x="2176272" y="2926080"/>
            <a:ext cx="356616" cy="274320"/>
          </a:xfrm>
          <a:prstGeom prs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21" name="S05.Workflow.Arrow2"/>
          <p:cNvSpPr/>
          <p:nvPr/>
        </p:nvSpPr>
        <p:spPr>
          <a:xfrm>
            <a:off x="4425696" y="2926080"/>
            <a:ext cx="356616" cy="274320"/>
          </a:xfrm>
          <a:prstGeom prs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22" name="S05.Workflow.Arrow3"/>
          <p:cNvSpPr/>
          <p:nvPr/>
        </p:nvSpPr>
        <p:spPr>
          <a:xfrm>
            <a:off x="6775704" y="2926080"/>
            <a:ext cx="356616" cy="274320"/>
          </a:xfrm>
          <a:prstGeom prs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sp>
        <p:nvSpPr>
          <p:cNvPr id="100023" name="S05.Workflow.Arrow4"/>
          <p:cNvSpPr/>
          <p:nvPr/>
        </p:nvSpPr>
        <p:spPr>
          <a:xfrm>
            <a:off x="9573768" y="2926080"/>
            <a:ext cx="356616" cy="274320"/>
          </a:xfrm>
          <a:prstGeom prst="rightArrow">
            <a:avLst/>
          </a:prstGeom>
          <a:solidFill>
            <a:srgbClr val="DF973E"/>
          </a:solidFill>
          <a:ln>
            <a:noFill/>
          </a:ln>
        </p:spPr>
        <p:txBody>
          <a:bodyPr lIns="0" tIns="0" rIns="0" bIns="0">
            <a:noAutofit/>
          </a:bodyPr>
          <a:lstStyle/>
          <a:p>
            <a:endParaRPr lang="en-US" sz="1800">
              <a:solidFill>
                <a:srgbClr val="20354A"/>
              </a:solidFill>
              <a:latin typeface="Arial"/>
              <a:ea typeface="Arial"/>
            </a:endParaRPr>
          </a:p>
        </p:txBody>
      </p:sp>
      <p:pic>
        <p:nvPicPr>
          <p:cNvPr id="100024" name="S05.RTL.Document" descr="Hierarchical RTL design"/>
          <p:cNvPicPr>
            <a:picLocks noChangeAspect="1"/>
          </p:cNvPicPr>
          <p:nvPr/>
        </p:nvPicPr>
        <p:blipFill>
          <a:blip xmlns:r="http://schemas.openxmlformats.org/officeDocument/2006/relationships" r:embed="R929d8bcde8104f70"/>
          <a:srcRect l="22807" t="18580" r="21929" b="14354"/>
          <a:stretch>
            <a:fillRect/>
          </a:stretch>
        </p:blipFill>
        <p:spPr>
          <a:xfrm>
            <a:off x="781812" y="3218688"/>
            <a:ext cx="1014984" cy="1231748"/>
          </a:xfrm>
          <a:prstGeom prst="rect">
            <a:avLst/>
          </a:prstGeom>
        </p:spPr>
      </p:pic>
      <p:pic>
        <p:nvPicPr>
          <p:cNvPr id="100025" name="S05.Partition.Circuit" descr="Circuit partitioning"/>
          <p:cNvPicPr>
            <a:picLocks noChangeAspect="1"/>
          </p:cNvPicPr>
          <p:nvPr/>
        </p:nvPicPr>
        <p:blipFill>
          <a:blip xmlns:r="http://schemas.openxmlformats.org/officeDocument/2006/relationships" r:embed="Rbb0253b9b05647a8"/>
          <a:srcRect l="15869" t="18660" r="15789" b="18660"/>
          <a:stretch>
            <a:fillRect/>
          </a:stretch>
        </p:blipFill>
        <p:spPr>
          <a:xfrm>
            <a:off x="2816352" y="3273552"/>
            <a:ext cx="1325880" cy="1216035"/>
          </a:xfrm>
          <a:prstGeom prst="rect">
            <a:avLst/>
          </a:prstGeom>
        </p:spPr>
      </p:pic>
      <p:pic>
        <p:nvPicPr>
          <p:cNvPr id="100026" name="S05.Deploy.TL" descr="FPGA chip"/>
          <p:cNvPicPr>
            <a:picLocks noChangeAspect="1"/>
          </p:cNvPicPr>
          <p:nvPr/>
        </p:nvPicPr>
        <p:blipFill>
          <a:blip xmlns:r="http://schemas.openxmlformats.org/officeDocument/2006/relationships" r:embed="Rf9e3b060ec4342c1"/>
          <a:srcRect l="21371" t="23684" r="21291" b="20972"/>
          <a:stretch>
            <a:fillRect/>
          </a:stretch>
        </p:blipFill>
        <p:spPr>
          <a:xfrm>
            <a:off x="5138928" y="3310128"/>
            <a:ext cx="457200" cy="441303"/>
          </a:xfrm>
          <a:prstGeom prst="rect">
            <a:avLst/>
          </a:prstGeom>
        </p:spPr>
      </p:pic>
      <p:pic>
        <p:nvPicPr>
          <p:cNvPr id="100027" name="S05.Deploy.TR" descr="FPGA chip"/>
          <p:cNvPicPr>
            <a:picLocks noChangeAspect="1"/>
          </p:cNvPicPr>
          <p:nvPr/>
        </p:nvPicPr>
        <p:blipFill>
          <a:blip xmlns:r="http://schemas.openxmlformats.org/officeDocument/2006/relationships" r:embed="R9553ab4c34234c1f"/>
          <a:srcRect l="21371" t="23684" r="21291" b="20972"/>
          <a:stretch>
            <a:fillRect/>
          </a:stretch>
        </p:blipFill>
        <p:spPr>
          <a:xfrm>
            <a:off x="5961888" y="3310128"/>
            <a:ext cx="457200" cy="441303"/>
          </a:xfrm>
          <a:prstGeom prst="rect">
            <a:avLst/>
          </a:prstGeom>
        </p:spPr>
      </p:pic>
      <p:pic>
        <p:nvPicPr>
          <p:cNvPr id="100028" name="S05.Deploy.BL" descr="FPGA chip"/>
          <p:cNvPicPr>
            <a:picLocks noChangeAspect="1"/>
          </p:cNvPicPr>
          <p:nvPr/>
        </p:nvPicPr>
        <p:blipFill>
          <a:blip xmlns:r="http://schemas.openxmlformats.org/officeDocument/2006/relationships" r:embed="Rab07b5aec71a431a"/>
          <a:srcRect l="21371" t="23684" r="21291" b="20972"/>
          <a:stretch>
            <a:fillRect/>
          </a:stretch>
        </p:blipFill>
        <p:spPr>
          <a:xfrm>
            <a:off x="5138928" y="3822192"/>
            <a:ext cx="457200" cy="441303"/>
          </a:xfrm>
          <a:prstGeom prst="rect">
            <a:avLst/>
          </a:prstGeom>
        </p:spPr>
      </p:pic>
      <p:pic>
        <p:nvPicPr>
          <p:cNvPr id="100029" name="S05.Deploy.BR" descr="FPGA chip"/>
          <p:cNvPicPr>
            <a:picLocks noChangeAspect="1"/>
          </p:cNvPicPr>
          <p:nvPr/>
        </p:nvPicPr>
        <p:blipFill>
          <a:blip xmlns:r="http://schemas.openxmlformats.org/officeDocument/2006/relationships" r:embed="R23690e0597184e7d"/>
          <a:srcRect l="21371" t="23684" r="21291" b="20972"/>
          <a:stretch>
            <a:fillRect/>
          </a:stretch>
        </p:blipFill>
        <p:spPr>
          <a:xfrm>
            <a:off x="5961888" y="3822192"/>
            <a:ext cx="457200" cy="441303"/>
          </a:xfrm>
          <a:prstGeom prst="rect">
            <a:avLst/>
          </a:prstGeom>
        </p:spPr>
      </p:pic>
      <p:cxnSp>
        <p:nvCxnSpPr>
          <p:cNvPr id="100030" name="S05.Deploy.LinkTLTR"/>
          <p:cNvCxnSpPr>
            <a:stCxn id="100026" idx="0"/>
            <a:endCxn id="100027" idx="0"/>
          </p:cNvCxnSpPr>
          <p:nvPr/>
        </p:nvCxnSpPr>
        <p:spPr>
          <a:xfrm>
            <a:off x="5596128" y="3530779"/>
            <a:ext cx="365760" cy="0"/>
          </a:xfrm>
          <a:prstGeom prst="straightConnector1">
            <a:avLst/>
          </a:prstGeom>
          <a:ln w="20320">
            <a:solidFill>
              <a:srgbClr val="DF973E"/>
            </a:solidFill>
          </a:ln>
        </p:spPr>
      </p:cxnSp>
      <p:cxnSp>
        <p:nvCxnSpPr>
          <p:cNvPr id="100031" name="S05.Deploy.LinkBLBR"/>
          <p:cNvCxnSpPr>
            <a:stCxn id="100028" idx="0"/>
            <a:endCxn id="100029" idx="0"/>
          </p:cNvCxnSpPr>
          <p:nvPr/>
        </p:nvCxnSpPr>
        <p:spPr>
          <a:xfrm>
            <a:off x="5596128" y="4042843"/>
            <a:ext cx="365760" cy="0"/>
          </a:xfrm>
          <a:prstGeom prst="straightConnector1">
            <a:avLst/>
          </a:prstGeom>
          <a:ln w="20320">
            <a:solidFill>
              <a:srgbClr val="DF973E"/>
            </a:solidFill>
          </a:ln>
        </p:spPr>
      </p:cxnSp>
      <p:cxnSp>
        <p:nvCxnSpPr>
          <p:cNvPr id="100032" name="S05.Deploy.LinkTLBL"/>
          <p:cNvCxnSpPr>
            <a:stCxn id="100026" idx="0"/>
            <a:endCxn id="100028" idx="0"/>
          </p:cNvCxnSpPr>
          <p:nvPr/>
        </p:nvCxnSpPr>
        <p:spPr>
          <a:xfrm>
            <a:off x="5367528" y="3751431"/>
            <a:ext cx="0" cy="70761"/>
          </a:xfrm>
          <a:prstGeom prst="straightConnector1">
            <a:avLst/>
          </a:prstGeom>
          <a:ln w="20320">
            <a:solidFill>
              <a:srgbClr val="DF973E"/>
            </a:solidFill>
          </a:ln>
        </p:spPr>
      </p:cxnSp>
      <p:cxnSp>
        <p:nvCxnSpPr>
          <p:cNvPr id="100033" name="S05.Deploy.LinkTRBR"/>
          <p:cNvCxnSpPr>
            <a:stCxn id="100027" idx="0"/>
            <a:endCxn id="100029" idx="0"/>
          </p:cNvCxnSpPr>
          <p:nvPr/>
        </p:nvCxnSpPr>
        <p:spPr>
          <a:xfrm>
            <a:off x="6190488" y="3751431"/>
            <a:ext cx="0" cy="70761"/>
          </a:xfrm>
          <a:prstGeom prst="straightConnector1">
            <a:avLst/>
          </a:prstGeom>
          <a:ln w="20320">
            <a:solidFill>
              <a:srgbClr val="DF973E"/>
            </a:solidFill>
          </a:ln>
        </p:spPr>
      </p:cxnSp>
      <p:sp>
        <p:nvSpPr>
          <p:cNvPr id="100034" name="S05.Deploy.Scope"/>
          <p:cNvSpPr txBox="1"/>
          <p:nvPr/>
        </p:nvSpPr>
        <p:spPr>
          <a:xfrm>
            <a:off x="4809744" y="4334256"/>
            <a:ext cx="1938528" cy="182880"/>
          </a:xfrm>
          <a:prstGeom prst="rect">
            <a:avLst/>
          </a:prstGeom>
          <a:noFill/>
          <a:ln>
            <a:noFill/>
          </a:ln>
        </p:spPr>
        <p:txBody>
          <a:bodyPr lIns="0" tIns="0" rIns="0" bIns="0">
            <a:noAutofit/>
          </a:bodyPr>
          <a:lstStyle/>
          <a:p>
            <a:pPr algn="ctr"/>
            <a:r>
              <a:rPr lang="en-US" sz="1100">
                <a:solidFill>
                  <a:srgbClr val="607184"/>
                </a:solidFill>
                <a:latin typeface="Arial"/>
                <a:ea typeface="Arial"/>
              </a:rPr>
              <a:t>Illustrative topology</a:t>
            </a:r>
          </a:p>
        </p:txBody>
      </p:sp>
      <p:sp>
        <p:nvSpPr>
          <p:cNvPr id="100035" name="S05.Cycle.Icon0"/>
          <p:cNvSpPr/>
          <p:nvPr/>
        </p:nvSpPr>
        <p:spPr>
          <a:xfrm>
            <a:off x="7324344" y="3456432"/>
            <a:ext cx="438912" cy="438912"/>
          </a:xfrm>
          <a:prstGeom prst="ellipse">
            <a:avLst/>
          </a:prstGeom>
          <a:solidFill>
            <a:srgbClr val="FFFFFF"/>
          </a:solidFill>
          <a:ln w="27940">
            <a:solidFill>
              <a:srgbClr val="183B56"/>
            </a:solidFill>
          </a:ln>
        </p:spPr>
        <p:txBody>
          <a:bodyPr lIns="0" tIns="0" rIns="0" bIns="0">
            <a:noAutofit/>
          </a:bodyPr>
          <a:lstStyle/>
          <a:p>
            <a:endParaRPr lang="en-US" sz="1800">
              <a:solidFill>
                <a:srgbClr val="20354A"/>
              </a:solidFill>
              <a:latin typeface="Arial"/>
              <a:ea typeface="Arial"/>
            </a:endParaRPr>
          </a:p>
        </p:txBody>
      </p:sp>
      <p:cxnSp>
        <p:nvCxnSpPr>
          <p:cNvPr id="100036" name="S05.Cycle.Clock0.Minute"/>
          <p:cNvCxnSpPr/>
          <p:nvPr/>
        </p:nvCxnSpPr>
        <p:spPr>
          <a:xfrm>
            <a:off x="7543800" y="3534156"/>
            <a:ext cx="0" cy="141732"/>
          </a:xfrm>
          <a:prstGeom prst="straightConnector1">
            <a:avLst/>
          </a:prstGeom>
          <a:ln w="25400">
            <a:solidFill>
              <a:srgbClr val="183B56"/>
            </a:solidFill>
          </a:ln>
        </p:spPr>
      </p:cxnSp>
      <p:cxnSp>
        <p:nvCxnSpPr>
          <p:cNvPr id="100037" name="S05.Cycle.Clock0.Hour"/>
          <p:cNvCxnSpPr/>
          <p:nvPr/>
        </p:nvCxnSpPr>
        <p:spPr>
          <a:xfrm>
            <a:off x="7543800" y="3675888"/>
            <a:ext cx="96012" cy="82296"/>
          </a:xfrm>
          <a:prstGeom prst="straightConnector1">
            <a:avLst/>
          </a:prstGeom>
          <a:ln w="25400">
            <a:solidFill>
              <a:srgbClr val="183B56"/>
            </a:solidFill>
          </a:ln>
        </p:spPr>
      </p:cxnSp>
      <p:cxnSp>
        <p:nvCxnSpPr>
          <p:cNvPr id="100038" name="S05.Cycle.SyncDrop0"/>
          <p:cNvCxnSpPr/>
          <p:nvPr/>
        </p:nvCxnSpPr>
        <p:spPr>
          <a:xfrm>
            <a:off x="7543800" y="3968496"/>
            <a:ext cx="0" cy="164592"/>
          </a:xfrm>
          <a:prstGeom prst="straightConnector1">
            <a:avLst/>
          </a:prstGeom>
          <a:ln w="20320">
            <a:solidFill>
              <a:srgbClr val="183B56"/>
            </a:solidFill>
            <a:prstDash val="dash"/>
          </a:ln>
        </p:spPr>
      </p:cxnSp>
      <p:sp>
        <p:nvSpPr>
          <p:cNvPr id="100039" name="S05.Cycle.Icon1"/>
          <p:cNvSpPr/>
          <p:nvPr/>
        </p:nvSpPr>
        <p:spPr>
          <a:xfrm>
            <a:off x="8133588" y="3456432"/>
            <a:ext cx="438912" cy="438912"/>
          </a:xfrm>
          <a:prstGeom prst="ellipse">
            <a:avLst/>
          </a:prstGeom>
          <a:solidFill>
            <a:srgbClr val="FFFFFF"/>
          </a:solidFill>
          <a:ln w="27940">
            <a:solidFill>
              <a:srgbClr val="008C95"/>
            </a:solidFill>
          </a:ln>
        </p:spPr>
        <p:txBody>
          <a:bodyPr lIns="0" tIns="0" rIns="0" bIns="0">
            <a:noAutofit/>
          </a:bodyPr>
          <a:lstStyle/>
          <a:p>
            <a:endParaRPr lang="en-US" sz="1800">
              <a:solidFill>
                <a:srgbClr val="20354A"/>
              </a:solidFill>
              <a:latin typeface="Arial"/>
              <a:ea typeface="Arial"/>
            </a:endParaRPr>
          </a:p>
        </p:txBody>
      </p:sp>
      <p:sp>
        <p:nvSpPr>
          <p:cNvPr id="100040" name="S05.Cycle.PauseBar0"/>
          <p:cNvSpPr/>
          <p:nvPr/>
        </p:nvSpPr>
        <p:spPr>
          <a:xfrm>
            <a:off x="8268919" y="3570732"/>
            <a:ext cx="52121" cy="210312"/>
          </a:xfrm>
          <a:prstGeom prst="round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1" name="S05.Cycle.PauseBar1"/>
          <p:cNvSpPr/>
          <p:nvPr/>
        </p:nvSpPr>
        <p:spPr>
          <a:xfrm>
            <a:off x="8385048" y="3570732"/>
            <a:ext cx="52121" cy="210312"/>
          </a:xfrm>
          <a:prstGeom prst="round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cxnSp>
        <p:nvCxnSpPr>
          <p:cNvPr id="100042" name="S05.Cycle.SyncDrop1"/>
          <p:cNvCxnSpPr/>
          <p:nvPr/>
        </p:nvCxnSpPr>
        <p:spPr>
          <a:xfrm>
            <a:off x="8353044" y="3968496"/>
            <a:ext cx="0" cy="164592"/>
          </a:xfrm>
          <a:prstGeom prst="straightConnector1">
            <a:avLst/>
          </a:prstGeom>
          <a:ln w="20320">
            <a:solidFill>
              <a:srgbClr val="183B56"/>
            </a:solidFill>
            <a:prstDash val="dash"/>
          </a:ln>
        </p:spPr>
      </p:cxnSp>
      <p:sp>
        <p:nvSpPr>
          <p:cNvPr id="100043" name="S05.Cycle.Icon2"/>
          <p:cNvSpPr/>
          <p:nvPr/>
        </p:nvSpPr>
        <p:spPr>
          <a:xfrm>
            <a:off x="8942832" y="3456432"/>
            <a:ext cx="438912" cy="438912"/>
          </a:xfrm>
          <a:prstGeom prst="ellipse">
            <a:avLst/>
          </a:prstGeom>
          <a:solidFill>
            <a:srgbClr val="FFFFFF"/>
          </a:solidFill>
          <a:ln w="27940">
            <a:solidFill>
              <a:srgbClr val="183B56"/>
            </a:solidFill>
          </a:ln>
        </p:spPr>
        <p:txBody>
          <a:bodyPr lIns="0" tIns="0" rIns="0" bIns="0">
            <a:noAutofit/>
          </a:bodyPr>
          <a:lstStyle/>
          <a:p>
            <a:endParaRPr lang="en-US" sz="1800">
              <a:solidFill>
                <a:srgbClr val="20354A"/>
              </a:solidFill>
              <a:latin typeface="Arial"/>
              <a:ea typeface="Arial"/>
            </a:endParaRPr>
          </a:p>
        </p:txBody>
      </p:sp>
      <p:cxnSp>
        <p:nvCxnSpPr>
          <p:cNvPr id="100044" name="S05.Cycle.Clock2.Minute"/>
          <p:cNvCxnSpPr/>
          <p:nvPr/>
        </p:nvCxnSpPr>
        <p:spPr>
          <a:xfrm>
            <a:off x="9162288" y="3534156"/>
            <a:ext cx="0" cy="141732"/>
          </a:xfrm>
          <a:prstGeom prst="straightConnector1">
            <a:avLst/>
          </a:prstGeom>
          <a:ln w="25400">
            <a:solidFill>
              <a:srgbClr val="183B56"/>
            </a:solidFill>
          </a:ln>
        </p:spPr>
      </p:cxnSp>
      <p:cxnSp>
        <p:nvCxnSpPr>
          <p:cNvPr id="100045" name="S05.Cycle.Clock2.Hour"/>
          <p:cNvCxnSpPr/>
          <p:nvPr/>
        </p:nvCxnSpPr>
        <p:spPr>
          <a:xfrm>
            <a:off x="9162288" y="3675888"/>
            <a:ext cx="96012" cy="82296"/>
          </a:xfrm>
          <a:prstGeom prst="straightConnector1">
            <a:avLst/>
          </a:prstGeom>
          <a:ln w="25400">
            <a:solidFill>
              <a:srgbClr val="183B56"/>
            </a:solidFill>
          </a:ln>
        </p:spPr>
      </p:cxnSp>
      <p:cxnSp>
        <p:nvCxnSpPr>
          <p:cNvPr id="100046" name="S05.Cycle.SyncDrop2"/>
          <p:cNvCxnSpPr/>
          <p:nvPr/>
        </p:nvCxnSpPr>
        <p:spPr>
          <a:xfrm>
            <a:off x="9162288" y="3968496"/>
            <a:ext cx="0" cy="164592"/>
          </a:xfrm>
          <a:prstGeom prst="straightConnector1">
            <a:avLst/>
          </a:prstGeom>
          <a:ln w="20320">
            <a:solidFill>
              <a:srgbClr val="183B56"/>
            </a:solidFill>
            <a:prstDash val="dash"/>
          </a:ln>
        </p:spPr>
      </p:cxnSp>
      <p:cxnSp>
        <p:nvCxnSpPr>
          <p:cNvPr id="100047" name="S05.Cycle.Progress0"/>
          <p:cNvCxnSpPr>
            <a:stCxn id="100035" idx="0"/>
            <a:endCxn id="100039" idx="0"/>
          </p:cNvCxnSpPr>
          <p:nvPr/>
        </p:nvCxnSpPr>
        <p:spPr>
          <a:xfrm>
            <a:off x="7763256" y="3675888"/>
            <a:ext cx="370332" cy="0"/>
          </a:xfrm>
          <a:prstGeom prst="straightConnector1">
            <a:avLst/>
          </a:prstGeom>
          <a:ln w="20320">
            <a:solidFill>
              <a:srgbClr val="183B56"/>
            </a:solidFill>
            <a:tailEnd type="triangle"/>
          </a:ln>
        </p:spPr>
      </p:cxnSp>
      <p:cxnSp>
        <p:nvCxnSpPr>
          <p:cNvPr id="100048" name="S05.Cycle.Progress1"/>
          <p:cNvCxnSpPr>
            <a:stCxn id="100039" idx="0"/>
            <a:endCxn id="100043" idx="0"/>
          </p:cNvCxnSpPr>
          <p:nvPr/>
        </p:nvCxnSpPr>
        <p:spPr>
          <a:xfrm>
            <a:off x="8572500" y="3675888"/>
            <a:ext cx="370332" cy="0"/>
          </a:xfrm>
          <a:prstGeom prst="straightConnector1">
            <a:avLst/>
          </a:prstGeom>
          <a:ln w="20320">
            <a:solidFill>
              <a:srgbClr val="183B56"/>
            </a:solidFill>
            <a:tailEnd type="triangle"/>
          </a:ln>
        </p:spPr>
      </p:cxnSp>
      <p:cxnSp>
        <p:nvCxnSpPr>
          <p:cNvPr id="100049" name="S05.Cycle.SyncBus"/>
          <p:cNvCxnSpPr/>
          <p:nvPr/>
        </p:nvCxnSpPr>
        <p:spPr>
          <a:xfrm>
            <a:off x="7543800" y="4133088"/>
            <a:ext cx="1618488" cy="0"/>
          </a:xfrm>
          <a:prstGeom prst="straightConnector1">
            <a:avLst/>
          </a:prstGeom>
          <a:ln w="20320">
            <a:solidFill>
              <a:srgbClr val="183B56"/>
            </a:solidFill>
            <a:prstDash val="dash"/>
          </a:ln>
        </p:spPr>
      </p:cxnSp>
      <p:sp>
        <p:nvSpPr>
          <p:cNvPr id="100050" name="S05.Cycle.SyncLabel"/>
          <p:cNvSpPr txBox="1"/>
          <p:nvPr/>
        </p:nvSpPr>
        <p:spPr>
          <a:xfrm>
            <a:off x="7251192" y="4215384"/>
            <a:ext cx="2203704" cy="219456"/>
          </a:xfrm>
          <a:prstGeom prst="rect">
            <a:avLst/>
          </a:prstGeom>
          <a:noFill/>
          <a:ln>
            <a:noFill/>
          </a:ln>
        </p:spPr>
        <p:txBody>
          <a:bodyPr lIns="0" tIns="0" rIns="0" bIns="0">
            <a:noAutofit/>
          </a:bodyPr>
          <a:lstStyle/>
          <a:p>
            <a:pPr algn="ctr"/>
            <a:r>
              <a:rPr lang="en-US" sz="1300">
                <a:solidFill>
                  <a:srgbClr val="183B56"/>
                </a:solidFill>
                <a:latin typeface="Arial"/>
                <a:ea typeface="Arial"/>
              </a:rPr>
              <a:t>Synchronized</a:t>
            </a:r>
          </a:p>
        </p:txBody>
      </p:sp>
      <p:pic>
        <p:nvPicPr>
          <p:cNvPr id="100051" name="S05.State.Snapshot" descr="Global snapshot"/>
          <p:cNvPicPr>
            <a:picLocks noChangeAspect="1"/>
          </p:cNvPicPr>
          <p:nvPr/>
        </p:nvPicPr>
        <p:blipFill>
          <a:blip xmlns:r="http://schemas.openxmlformats.org/officeDocument/2006/relationships" r:embed="R15b59909bb2f4cf0"/>
          <a:srcRect l="16746" t="16427" r="16746" b="11961"/>
          <a:stretch>
            <a:fillRect/>
          </a:stretch>
        </p:blipFill>
        <p:spPr>
          <a:xfrm>
            <a:off x="10076688" y="3447288"/>
            <a:ext cx="484632" cy="521822"/>
          </a:xfrm>
          <a:prstGeom prst="rect">
            <a:avLst/>
          </a:prstGeom>
        </p:spPr>
      </p:pic>
      <p:pic>
        <p:nvPicPr>
          <p:cNvPr id="100052" name="S05.State.Waveform" descr="Waveform monitor"/>
          <p:cNvPicPr>
            <a:picLocks noChangeAspect="1"/>
          </p:cNvPicPr>
          <p:nvPr/>
        </p:nvPicPr>
        <p:blipFill>
          <a:blip xmlns:r="http://schemas.openxmlformats.org/officeDocument/2006/relationships" r:embed="R3f82a8408d3a48b7"/>
          <a:srcRect l="12280" t="25518" r="12200" b="19936"/>
          <a:stretch>
            <a:fillRect/>
          </a:stretch>
        </p:blipFill>
        <p:spPr>
          <a:xfrm>
            <a:off x="10972800" y="3456432"/>
            <a:ext cx="704088" cy="508549"/>
          </a:xfrm>
          <a:prstGeom prst="rect">
            <a:avLst/>
          </a:prstGeom>
        </p:spPr>
      </p:pic>
      <p:sp>
        <p:nvSpPr>
          <p:cNvPr id="100053" name="S05.State.ToReplay"/>
          <p:cNvSpPr/>
          <p:nvPr/>
        </p:nvSpPr>
        <p:spPr>
          <a:xfrm>
            <a:off x="10616184" y="3630168"/>
            <a:ext cx="292608" cy="164592"/>
          </a:xfrm>
          <a:prstGeom prst="rightArrow">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54" name="S05.State.Scope"/>
          <p:cNvSpPr txBox="1"/>
          <p:nvPr/>
        </p:nvSpPr>
        <p:spPr>
          <a:xfrm>
            <a:off x="9939528" y="4050792"/>
            <a:ext cx="1847088" cy="393192"/>
          </a:xfrm>
          <a:prstGeom prst="rect">
            <a:avLst/>
          </a:prstGeom>
          <a:noFill/>
          <a:ln>
            <a:noFill/>
          </a:ln>
        </p:spPr>
        <p:txBody>
          <a:bodyPr lIns="0" tIns="0" rIns="0" bIns="0">
            <a:noAutofit/>
          </a:bodyPr>
          <a:lstStyle/>
          <a:p>
            <a:pPr algn="ctr"/>
            <a:r>
              <a:rPr lang="en-US" sz="1200">
                <a:solidFill>
                  <a:srgbClr val="607184"/>
                </a:solidFill>
                <a:latin typeface="Arial"/>
                <a:ea typeface="Arial"/>
              </a:rPr>
              <a:t>Restore / replay</a:t>
            </a:r>
          </a:p>
          <a:p>
            <a:pPr algn="ctr"/>
            <a:r>
              <a:rPr lang="en-US" sz="1200">
                <a:solidFill>
                  <a:srgbClr val="607184"/>
                </a:solidFill>
                <a:latin typeface="Arial"/>
                <a:ea typeface="Arial"/>
              </a:rPr>
              <a:t>Planned</a:t>
            </a:r>
          </a:p>
        </p:txBody>
      </p:sp>
      <p:sp>
        <p:nvSpPr>
          <p:cNvPr id="100055" name="S05.Scope.Heading"/>
          <p:cNvSpPr txBox="1"/>
          <p:nvPr/>
        </p:nvSpPr>
        <p:spPr>
          <a:xfrm>
            <a:off x="320040" y="4837176"/>
            <a:ext cx="3657600" cy="365760"/>
          </a:xfrm>
          <a:prstGeom prst="rect">
            <a:avLst/>
          </a:prstGeom>
          <a:noFill/>
          <a:ln>
            <a:noFill/>
          </a:ln>
        </p:spPr>
        <p:txBody>
          <a:bodyPr lIns="0" tIns="0" rIns="0" bIns="0">
            <a:noAutofit/>
          </a:bodyPr>
          <a:lstStyle/>
          <a:p>
            <a:r>
              <a:rPr lang="en-US" sz="2200" b="1">
                <a:solidFill>
                  <a:srgbClr val="183B56"/>
                </a:solidFill>
                <a:latin typeface="Arial"/>
                <a:ea typeface="Arial"/>
              </a:rPr>
              <a:t>Mid-Term Scope</a:t>
            </a:r>
          </a:p>
        </p:txBody>
      </p:sp>
      <p:sp>
        <p:nvSpPr>
          <p:cNvPr id="100056" name="S05.Scope.Rule"/>
          <p:cNvSpPr/>
          <p:nvPr/>
        </p:nvSpPr>
        <p:spPr>
          <a:xfrm>
            <a:off x="3246120" y="5038344"/>
            <a:ext cx="8631936" cy="10973"/>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57" name="S05.Scope.Panel"/>
          <p:cNvSpPr/>
          <p:nvPr/>
        </p:nvSpPr>
        <p:spPr>
          <a:xfrm>
            <a:off x="320040" y="5367528"/>
            <a:ext cx="11558016" cy="1097280"/>
          </a:xfrm>
          <a:prstGeom prst="roundRect">
            <a:avLst>
              <a:gd name="adj" fmla="val 80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58" name="S05.Scope.Bullet0"/>
          <p:cNvSpPr/>
          <p:nvPr/>
        </p:nvSpPr>
        <p:spPr>
          <a:xfrm>
            <a:off x="475488" y="5582412"/>
            <a:ext cx="86868" cy="86868"/>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59" name="S05.Scope.Title0"/>
          <p:cNvSpPr txBox="1"/>
          <p:nvPr/>
        </p:nvSpPr>
        <p:spPr>
          <a:xfrm>
            <a:off x="658368" y="5504688"/>
            <a:ext cx="1865376" cy="438912"/>
          </a:xfrm>
          <a:prstGeom prst="rect">
            <a:avLst/>
          </a:prstGeom>
          <a:noFill/>
          <a:ln>
            <a:noFill/>
          </a:ln>
        </p:spPr>
        <p:txBody>
          <a:bodyPr lIns="0" tIns="0" rIns="0" bIns="0">
            <a:noAutofit/>
          </a:bodyPr>
          <a:lstStyle/>
          <a:p>
            <a:r>
              <a:rPr lang="en-US" sz="1500" b="1">
                <a:solidFill>
                  <a:srgbClr val="183B56"/>
                </a:solidFill>
                <a:latin typeface="Arial"/>
                <a:ea typeface="Arial"/>
              </a:rPr>
              <a:t>Partitioning</a:t>
            </a:r>
          </a:p>
          <a:p>
            <a:r>
              <a:rPr lang="en-US" sz="1500" b="1">
                <a:solidFill>
                  <a:srgbClr val="183B56"/>
                </a:solidFill>
                <a:latin typeface="Arial"/>
                <a:ea typeface="Arial"/>
              </a:rPr>
              <a:t>framework</a:t>
            </a:r>
          </a:p>
        </p:txBody>
      </p:sp>
      <p:sp>
        <p:nvSpPr>
          <p:cNvPr id="100060" name="S05.Scope.Text0"/>
          <p:cNvSpPr txBox="1"/>
          <p:nvPr/>
        </p:nvSpPr>
        <p:spPr>
          <a:xfrm>
            <a:off x="658368" y="5971032"/>
            <a:ext cx="1865376" cy="420624"/>
          </a:xfrm>
          <a:prstGeom prst="rect">
            <a:avLst/>
          </a:prstGeom>
          <a:noFill/>
          <a:ln>
            <a:noFill/>
          </a:ln>
        </p:spPr>
        <p:txBody>
          <a:bodyPr lIns="0" tIns="0" rIns="0" bIns="0">
            <a:noAutofit/>
          </a:bodyPr>
          <a:lstStyle/>
          <a:p>
            <a:r>
              <a:rPr lang="en-US" sz="1300">
                <a:solidFill>
                  <a:srgbClr val="20354A"/>
                </a:solidFill>
                <a:latin typeface="Arial"/>
                <a:ea typeface="Arial"/>
              </a:rPr>
              <a:t>RTL partitioning</a:t>
            </a:r>
          </a:p>
          <a:p>
            <a:r>
              <a:rPr lang="en-US" sz="1300">
                <a:solidFill>
                  <a:srgbClr val="20354A"/>
                </a:solidFill>
                <a:latin typeface="Arial"/>
                <a:ea typeface="Arial"/>
              </a:rPr>
              <a:t>and mapping</a:t>
            </a:r>
          </a:p>
        </p:txBody>
      </p:sp>
      <p:sp>
        <p:nvSpPr>
          <p:cNvPr id="100061" name="S05.Scope.Divider1"/>
          <p:cNvSpPr/>
          <p:nvPr/>
        </p:nvSpPr>
        <p:spPr>
          <a:xfrm>
            <a:off x="2631643" y="5532120"/>
            <a:ext cx="8230" cy="768096"/>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62" name="S05.Scope.Bullet1"/>
          <p:cNvSpPr/>
          <p:nvPr/>
        </p:nvSpPr>
        <p:spPr>
          <a:xfrm>
            <a:off x="2787091" y="5582412"/>
            <a:ext cx="86868" cy="86868"/>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63" name="S05.Scope.Title1"/>
          <p:cNvSpPr txBox="1"/>
          <p:nvPr/>
        </p:nvSpPr>
        <p:spPr>
          <a:xfrm>
            <a:off x="2969971" y="5504688"/>
            <a:ext cx="1865376" cy="438912"/>
          </a:xfrm>
          <a:prstGeom prst="rect">
            <a:avLst/>
          </a:prstGeom>
          <a:noFill/>
          <a:ln>
            <a:noFill/>
          </a:ln>
        </p:spPr>
        <p:txBody>
          <a:bodyPr lIns="0" tIns="0" rIns="0" bIns="0">
            <a:noAutofit/>
          </a:bodyPr>
          <a:lstStyle/>
          <a:p>
            <a:r>
              <a:rPr lang="en-US" sz="1500" b="1">
                <a:solidFill>
                  <a:srgbClr val="183B56"/>
                </a:solidFill>
                <a:latin typeface="Arial"/>
                <a:ea typeface="Arial"/>
              </a:rPr>
              <a:t>Cycle-accurate</a:t>
            </a:r>
          </a:p>
          <a:p>
            <a:r>
              <a:rPr lang="en-US" sz="1500" b="1">
                <a:solidFill>
                  <a:srgbClr val="183B56"/>
                </a:solidFill>
                <a:latin typeface="Arial"/>
                <a:ea typeface="Arial"/>
              </a:rPr>
              <a:t>execution</a:t>
            </a:r>
          </a:p>
        </p:txBody>
      </p:sp>
      <p:sp>
        <p:nvSpPr>
          <p:cNvPr id="100064" name="S05.Scope.Text1"/>
          <p:cNvSpPr txBox="1"/>
          <p:nvPr/>
        </p:nvSpPr>
        <p:spPr>
          <a:xfrm>
            <a:off x="2969971" y="5971032"/>
            <a:ext cx="1865376" cy="420624"/>
          </a:xfrm>
          <a:prstGeom prst="rect">
            <a:avLst/>
          </a:prstGeom>
          <a:noFill/>
          <a:ln>
            <a:noFill/>
          </a:ln>
        </p:spPr>
        <p:txBody>
          <a:bodyPr lIns="0" tIns="0" rIns="0" bIns="0">
            <a:noAutofit/>
          </a:bodyPr>
          <a:lstStyle/>
          <a:p>
            <a:r>
              <a:rPr lang="en-US" sz="1300">
                <a:solidFill>
                  <a:srgbClr val="20354A"/>
                </a:solidFill>
                <a:latin typeface="Arial"/>
                <a:ea typeface="Arial"/>
              </a:rPr>
              <a:t>Multi-FPGA runs</a:t>
            </a:r>
          </a:p>
          <a:p>
            <a:r>
              <a:rPr lang="en-US" sz="1300">
                <a:solidFill>
                  <a:srgbClr val="20354A"/>
                </a:solidFill>
                <a:latin typeface="Arial"/>
                <a:ea typeface="Arial"/>
              </a:rPr>
              <a:t>with cycle control</a:t>
            </a:r>
          </a:p>
        </p:txBody>
      </p:sp>
      <p:sp>
        <p:nvSpPr>
          <p:cNvPr id="100065" name="S05.Scope.Divider2"/>
          <p:cNvSpPr/>
          <p:nvPr/>
        </p:nvSpPr>
        <p:spPr>
          <a:xfrm>
            <a:off x="4943246" y="5532120"/>
            <a:ext cx="8230" cy="768096"/>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66" name="S05.Scope.Bullet2"/>
          <p:cNvSpPr/>
          <p:nvPr/>
        </p:nvSpPr>
        <p:spPr>
          <a:xfrm>
            <a:off x="5098694" y="5582412"/>
            <a:ext cx="86868" cy="86868"/>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67" name="S05.Scope.Title2"/>
          <p:cNvSpPr txBox="1"/>
          <p:nvPr/>
        </p:nvSpPr>
        <p:spPr>
          <a:xfrm>
            <a:off x="5281574" y="5504688"/>
            <a:ext cx="1865376" cy="438912"/>
          </a:xfrm>
          <a:prstGeom prst="rect">
            <a:avLst/>
          </a:prstGeom>
          <a:noFill/>
          <a:ln>
            <a:noFill/>
          </a:ln>
        </p:spPr>
        <p:txBody>
          <a:bodyPr lIns="0" tIns="0" rIns="0" bIns="0">
            <a:noAutofit/>
          </a:bodyPr>
          <a:lstStyle/>
          <a:p>
            <a:r>
              <a:rPr lang="en-US" sz="1500" b="1">
                <a:solidFill>
                  <a:srgbClr val="183B56"/>
                </a:solidFill>
                <a:latin typeface="Arial"/>
                <a:ea typeface="Arial"/>
              </a:rPr>
              <a:t>Global pause &amp;</a:t>
            </a:r>
          </a:p>
          <a:p>
            <a:r>
              <a:rPr lang="en-US" sz="1500" b="1">
                <a:solidFill>
                  <a:srgbClr val="183B56"/>
                </a:solidFill>
                <a:latin typeface="Arial"/>
                <a:ea typeface="Arial"/>
              </a:rPr>
              <a:t>state dump</a:t>
            </a:r>
          </a:p>
        </p:txBody>
      </p:sp>
      <p:sp>
        <p:nvSpPr>
          <p:cNvPr id="100068" name="S05.Scope.Text2"/>
          <p:cNvSpPr txBox="1"/>
          <p:nvPr/>
        </p:nvSpPr>
        <p:spPr>
          <a:xfrm>
            <a:off x="5281574" y="5971032"/>
            <a:ext cx="1865376" cy="420624"/>
          </a:xfrm>
          <a:prstGeom prst="rect">
            <a:avLst/>
          </a:prstGeom>
          <a:noFill/>
          <a:ln>
            <a:noFill/>
          </a:ln>
        </p:spPr>
        <p:txBody>
          <a:bodyPr lIns="0" tIns="0" rIns="0" bIns="0">
            <a:noAutofit/>
          </a:bodyPr>
          <a:lstStyle/>
          <a:p>
            <a:r>
              <a:rPr lang="en-US" sz="1300">
                <a:solidFill>
                  <a:srgbClr val="20354A"/>
                </a:solidFill>
                <a:latin typeface="Arial"/>
                <a:ea typeface="Arial"/>
              </a:rPr>
              <a:t>Global snapshots</a:t>
            </a:r>
          </a:p>
          <a:p>
            <a:r>
              <a:rPr lang="en-US" sz="1300">
                <a:solidFill>
                  <a:srgbClr val="20354A"/>
                </a:solidFill>
                <a:latin typeface="Arial"/>
                <a:ea typeface="Arial"/>
              </a:rPr>
              <a:t>across FPGAs</a:t>
            </a:r>
          </a:p>
        </p:txBody>
      </p:sp>
      <p:sp>
        <p:nvSpPr>
          <p:cNvPr id="100069" name="S05.Scope.Divider3"/>
          <p:cNvSpPr/>
          <p:nvPr/>
        </p:nvSpPr>
        <p:spPr>
          <a:xfrm>
            <a:off x="7254850" y="5532120"/>
            <a:ext cx="8230" cy="768096"/>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70" name="S05.Scope.Bullet3"/>
          <p:cNvSpPr/>
          <p:nvPr/>
        </p:nvSpPr>
        <p:spPr>
          <a:xfrm>
            <a:off x="7410298" y="5582412"/>
            <a:ext cx="86868" cy="86868"/>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71" name="S05.Scope.Title3"/>
          <p:cNvSpPr txBox="1"/>
          <p:nvPr/>
        </p:nvSpPr>
        <p:spPr>
          <a:xfrm>
            <a:off x="7593178" y="5504688"/>
            <a:ext cx="1865376" cy="438912"/>
          </a:xfrm>
          <a:prstGeom prst="rect">
            <a:avLst/>
          </a:prstGeom>
          <a:noFill/>
          <a:ln>
            <a:noFill/>
          </a:ln>
        </p:spPr>
        <p:txBody>
          <a:bodyPr lIns="0" tIns="0" rIns="0" bIns="0">
            <a:noAutofit/>
          </a:bodyPr>
          <a:lstStyle/>
          <a:p>
            <a:r>
              <a:rPr lang="en-US" sz="1500" b="1">
                <a:solidFill>
                  <a:srgbClr val="183B56"/>
                </a:solidFill>
                <a:latin typeface="Arial"/>
                <a:ea typeface="Arial"/>
              </a:rPr>
              <a:t>Restore &amp; replay</a:t>
            </a:r>
          </a:p>
        </p:txBody>
      </p:sp>
      <p:sp>
        <p:nvSpPr>
          <p:cNvPr id="100072" name="S05.Scope.Text3"/>
          <p:cNvSpPr txBox="1"/>
          <p:nvPr/>
        </p:nvSpPr>
        <p:spPr>
          <a:xfrm>
            <a:off x="7593178" y="5971032"/>
            <a:ext cx="1865376" cy="420624"/>
          </a:xfrm>
          <a:prstGeom prst="rect">
            <a:avLst/>
          </a:prstGeom>
          <a:noFill/>
          <a:ln>
            <a:noFill/>
          </a:ln>
        </p:spPr>
        <p:txBody>
          <a:bodyPr lIns="0" tIns="0" rIns="0" bIns="0">
            <a:noAutofit/>
          </a:bodyPr>
          <a:lstStyle/>
          <a:p>
            <a:r>
              <a:rPr lang="en-US" sz="1300">
                <a:solidFill>
                  <a:srgbClr val="20354A"/>
                </a:solidFill>
                <a:latin typeface="Arial"/>
                <a:ea typeface="Arial"/>
              </a:rPr>
              <a:t>Planned: restore</a:t>
            </a:r>
          </a:p>
          <a:p>
            <a:r>
              <a:rPr lang="en-US" sz="1300">
                <a:solidFill>
                  <a:srgbClr val="20354A"/>
                </a:solidFill>
                <a:latin typeface="Arial"/>
                <a:ea typeface="Arial"/>
              </a:rPr>
              <a:t>&amp; replay checks</a:t>
            </a:r>
          </a:p>
        </p:txBody>
      </p:sp>
      <p:sp>
        <p:nvSpPr>
          <p:cNvPr id="100073" name="S05.Scope.Divider4"/>
          <p:cNvSpPr/>
          <p:nvPr/>
        </p:nvSpPr>
        <p:spPr>
          <a:xfrm>
            <a:off x="9566453" y="5532120"/>
            <a:ext cx="8230" cy="768096"/>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74" name="S05.Scope.Bullet4"/>
          <p:cNvSpPr/>
          <p:nvPr/>
        </p:nvSpPr>
        <p:spPr>
          <a:xfrm>
            <a:off x="9721901" y="5582412"/>
            <a:ext cx="86868" cy="86868"/>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75" name="S05.Scope.Title4"/>
          <p:cNvSpPr txBox="1"/>
          <p:nvPr/>
        </p:nvSpPr>
        <p:spPr>
          <a:xfrm>
            <a:off x="9904781" y="5504688"/>
            <a:ext cx="1865376" cy="438912"/>
          </a:xfrm>
          <a:prstGeom prst="rect">
            <a:avLst/>
          </a:prstGeom>
          <a:noFill/>
          <a:ln>
            <a:noFill/>
          </a:ln>
        </p:spPr>
        <p:txBody>
          <a:bodyPr lIns="0" tIns="0" rIns="0" bIns="0">
            <a:noAutofit/>
          </a:bodyPr>
          <a:lstStyle/>
          <a:p>
            <a:r>
              <a:rPr lang="en-US" sz="1500" b="1">
                <a:solidFill>
                  <a:srgbClr val="183B56"/>
                </a:solidFill>
                <a:latin typeface="Arial"/>
                <a:ea typeface="Arial"/>
              </a:rPr>
              <a:t>Dual-FPGA</a:t>
            </a:r>
          </a:p>
          <a:p>
            <a:r>
              <a:rPr lang="en-US" sz="1500" b="1">
                <a:solidFill>
                  <a:srgbClr val="183B56"/>
                </a:solidFill>
                <a:latin typeface="Arial"/>
                <a:ea typeface="Arial"/>
              </a:rPr>
              <a:t>prototype</a:t>
            </a:r>
          </a:p>
        </p:txBody>
      </p:sp>
      <p:sp>
        <p:nvSpPr>
          <p:cNvPr id="100076" name="S05.Scope.Text4"/>
          <p:cNvSpPr txBox="1"/>
          <p:nvPr/>
        </p:nvSpPr>
        <p:spPr>
          <a:xfrm>
            <a:off x="9904781" y="5971032"/>
            <a:ext cx="1865376" cy="420624"/>
          </a:xfrm>
          <a:prstGeom prst="rect">
            <a:avLst/>
          </a:prstGeom>
          <a:noFill/>
          <a:ln>
            <a:noFill/>
          </a:ln>
        </p:spPr>
        <p:txBody>
          <a:bodyPr lIns="0" tIns="0" rIns="0" bIns="0">
            <a:noAutofit/>
          </a:bodyPr>
          <a:lstStyle/>
          <a:p>
            <a:r>
              <a:rPr lang="en-US" sz="1300">
                <a:solidFill>
                  <a:srgbClr val="20354A"/>
                </a:solidFill>
                <a:latin typeface="Arial"/>
                <a:ea typeface="Arial"/>
              </a:rPr>
              <a:t>Initial evaluation</a:t>
            </a:r>
          </a:p>
          <a:p>
            <a:r>
              <a:rPr lang="en-US" sz="1300">
                <a:solidFill>
                  <a:srgbClr val="20354A"/>
                </a:solidFill>
                <a:latin typeface="Arial"/>
                <a:ea typeface="Arial"/>
              </a:rPr>
              <a:t>and system tests</a:t>
            </a:r>
          </a:p>
        </p:txBody>
      </p:sp>
      <p:sp>
        <p:nvSpPr>
          <p:cNvPr id="100077" name="S05.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5</a:t>
            </a:r>
          </a:p>
        </p:txBody>
      </p:sp>
    </p:spTree>
  </p:cSld>
</p:sld>
</file>

<file path=ppt/slides/merged08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6.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6. Cycle-Accurate Execution and Global Pause</a:t>
            </a:r>
          </a:p>
        </p:txBody>
      </p:sp>
      <p:sp>
        <p:nvSpPr>
          <p:cNvPr id="100000" name="S06.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6.Execution.Heading"/>
          <p:cNvSpPr txBox="1"/>
          <p:nvPr/>
        </p:nvSpPr>
        <p:spPr>
          <a:xfrm>
            <a:off x="320040" y="1143000"/>
            <a:ext cx="3657600" cy="640080"/>
          </a:xfrm>
          <a:prstGeom prst="rect">
            <a:avLst/>
          </a:prstGeom>
          <a:noFill/>
          <a:ln>
            <a:noFill/>
          </a:ln>
        </p:spPr>
        <p:txBody>
          <a:bodyPr lIns="0" tIns="0" rIns="0" bIns="0">
            <a:noAutofit/>
          </a:bodyPr>
          <a:lstStyle/>
          <a:p>
            <a:r>
              <a:rPr lang="en-US" sz="2200" b="1">
                <a:solidFill>
                  <a:srgbClr val="183B56"/>
                </a:solidFill>
                <a:latin typeface="Arial"/>
                <a:ea typeface="Arial"/>
              </a:rPr>
              <a:t>Cycle-Accurate Execution</a:t>
            </a:r>
          </a:p>
        </p:txBody>
      </p:sp>
      <p:sp>
        <p:nvSpPr>
          <p:cNvPr id="100002" name="S06.Execution.Bullet1"/>
          <p:cNvSpPr/>
          <p:nvPr/>
        </p:nvSpPr>
        <p:spPr>
          <a:xfrm>
            <a:off x="411480" y="1956816"/>
            <a:ext cx="82296" cy="822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3" name="S06.Execution.Text1"/>
          <p:cNvSpPr txBox="1"/>
          <p:nvPr/>
        </p:nvSpPr>
        <p:spPr>
          <a:xfrm>
            <a:off x="621792" y="1856232"/>
            <a:ext cx="3273552" cy="548640"/>
          </a:xfrm>
          <a:prstGeom prst="rect">
            <a:avLst/>
          </a:prstGeom>
          <a:noFill/>
          <a:ln>
            <a:noFill/>
          </a:ln>
        </p:spPr>
        <p:txBody>
          <a:bodyPr lIns="0" tIns="0" rIns="0" bIns="0">
            <a:noAutofit/>
          </a:bodyPr>
          <a:lstStyle/>
          <a:p>
            <a:r>
              <a:rPr lang="en-US" sz="1800">
                <a:solidFill>
                  <a:srgbClr val="20354A"/>
                </a:solidFill>
                <a:latin typeface="Arial"/>
                <a:ea typeface="Arial"/>
              </a:rPr>
              <a:t>LI-TDM-based execution</a:t>
            </a:r>
          </a:p>
        </p:txBody>
      </p:sp>
      <p:sp>
        <p:nvSpPr>
          <p:cNvPr id="100004" name="S06.Execution.Bullet2"/>
          <p:cNvSpPr/>
          <p:nvPr/>
        </p:nvSpPr>
        <p:spPr>
          <a:xfrm>
            <a:off x="411480" y="2432304"/>
            <a:ext cx="82296" cy="82296"/>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5" name="S06.Execution.Text2"/>
          <p:cNvSpPr txBox="1"/>
          <p:nvPr/>
        </p:nvSpPr>
        <p:spPr>
          <a:xfrm>
            <a:off x="621792" y="2331720"/>
            <a:ext cx="3273552" cy="548640"/>
          </a:xfrm>
          <a:prstGeom prst="rect">
            <a:avLst/>
          </a:prstGeom>
          <a:noFill/>
          <a:ln>
            <a:noFill/>
          </a:ln>
        </p:spPr>
        <p:txBody>
          <a:bodyPr lIns="0" tIns="0" rIns="0" bIns="0">
            <a:noAutofit/>
          </a:bodyPr>
          <a:lstStyle/>
          <a:p>
            <a:r>
              <a:rPr lang="en-US" sz="1800">
                <a:solidFill>
                  <a:srgbClr val="20354A"/>
                </a:solidFill>
                <a:latin typeface="Arial"/>
                <a:ea typeface="Arial"/>
              </a:rPr>
              <a:t>Optimized communication flow</a:t>
            </a:r>
          </a:p>
        </p:txBody>
      </p:sp>
      <p:sp>
        <p:nvSpPr>
          <p:cNvPr id="100006" name="S06.Execution.Attribution"/>
          <p:cNvSpPr txBox="1"/>
          <p:nvPr/>
        </p:nvSpPr>
        <p:spPr>
          <a:xfrm>
            <a:off x="621792" y="2862072"/>
            <a:ext cx="3273552" cy="347472"/>
          </a:xfrm>
          <a:prstGeom prst="rect">
            <a:avLst/>
          </a:prstGeom>
          <a:noFill/>
          <a:ln>
            <a:noFill/>
          </a:ln>
        </p:spPr>
        <p:txBody>
          <a:bodyPr lIns="0" tIns="0" rIns="0" bIns="0">
            <a:noAutofit/>
          </a:bodyPr>
          <a:lstStyle/>
          <a:p>
            <a:r>
              <a:rPr lang="en-US" sz="1400">
                <a:solidFill>
                  <a:srgbClr val="607184"/>
                </a:solidFill>
                <a:latin typeface="Arial"/>
                <a:ea typeface="Arial"/>
              </a:rPr>
              <a:t>Based on DUOHUAFEN</a:t>
            </a:r>
          </a:p>
        </p:txBody>
      </p:sp>
      <p:sp>
        <p:nvSpPr>
          <p:cNvPr id="100007" name="S06.Pause.Heading"/>
          <p:cNvSpPr txBox="1"/>
          <p:nvPr/>
        </p:nvSpPr>
        <p:spPr>
          <a:xfrm>
            <a:off x="320040" y="3767328"/>
            <a:ext cx="3657600" cy="640080"/>
          </a:xfrm>
          <a:prstGeom prst="rect">
            <a:avLst/>
          </a:prstGeom>
          <a:noFill/>
          <a:ln>
            <a:noFill/>
          </a:ln>
        </p:spPr>
        <p:txBody>
          <a:bodyPr lIns="0" tIns="0" rIns="0" bIns="0">
            <a:noAutofit/>
          </a:bodyPr>
          <a:lstStyle/>
          <a:p>
            <a:r>
              <a:rPr lang="en-US" sz="2200" b="1">
                <a:solidFill>
                  <a:srgbClr val="183B56"/>
                </a:solidFill>
                <a:latin typeface="Arial"/>
                <a:ea typeface="Arial"/>
              </a:rPr>
              <a:t>Cycle-Consistent Pause</a:t>
            </a:r>
          </a:p>
        </p:txBody>
      </p:sp>
      <p:sp>
        <p:nvSpPr>
          <p:cNvPr id="100008" name="S06.Pause.Number1"/>
          <p:cNvSpPr/>
          <p:nvPr/>
        </p:nvSpPr>
        <p:spPr>
          <a:xfrm>
            <a:off x="393192" y="4498848"/>
            <a:ext cx="292608" cy="292608"/>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1</a:t>
            </a:r>
          </a:p>
        </p:txBody>
      </p:sp>
      <p:sp>
        <p:nvSpPr>
          <p:cNvPr id="100009" name="S06.Pause.Text1"/>
          <p:cNvSpPr txBox="1"/>
          <p:nvPr/>
        </p:nvSpPr>
        <p:spPr>
          <a:xfrm>
            <a:off x="832104" y="4489704"/>
            <a:ext cx="3044952" cy="438912"/>
          </a:xfrm>
          <a:prstGeom prst="rect">
            <a:avLst/>
          </a:prstGeom>
          <a:noFill/>
          <a:ln>
            <a:noFill/>
          </a:ln>
        </p:spPr>
        <p:txBody>
          <a:bodyPr lIns="0" tIns="0" rIns="0" bIns="0">
            <a:noAutofit/>
          </a:bodyPr>
          <a:lstStyle/>
          <a:p>
            <a:r>
              <a:rPr lang="en-US" sz="1800">
                <a:solidFill>
                  <a:srgbClr val="20354A"/>
                </a:solidFill>
                <a:latin typeface="Arial"/>
                <a:ea typeface="Arial"/>
              </a:rPr>
              <a:t>Stabilize progress</a:t>
            </a:r>
          </a:p>
        </p:txBody>
      </p:sp>
      <p:sp>
        <p:nvSpPr>
          <p:cNvPr id="100010" name="S06.Pause.Number2"/>
          <p:cNvSpPr/>
          <p:nvPr/>
        </p:nvSpPr>
        <p:spPr>
          <a:xfrm>
            <a:off x="393192" y="5010912"/>
            <a:ext cx="292608" cy="292608"/>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2</a:t>
            </a:r>
          </a:p>
        </p:txBody>
      </p:sp>
      <p:sp>
        <p:nvSpPr>
          <p:cNvPr id="100011" name="S06.Pause.Text2"/>
          <p:cNvSpPr txBox="1"/>
          <p:nvPr/>
        </p:nvSpPr>
        <p:spPr>
          <a:xfrm>
            <a:off x="832104" y="5001768"/>
            <a:ext cx="3044952" cy="438912"/>
          </a:xfrm>
          <a:prstGeom prst="rect">
            <a:avLst/>
          </a:prstGeom>
          <a:noFill/>
          <a:ln>
            <a:noFill/>
          </a:ln>
        </p:spPr>
        <p:txBody>
          <a:bodyPr lIns="0" tIns="0" rIns="0" bIns="0">
            <a:noAutofit/>
          </a:bodyPr>
          <a:lstStyle/>
          <a:p>
            <a:r>
              <a:rPr lang="en-US" sz="1800">
                <a:solidFill>
                  <a:srgbClr val="20354A"/>
                </a:solidFill>
                <a:latin typeface="Arial"/>
                <a:ea typeface="Arial"/>
              </a:rPr>
              <a:t>Set a common target</a:t>
            </a:r>
          </a:p>
        </p:txBody>
      </p:sp>
      <p:sp>
        <p:nvSpPr>
          <p:cNvPr id="100012" name="S06.Pause.Number3"/>
          <p:cNvSpPr/>
          <p:nvPr/>
        </p:nvSpPr>
        <p:spPr>
          <a:xfrm>
            <a:off x="393192" y="5522976"/>
            <a:ext cx="292608" cy="292608"/>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3</a:t>
            </a:r>
          </a:p>
        </p:txBody>
      </p:sp>
      <p:sp>
        <p:nvSpPr>
          <p:cNvPr id="100013" name="S06.Pause.Text3"/>
          <p:cNvSpPr txBox="1"/>
          <p:nvPr/>
        </p:nvSpPr>
        <p:spPr>
          <a:xfrm>
            <a:off x="832104" y="5513832"/>
            <a:ext cx="3044952" cy="438912"/>
          </a:xfrm>
          <a:prstGeom prst="rect">
            <a:avLst/>
          </a:prstGeom>
          <a:noFill/>
          <a:ln>
            <a:noFill/>
          </a:ln>
        </p:spPr>
        <p:txBody>
          <a:bodyPr lIns="0" tIns="0" rIns="0" bIns="0">
            <a:noAutofit/>
          </a:bodyPr>
          <a:lstStyle/>
          <a:p>
            <a:r>
              <a:rPr lang="en-US" sz="1800">
                <a:solidFill>
                  <a:srgbClr val="20354A"/>
                </a:solidFill>
                <a:latin typeface="Arial"/>
                <a:ea typeface="Arial"/>
              </a:rPr>
              <a:t>Advance and verify</a:t>
            </a:r>
          </a:p>
        </p:txBody>
      </p:sp>
      <p:pic>
        <p:nvPicPr>
          <p:cNvPr id="100014" name="S06.Pause.Illustration" descr="Illustrative global-pause coordination: receive barriers stabilize FPGA B at cycle 41 and FPGA A at 42; Host configures target 43, releases B before A, and verifies both stopped at cycle 43."/>
          <p:cNvPicPr>
            <a:picLocks noChangeAspect="1"/>
          </p:cNvPicPr>
          <p:nvPr/>
        </p:nvPicPr>
        <p:blipFill>
          <a:blip xmlns:r="http://schemas.openxmlformats.org/officeDocument/2006/relationships" r:embed="Rea51772dd4ee4e21"/>
          <a:srcRect l="35526" t="12752" r="1076" b="9670"/>
          <a:stretch>
            <a:fillRect/>
          </a:stretch>
        </p:blipFill>
        <p:spPr>
          <a:xfrm>
            <a:off x="4114800" y="1024128"/>
            <a:ext cx="7754112" cy="5340096"/>
          </a:xfrm>
          <a:prstGeom prst="rect">
            <a:avLst/>
          </a:prstGeom>
        </p:spPr>
      </p:pic>
      <p:sp>
        <p:nvSpPr>
          <p:cNvPr id="100015" name="S06.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6</a:t>
            </a:r>
          </a:p>
        </p:txBody>
      </p:sp>
    </p:spTree>
  </p:cSld>
</p:sld>
</file>

<file path=ppt/slides/merged09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7.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Distributed State Capture, Restore and Replay</a:t>
            </a:r>
          </a:p>
        </p:txBody>
      </p:sp>
      <p:sp>
        <p:nvSpPr>
          <p:cNvPr id="100000" name="S07.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7.Snapshot.Number"/>
          <p:cNvSpPr txBox="1"/>
          <p:nvPr/>
        </p:nvSpPr>
        <p:spPr>
          <a:xfrm>
            <a:off x="365760" y="1280160"/>
            <a:ext cx="457200" cy="475488"/>
          </a:xfrm>
          <a:prstGeom prst="rect">
            <a:avLst/>
          </a:prstGeom>
          <a:noFill/>
          <a:ln>
            <a:noFill/>
          </a:ln>
        </p:spPr>
        <p:txBody>
          <a:bodyPr lIns="0" tIns="0" rIns="0" bIns="0">
            <a:noAutofit/>
          </a:bodyPr>
          <a:lstStyle/>
          <a:p>
            <a:r>
              <a:rPr lang="en-US" sz="2400" b="1">
                <a:solidFill>
                  <a:srgbClr val="008C95"/>
                </a:solidFill>
                <a:latin typeface="Arial"/>
                <a:ea typeface="Arial"/>
              </a:rPr>
              <a:t>01</a:t>
            </a:r>
          </a:p>
        </p:txBody>
      </p:sp>
      <p:sp>
        <p:nvSpPr>
          <p:cNvPr id="100002" name="S07.Snapshot.Heading"/>
          <p:cNvSpPr txBox="1"/>
          <p:nvPr/>
        </p:nvSpPr>
        <p:spPr>
          <a:xfrm>
            <a:off x="960120" y="1280160"/>
            <a:ext cx="4526280" cy="475488"/>
          </a:xfrm>
          <a:prstGeom prst="rect">
            <a:avLst/>
          </a:prstGeom>
          <a:noFill/>
          <a:ln>
            <a:noFill/>
          </a:ln>
        </p:spPr>
        <p:txBody>
          <a:bodyPr lIns="0" tIns="0" rIns="0" bIns="0">
            <a:noAutofit/>
          </a:bodyPr>
          <a:lstStyle/>
          <a:p>
            <a:r>
              <a:rPr lang="en-US" sz="2400" b="1">
                <a:solidFill>
                  <a:srgbClr val="183B56"/>
                </a:solidFill>
                <a:latin typeface="Arial"/>
                <a:ea typeface="Arial"/>
              </a:rPr>
              <a:t>Global Snapshot</a:t>
            </a:r>
          </a:p>
        </p:txBody>
      </p:sp>
      <p:sp>
        <p:nvSpPr>
          <p:cNvPr id="100003" name="S07.Snapshot.Text1"/>
          <p:cNvSpPr txBox="1"/>
          <p:nvPr/>
        </p:nvSpPr>
        <p:spPr>
          <a:xfrm>
            <a:off x="365760" y="1856232"/>
            <a:ext cx="5074920" cy="548640"/>
          </a:xfrm>
          <a:prstGeom prst="rect">
            <a:avLst/>
          </a:prstGeom>
          <a:noFill/>
          <a:ln>
            <a:noFill/>
          </a:ln>
        </p:spPr>
        <p:txBody>
          <a:bodyPr lIns="0" tIns="0" rIns="0" bIns="0">
            <a:noAutofit/>
          </a:bodyPr>
          <a:lstStyle/>
          <a:p>
            <a:r>
              <a:rPr lang="en-US" sz="1800">
                <a:solidFill>
                  <a:srgbClr val="20354A"/>
                </a:solidFill>
                <a:latin typeface="Arial"/>
                <a:ea typeface="Arial"/>
              </a:rPr>
              <a:t>Capture partition states at the same DUT cycle.</a:t>
            </a:r>
          </a:p>
        </p:txBody>
      </p:sp>
      <p:sp>
        <p:nvSpPr>
          <p:cNvPr id="100004" name="S07.Snapshot.Text2"/>
          <p:cNvSpPr txBox="1"/>
          <p:nvPr/>
        </p:nvSpPr>
        <p:spPr>
          <a:xfrm>
            <a:off x="365760" y="2423160"/>
            <a:ext cx="5074920" cy="548640"/>
          </a:xfrm>
          <a:prstGeom prst="rect">
            <a:avLst/>
          </a:prstGeom>
          <a:noFill/>
          <a:ln>
            <a:noFill/>
          </a:ln>
        </p:spPr>
        <p:txBody>
          <a:bodyPr lIns="0" tIns="0" rIns="0" bIns="0">
            <a:noAutofit/>
          </a:bodyPr>
          <a:lstStyle/>
          <a:p>
            <a:r>
              <a:rPr lang="en-US" sz="1800">
                <a:solidFill>
                  <a:srgbClr val="20354A"/>
                </a:solidFill>
                <a:latin typeface="Arial"/>
                <a:ea typeface="Arial"/>
              </a:rPr>
              <a:t>Reuse REMU's Scan Dump mechanism.</a:t>
            </a:r>
          </a:p>
        </p:txBody>
      </p:sp>
      <p:sp>
        <p:nvSpPr>
          <p:cNvPr id="100005" name="S07.Restore.Number"/>
          <p:cNvSpPr txBox="1"/>
          <p:nvPr/>
        </p:nvSpPr>
        <p:spPr>
          <a:xfrm>
            <a:off x="365760" y="3063240"/>
            <a:ext cx="457200" cy="475488"/>
          </a:xfrm>
          <a:prstGeom prst="rect">
            <a:avLst/>
          </a:prstGeom>
          <a:noFill/>
          <a:ln>
            <a:noFill/>
          </a:ln>
        </p:spPr>
        <p:txBody>
          <a:bodyPr lIns="0" tIns="0" rIns="0" bIns="0">
            <a:noAutofit/>
          </a:bodyPr>
          <a:lstStyle/>
          <a:p>
            <a:r>
              <a:rPr lang="en-US" sz="2400" b="1">
                <a:solidFill>
                  <a:srgbClr val="008C95"/>
                </a:solidFill>
                <a:latin typeface="Arial"/>
                <a:ea typeface="Arial"/>
              </a:rPr>
              <a:t>02</a:t>
            </a:r>
          </a:p>
        </p:txBody>
      </p:sp>
      <p:sp>
        <p:nvSpPr>
          <p:cNvPr id="100006" name="S07.Restore.Heading"/>
          <p:cNvSpPr txBox="1"/>
          <p:nvPr/>
        </p:nvSpPr>
        <p:spPr>
          <a:xfrm>
            <a:off x="960120" y="3063240"/>
            <a:ext cx="4526280" cy="475488"/>
          </a:xfrm>
          <a:prstGeom prst="rect">
            <a:avLst/>
          </a:prstGeom>
          <a:noFill/>
          <a:ln>
            <a:noFill/>
          </a:ln>
        </p:spPr>
        <p:txBody>
          <a:bodyPr lIns="0" tIns="0" rIns="0" bIns="0">
            <a:noAutofit/>
          </a:bodyPr>
          <a:lstStyle/>
          <a:p>
            <a:r>
              <a:rPr lang="en-US" sz="2400" b="1">
                <a:solidFill>
                  <a:srgbClr val="183B56"/>
                </a:solidFill>
                <a:latin typeface="Arial"/>
                <a:ea typeface="Arial"/>
              </a:rPr>
              <a:t>FPGA Restore</a:t>
            </a:r>
          </a:p>
        </p:txBody>
      </p:sp>
      <p:sp>
        <p:nvSpPr>
          <p:cNvPr id="100007" name="S07.Restore.Text1"/>
          <p:cNvSpPr txBox="1"/>
          <p:nvPr/>
        </p:nvSpPr>
        <p:spPr>
          <a:xfrm>
            <a:off x="365760" y="3639312"/>
            <a:ext cx="5074920" cy="548640"/>
          </a:xfrm>
          <a:prstGeom prst="rect">
            <a:avLst/>
          </a:prstGeom>
          <a:noFill/>
          <a:ln>
            <a:noFill/>
          </a:ln>
        </p:spPr>
        <p:txBody>
          <a:bodyPr lIns="0" tIns="0" rIns="0" bIns="0">
            <a:noAutofit/>
          </a:bodyPr>
          <a:lstStyle/>
          <a:p>
            <a:r>
              <a:rPr lang="en-US" sz="1800">
                <a:solidFill>
                  <a:srgbClr val="20354A"/>
                </a:solidFill>
                <a:latin typeface="Arial"/>
                <a:ea typeface="Arial"/>
              </a:rPr>
              <a:t>Write back scan data </a:t>
            </a:r>
            <a:r>
              <a:rPr lang="en-US" sz="1800" b="1">
                <a:solidFill>
                  <a:srgbClr val="183B56"/>
                </a:solidFill>
                <a:latin typeface="Arial"/>
                <a:ea typeface="Arial"/>
              </a:rPr>
              <a:t>by partition</a:t>
            </a:r>
            <a:r>
              <a:rPr lang="en-US" sz="1800">
                <a:solidFill>
                  <a:srgbClr val="20354A"/>
                </a:solidFill>
                <a:latin typeface="Arial"/>
                <a:ea typeface="Arial"/>
              </a:rPr>
              <a:t>.</a:t>
            </a:r>
          </a:p>
        </p:txBody>
      </p:sp>
      <p:sp>
        <p:nvSpPr>
          <p:cNvPr id="100008" name="S07.Restore.Text2"/>
          <p:cNvSpPr txBox="1"/>
          <p:nvPr/>
        </p:nvSpPr>
        <p:spPr>
          <a:xfrm>
            <a:off x="365760" y="4206240"/>
            <a:ext cx="5074920" cy="548640"/>
          </a:xfrm>
          <a:prstGeom prst="rect">
            <a:avLst/>
          </a:prstGeom>
          <a:noFill/>
          <a:ln>
            <a:noFill/>
          </a:ln>
        </p:spPr>
        <p:txBody>
          <a:bodyPr lIns="0" tIns="0" rIns="0" bIns="0">
            <a:noAutofit/>
          </a:bodyPr>
          <a:lstStyle/>
          <a:p>
            <a:r>
              <a:rPr lang="en-US" sz="1800">
                <a:solidFill>
                  <a:srgbClr val="20354A"/>
                </a:solidFill>
                <a:latin typeface="Arial"/>
                <a:ea typeface="Arial"/>
              </a:rPr>
              <a:t>Restore local registers, SRAM and memory.</a:t>
            </a:r>
          </a:p>
        </p:txBody>
      </p:sp>
      <p:sp>
        <p:nvSpPr>
          <p:cNvPr id="100009" name="S07.Replay.Number"/>
          <p:cNvSpPr txBox="1"/>
          <p:nvPr/>
        </p:nvSpPr>
        <p:spPr>
          <a:xfrm>
            <a:off x="365760" y="4846320"/>
            <a:ext cx="457200" cy="475488"/>
          </a:xfrm>
          <a:prstGeom prst="rect">
            <a:avLst/>
          </a:prstGeom>
          <a:noFill/>
          <a:ln>
            <a:noFill/>
          </a:ln>
        </p:spPr>
        <p:txBody>
          <a:bodyPr lIns="0" tIns="0" rIns="0" bIns="0">
            <a:noAutofit/>
          </a:bodyPr>
          <a:lstStyle/>
          <a:p>
            <a:r>
              <a:rPr lang="en-US" sz="2400" b="1">
                <a:solidFill>
                  <a:srgbClr val="008C95"/>
                </a:solidFill>
                <a:latin typeface="Arial"/>
                <a:ea typeface="Arial"/>
              </a:rPr>
              <a:t>03</a:t>
            </a:r>
          </a:p>
        </p:txBody>
      </p:sp>
      <p:sp>
        <p:nvSpPr>
          <p:cNvPr id="100010" name="S07.Replay.Heading"/>
          <p:cNvSpPr txBox="1"/>
          <p:nvPr/>
        </p:nvSpPr>
        <p:spPr>
          <a:xfrm>
            <a:off x="960120" y="4846320"/>
            <a:ext cx="4526280" cy="475488"/>
          </a:xfrm>
          <a:prstGeom prst="rect">
            <a:avLst/>
          </a:prstGeom>
          <a:noFill/>
          <a:ln>
            <a:noFill/>
          </a:ln>
        </p:spPr>
        <p:txBody>
          <a:bodyPr lIns="0" tIns="0" rIns="0" bIns="0">
            <a:noAutofit/>
          </a:bodyPr>
          <a:lstStyle/>
          <a:p>
            <a:r>
              <a:rPr lang="en-US" sz="2400" b="1">
                <a:solidFill>
                  <a:srgbClr val="183B56"/>
                </a:solidFill>
                <a:latin typeface="Arial"/>
                <a:ea typeface="Arial"/>
              </a:rPr>
              <a:t>Software RTL Replay</a:t>
            </a:r>
          </a:p>
        </p:txBody>
      </p:sp>
      <p:sp>
        <p:nvSpPr>
          <p:cNvPr id="100011" name="S07.Replay.Text1"/>
          <p:cNvSpPr txBox="1"/>
          <p:nvPr/>
        </p:nvSpPr>
        <p:spPr>
          <a:xfrm>
            <a:off x="365760" y="5422392"/>
            <a:ext cx="5074920" cy="548640"/>
          </a:xfrm>
          <a:prstGeom prst="rect">
            <a:avLst/>
          </a:prstGeom>
          <a:noFill/>
          <a:ln>
            <a:noFill/>
          </a:ln>
        </p:spPr>
        <p:txBody>
          <a:bodyPr lIns="0" tIns="0" rIns="0" bIns="0">
            <a:noAutofit/>
          </a:bodyPr>
          <a:lstStyle/>
          <a:p>
            <a:r>
              <a:rPr lang="en-US" sz="1800">
                <a:solidFill>
                  <a:srgbClr val="20354A"/>
                </a:solidFill>
                <a:latin typeface="Arial"/>
                <a:ea typeface="Arial"/>
              </a:rPr>
              <a:t>Decode partition data through </a:t>
            </a:r>
            <a:r>
              <a:rPr lang="en-US" sz="1800" b="1">
                <a:solidFill>
                  <a:srgbClr val="183B56"/>
                </a:solidFill>
                <a:latin typeface="Arial"/>
                <a:ea typeface="Arial"/>
              </a:rPr>
              <a:t>state mapping</a:t>
            </a:r>
            <a:r>
              <a:rPr lang="en-US" sz="1800">
                <a:solidFill>
                  <a:srgbClr val="20354A"/>
                </a:solidFill>
                <a:latin typeface="Arial"/>
                <a:ea typeface="Arial"/>
              </a:rPr>
              <a:t>.</a:t>
            </a:r>
          </a:p>
        </p:txBody>
      </p:sp>
      <p:sp>
        <p:nvSpPr>
          <p:cNvPr id="100012" name="S07.Replay.Text2"/>
          <p:cNvSpPr txBox="1"/>
          <p:nvPr/>
        </p:nvSpPr>
        <p:spPr>
          <a:xfrm>
            <a:off x="365760" y="5989320"/>
            <a:ext cx="5074920" cy="548640"/>
          </a:xfrm>
          <a:prstGeom prst="rect">
            <a:avLst/>
          </a:prstGeom>
          <a:noFill/>
          <a:ln>
            <a:noFill/>
          </a:ln>
        </p:spPr>
        <p:txBody>
          <a:bodyPr lIns="0" tIns="0" rIns="0" bIns="0">
            <a:noAutofit/>
          </a:bodyPr>
          <a:lstStyle/>
          <a:p>
            <a:r>
              <a:rPr lang="en-US" sz="1800">
                <a:solidFill>
                  <a:srgbClr val="20354A"/>
                </a:solidFill>
                <a:latin typeface="Arial"/>
                <a:ea typeface="Arial"/>
              </a:rPr>
              <a:t>Load RTL states and replay recorded inputs.</a:t>
            </a:r>
          </a:p>
        </p:txBody>
      </p:sp>
      <p:sp>
        <p:nvSpPr>
          <p:cNvPr id="100013" name="S07.Evidence.Source"/>
          <p:cNvSpPr txBox="1"/>
          <p:nvPr/>
        </p:nvSpPr>
        <p:spPr>
          <a:xfrm>
            <a:off x="5806440" y="1645920"/>
            <a:ext cx="6071616" cy="228600"/>
          </a:xfrm>
          <a:prstGeom prst="rect">
            <a:avLst/>
          </a:prstGeom>
          <a:noFill/>
          <a:ln>
            <a:noFill/>
          </a:ln>
        </p:spPr>
        <p:txBody>
          <a:bodyPr lIns="0" tIns="0" rIns="0" bIns="0">
            <a:noAutofit/>
          </a:bodyPr>
          <a:lstStyle/>
          <a:p>
            <a:r>
              <a:rPr lang="en-US" sz="1200">
                <a:solidFill>
                  <a:srgbClr val="607184"/>
                </a:solidFill>
                <a:latin typeface="Arial"/>
                <a:ea typeface="Arial"/>
              </a:rPr>
              <a:t>Cosim checkpoint / RTL replay</a:t>
            </a:r>
          </a:p>
        </p:txBody>
      </p:sp>
      <p:pic>
        <p:nvPicPr>
          <p:cNvPr id="100014" name="S07.Evidence.Waveform" descr="PicoRV32 two-partition Cosim checkpoint values at DUT cycle 42080 above the software RTL replay waveform, restored from cycle 2048. Six selected signal values match at the comparison point."/>
          <p:cNvPicPr>
            <a:picLocks noChangeAspect="1"/>
          </p:cNvPicPr>
          <p:nvPr/>
        </p:nvPicPr>
        <p:blipFill>
          <a:blip xmlns:r="http://schemas.openxmlformats.org/officeDocument/2006/relationships" r:embed="R05493bfb9f5f4d15"/>
          <a:stretch>
            <a:fillRect/>
          </a:stretch>
        </p:blipFill>
        <p:spPr>
          <a:xfrm>
            <a:off x="5806440" y="1965960"/>
            <a:ext cx="6071616" cy="2485791"/>
          </a:xfrm>
          <a:prstGeom prst="rect">
            <a:avLst/>
          </a:prstGeom>
        </p:spPr>
      </p:pic>
      <p:sp>
        <p:nvSpPr>
          <p:cNvPr id="100015" name="S07.Evidence.Conclusion"/>
          <p:cNvSpPr txBox="1"/>
          <p:nvPr/>
        </p:nvSpPr>
        <p:spPr>
          <a:xfrm>
            <a:off x="5806440" y="4707783"/>
            <a:ext cx="6071616" cy="1005840"/>
          </a:xfrm>
          <a:prstGeom prst="rect">
            <a:avLst/>
          </a:prstGeom>
          <a:noFill/>
          <a:ln>
            <a:noFill/>
          </a:ln>
        </p:spPr>
        <p:txBody>
          <a:bodyPr lIns="0" tIns="0" rIns="0" bIns="0">
            <a:noAutofit/>
          </a:bodyPr>
          <a:lstStyle/>
          <a:p>
            <a:r>
              <a:rPr lang="en-US" sz="2000">
                <a:solidFill>
                  <a:srgbClr val="183B56"/>
                </a:solidFill>
                <a:latin typeface="Arial"/>
                <a:ea typeface="Arial"/>
              </a:rPr>
              <a:t>Waveform replay reproduces the same signal</a:t>
            </a:r>
          </a:p>
          <a:p>
            <a:r>
              <a:rPr lang="en-US" sz="2000">
                <a:solidFill>
                  <a:srgbClr val="183B56"/>
                </a:solidFill>
                <a:latin typeface="Arial"/>
                <a:ea typeface="Arial"/>
              </a:rPr>
              <a:t>values as FPGA execution.</a:t>
            </a:r>
          </a:p>
        </p:txBody>
      </p:sp>
      <p:sp>
        <p:nvSpPr>
          <p:cNvPr id="100016" name="S07.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7</a:t>
            </a:r>
          </a:p>
        </p:txBody>
      </p:sp>
    </p:spTree>
  </p:cSld>
</p:sld>
</file>

<file path=ppt/slides/merged10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8.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8. Automated Multi-FPGA Circuit Partitioning</a:t>
            </a:r>
          </a:p>
        </p:txBody>
      </p:sp>
      <p:sp>
        <p:nvSpPr>
          <p:cNvPr id="100000" name="S08.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8.Method.Heading"/>
          <p:cNvSpPr txBox="1"/>
          <p:nvPr/>
        </p:nvSpPr>
        <p:spPr>
          <a:xfrm>
            <a:off x="365760" y="1097280"/>
            <a:ext cx="3611880" cy="457200"/>
          </a:xfrm>
          <a:prstGeom prst="rect">
            <a:avLst/>
          </a:prstGeom>
          <a:noFill/>
          <a:ln>
            <a:noFill/>
          </a:ln>
        </p:spPr>
        <p:txBody>
          <a:bodyPr lIns="0" tIns="0" rIns="0" bIns="0">
            <a:noAutofit/>
          </a:bodyPr>
          <a:lstStyle/>
          <a:p>
            <a:r>
              <a:rPr lang="en-US" sz="2200" b="1">
                <a:solidFill>
                  <a:srgbClr val="183B56"/>
                </a:solidFill>
                <a:latin typeface="Arial"/>
                <a:ea typeface="Arial"/>
              </a:rPr>
              <a:t>Automated Partitioning</a:t>
            </a:r>
          </a:p>
        </p:txBody>
      </p:sp>
      <p:sp>
        <p:nvSpPr>
          <p:cNvPr id="100002" name="S08.Method.Number1"/>
          <p:cNvSpPr/>
          <p:nvPr/>
        </p:nvSpPr>
        <p:spPr>
          <a:xfrm>
            <a:off x="384048" y="1865376"/>
            <a:ext cx="301752" cy="301752"/>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1</a:t>
            </a:r>
          </a:p>
        </p:txBody>
      </p:sp>
      <p:sp>
        <p:nvSpPr>
          <p:cNvPr id="100003" name="S08.Method.Text1"/>
          <p:cNvSpPr txBox="1"/>
          <p:nvPr/>
        </p:nvSpPr>
        <p:spPr>
          <a:xfrm>
            <a:off x="841248" y="1828800"/>
            <a:ext cx="3063240" cy="713232"/>
          </a:xfrm>
          <a:prstGeom prst="rect">
            <a:avLst/>
          </a:prstGeom>
          <a:noFill/>
          <a:ln>
            <a:noFill/>
          </a:ln>
        </p:spPr>
        <p:txBody>
          <a:bodyPr lIns="0" tIns="0" rIns="0" bIns="0">
            <a:noAutofit/>
          </a:bodyPr>
          <a:lstStyle/>
          <a:p>
            <a:r>
              <a:rPr lang="en-US" sz="1900">
                <a:solidFill>
                  <a:srgbClr val="20354A"/>
                </a:solidFill>
                <a:latin typeface="Arial"/>
                <a:ea typeface="Arial"/>
              </a:rPr>
              <a:t>Adaptive-granularity</a:t>
            </a:r>
          </a:p>
          <a:p>
            <a:r>
              <a:rPr lang="en-US" sz="1900">
                <a:solidFill>
                  <a:srgbClr val="20354A"/>
                </a:solidFill>
                <a:latin typeface="Arial"/>
                <a:ea typeface="Arial"/>
              </a:rPr>
              <a:t>RTL partitioning</a:t>
            </a:r>
          </a:p>
        </p:txBody>
      </p:sp>
      <p:sp>
        <p:nvSpPr>
          <p:cNvPr id="100004" name="S08.Method.Number2"/>
          <p:cNvSpPr/>
          <p:nvPr/>
        </p:nvSpPr>
        <p:spPr>
          <a:xfrm>
            <a:off x="384048" y="2798064"/>
            <a:ext cx="301752" cy="301752"/>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2</a:t>
            </a:r>
          </a:p>
        </p:txBody>
      </p:sp>
      <p:sp>
        <p:nvSpPr>
          <p:cNvPr id="100005" name="S08.Method.Text2"/>
          <p:cNvSpPr txBox="1"/>
          <p:nvPr/>
        </p:nvSpPr>
        <p:spPr>
          <a:xfrm>
            <a:off x="841248" y="2761488"/>
            <a:ext cx="3063240" cy="713232"/>
          </a:xfrm>
          <a:prstGeom prst="rect">
            <a:avLst/>
          </a:prstGeom>
          <a:noFill/>
          <a:ln>
            <a:noFill/>
          </a:ln>
        </p:spPr>
        <p:txBody>
          <a:bodyPr lIns="0" tIns="0" rIns="0" bIns="0">
            <a:noAutofit/>
          </a:bodyPr>
          <a:lstStyle/>
          <a:p>
            <a:r>
              <a:rPr lang="en-US" sz="1900">
                <a:solidFill>
                  <a:srgbClr val="20354A"/>
                </a:solidFill>
                <a:latin typeface="Arial"/>
                <a:ea typeface="Arial"/>
              </a:rPr>
              <a:t>KaHyPar-based</a:t>
            </a:r>
          </a:p>
          <a:p>
            <a:r>
              <a:rPr lang="en-US" sz="1900">
                <a:solidFill>
                  <a:srgbClr val="20354A"/>
                </a:solidFill>
                <a:latin typeface="Arial"/>
                <a:ea typeface="Arial"/>
              </a:rPr>
              <a:t>hypergraph partitioning</a:t>
            </a:r>
          </a:p>
        </p:txBody>
      </p:sp>
      <p:sp>
        <p:nvSpPr>
          <p:cNvPr id="100006" name="S08.Method.Number3"/>
          <p:cNvSpPr/>
          <p:nvPr/>
        </p:nvSpPr>
        <p:spPr>
          <a:xfrm>
            <a:off x="384048" y="3730752"/>
            <a:ext cx="301752" cy="301752"/>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3</a:t>
            </a:r>
          </a:p>
        </p:txBody>
      </p:sp>
      <p:sp>
        <p:nvSpPr>
          <p:cNvPr id="100007" name="S08.Method.Text3"/>
          <p:cNvSpPr txBox="1"/>
          <p:nvPr/>
        </p:nvSpPr>
        <p:spPr>
          <a:xfrm>
            <a:off x="841248" y="3694176"/>
            <a:ext cx="3063240" cy="713232"/>
          </a:xfrm>
          <a:prstGeom prst="rect">
            <a:avLst/>
          </a:prstGeom>
          <a:noFill/>
          <a:ln>
            <a:noFill/>
          </a:ln>
        </p:spPr>
        <p:txBody>
          <a:bodyPr lIns="0" tIns="0" rIns="0" bIns="0">
            <a:noAutofit/>
          </a:bodyPr>
          <a:lstStyle/>
          <a:p>
            <a:r>
              <a:rPr lang="en-US" sz="1900">
                <a:solidFill>
                  <a:srgbClr val="20354A"/>
                </a:solidFill>
                <a:latin typeface="Arial"/>
                <a:ea typeface="Arial"/>
              </a:rPr>
              <a:t>Path-cut analysis</a:t>
            </a:r>
          </a:p>
          <a:p>
            <a:r>
              <a:rPr lang="en-US" sz="1900">
                <a:solidFill>
                  <a:srgbClr val="20354A"/>
                </a:solidFill>
                <a:latin typeface="Arial"/>
                <a:ea typeface="Arial"/>
              </a:rPr>
              <a:t>for LI-TDM</a:t>
            </a:r>
          </a:p>
        </p:txBody>
      </p:sp>
      <p:sp>
        <p:nvSpPr>
          <p:cNvPr id="100008" name="S08.Efficiency.Status"/>
          <p:cNvSpPr txBox="1"/>
          <p:nvPr/>
        </p:nvSpPr>
        <p:spPr>
          <a:xfrm>
            <a:off x="365760" y="4965192"/>
            <a:ext cx="3611880" cy="320040"/>
          </a:xfrm>
          <a:prstGeom prst="rect">
            <a:avLst/>
          </a:prstGeom>
          <a:noFill/>
          <a:ln>
            <a:noFill/>
          </a:ln>
        </p:spPr>
        <p:txBody>
          <a:bodyPr lIns="0" tIns="0" rIns="0" bIns="0">
            <a:noAutofit/>
          </a:bodyPr>
          <a:lstStyle/>
          <a:p>
            <a:r>
              <a:rPr lang="en-US" sz="1400">
                <a:solidFill>
                  <a:srgbClr val="607184"/>
                </a:solidFill>
                <a:latin typeface="Arial"/>
                <a:ea typeface="Arial"/>
              </a:rPr>
              <a:t>Preliminary observation</a:t>
            </a:r>
          </a:p>
        </p:txBody>
      </p:sp>
      <p:sp>
        <p:nvSpPr>
          <p:cNvPr id="100009" name="S08.Efficiency.Text"/>
          <p:cNvSpPr txBox="1"/>
          <p:nvPr/>
        </p:nvSpPr>
        <p:spPr>
          <a:xfrm>
            <a:off x="365760" y="5367528"/>
            <a:ext cx="3611880" cy="960120"/>
          </a:xfrm>
          <a:prstGeom prst="rect">
            <a:avLst/>
          </a:prstGeom>
          <a:noFill/>
          <a:ln>
            <a:noFill/>
          </a:ln>
        </p:spPr>
        <p:txBody>
          <a:bodyPr lIns="0" tIns="0" rIns="0" bIns="0">
            <a:noAutofit/>
          </a:bodyPr>
          <a:lstStyle/>
          <a:p>
            <a:r>
              <a:rPr lang="en-US" sz="1800">
                <a:solidFill>
                  <a:srgbClr val="183B56"/>
                </a:solidFill>
                <a:latin typeface="Arial"/>
                <a:ea typeface="Arial"/>
              </a:rPr>
              <a:t>Smaller graphs and faster solving</a:t>
            </a:r>
          </a:p>
          <a:p>
            <a:r>
              <a:rPr lang="en-US" sz="1800">
                <a:solidFill>
                  <a:srgbClr val="183B56"/>
                </a:solidFill>
                <a:latin typeface="Arial"/>
                <a:ea typeface="Arial"/>
              </a:rPr>
              <a:t>on well-structured RTL.</a:t>
            </a:r>
          </a:p>
        </p:txBody>
      </p:sp>
      <p:sp>
        <p:nvSpPr>
          <p:cNvPr id="100010" name="S08.Results.Heading"/>
          <p:cNvSpPr txBox="1"/>
          <p:nvPr/>
        </p:nvSpPr>
        <p:spPr>
          <a:xfrm>
            <a:off x="4370832" y="1097280"/>
            <a:ext cx="7479792" cy="457200"/>
          </a:xfrm>
          <a:prstGeom prst="rect">
            <a:avLst/>
          </a:prstGeom>
          <a:noFill/>
          <a:ln>
            <a:noFill/>
          </a:ln>
        </p:spPr>
        <p:txBody>
          <a:bodyPr lIns="0" tIns="0" rIns="0" bIns="0">
            <a:noAutofit/>
          </a:bodyPr>
          <a:lstStyle/>
          <a:p>
            <a:r>
              <a:rPr lang="en-US" sz="2200" b="1">
                <a:solidFill>
                  <a:srgbClr val="183B56"/>
                </a:solidFill>
                <a:latin typeface="Arial"/>
                <a:ea typeface="Arial"/>
              </a:rPr>
              <a:t>Post-Synthesis Resource Utilization</a:t>
            </a:r>
          </a:p>
        </p:txBody>
      </p:sp>
      <p:sp>
        <p:nvSpPr>
          <p:cNvPr id="100011" name="S08.Results.Context"/>
          <p:cNvSpPr txBox="1"/>
          <p:nvPr/>
        </p:nvSpPr>
        <p:spPr>
          <a:xfrm>
            <a:off x="4370832" y="1609344"/>
            <a:ext cx="7479792" cy="320040"/>
          </a:xfrm>
          <a:prstGeom prst="rect">
            <a:avLst/>
          </a:prstGeom>
          <a:noFill/>
          <a:ln>
            <a:noFill/>
          </a:ln>
        </p:spPr>
        <p:txBody>
          <a:bodyPr lIns="0" tIns="0" rIns="0" bIns="0">
            <a:noAutofit/>
          </a:bodyPr>
          <a:lstStyle/>
          <a:p>
            <a:r>
              <a:rPr lang="en-US" sz="1600">
                <a:solidFill>
                  <a:srgbClr val="607184"/>
                </a:solidFill>
                <a:latin typeface="Arial"/>
                <a:ea typeface="Arial"/>
              </a:rPr>
              <a:t>KMH · Two partitions · Utilization (%)</a:t>
            </a:r>
          </a:p>
        </p:txBody>
      </p:sp>
      <p:graphicFrame>
        <p:nvGraphicFramePr>
          <p:cNvPr id="100012" name="S08.Resources.Chart"/>
          <p:cNvGraphicFramePr/>
          <p:nvPr/>
        </p:nvGraphicFramePr>
        <p:xfrm>
          <a:off x="4315968" y="1993392"/>
          <a:ext cx="7543800" cy="3474720"/>
        </p:xfrm>
        <a:graphic>
          <a:graphicData uri="http://schemas.openxmlformats.org/drawingml/2006/chart">
            <c:chart xmlns:r="http://schemas.openxmlformats.org/officeDocument/2006/relationships" xmlns:c="http://schemas.openxmlformats.org/drawingml/2006/chart" r:id="R77872e11e53f41fe"/>
          </a:graphicData>
        </a:graphic>
      </p:graphicFrame>
      <p:sp>
        <p:nvSpPr>
          <p:cNvPr id="100013" name="S08.Results.Observation"/>
          <p:cNvSpPr txBox="1"/>
          <p:nvPr/>
        </p:nvSpPr>
        <p:spPr>
          <a:xfrm>
            <a:off x="4370832" y="5687568"/>
            <a:ext cx="7479792" cy="594360"/>
          </a:xfrm>
          <a:prstGeom prst="rect">
            <a:avLst/>
          </a:prstGeom>
          <a:noFill/>
          <a:ln>
            <a:noFill/>
          </a:ln>
        </p:spPr>
        <p:txBody>
          <a:bodyPr lIns="0" tIns="0" rIns="0" bIns="0">
            <a:noAutofit/>
          </a:bodyPr>
          <a:lstStyle/>
          <a:p>
            <a:r>
              <a:rPr lang="en-US" sz="2000">
                <a:solidFill>
                  <a:srgbClr val="183B56"/>
                </a:solidFill>
                <a:latin typeface="Arial"/>
                <a:ea typeface="Arial"/>
              </a:rPr>
              <a:t>Similar LUT usage, uneven FF and BRAM distribution.</a:t>
            </a:r>
          </a:p>
        </p:txBody>
      </p:sp>
      <p:sp>
        <p:nvSpPr>
          <p:cNvPr id="100014" name="S08.Results.Scope"/>
          <p:cNvSpPr txBox="1"/>
          <p:nvPr/>
        </p:nvSpPr>
        <p:spPr>
          <a:xfrm>
            <a:off x="4370832" y="6327648"/>
            <a:ext cx="7479792" cy="256032"/>
          </a:xfrm>
          <a:prstGeom prst="rect">
            <a:avLst/>
          </a:prstGeom>
          <a:noFill/>
          <a:ln>
            <a:noFill/>
          </a:ln>
        </p:spPr>
        <p:txBody>
          <a:bodyPr lIns="0" tIns="0" rIns="0" bIns="0">
            <a:noAutofit/>
          </a:bodyPr>
          <a:lstStyle/>
          <a:p>
            <a:r>
              <a:rPr lang="en-US" sz="1200">
                <a:solidFill>
                  <a:srgbClr val="607184"/>
                </a:solidFill>
                <a:latin typeface="Arial"/>
                <a:ea typeface="Arial"/>
              </a:rPr>
              <a:t>EMU_SYSTEM synthesis; percentages of device capacity.</a:t>
            </a:r>
          </a:p>
        </p:txBody>
      </p:sp>
      <p:sp>
        <p:nvSpPr>
          <p:cNvPr id="100015" name="S08.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8</a:t>
            </a:r>
          </a:p>
        </p:txBody>
      </p:sp>
    </p:spTree>
  </p:cSld>
</p:sld>
</file>

<file path=ppt/slides/merged11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9.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9. Scalable Multi-FPGA Runtime</a:t>
            </a:r>
          </a:p>
        </p:txBody>
      </p:sp>
      <p:sp>
        <p:nvSpPr>
          <p:cNvPr id="100000" name="S09.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9.Direct.Panel"/>
          <p:cNvSpPr/>
          <p:nvPr/>
        </p:nvSpPr>
        <p:spPr>
          <a:xfrm>
            <a:off x="320040" y="987552"/>
            <a:ext cx="5596128" cy="3611880"/>
          </a:xfrm>
          <a:prstGeom prst="roundRect">
            <a:avLst>
              <a:gd name="adj" fmla="val 4000"/>
            </a:avLst>
          </a:prstGeom>
          <a:solidFill>
            <a:srgbClr val="F1F5F8"/>
          </a:solidFill>
          <a:ln>
            <a:noFill/>
          </a:ln>
        </p:spPr>
        <p:txBody>
          <a:bodyPr lIns="0" tIns="0" rIns="0" bIns="0">
            <a:noAutofit/>
          </a:bodyPr>
          <a:lstStyle/>
          <a:p>
            <a:endParaRPr lang="en-US" sz="1800">
              <a:solidFill>
                <a:srgbClr val="20354A"/>
              </a:solidFill>
              <a:latin typeface="Arial"/>
              <a:ea typeface="Arial"/>
            </a:endParaRPr>
          </a:p>
        </p:txBody>
      </p:sp>
      <p:sp>
        <p:nvSpPr>
          <p:cNvPr id="100002" name="S09.Direct.Heading"/>
          <p:cNvSpPr txBox="1"/>
          <p:nvPr/>
        </p:nvSpPr>
        <p:spPr>
          <a:xfrm>
            <a:off x="484632" y="1124712"/>
            <a:ext cx="5266944" cy="411480"/>
          </a:xfrm>
          <a:prstGeom prst="rect">
            <a:avLst/>
          </a:prstGeom>
          <a:noFill/>
          <a:ln>
            <a:noFill/>
          </a:ln>
        </p:spPr>
        <p:txBody>
          <a:bodyPr lIns="0" tIns="0" rIns="0" bIns="0">
            <a:noAutofit/>
          </a:bodyPr>
          <a:lstStyle/>
          <a:p>
            <a:r>
              <a:rPr lang="en-US" sz="2400" b="1">
                <a:solidFill>
                  <a:srgbClr val="183B56"/>
                </a:solidFill>
                <a:latin typeface="Arial"/>
                <a:ea typeface="Arial"/>
              </a:rPr>
              <a:t>Direct PCIe Access</a:t>
            </a:r>
          </a:p>
        </p:txBody>
      </p:sp>
      <p:sp>
        <p:nvSpPr>
          <p:cNvPr id="100003" name="S09.Direct.Host"/>
          <p:cNvSpPr txBox="1"/>
          <p:nvPr/>
        </p:nvSpPr>
        <p:spPr>
          <a:xfrm>
            <a:off x="502920" y="1719072"/>
            <a:ext cx="5230368" cy="594360"/>
          </a:xfrm>
          <a:prstGeom prst="rect">
            <a:avLst/>
          </a:prstGeom>
          <a:solidFill>
            <a:srgbClr val="FFFFFF"/>
          </a:solidFill>
          <a:ln w="25400">
            <a:solidFill>
              <a:srgbClr val="183B56"/>
            </a:solidFill>
          </a:ln>
        </p:spPr>
        <p:txBody>
          <a:bodyPr lIns="0" tIns="0" rIns="0" bIns="0" anchor="ctr">
            <a:noAutofit/>
          </a:bodyPr>
          <a:lstStyle/>
          <a:p>
            <a:pPr algn="ctr"/>
            <a:r>
              <a:rPr lang="en-US" sz="2400" b="1">
                <a:solidFill>
                  <a:srgbClr val="183B56"/>
                </a:solidFill>
                <a:latin typeface="Arial"/>
                <a:ea typeface="Arial"/>
              </a:rPr>
              <a:t>Host</a:t>
            </a:r>
          </a:p>
        </p:txBody>
      </p:sp>
      <p:sp>
        <p:nvSpPr>
          <p:cNvPr id="100004" name="S09.Direct.Node0"/>
          <p:cNvSpPr/>
          <p:nvPr/>
        </p:nvSpPr>
        <p:spPr>
          <a:xfrm>
            <a:off x="484632" y="3127248"/>
            <a:ext cx="1408176" cy="1078992"/>
          </a:xfrm>
          <a:prstGeom prst="rect">
            <a:avLst/>
          </a:prstGeom>
          <a:solidFill>
            <a:srgbClr val="FFFFFF"/>
          </a:solidFill>
          <a:ln w="25400">
            <a:solidFill>
              <a:srgbClr val="183B56"/>
            </a:solidFill>
          </a:ln>
        </p:spPr>
        <p:txBody>
          <a:bodyPr lIns="0" tIns="0" rIns="0" bIns="0">
            <a:noAutofit/>
          </a:bodyPr>
          <a:lstStyle/>
          <a:p>
            <a:endParaRPr lang="en-US" sz="1800">
              <a:solidFill>
                <a:srgbClr val="20354A"/>
              </a:solidFill>
              <a:latin typeface="Arial"/>
              <a:ea typeface="Arial"/>
            </a:endParaRPr>
          </a:p>
        </p:txBody>
      </p:sp>
      <p:sp>
        <p:nvSpPr>
          <p:cNvPr id="100005" name="S09.Direct.Node0.Label"/>
          <p:cNvSpPr txBox="1"/>
          <p:nvPr/>
        </p:nvSpPr>
        <p:spPr>
          <a:xfrm>
            <a:off x="521208" y="3255264"/>
            <a:ext cx="1335024" cy="274320"/>
          </a:xfrm>
          <a:prstGeom prst="rect">
            <a:avLst/>
          </a:prstGeom>
          <a:noFill/>
          <a:ln>
            <a:noFill/>
          </a:ln>
        </p:spPr>
        <p:txBody>
          <a:bodyPr lIns="0" tIns="0" rIns="0" bIns="0">
            <a:noAutofit/>
          </a:bodyPr>
          <a:lstStyle/>
          <a:p>
            <a:pPr algn="ctr"/>
            <a:r>
              <a:rPr lang="en-US" sz="1700" b="1">
                <a:solidFill>
                  <a:srgbClr val="183B56"/>
                </a:solidFill>
                <a:latin typeface="Arial"/>
                <a:ea typeface="Arial"/>
              </a:rPr>
              <a:t>FPGA A</a:t>
            </a:r>
          </a:p>
        </p:txBody>
      </p:sp>
      <p:sp>
        <p:nvSpPr>
          <p:cNvPr id="100006" name="S09.Direct.Node0.Resources"/>
          <p:cNvSpPr txBox="1"/>
          <p:nvPr/>
        </p:nvSpPr>
        <p:spPr>
          <a:xfrm>
            <a:off x="576072" y="3621024"/>
            <a:ext cx="1225296" cy="475488"/>
          </a:xfrm>
          <a:prstGeom prst="rect">
            <a:avLst/>
          </a:prstGeom>
          <a:solidFill>
            <a:srgbClr val="F1F5F8"/>
          </a:solidFill>
          <a:ln w="8890">
            <a:solidFill>
              <a:srgbClr val="BDCBD4"/>
            </a:solidFill>
          </a:ln>
        </p:spPr>
        <p:txBody>
          <a:bodyPr lIns="0" tIns="0" rIns="0" bIns="0" anchor="ctr">
            <a:noAutofit/>
          </a:bodyPr>
          <a:lstStyle/>
          <a:p>
            <a:pPr algn="ctr"/>
            <a:r>
              <a:rPr lang="en-US" sz="1400">
                <a:solidFill>
                  <a:srgbClr val="20354A"/>
                </a:solidFill>
                <a:latin typeface="Arial"/>
                <a:ea typeface="Arial"/>
              </a:rPr>
              <a:t>Registers</a:t>
            </a:r>
          </a:p>
          <a:p>
            <a:pPr algn="ctr"/>
            <a:r>
              <a:rPr lang="en-US" sz="1400">
                <a:solidFill>
                  <a:srgbClr val="20354A"/>
                </a:solidFill>
                <a:latin typeface="Arial"/>
                <a:ea typeface="Arial"/>
              </a:rPr>
              <a:t>Memory</a:t>
            </a:r>
          </a:p>
        </p:txBody>
      </p:sp>
      <p:sp>
        <p:nvSpPr>
          <p:cNvPr id="100007" name="S09.Direct.PCIe0"/>
          <p:cNvSpPr/>
          <p:nvPr/>
        </p:nvSpPr>
        <p:spPr>
          <a:xfrm>
            <a:off x="1120140" y="2331720"/>
            <a:ext cx="137160" cy="777240"/>
          </a:xfrm>
          <a:prstGeom prst="upDownArrow">
            <a:avLst/>
          </a:prstGeom>
          <a:solidFill>
            <a:srgbClr val="183B56"/>
          </a:solidFill>
          <a:ln>
            <a:noFill/>
          </a:ln>
        </p:spPr>
        <p:txBody>
          <a:bodyPr lIns="0" tIns="0" rIns="0" bIns="0">
            <a:noAutofit/>
          </a:bodyPr>
          <a:lstStyle/>
          <a:p>
            <a:endParaRPr lang="en-US" sz="1800">
              <a:solidFill>
                <a:srgbClr val="20354A"/>
              </a:solidFill>
              <a:latin typeface="Arial"/>
              <a:ea typeface="Arial"/>
            </a:endParaRPr>
          </a:p>
        </p:txBody>
      </p:sp>
      <p:sp>
        <p:nvSpPr>
          <p:cNvPr id="100008" name="S09.Direct.PCIe0.Label"/>
          <p:cNvSpPr txBox="1"/>
          <p:nvPr/>
        </p:nvSpPr>
        <p:spPr>
          <a:xfrm>
            <a:off x="1298448" y="2578608"/>
            <a:ext cx="658368" cy="274320"/>
          </a:xfrm>
          <a:prstGeom prst="rect">
            <a:avLst/>
          </a:prstGeom>
          <a:noFill/>
          <a:ln>
            <a:noFill/>
          </a:ln>
        </p:spPr>
        <p:txBody>
          <a:bodyPr lIns="0" tIns="0" rIns="0" bIns="0">
            <a:noAutofit/>
          </a:bodyPr>
          <a:lstStyle/>
          <a:p>
            <a:r>
              <a:rPr lang="en-US" sz="1600" b="1">
                <a:solidFill>
                  <a:srgbClr val="183B56"/>
                </a:solidFill>
                <a:latin typeface="Arial"/>
                <a:ea typeface="Arial"/>
              </a:rPr>
              <a:t>PCIe</a:t>
            </a:r>
          </a:p>
        </p:txBody>
      </p:sp>
      <p:sp>
        <p:nvSpPr>
          <p:cNvPr id="100009" name="S09.Direct.Link0"/>
          <p:cNvSpPr/>
          <p:nvPr/>
        </p:nvSpPr>
        <p:spPr>
          <a:xfrm>
            <a:off x="1911096" y="3703320"/>
            <a:ext cx="484632" cy="137160"/>
          </a:xfrm>
          <a:prstGeom prst="leftRightArrow">
            <a:avLst/>
          </a:prstGeom>
          <a:solidFill>
            <a:srgbClr val="91A5B5"/>
          </a:solidFill>
          <a:ln>
            <a:noFill/>
          </a:ln>
        </p:spPr>
        <p:txBody>
          <a:bodyPr lIns="0" tIns="0" rIns="0" bIns="0">
            <a:noAutofit/>
          </a:bodyPr>
          <a:lstStyle/>
          <a:p>
            <a:endParaRPr lang="en-US" sz="1800">
              <a:solidFill>
                <a:srgbClr val="20354A"/>
              </a:solidFill>
              <a:latin typeface="Arial"/>
              <a:ea typeface="Arial"/>
            </a:endParaRPr>
          </a:p>
        </p:txBody>
      </p:sp>
      <p:sp>
        <p:nvSpPr>
          <p:cNvPr id="100010" name="S09.Direct.Node1"/>
          <p:cNvSpPr/>
          <p:nvPr/>
        </p:nvSpPr>
        <p:spPr>
          <a:xfrm>
            <a:off x="2414016" y="3127248"/>
            <a:ext cx="1408176" cy="1078992"/>
          </a:xfrm>
          <a:prstGeom prst="rect">
            <a:avLst/>
          </a:prstGeom>
          <a:solidFill>
            <a:srgbClr val="FFFFFF"/>
          </a:solidFill>
          <a:ln w="25400">
            <a:solidFill>
              <a:srgbClr val="183B56"/>
            </a:solidFill>
          </a:ln>
        </p:spPr>
        <p:txBody>
          <a:bodyPr lIns="0" tIns="0" rIns="0" bIns="0">
            <a:noAutofit/>
          </a:bodyPr>
          <a:lstStyle/>
          <a:p>
            <a:endParaRPr lang="en-US" sz="1800">
              <a:solidFill>
                <a:srgbClr val="20354A"/>
              </a:solidFill>
              <a:latin typeface="Arial"/>
              <a:ea typeface="Arial"/>
            </a:endParaRPr>
          </a:p>
        </p:txBody>
      </p:sp>
      <p:sp>
        <p:nvSpPr>
          <p:cNvPr id="100011" name="S09.Direct.Node1.Label"/>
          <p:cNvSpPr txBox="1"/>
          <p:nvPr/>
        </p:nvSpPr>
        <p:spPr>
          <a:xfrm>
            <a:off x="2450592" y="3255264"/>
            <a:ext cx="1335024" cy="274320"/>
          </a:xfrm>
          <a:prstGeom prst="rect">
            <a:avLst/>
          </a:prstGeom>
          <a:noFill/>
          <a:ln>
            <a:noFill/>
          </a:ln>
        </p:spPr>
        <p:txBody>
          <a:bodyPr lIns="0" tIns="0" rIns="0" bIns="0">
            <a:noAutofit/>
          </a:bodyPr>
          <a:lstStyle/>
          <a:p>
            <a:pPr algn="ctr"/>
            <a:r>
              <a:rPr lang="en-US" sz="1700" b="1">
                <a:solidFill>
                  <a:srgbClr val="183B56"/>
                </a:solidFill>
                <a:latin typeface="Arial"/>
                <a:ea typeface="Arial"/>
              </a:rPr>
              <a:t>FPGA B</a:t>
            </a:r>
          </a:p>
        </p:txBody>
      </p:sp>
      <p:sp>
        <p:nvSpPr>
          <p:cNvPr id="100012" name="S09.Direct.Node1.Resources"/>
          <p:cNvSpPr txBox="1"/>
          <p:nvPr/>
        </p:nvSpPr>
        <p:spPr>
          <a:xfrm>
            <a:off x="2505456" y="3621024"/>
            <a:ext cx="1225296" cy="475488"/>
          </a:xfrm>
          <a:prstGeom prst="rect">
            <a:avLst/>
          </a:prstGeom>
          <a:solidFill>
            <a:srgbClr val="F1F5F8"/>
          </a:solidFill>
          <a:ln w="8890">
            <a:solidFill>
              <a:srgbClr val="BDCBD4"/>
            </a:solidFill>
          </a:ln>
        </p:spPr>
        <p:txBody>
          <a:bodyPr lIns="0" tIns="0" rIns="0" bIns="0" anchor="ctr">
            <a:noAutofit/>
          </a:bodyPr>
          <a:lstStyle/>
          <a:p>
            <a:pPr algn="ctr"/>
            <a:r>
              <a:rPr lang="en-US" sz="1400">
                <a:solidFill>
                  <a:srgbClr val="20354A"/>
                </a:solidFill>
                <a:latin typeface="Arial"/>
                <a:ea typeface="Arial"/>
              </a:rPr>
              <a:t>Registers</a:t>
            </a:r>
          </a:p>
          <a:p>
            <a:pPr algn="ctr"/>
            <a:r>
              <a:rPr lang="en-US" sz="1400">
                <a:solidFill>
                  <a:srgbClr val="20354A"/>
                </a:solidFill>
                <a:latin typeface="Arial"/>
                <a:ea typeface="Arial"/>
              </a:rPr>
              <a:t>Memory</a:t>
            </a:r>
          </a:p>
        </p:txBody>
      </p:sp>
      <p:sp>
        <p:nvSpPr>
          <p:cNvPr id="100013" name="S09.Direct.PCIe1"/>
          <p:cNvSpPr/>
          <p:nvPr/>
        </p:nvSpPr>
        <p:spPr>
          <a:xfrm>
            <a:off x="3049524" y="2331720"/>
            <a:ext cx="137160" cy="777240"/>
          </a:xfrm>
          <a:prstGeom prst="upDownArrow">
            <a:avLst/>
          </a:prstGeom>
          <a:solidFill>
            <a:srgbClr val="183B56"/>
          </a:solidFill>
          <a:ln>
            <a:noFill/>
          </a:ln>
        </p:spPr>
        <p:txBody>
          <a:bodyPr lIns="0" tIns="0" rIns="0" bIns="0">
            <a:noAutofit/>
          </a:bodyPr>
          <a:lstStyle/>
          <a:p>
            <a:endParaRPr lang="en-US" sz="1800">
              <a:solidFill>
                <a:srgbClr val="20354A"/>
              </a:solidFill>
              <a:latin typeface="Arial"/>
              <a:ea typeface="Arial"/>
            </a:endParaRPr>
          </a:p>
        </p:txBody>
      </p:sp>
      <p:sp>
        <p:nvSpPr>
          <p:cNvPr id="100014" name="S09.Direct.PCIe1.Label"/>
          <p:cNvSpPr txBox="1"/>
          <p:nvPr/>
        </p:nvSpPr>
        <p:spPr>
          <a:xfrm>
            <a:off x="3227832" y="2578608"/>
            <a:ext cx="658368" cy="274320"/>
          </a:xfrm>
          <a:prstGeom prst="rect">
            <a:avLst/>
          </a:prstGeom>
          <a:noFill/>
          <a:ln>
            <a:noFill/>
          </a:ln>
        </p:spPr>
        <p:txBody>
          <a:bodyPr lIns="0" tIns="0" rIns="0" bIns="0">
            <a:noAutofit/>
          </a:bodyPr>
          <a:lstStyle/>
          <a:p>
            <a:r>
              <a:rPr lang="en-US" sz="1600" b="1">
                <a:solidFill>
                  <a:srgbClr val="183B56"/>
                </a:solidFill>
                <a:latin typeface="Arial"/>
                <a:ea typeface="Arial"/>
              </a:rPr>
              <a:t>PCIe</a:t>
            </a:r>
          </a:p>
        </p:txBody>
      </p:sp>
      <p:sp>
        <p:nvSpPr>
          <p:cNvPr id="100015" name="S09.Direct.Link1"/>
          <p:cNvSpPr/>
          <p:nvPr/>
        </p:nvSpPr>
        <p:spPr>
          <a:xfrm>
            <a:off x="3840480" y="3703320"/>
            <a:ext cx="484632" cy="137160"/>
          </a:xfrm>
          <a:prstGeom prst="leftRightArrow">
            <a:avLst/>
          </a:prstGeom>
          <a:solidFill>
            <a:srgbClr val="91A5B5"/>
          </a:solidFill>
          <a:ln>
            <a:noFill/>
          </a:ln>
        </p:spPr>
        <p:txBody>
          <a:bodyPr lIns="0" tIns="0" rIns="0" bIns="0">
            <a:noAutofit/>
          </a:bodyPr>
          <a:lstStyle/>
          <a:p>
            <a:endParaRPr lang="en-US" sz="1800">
              <a:solidFill>
                <a:srgbClr val="20354A"/>
              </a:solidFill>
              <a:latin typeface="Arial"/>
              <a:ea typeface="Arial"/>
            </a:endParaRPr>
          </a:p>
        </p:txBody>
      </p:sp>
      <p:sp>
        <p:nvSpPr>
          <p:cNvPr id="100016" name="S09.Direct.Node2"/>
          <p:cNvSpPr/>
          <p:nvPr/>
        </p:nvSpPr>
        <p:spPr>
          <a:xfrm>
            <a:off x="4343400" y="3127248"/>
            <a:ext cx="1408176" cy="1078992"/>
          </a:xfrm>
          <a:prstGeom prst="rect">
            <a:avLst/>
          </a:prstGeom>
          <a:solidFill>
            <a:srgbClr val="FFFFFF"/>
          </a:solidFill>
          <a:ln w="25400">
            <a:solidFill>
              <a:srgbClr val="183B56"/>
            </a:solidFill>
          </a:ln>
        </p:spPr>
        <p:txBody>
          <a:bodyPr lIns="0" tIns="0" rIns="0" bIns="0">
            <a:noAutofit/>
          </a:bodyPr>
          <a:lstStyle/>
          <a:p>
            <a:endParaRPr lang="en-US" sz="1800">
              <a:solidFill>
                <a:srgbClr val="20354A"/>
              </a:solidFill>
              <a:latin typeface="Arial"/>
              <a:ea typeface="Arial"/>
            </a:endParaRPr>
          </a:p>
        </p:txBody>
      </p:sp>
      <p:sp>
        <p:nvSpPr>
          <p:cNvPr id="100017" name="S09.Direct.Node2.Label"/>
          <p:cNvSpPr txBox="1"/>
          <p:nvPr/>
        </p:nvSpPr>
        <p:spPr>
          <a:xfrm>
            <a:off x="4379976" y="3255264"/>
            <a:ext cx="1335024" cy="274320"/>
          </a:xfrm>
          <a:prstGeom prst="rect">
            <a:avLst/>
          </a:prstGeom>
          <a:noFill/>
          <a:ln>
            <a:noFill/>
          </a:ln>
        </p:spPr>
        <p:txBody>
          <a:bodyPr lIns="0" tIns="0" rIns="0" bIns="0">
            <a:noAutofit/>
          </a:bodyPr>
          <a:lstStyle/>
          <a:p>
            <a:pPr algn="ctr"/>
            <a:r>
              <a:rPr lang="en-US" sz="1700" b="1">
                <a:solidFill>
                  <a:srgbClr val="183B56"/>
                </a:solidFill>
                <a:latin typeface="Arial"/>
                <a:ea typeface="Arial"/>
              </a:rPr>
              <a:t>FPGA C</a:t>
            </a:r>
          </a:p>
        </p:txBody>
      </p:sp>
      <p:sp>
        <p:nvSpPr>
          <p:cNvPr id="100018" name="S09.Direct.Node2.Resources"/>
          <p:cNvSpPr txBox="1"/>
          <p:nvPr/>
        </p:nvSpPr>
        <p:spPr>
          <a:xfrm>
            <a:off x="4434840" y="3621024"/>
            <a:ext cx="1225296" cy="475488"/>
          </a:xfrm>
          <a:prstGeom prst="rect">
            <a:avLst/>
          </a:prstGeom>
          <a:solidFill>
            <a:srgbClr val="F1F5F8"/>
          </a:solidFill>
          <a:ln w="8890">
            <a:solidFill>
              <a:srgbClr val="BDCBD4"/>
            </a:solidFill>
          </a:ln>
        </p:spPr>
        <p:txBody>
          <a:bodyPr lIns="0" tIns="0" rIns="0" bIns="0" anchor="ctr">
            <a:noAutofit/>
          </a:bodyPr>
          <a:lstStyle/>
          <a:p>
            <a:pPr algn="ctr"/>
            <a:r>
              <a:rPr lang="en-US" sz="1400">
                <a:solidFill>
                  <a:srgbClr val="20354A"/>
                </a:solidFill>
                <a:latin typeface="Arial"/>
                <a:ea typeface="Arial"/>
              </a:rPr>
              <a:t>Registers</a:t>
            </a:r>
          </a:p>
          <a:p>
            <a:pPr algn="ctr"/>
            <a:r>
              <a:rPr lang="en-US" sz="1400">
                <a:solidFill>
                  <a:srgbClr val="20354A"/>
                </a:solidFill>
                <a:latin typeface="Arial"/>
                <a:ea typeface="Arial"/>
              </a:rPr>
              <a:t>Memory</a:t>
            </a:r>
          </a:p>
        </p:txBody>
      </p:sp>
      <p:sp>
        <p:nvSpPr>
          <p:cNvPr id="100019" name="S09.Direct.PCIe2"/>
          <p:cNvSpPr/>
          <p:nvPr/>
        </p:nvSpPr>
        <p:spPr>
          <a:xfrm>
            <a:off x="4978908" y="2331720"/>
            <a:ext cx="137160" cy="777240"/>
          </a:xfrm>
          <a:prstGeom prst="upDownArrow">
            <a:avLst/>
          </a:prstGeom>
          <a:solidFill>
            <a:srgbClr val="183B56"/>
          </a:solidFill>
          <a:ln>
            <a:noFill/>
          </a:ln>
        </p:spPr>
        <p:txBody>
          <a:bodyPr lIns="0" tIns="0" rIns="0" bIns="0">
            <a:noAutofit/>
          </a:bodyPr>
          <a:lstStyle/>
          <a:p>
            <a:endParaRPr lang="en-US" sz="1800">
              <a:solidFill>
                <a:srgbClr val="20354A"/>
              </a:solidFill>
              <a:latin typeface="Arial"/>
              <a:ea typeface="Arial"/>
            </a:endParaRPr>
          </a:p>
        </p:txBody>
      </p:sp>
      <p:sp>
        <p:nvSpPr>
          <p:cNvPr id="100020" name="S09.Direct.PCIe2.Label"/>
          <p:cNvSpPr txBox="1"/>
          <p:nvPr/>
        </p:nvSpPr>
        <p:spPr>
          <a:xfrm>
            <a:off x="5157216" y="2578608"/>
            <a:ext cx="658368" cy="274320"/>
          </a:xfrm>
          <a:prstGeom prst="rect">
            <a:avLst/>
          </a:prstGeom>
          <a:noFill/>
          <a:ln>
            <a:noFill/>
          </a:ln>
        </p:spPr>
        <p:txBody>
          <a:bodyPr lIns="0" tIns="0" rIns="0" bIns="0">
            <a:noAutofit/>
          </a:bodyPr>
          <a:lstStyle/>
          <a:p>
            <a:r>
              <a:rPr lang="en-US" sz="1600" b="1">
                <a:solidFill>
                  <a:srgbClr val="183B56"/>
                </a:solidFill>
                <a:latin typeface="Arial"/>
                <a:ea typeface="Arial"/>
              </a:rPr>
              <a:t>PCIe</a:t>
            </a:r>
          </a:p>
        </p:txBody>
      </p:sp>
      <p:sp>
        <p:nvSpPr>
          <p:cNvPr id="100021" name="S09.Direct.LinkCaption"/>
          <p:cNvSpPr txBox="1"/>
          <p:nvPr/>
        </p:nvSpPr>
        <p:spPr>
          <a:xfrm>
            <a:off x="1600200" y="4325112"/>
            <a:ext cx="3035808" cy="228600"/>
          </a:xfrm>
          <a:prstGeom prst="rect">
            <a:avLst/>
          </a:prstGeom>
          <a:noFill/>
          <a:ln>
            <a:noFill/>
          </a:ln>
        </p:spPr>
        <p:txBody>
          <a:bodyPr lIns="0" tIns="0" rIns="0" bIns="0">
            <a:noAutofit/>
          </a:bodyPr>
          <a:lstStyle/>
          <a:p>
            <a:pPr algn="ctr"/>
            <a:r>
              <a:rPr lang="en-US" sz="1400">
                <a:solidFill>
                  <a:srgbClr val="607184"/>
                </a:solidFill>
                <a:latin typeface="Arial"/>
                <a:ea typeface="Arial"/>
              </a:rPr>
              <a:t>DUT communication</a:t>
            </a:r>
          </a:p>
        </p:txBody>
      </p:sp>
      <p:sp>
        <p:nvSpPr>
          <p:cNvPr id="100022" name="S09.Direct.Bullet0"/>
          <p:cNvSpPr/>
          <p:nvPr/>
        </p:nvSpPr>
        <p:spPr>
          <a:xfrm>
            <a:off x="374904" y="5084064"/>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3" name="S09.Direct.Text0"/>
          <p:cNvSpPr txBox="1"/>
          <p:nvPr/>
        </p:nvSpPr>
        <p:spPr>
          <a:xfrm>
            <a:off x="649224" y="4965192"/>
            <a:ext cx="5266944" cy="475488"/>
          </a:xfrm>
          <a:prstGeom prst="rect">
            <a:avLst/>
          </a:prstGeom>
          <a:noFill/>
          <a:ln>
            <a:noFill/>
          </a:ln>
        </p:spPr>
        <p:txBody>
          <a:bodyPr lIns="0" tIns="0" rIns="0" bIns="0">
            <a:noAutofit/>
          </a:bodyPr>
          <a:lstStyle/>
          <a:p>
            <a:r>
              <a:rPr lang="en-US" sz="2200">
                <a:solidFill>
                  <a:srgbClr val="20354A"/>
                </a:solidFill>
                <a:latin typeface="Arial"/>
                <a:ea typeface="Arial"/>
              </a:rPr>
              <a:t>Separate Host connection per FPGA</a:t>
            </a:r>
          </a:p>
        </p:txBody>
      </p:sp>
      <p:sp>
        <p:nvSpPr>
          <p:cNvPr id="100024" name="S09.Direct.Bullet1"/>
          <p:cNvSpPr/>
          <p:nvPr/>
        </p:nvSpPr>
        <p:spPr>
          <a:xfrm>
            <a:off x="374904" y="5586984"/>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25" name="S09.Direct.Text1"/>
          <p:cNvSpPr txBox="1"/>
          <p:nvPr/>
        </p:nvSpPr>
        <p:spPr>
          <a:xfrm>
            <a:off x="649224" y="5468112"/>
            <a:ext cx="5266944" cy="475488"/>
          </a:xfrm>
          <a:prstGeom prst="rect">
            <a:avLst/>
          </a:prstGeom>
          <a:noFill/>
          <a:ln>
            <a:noFill/>
          </a:ln>
        </p:spPr>
        <p:txBody>
          <a:bodyPr lIns="0" tIns="0" rIns="0" bIns="0">
            <a:noAutofit/>
          </a:bodyPr>
          <a:lstStyle/>
          <a:p>
            <a:r>
              <a:rPr lang="en-US" sz="2200">
                <a:solidFill>
                  <a:srgbClr val="20354A"/>
                </a:solidFill>
                <a:latin typeface="Arial"/>
                <a:ea typeface="Arial"/>
              </a:rPr>
              <a:t>Limited by Host PCIe connectivity</a:t>
            </a:r>
          </a:p>
        </p:txBody>
      </p:sp>
      <p:sp>
        <p:nvSpPr>
          <p:cNvPr id="100026" name="S09.Fabric.Panel"/>
          <p:cNvSpPr/>
          <p:nvPr/>
        </p:nvSpPr>
        <p:spPr>
          <a:xfrm>
            <a:off x="6281928" y="987552"/>
            <a:ext cx="5596128" cy="3611880"/>
          </a:xfrm>
          <a:prstGeom prst="roundRect">
            <a:avLst>
              <a:gd name="adj" fmla="val 4000"/>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27" name="S09.Fabric.Heading"/>
          <p:cNvSpPr txBox="1"/>
          <p:nvPr/>
        </p:nvSpPr>
        <p:spPr>
          <a:xfrm>
            <a:off x="6446520" y="1124712"/>
            <a:ext cx="5266944" cy="411480"/>
          </a:xfrm>
          <a:prstGeom prst="rect">
            <a:avLst/>
          </a:prstGeom>
          <a:noFill/>
          <a:ln>
            <a:noFill/>
          </a:ln>
        </p:spPr>
        <p:txBody>
          <a:bodyPr lIns="0" tIns="0" rIns="0" bIns="0">
            <a:noAutofit/>
          </a:bodyPr>
          <a:lstStyle/>
          <a:p>
            <a:r>
              <a:rPr lang="en-US" sz="2400" b="1">
                <a:solidFill>
                  <a:srgbClr val="183B56"/>
                </a:solidFill>
                <a:latin typeface="Arial"/>
                <a:ea typeface="Arial"/>
              </a:rPr>
              <a:t>Fabric-Based Access</a:t>
            </a:r>
          </a:p>
        </p:txBody>
      </p:sp>
      <p:sp>
        <p:nvSpPr>
          <p:cNvPr id="100028" name="S09.Fabric.Host"/>
          <p:cNvSpPr txBox="1"/>
          <p:nvPr/>
        </p:nvSpPr>
        <p:spPr>
          <a:xfrm>
            <a:off x="6464808" y="1719072"/>
            <a:ext cx="5230368" cy="594360"/>
          </a:xfrm>
          <a:prstGeom prst="rect">
            <a:avLst/>
          </a:prstGeom>
          <a:solidFill>
            <a:srgbClr val="FFFFFF"/>
          </a:solidFill>
          <a:ln w="25400">
            <a:solidFill>
              <a:srgbClr val="183B56"/>
            </a:solidFill>
          </a:ln>
        </p:spPr>
        <p:txBody>
          <a:bodyPr lIns="0" tIns="0" rIns="0" bIns="0" anchor="ctr">
            <a:noAutofit/>
          </a:bodyPr>
          <a:lstStyle/>
          <a:p>
            <a:pPr algn="ctr"/>
            <a:r>
              <a:rPr lang="en-US" sz="2400" b="1">
                <a:solidFill>
                  <a:srgbClr val="183B56"/>
                </a:solidFill>
                <a:latin typeface="Arial"/>
                <a:ea typeface="Arial"/>
              </a:rPr>
              <a:t>Host</a:t>
            </a:r>
          </a:p>
        </p:txBody>
      </p:sp>
      <p:sp>
        <p:nvSpPr>
          <p:cNvPr id="100029" name="S09.Fabric.Node0"/>
          <p:cNvSpPr/>
          <p:nvPr/>
        </p:nvSpPr>
        <p:spPr>
          <a:xfrm>
            <a:off x="6446520" y="3127248"/>
            <a:ext cx="1408176" cy="1078992"/>
          </a:xfrm>
          <a:prstGeom prst="rect">
            <a:avLst/>
          </a:prstGeom>
          <a:solidFill>
            <a:srgbClr val="FFFFFF"/>
          </a:solidFill>
          <a:ln w="25400">
            <a:solidFill>
              <a:srgbClr val="008C95"/>
            </a:solidFill>
          </a:ln>
        </p:spPr>
        <p:txBody>
          <a:bodyPr lIns="0" tIns="0" rIns="0" bIns="0">
            <a:noAutofit/>
          </a:bodyPr>
          <a:lstStyle/>
          <a:p>
            <a:endParaRPr lang="en-US" sz="1800">
              <a:solidFill>
                <a:srgbClr val="20354A"/>
              </a:solidFill>
              <a:latin typeface="Arial"/>
              <a:ea typeface="Arial"/>
            </a:endParaRPr>
          </a:p>
        </p:txBody>
      </p:sp>
      <p:sp>
        <p:nvSpPr>
          <p:cNvPr id="100030" name="S09.Fabric.Node0.Label"/>
          <p:cNvSpPr txBox="1"/>
          <p:nvPr/>
        </p:nvSpPr>
        <p:spPr>
          <a:xfrm>
            <a:off x="6483096" y="3255264"/>
            <a:ext cx="1335024" cy="274320"/>
          </a:xfrm>
          <a:prstGeom prst="rect">
            <a:avLst/>
          </a:prstGeom>
          <a:noFill/>
          <a:ln>
            <a:noFill/>
          </a:ln>
        </p:spPr>
        <p:txBody>
          <a:bodyPr lIns="0" tIns="0" rIns="0" bIns="0">
            <a:noAutofit/>
          </a:bodyPr>
          <a:lstStyle/>
          <a:p>
            <a:pPr algn="ctr"/>
            <a:r>
              <a:rPr lang="en-US" sz="1700" b="1">
                <a:solidFill>
                  <a:srgbClr val="008C95"/>
                </a:solidFill>
                <a:latin typeface="Arial"/>
                <a:ea typeface="Arial"/>
              </a:rPr>
              <a:t>Ref FPGA</a:t>
            </a:r>
          </a:p>
        </p:txBody>
      </p:sp>
      <p:sp>
        <p:nvSpPr>
          <p:cNvPr id="100031" name="S09.Fabric.Node0.Resources"/>
          <p:cNvSpPr txBox="1"/>
          <p:nvPr/>
        </p:nvSpPr>
        <p:spPr>
          <a:xfrm>
            <a:off x="6537960" y="3621024"/>
            <a:ext cx="1225296" cy="475488"/>
          </a:xfrm>
          <a:prstGeom prst="rect">
            <a:avLst/>
          </a:prstGeom>
          <a:solidFill>
            <a:srgbClr val="F1F5F8"/>
          </a:solidFill>
          <a:ln w="8890">
            <a:solidFill>
              <a:srgbClr val="BDCBD4"/>
            </a:solidFill>
          </a:ln>
        </p:spPr>
        <p:txBody>
          <a:bodyPr lIns="0" tIns="0" rIns="0" bIns="0" anchor="ctr">
            <a:noAutofit/>
          </a:bodyPr>
          <a:lstStyle/>
          <a:p>
            <a:pPr algn="ctr"/>
            <a:r>
              <a:rPr lang="en-US" sz="1400">
                <a:solidFill>
                  <a:srgbClr val="20354A"/>
                </a:solidFill>
                <a:latin typeface="Arial"/>
                <a:ea typeface="Arial"/>
              </a:rPr>
              <a:t>Registers</a:t>
            </a:r>
          </a:p>
          <a:p>
            <a:pPr algn="ctr"/>
            <a:r>
              <a:rPr lang="en-US" sz="1400">
                <a:solidFill>
                  <a:srgbClr val="20354A"/>
                </a:solidFill>
                <a:latin typeface="Arial"/>
                <a:ea typeface="Arial"/>
              </a:rPr>
              <a:t>Memory</a:t>
            </a:r>
          </a:p>
        </p:txBody>
      </p:sp>
      <p:sp>
        <p:nvSpPr>
          <p:cNvPr id="100032" name="S09.Fabric.PCIe0"/>
          <p:cNvSpPr/>
          <p:nvPr/>
        </p:nvSpPr>
        <p:spPr>
          <a:xfrm>
            <a:off x="7082028" y="2331720"/>
            <a:ext cx="137160" cy="777240"/>
          </a:xfrm>
          <a:prstGeom prst="upDownArrow">
            <a:avLst/>
          </a:prstGeom>
          <a:solidFill>
            <a:srgbClr val="183B56"/>
          </a:solidFill>
          <a:ln>
            <a:noFill/>
          </a:ln>
        </p:spPr>
        <p:txBody>
          <a:bodyPr lIns="0" tIns="0" rIns="0" bIns="0">
            <a:noAutofit/>
          </a:bodyPr>
          <a:lstStyle/>
          <a:p>
            <a:endParaRPr lang="en-US" sz="1800">
              <a:solidFill>
                <a:srgbClr val="20354A"/>
              </a:solidFill>
              <a:latin typeface="Arial"/>
              <a:ea typeface="Arial"/>
            </a:endParaRPr>
          </a:p>
        </p:txBody>
      </p:sp>
      <p:sp>
        <p:nvSpPr>
          <p:cNvPr id="100033" name="S09.Fabric.PCIe0.Label"/>
          <p:cNvSpPr txBox="1"/>
          <p:nvPr/>
        </p:nvSpPr>
        <p:spPr>
          <a:xfrm>
            <a:off x="7260336" y="2578608"/>
            <a:ext cx="658368" cy="274320"/>
          </a:xfrm>
          <a:prstGeom prst="rect">
            <a:avLst/>
          </a:prstGeom>
          <a:noFill/>
          <a:ln>
            <a:noFill/>
          </a:ln>
        </p:spPr>
        <p:txBody>
          <a:bodyPr lIns="0" tIns="0" rIns="0" bIns="0">
            <a:noAutofit/>
          </a:bodyPr>
          <a:lstStyle/>
          <a:p>
            <a:r>
              <a:rPr lang="en-US" sz="1600" b="1">
                <a:solidFill>
                  <a:srgbClr val="183B56"/>
                </a:solidFill>
                <a:latin typeface="Arial"/>
                <a:ea typeface="Arial"/>
              </a:rPr>
              <a:t>PCIe</a:t>
            </a:r>
          </a:p>
        </p:txBody>
      </p:sp>
      <p:sp>
        <p:nvSpPr>
          <p:cNvPr id="100034" name="S09.Fabric.Link0"/>
          <p:cNvSpPr/>
          <p:nvPr/>
        </p:nvSpPr>
        <p:spPr>
          <a:xfrm>
            <a:off x="7872984" y="3703320"/>
            <a:ext cx="484632" cy="137160"/>
          </a:xfrm>
          <a:prstGeom prst="leftRightArrow">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35" name="S09.Fabric.Link0.Label"/>
          <p:cNvSpPr txBox="1"/>
          <p:nvPr/>
        </p:nvSpPr>
        <p:spPr>
          <a:xfrm>
            <a:off x="7836408" y="3447288"/>
            <a:ext cx="557784" cy="219456"/>
          </a:xfrm>
          <a:prstGeom prst="rect">
            <a:avLst/>
          </a:prstGeom>
          <a:noFill/>
          <a:ln>
            <a:noFill/>
          </a:ln>
        </p:spPr>
        <p:txBody>
          <a:bodyPr lIns="0" tIns="0" rIns="0" bIns="0">
            <a:noAutofit/>
          </a:bodyPr>
          <a:lstStyle/>
          <a:p>
            <a:pPr algn="ctr"/>
            <a:r>
              <a:rPr lang="en-US" sz="1200" b="1">
                <a:solidFill>
                  <a:srgbClr val="008C95"/>
                </a:solidFill>
                <a:latin typeface="Arial"/>
                <a:ea typeface="Arial"/>
              </a:rPr>
              <a:t>Fabric</a:t>
            </a:r>
          </a:p>
        </p:txBody>
      </p:sp>
      <p:sp>
        <p:nvSpPr>
          <p:cNvPr id="100036" name="S09.Fabric.Node1"/>
          <p:cNvSpPr/>
          <p:nvPr/>
        </p:nvSpPr>
        <p:spPr>
          <a:xfrm>
            <a:off x="8375904" y="3127248"/>
            <a:ext cx="1408176" cy="1078992"/>
          </a:xfrm>
          <a:prstGeom prst="rect">
            <a:avLst/>
          </a:prstGeom>
          <a:solidFill>
            <a:srgbClr val="FFFFFF"/>
          </a:solidFill>
          <a:ln w="25400">
            <a:solidFill>
              <a:srgbClr val="183B56"/>
            </a:solidFill>
          </a:ln>
        </p:spPr>
        <p:txBody>
          <a:bodyPr lIns="0" tIns="0" rIns="0" bIns="0">
            <a:noAutofit/>
          </a:bodyPr>
          <a:lstStyle/>
          <a:p>
            <a:endParaRPr lang="en-US" sz="1800">
              <a:solidFill>
                <a:srgbClr val="20354A"/>
              </a:solidFill>
              <a:latin typeface="Arial"/>
              <a:ea typeface="Arial"/>
            </a:endParaRPr>
          </a:p>
        </p:txBody>
      </p:sp>
      <p:sp>
        <p:nvSpPr>
          <p:cNvPr id="100037" name="S09.Fabric.Node1.Label"/>
          <p:cNvSpPr txBox="1"/>
          <p:nvPr/>
        </p:nvSpPr>
        <p:spPr>
          <a:xfrm>
            <a:off x="8412480" y="3255264"/>
            <a:ext cx="1335024" cy="274320"/>
          </a:xfrm>
          <a:prstGeom prst="rect">
            <a:avLst/>
          </a:prstGeom>
          <a:noFill/>
          <a:ln>
            <a:noFill/>
          </a:ln>
        </p:spPr>
        <p:txBody>
          <a:bodyPr lIns="0" tIns="0" rIns="0" bIns="0">
            <a:noAutofit/>
          </a:bodyPr>
          <a:lstStyle/>
          <a:p>
            <a:pPr algn="ctr"/>
            <a:r>
              <a:rPr lang="en-US" sz="1700" b="1">
                <a:solidFill>
                  <a:srgbClr val="183B56"/>
                </a:solidFill>
                <a:latin typeface="Arial"/>
                <a:ea typeface="Arial"/>
              </a:rPr>
              <a:t>FPGA B</a:t>
            </a:r>
          </a:p>
        </p:txBody>
      </p:sp>
      <p:sp>
        <p:nvSpPr>
          <p:cNvPr id="100038" name="S09.Fabric.Node1.Resources"/>
          <p:cNvSpPr txBox="1"/>
          <p:nvPr/>
        </p:nvSpPr>
        <p:spPr>
          <a:xfrm>
            <a:off x="8467344" y="3621024"/>
            <a:ext cx="1225296" cy="475488"/>
          </a:xfrm>
          <a:prstGeom prst="rect">
            <a:avLst/>
          </a:prstGeom>
          <a:solidFill>
            <a:srgbClr val="F1F5F8"/>
          </a:solidFill>
          <a:ln w="8890">
            <a:solidFill>
              <a:srgbClr val="BDCBD4"/>
            </a:solidFill>
          </a:ln>
        </p:spPr>
        <p:txBody>
          <a:bodyPr lIns="0" tIns="0" rIns="0" bIns="0" anchor="ctr">
            <a:noAutofit/>
          </a:bodyPr>
          <a:lstStyle/>
          <a:p>
            <a:pPr algn="ctr"/>
            <a:r>
              <a:rPr lang="en-US" sz="1400">
                <a:solidFill>
                  <a:srgbClr val="20354A"/>
                </a:solidFill>
                <a:latin typeface="Arial"/>
                <a:ea typeface="Arial"/>
              </a:rPr>
              <a:t>Registers</a:t>
            </a:r>
          </a:p>
          <a:p>
            <a:pPr algn="ctr"/>
            <a:r>
              <a:rPr lang="en-US" sz="1400">
                <a:solidFill>
                  <a:srgbClr val="20354A"/>
                </a:solidFill>
                <a:latin typeface="Arial"/>
                <a:ea typeface="Arial"/>
              </a:rPr>
              <a:t>Memory</a:t>
            </a:r>
          </a:p>
        </p:txBody>
      </p:sp>
      <p:sp>
        <p:nvSpPr>
          <p:cNvPr id="100039" name="S09.Fabric.Link1"/>
          <p:cNvSpPr/>
          <p:nvPr/>
        </p:nvSpPr>
        <p:spPr>
          <a:xfrm>
            <a:off x="9802368" y="3703320"/>
            <a:ext cx="484632" cy="137160"/>
          </a:xfrm>
          <a:prstGeom prst="leftRightArrow">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0" name="S09.Fabric.Link1.Label"/>
          <p:cNvSpPr txBox="1"/>
          <p:nvPr/>
        </p:nvSpPr>
        <p:spPr>
          <a:xfrm>
            <a:off x="9765792" y="3447288"/>
            <a:ext cx="557784" cy="219456"/>
          </a:xfrm>
          <a:prstGeom prst="rect">
            <a:avLst/>
          </a:prstGeom>
          <a:noFill/>
          <a:ln>
            <a:noFill/>
          </a:ln>
        </p:spPr>
        <p:txBody>
          <a:bodyPr lIns="0" tIns="0" rIns="0" bIns="0">
            <a:noAutofit/>
          </a:bodyPr>
          <a:lstStyle/>
          <a:p>
            <a:pPr algn="ctr"/>
            <a:r>
              <a:rPr lang="en-US" sz="1200" b="1">
                <a:solidFill>
                  <a:srgbClr val="008C95"/>
                </a:solidFill>
                <a:latin typeface="Arial"/>
                <a:ea typeface="Arial"/>
              </a:rPr>
              <a:t>Fabric</a:t>
            </a:r>
          </a:p>
        </p:txBody>
      </p:sp>
      <p:sp>
        <p:nvSpPr>
          <p:cNvPr id="100041" name="S09.Fabric.Node2"/>
          <p:cNvSpPr/>
          <p:nvPr/>
        </p:nvSpPr>
        <p:spPr>
          <a:xfrm>
            <a:off x="10305288" y="3127248"/>
            <a:ext cx="1408176" cy="1078992"/>
          </a:xfrm>
          <a:prstGeom prst="rect">
            <a:avLst/>
          </a:prstGeom>
          <a:solidFill>
            <a:srgbClr val="FFFFFF"/>
          </a:solidFill>
          <a:ln w="25400">
            <a:solidFill>
              <a:srgbClr val="183B56"/>
            </a:solidFill>
          </a:ln>
        </p:spPr>
        <p:txBody>
          <a:bodyPr lIns="0" tIns="0" rIns="0" bIns="0">
            <a:noAutofit/>
          </a:bodyPr>
          <a:lstStyle/>
          <a:p>
            <a:endParaRPr lang="en-US" sz="1800">
              <a:solidFill>
                <a:srgbClr val="20354A"/>
              </a:solidFill>
              <a:latin typeface="Arial"/>
              <a:ea typeface="Arial"/>
            </a:endParaRPr>
          </a:p>
        </p:txBody>
      </p:sp>
      <p:sp>
        <p:nvSpPr>
          <p:cNvPr id="100042" name="S09.Fabric.Node2.Label"/>
          <p:cNvSpPr txBox="1"/>
          <p:nvPr/>
        </p:nvSpPr>
        <p:spPr>
          <a:xfrm>
            <a:off x="10341864" y="3255264"/>
            <a:ext cx="1335024" cy="274320"/>
          </a:xfrm>
          <a:prstGeom prst="rect">
            <a:avLst/>
          </a:prstGeom>
          <a:noFill/>
          <a:ln>
            <a:noFill/>
          </a:ln>
        </p:spPr>
        <p:txBody>
          <a:bodyPr lIns="0" tIns="0" rIns="0" bIns="0">
            <a:noAutofit/>
          </a:bodyPr>
          <a:lstStyle/>
          <a:p>
            <a:pPr algn="ctr"/>
            <a:r>
              <a:rPr lang="en-US" sz="1700" b="1">
                <a:solidFill>
                  <a:srgbClr val="183B56"/>
                </a:solidFill>
                <a:latin typeface="Arial"/>
                <a:ea typeface="Arial"/>
              </a:rPr>
              <a:t>FPGA C</a:t>
            </a:r>
          </a:p>
        </p:txBody>
      </p:sp>
      <p:sp>
        <p:nvSpPr>
          <p:cNvPr id="100043" name="S09.Fabric.Node2.Resources"/>
          <p:cNvSpPr txBox="1"/>
          <p:nvPr/>
        </p:nvSpPr>
        <p:spPr>
          <a:xfrm>
            <a:off x="10396728" y="3621024"/>
            <a:ext cx="1225296" cy="475488"/>
          </a:xfrm>
          <a:prstGeom prst="rect">
            <a:avLst/>
          </a:prstGeom>
          <a:solidFill>
            <a:srgbClr val="F1F5F8"/>
          </a:solidFill>
          <a:ln w="8890">
            <a:solidFill>
              <a:srgbClr val="BDCBD4"/>
            </a:solidFill>
          </a:ln>
        </p:spPr>
        <p:txBody>
          <a:bodyPr lIns="0" tIns="0" rIns="0" bIns="0" anchor="ctr">
            <a:noAutofit/>
          </a:bodyPr>
          <a:lstStyle/>
          <a:p>
            <a:pPr algn="ctr"/>
            <a:r>
              <a:rPr lang="en-US" sz="1400">
                <a:solidFill>
                  <a:srgbClr val="20354A"/>
                </a:solidFill>
                <a:latin typeface="Arial"/>
                <a:ea typeface="Arial"/>
              </a:rPr>
              <a:t>Registers</a:t>
            </a:r>
          </a:p>
          <a:p>
            <a:pPr algn="ctr"/>
            <a:r>
              <a:rPr lang="en-US" sz="1400">
                <a:solidFill>
                  <a:srgbClr val="20354A"/>
                </a:solidFill>
                <a:latin typeface="Arial"/>
                <a:ea typeface="Arial"/>
              </a:rPr>
              <a:t>Memory</a:t>
            </a:r>
          </a:p>
        </p:txBody>
      </p:sp>
      <p:sp>
        <p:nvSpPr>
          <p:cNvPr id="100044" name="S09.Fabric.Bullet0"/>
          <p:cNvSpPr/>
          <p:nvPr/>
        </p:nvSpPr>
        <p:spPr>
          <a:xfrm>
            <a:off x="6336792" y="5084064"/>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5" name="S09.Fabric.Text0"/>
          <p:cNvSpPr txBox="1"/>
          <p:nvPr/>
        </p:nvSpPr>
        <p:spPr>
          <a:xfrm>
            <a:off x="6611112" y="4965192"/>
            <a:ext cx="5266944" cy="475488"/>
          </a:xfrm>
          <a:prstGeom prst="rect">
            <a:avLst/>
          </a:prstGeom>
          <a:noFill/>
          <a:ln>
            <a:noFill/>
          </a:ln>
        </p:spPr>
        <p:txBody>
          <a:bodyPr lIns="0" tIns="0" rIns="0" bIns="0">
            <a:noAutofit/>
          </a:bodyPr>
          <a:lstStyle/>
          <a:p>
            <a:r>
              <a:rPr lang="en-US" sz="2200">
                <a:solidFill>
                  <a:srgbClr val="20354A"/>
                </a:solidFill>
                <a:latin typeface="Arial"/>
                <a:ea typeface="Arial"/>
              </a:rPr>
              <a:t>One Host entry via Ref</a:t>
            </a:r>
          </a:p>
        </p:txBody>
      </p:sp>
      <p:sp>
        <p:nvSpPr>
          <p:cNvPr id="100046" name="S09.Fabric.Bullet1"/>
          <p:cNvSpPr/>
          <p:nvPr/>
        </p:nvSpPr>
        <p:spPr>
          <a:xfrm>
            <a:off x="6336792" y="5586984"/>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7" name="S09.Fabric.Text1"/>
          <p:cNvSpPr txBox="1"/>
          <p:nvPr/>
        </p:nvSpPr>
        <p:spPr>
          <a:xfrm>
            <a:off x="6611112" y="5468112"/>
            <a:ext cx="5266944" cy="475488"/>
          </a:xfrm>
          <a:prstGeom prst="rect">
            <a:avLst/>
          </a:prstGeom>
          <a:noFill/>
          <a:ln>
            <a:noFill/>
          </a:ln>
        </p:spPr>
        <p:txBody>
          <a:bodyPr lIns="0" tIns="0" rIns="0" bIns="0">
            <a:noAutofit/>
          </a:bodyPr>
          <a:lstStyle/>
          <a:p>
            <a:r>
              <a:rPr lang="en-US" sz="2200">
                <a:solidFill>
                  <a:srgbClr val="20354A"/>
                </a:solidFill>
                <a:latin typeface="Arial"/>
                <a:ea typeface="Arial"/>
              </a:rPr>
              <a:t>Unified register and memory access</a:t>
            </a:r>
          </a:p>
        </p:txBody>
      </p:sp>
      <p:sp>
        <p:nvSpPr>
          <p:cNvPr id="100048" name="S09.Fabric.Bullet2"/>
          <p:cNvSpPr/>
          <p:nvPr/>
        </p:nvSpPr>
        <p:spPr>
          <a:xfrm>
            <a:off x="6336792" y="6089904"/>
            <a:ext cx="91440" cy="91440"/>
          </a:xfrm>
          <a:prstGeom prst="ellipse">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49" name="S09.Fabric.Text2"/>
          <p:cNvSpPr txBox="1"/>
          <p:nvPr/>
        </p:nvSpPr>
        <p:spPr>
          <a:xfrm>
            <a:off x="6611112" y="5971032"/>
            <a:ext cx="5266944" cy="475488"/>
          </a:xfrm>
          <a:prstGeom prst="rect">
            <a:avLst/>
          </a:prstGeom>
          <a:noFill/>
          <a:ln>
            <a:noFill/>
          </a:ln>
        </p:spPr>
        <p:txBody>
          <a:bodyPr lIns="0" tIns="0" rIns="0" bIns="0">
            <a:noAutofit/>
          </a:bodyPr>
          <a:lstStyle/>
          <a:p>
            <a:r>
              <a:rPr lang="en-US" sz="2200">
                <a:solidFill>
                  <a:srgbClr val="20354A"/>
                </a:solidFill>
                <a:latin typeface="Arial"/>
                <a:ea typeface="Arial"/>
              </a:rPr>
              <a:t>Extend through inter-FPGA links</a:t>
            </a:r>
          </a:p>
        </p:txBody>
      </p:sp>
      <p:sp>
        <p:nvSpPr>
          <p:cNvPr id="100050" name="S09.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9</a:t>
            </a:r>
          </a:p>
        </p:txBody>
      </p:sp>
    </p:spTree>
  </p:cSld>
</p:sld>
</file>

<file path=ppt/slides/merged12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10.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Dual-FPGA Prototype and Evaluation</a:t>
            </a:r>
          </a:p>
        </p:txBody>
      </p:sp>
      <p:sp>
        <p:nvSpPr>
          <p:cNvPr id="100000" name="S10.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10.Platform.Heading"/>
          <p:cNvSpPr txBox="1"/>
          <p:nvPr/>
        </p:nvSpPr>
        <p:spPr>
          <a:xfrm>
            <a:off x="320040" y="950976"/>
            <a:ext cx="4251960" cy="420624"/>
          </a:xfrm>
          <a:prstGeom prst="rect">
            <a:avLst/>
          </a:prstGeom>
          <a:noFill/>
          <a:ln>
            <a:noFill/>
          </a:ln>
        </p:spPr>
        <p:txBody>
          <a:bodyPr lIns="0" tIns="0" rIns="0" bIns="0">
            <a:noAutofit/>
          </a:bodyPr>
          <a:lstStyle/>
          <a:p>
            <a:r>
              <a:rPr lang="en-US" sz="2200" b="1">
                <a:solidFill>
                  <a:srgbClr val="183B56"/>
                </a:solidFill>
                <a:latin typeface="Arial"/>
                <a:ea typeface="Arial"/>
              </a:rPr>
              <a:t>Experimental Platform</a:t>
            </a:r>
          </a:p>
        </p:txBody>
      </p:sp>
      <p:sp>
        <p:nvSpPr>
          <p:cNvPr id="100002" name="S10.Workloads.Heading"/>
          <p:cNvSpPr txBox="1"/>
          <p:nvPr/>
        </p:nvSpPr>
        <p:spPr>
          <a:xfrm>
            <a:off x="4983480" y="950976"/>
            <a:ext cx="6894576" cy="420624"/>
          </a:xfrm>
          <a:prstGeom prst="rect">
            <a:avLst/>
          </a:prstGeom>
          <a:noFill/>
          <a:ln>
            <a:noFill/>
          </a:ln>
        </p:spPr>
        <p:txBody>
          <a:bodyPr lIns="0" tIns="0" rIns="0" bIns="0">
            <a:noAutofit/>
          </a:bodyPr>
          <a:lstStyle/>
          <a:p>
            <a:r>
              <a:rPr lang="en-US" sz="2200" b="1">
                <a:solidFill>
                  <a:srgbClr val="183B56"/>
                </a:solidFill>
                <a:latin typeface="Arial"/>
                <a:ea typeface="Arial"/>
              </a:rPr>
              <a:t>DUTs and Workloads</a:t>
            </a:r>
          </a:p>
        </p:txBody>
      </p:sp>
      <p:pic>
        <p:nvPicPr>
          <p:cNvPr id="100003" name="S10.Platform.Photo" descr="Two NM37 VU37P FPGA boards inside the shared PCIe Host; real dual-FPGA setup with board-to-board optical connections."/>
          <p:cNvPicPr>
            <a:picLocks noChangeAspect="1"/>
          </p:cNvPicPr>
          <p:nvPr/>
        </p:nvPicPr>
        <p:blipFill>
          <a:blip xmlns:r="http://schemas.openxmlformats.org/officeDocument/2006/relationships" r:embed="R855e26c6cbf24c72"/>
          <a:srcRect l="5473" t="35169" r="4612" b="17350"/>
          <a:stretch>
            <a:fillRect/>
          </a:stretch>
        </p:blipFill>
        <p:spPr>
          <a:xfrm>
            <a:off x="320040" y="1481328"/>
            <a:ext cx="4251960" cy="2994858"/>
          </a:xfrm>
          <a:prstGeom prst="rect">
            <a:avLst/>
          </a:prstGeom>
        </p:spPr>
      </p:pic>
      <p:sp>
        <p:nvSpPr>
          <p:cNvPr id="100004" name="S10.Platform.PhotoLabel"/>
          <p:cNvSpPr txBox="1"/>
          <p:nvPr/>
        </p:nvSpPr>
        <p:spPr>
          <a:xfrm>
            <a:off x="438912" y="1609344"/>
            <a:ext cx="2432304" cy="329184"/>
          </a:xfrm>
          <a:prstGeom prst="rect">
            <a:avLst/>
          </a:prstGeom>
          <a:solidFill>
            <a:srgbClr val="183B56"/>
          </a:solidFill>
          <a:ln>
            <a:noFill/>
          </a:ln>
        </p:spPr>
        <p:txBody>
          <a:bodyPr lIns="38100" tIns="38100" rIns="38100" bIns="38100">
            <a:noAutofit/>
          </a:bodyPr>
          <a:lstStyle/>
          <a:p>
            <a:r>
              <a:rPr lang="en-US" sz="1300" b="1">
                <a:solidFill>
                  <a:srgbClr val="FFFFFF"/>
                </a:solidFill>
                <a:latin typeface="Arial"/>
                <a:ea typeface="Arial"/>
              </a:rPr>
              <a:t>Two NM37 FPGA boards</a:t>
            </a:r>
          </a:p>
        </p:txBody>
      </p:sp>
      <p:sp>
        <p:nvSpPr>
          <p:cNvPr id="100005" name="S10.Platform.Text1"/>
          <p:cNvSpPr txBox="1"/>
          <p:nvPr/>
        </p:nvSpPr>
        <p:spPr>
          <a:xfrm>
            <a:off x="320040" y="4663440"/>
            <a:ext cx="4251960" cy="320040"/>
          </a:xfrm>
          <a:prstGeom prst="rect">
            <a:avLst/>
          </a:prstGeom>
          <a:noFill/>
          <a:ln>
            <a:noFill/>
          </a:ln>
        </p:spPr>
        <p:txBody>
          <a:bodyPr lIns="0" tIns="0" rIns="0" bIns="0">
            <a:noAutofit/>
          </a:bodyPr>
          <a:lstStyle/>
          <a:p>
            <a:r>
              <a:rPr lang="en-US" sz="1700">
                <a:solidFill>
                  <a:srgbClr val="20354A"/>
                </a:solidFill>
                <a:latin typeface="Arial"/>
                <a:ea typeface="Arial"/>
              </a:rPr>
              <a:t>Two NM37 boards with VU37P FPGAs</a:t>
            </a:r>
          </a:p>
        </p:txBody>
      </p:sp>
      <p:sp>
        <p:nvSpPr>
          <p:cNvPr id="100006" name="S10.Platform.Text2"/>
          <p:cNvSpPr txBox="1"/>
          <p:nvPr/>
        </p:nvSpPr>
        <p:spPr>
          <a:xfrm>
            <a:off x="320040" y="4992624"/>
            <a:ext cx="4251960" cy="320040"/>
          </a:xfrm>
          <a:prstGeom prst="rect">
            <a:avLst/>
          </a:prstGeom>
          <a:noFill/>
          <a:ln>
            <a:noFill/>
          </a:ln>
        </p:spPr>
        <p:txBody>
          <a:bodyPr lIns="0" tIns="0" rIns="0" bIns="0">
            <a:noAutofit/>
          </a:bodyPr>
          <a:lstStyle/>
          <a:p>
            <a:r>
              <a:rPr lang="en-US" sz="1700">
                <a:solidFill>
                  <a:srgbClr val="20354A"/>
                </a:solidFill>
                <a:latin typeface="Arial"/>
                <a:ea typeface="Arial"/>
              </a:rPr>
              <a:t>PCIe access from a shared Host</a:t>
            </a:r>
          </a:p>
        </p:txBody>
      </p:sp>
      <p:sp>
        <p:nvSpPr>
          <p:cNvPr id="100007" name="S10.Platform.Text3"/>
          <p:cNvSpPr txBox="1"/>
          <p:nvPr/>
        </p:nvSpPr>
        <p:spPr>
          <a:xfrm>
            <a:off x="320040" y="5321808"/>
            <a:ext cx="4251960" cy="320040"/>
          </a:xfrm>
          <a:prstGeom prst="rect">
            <a:avLst/>
          </a:prstGeom>
          <a:noFill/>
          <a:ln>
            <a:noFill/>
          </a:ln>
        </p:spPr>
        <p:txBody>
          <a:bodyPr lIns="0" tIns="0" rIns="0" bIns="0">
            <a:noAutofit/>
          </a:bodyPr>
          <a:lstStyle/>
          <a:p>
            <a:r>
              <a:rPr lang="en-US" sz="1700">
                <a:solidFill>
                  <a:srgbClr val="20354A"/>
                </a:solidFill>
                <a:latin typeface="Arial"/>
                <a:ea typeface="Arial"/>
              </a:rPr>
              <a:t>QSFP/Aurora links between FPGAs</a:t>
            </a:r>
          </a:p>
        </p:txBody>
      </p:sp>
      <p:sp>
        <p:nvSpPr>
          <p:cNvPr id="100008" name="S10.Workloads.HeaderPanel"/>
          <p:cNvSpPr/>
          <p:nvPr/>
        </p:nvSpPr>
        <p:spPr>
          <a:xfrm>
            <a:off x="4983480" y="1481328"/>
            <a:ext cx="6894576" cy="320040"/>
          </a:xfrm>
          <a:prstGeom prst="rect">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9" name="S10.Workloads.DUTs.Header"/>
          <p:cNvSpPr txBox="1"/>
          <p:nvPr/>
        </p:nvSpPr>
        <p:spPr>
          <a:xfrm>
            <a:off x="5120640" y="1517904"/>
            <a:ext cx="2880360" cy="256032"/>
          </a:xfrm>
          <a:prstGeom prst="rect">
            <a:avLst/>
          </a:prstGeom>
          <a:noFill/>
          <a:ln>
            <a:noFill/>
          </a:ln>
        </p:spPr>
        <p:txBody>
          <a:bodyPr lIns="0" tIns="0" rIns="0" bIns="0">
            <a:noAutofit/>
          </a:bodyPr>
          <a:lstStyle/>
          <a:p>
            <a:r>
              <a:rPr lang="en-US" sz="1400" b="1">
                <a:solidFill>
                  <a:srgbClr val="008C95"/>
                </a:solidFill>
                <a:latin typeface="Arial"/>
                <a:ea typeface="Arial"/>
              </a:rPr>
              <a:t>DUTs</a:t>
            </a:r>
          </a:p>
        </p:txBody>
      </p:sp>
      <p:sp>
        <p:nvSpPr>
          <p:cNvPr id="100010" name="S10.Workloads.Programs.Header"/>
          <p:cNvSpPr txBox="1"/>
          <p:nvPr/>
        </p:nvSpPr>
        <p:spPr>
          <a:xfrm>
            <a:off x="8275320" y="1517904"/>
            <a:ext cx="3465576" cy="256032"/>
          </a:xfrm>
          <a:prstGeom prst="rect">
            <a:avLst/>
          </a:prstGeom>
          <a:noFill/>
          <a:ln>
            <a:noFill/>
          </a:ln>
        </p:spPr>
        <p:txBody>
          <a:bodyPr lIns="0" tIns="0" rIns="0" bIns="0">
            <a:noAutofit/>
          </a:bodyPr>
          <a:lstStyle/>
          <a:p>
            <a:r>
              <a:rPr lang="en-US" sz="1400" b="1">
                <a:solidFill>
                  <a:srgbClr val="008C95"/>
                </a:solidFill>
                <a:latin typeface="Arial"/>
                <a:ea typeface="Arial"/>
              </a:rPr>
              <a:t>Workloads</a:t>
            </a:r>
          </a:p>
        </p:txBody>
      </p:sp>
      <p:sp>
        <p:nvSpPr>
          <p:cNvPr id="100011" name="S10.Workloads.DUT1"/>
          <p:cNvSpPr txBox="1"/>
          <p:nvPr/>
        </p:nvSpPr>
        <p:spPr>
          <a:xfrm>
            <a:off x="5120640" y="1847088"/>
            <a:ext cx="2880360" cy="329184"/>
          </a:xfrm>
          <a:prstGeom prst="rect">
            <a:avLst/>
          </a:prstGeom>
          <a:noFill/>
          <a:ln>
            <a:noFill/>
          </a:ln>
        </p:spPr>
        <p:txBody>
          <a:bodyPr lIns="0" tIns="0" rIns="0" bIns="0">
            <a:noAutofit/>
          </a:bodyPr>
          <a:lstStyle/>
          <a:p>
            <a:r>
              <a:rPr lang="en-US" sz="1700" b="1">
                <a:solidFill>
                  <a:srgbClr val="183B56"/>
                </a:solidFill>
                <a:latin typeface="Arial"/>
                <a:ea typeface="Arial"/>
              </a:rPr>
              <a:t>PicoRV32 · Rocket</a:t>
            </a:r>
          </a:p>
        </p:txBody>
      </p:sp>
      <p:sp>
        <p:nvSpPr>
          <p:cNvPr id="100012" name="S10.Workloads.Program1"/>
          <p:cNvSpPr txBox="1"/>
          <p:nvPr/>
        </p:nvSpPr>
        <p:spPr>
          <a:xfrm>
            <a:off x="8275320" y="1847088"/>
            <a:ext cx="3465576" cy="329184"/>
          </a:xfrm>
          <a:prstGeom prst="rect">
            <a:avLst/>
          </a:prstGeom>
          <a:noFill/>
          <a:ln>
            <a:noFill/>
          </a:ln>
        </p:spPr>
        <p:txBody>
          <a:bodyPr lIns="0" tIns="0" rIns="0" bIns="0">
            <a:noAutofit/>
          </a:bodyPr>
          <a:lstStyle/>
          <a:p>
            <a:r>
              <a:rPr lang="en-US" sz="1700">
                <a:solidFill>
                  <a:srgbClr val="20354A"/>
                </a:solidFill>
                <a:latin typeface="Arial"/>
                <a:ea typeface="Arial"/>
              </a:rPr>
              <a:t>Bare-metal programs</a:t>
            </a:r>
          </a:p>
        </p:txBody>
      </p:sp>
      <p:sp>
        <p:nvSpPr>
          <p:cNvPr id="100013" name="S10.Workloads.Rule1"/>
          <p:cNvSpPr/>
          <p:nvPr/>
        </p:nvSpPr>
        <p:spPr>
          <a:xfrm>
            <a:off x="4983480" y="2212848"/>
            <a:ext cx="6894576" cy="7315"/>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sp>
        <p:nvSpPr>
          <p:cNvPr id="100014" name="S10.Workloads.DUT2"/>
          <p:cNvSpPr txBox="1"/>
          <p:nvPr/>
        </p:nvSpPr>
        <p:spPr>
          <a:xfrm>
            <a:off x="5120640" y="2240280"/>
            <a:ext cx="2880360" cy="329184"/>
          </a:xfrm>
          <a:prstGeom prst="rect">
            <a:avLst/>
          </a:prstGeom>
          <a:noFill/>
          <a:ln>
            <a:noFill/>
          </a:ln>
        </p:spPr>
        <p:txBody>
          <a:bodyPr lIns="0" tIns="0" rIns="0" bIns="0">
            <a:noAutofit/>
          </a:bodyPr>
          <a:lstStyle/>
          <a:p>
            <a:r>
              <a:rPr lang="en-US" sz="1700" b="1">
                <a:solidFill>
                  <a:srgbClr val="183B56"/>
                </a:solidFill>
                <a:latin typeface="Arial"/>
                <a:ea typeface="Arial"/>
              </a:rPr>
              <a:t>Nanhu · KMH</a:t>
            </a:r>
          </a:p>
        </p:txBody>
      </p:sp>
      <p:sp>
        <p:nvSpPr>
          <p:cNvPr id="100015" name="S10.Workloads.Program2"/>
          <p:cNvSpPr txBox="1"/>
          <p:nvPr/>
        </p:nvSpPr>
        <p:spPr>
          <a:xfrm>
            <a:off x="8275320" y="2240280"/>
            <a:ext cx="3465576" cy="329184"/>
          </a:xfrm>
          <a:prstGeom prst="rect">
            <a:avLst/>
          </a:prstGeom>
          <a:noFill/>
          <a:ln>
            <a:noFill/>
          </a:ln>
        </p:spPr>
        <p:txBody>
          <a:bodyPr lIns="0" tIns="0" rIns="0" bIns="0">
            <a:noAutofit/>
          </a:bodyPr>
          <a:lstStyle/>
          <a:p>
            <a:r>
              <a:rPr lang="en-US" sz="1700">
                <a:solidFill>
                  <a:srgbClr val="20354A"/>
                </a:solidFill>
                <a:latin typeface="Arial"/>
                <a:ea typeface="Arial"/>
              </a:rPr>
              <a:t>OpenSBI and Linux</a:t>
            </a:r>
          </a:p>
        </p:txBody>
      </p:sp>
      <p:sp>
        <p:nvSpPr>
          <p:cNvPr id="100016" name="S10.Workloads.Rule2"/>
          <p:cNvSpPr/>
          <p:nvPr/>
        </p:nvSpPr>
        <p:spPr>
          <a:xfrm>
            <a:off x="4983480" y="2606040"/>
            <a:ext cx="6894576" cy="7315"/>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pic>
        <p:nvPicPr>
          <p:cNvPr id="100017" name="S10.Linux.Console" descr="KMH physical dual-FPGA Linux shell: cat /proc/cpuinfo, processor and hart 0, ICT xiangshan, uname -a and Linux 6.12.0+ riscv64."/>
          <p:cNvPicPr>
            <a:picLocks noChangeAspect="1"/>
          </p:cNvPicPr>
          <p:nvPr/>
        </p:nvPicPr>
        <p:blipFill>
          <a:blip xmlns:r="http://schemas.openxmlformats.org/officeDocument/2006/relationships" r:embed="Rca55a36f0ba74fe1"/>
          <a:srcRect l="0" t="61168" r="0" b="2161"/>
          <a:stretch>
            <a:fillRect/>
          </a:stretch>
        </p:blipFill>
        <p:spPr>
          <a:xfrm>
            <a:off x="4983480" y="2779776"/>
            <a:ext cx="6894576" cy="2304902"/>
          </a:xfrm>
          <a:prstGeom prst="rect">
            <a:avLst/>
          </a:prstGeom>
        </p:spPr>
      </p:pic>
      <p:sp>
        <p:nvSpPr>
          <p:cNvPr id="100018" name="S10.Linux.Caption"/>
          <p:cNvSpPr txBox="1"/>
          <p:nvPr/>
        </p:nvSpPr>
        <p:spPr>
          <a:xfrm>
            <a:off x="4983480" y="5294376"/>
            <a:ext cx="6894576" cy="512064"/>
          </a:xfrm>
          <a:prstGeom prst="rect">
            <a:avLst/>
          </a:prstGeom>
          <a:noFill/>
          <a:ln>
            <a:noFill/>
          </a:ln>
        </p:spPr>
        <p:txBody>
          <a:bodyPr lIns="0" tIns="0" rIns="0" bIns="0">
            <a:noAutofit/>
          </a:bodyPr>
          <a:lstStyle/>
          <a:p>
            <a:r>
              <a:rPr lang="en-US" sz="1800">
                <a:solidFill>
                  <a:srgbClr val="183B56"/>
                </a:solidFill>
                <a:latin typeface="Arial"/>
                <a:ea typeface="Arial"/>
              </a:rPr>
              <a:t>KMH boots Linux and supports interactive shell commands.</a:t>
            </a:r>
          </a:p>
        </p:txBody>
      </p:sp>
      <p:sp>
        <p:nvSpPr>
          <p:cNvPr id="100019" name="S10.Metrics.Panel"/>
          <p:cNvSpPr/>
          <p:nvPr/>
        </p:nvSpPr>
        <p:spPr>
          <a:xfrm>
            <a:off x="320040" y="5879592"/>
            <a:ext cx="11558016" cy="603504"/>
          </a:xfrm>
          <a:prstGeom prst="rect">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20" name="S10.Metrics.Label0"/>
          <p:cNvSpPr txBox="1"/>
          <p:nvPr/>
        </p:nvSpPr>
        <p:spPr>
          <a:xfrm>
            <a:off x="484632" y="5925312"/>
            <a:ext cx="3520440" cy="201168"/>
          </a:xfrm>
          <a:prstGeom prst="rect">
            <a:avLst/>
          </a:prstGeom>
          <a:noFill/>
          <a:ln>
            <a:noFill/>
          </a:ln>
        </p:spPr>
        <p:txBody>
          <a:bodyPr lIns="0" tIns="0" rIns="0" bIns="0">
            <a:noAutofit/>
          </a:bodyPr>
          <a:lstStyle/>
          <a:p>
            <a:r>
              <a:rPr lang="en-US" sz="1200">
                <a:solidFill>
                  <a:srgbClr val="183B56"/>
                </a:solidFill>
                <a:latin typeface="Arial"/>
                <a:ea typeface="Arial"/>
              </a:rPr>
              <a:t>PicoRV32 · Effective Rate</a:t>
            </a:r>
          </a:p>
        </p:txBody>
      </p:sp>
      <p:sp>
        <p:nvSpPr>
          <p:cNvPr id="100021" name="S10.Metrics.Value0"/>
          <p:cNvSpPr txBox="1"/>
          <p:nvPr/>
        </p:nvSpPr>
        <p:spPr>
          <a:xfrm>
            <a:off x="484632" y="6144768"/>
            <a:ext cx="3520440" cy="338328"/>
          </a:xfrm>
          <a:prstGeom prst="rect">
            <a:avLst/>
          </a:prstGeom>
          <a:noFill/>
          <a:ln>
            <a:noFill/>
          </a:ln>
        </p:spPr>
        <p:txBody>
          <a:bodyPr lIns="0" tIns="0" rIns="0" bIns="0">
            <a:noAutofit/>
          </a:bodyPr>
          <a:lstStyle/>
          <a:p>
            <a:r>
              <a:rPr lang="en-US" sz="2200" b="1">
                <a:solidFill>
                  <a:srgbClr val="008C95"/>
                </a:solidFill>
                <a:latin typeface="Arial"/>
                <a:ea typeface="Arial"/>
              </a:rPr>
              <a:t>≈0.327 MHz</a:t>
            </a:r>
          </a:p>
        </p:txBody>
      </p:sp>
      <p:sp>
        <p:nvSpPr>
          <p:cNvPr id="100022" name="S10.Metrics.Divider1"/>
          <p:cNvSpPr/>
          <p:nvPr/>
        </p:nvSpPr>
        <p:spPr>
          <a:xfrm>
            <a:off x="4172712" y="5952744"/>
            <a:ext cx="8230" cy="457200"/>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23" name="S10.Metrics.Label1"/>
          <p:cNvSpPr txBox="1"/>
          <p:nvPr/>
        </p:nvSpPr>
        <p:spPr>
          <a:xfrm>
            <a:off x="4337304" y="5925312"/>
            <a:ext cx="3520440" cy="201168"/>
          </a:xfrm>
          <a:prstGeom prst="rect">
            <a:avLst/>
          </a:prstGeom>
          <a:noFill/>
          <a:ln>
            <a:noFill/>
          </a:ln>
        </p:spPr>
        <p:txBody>
          <a:bodyPr lIns="0" tIns="0" rIns="0" bIns="0">
            <a:noAutofit/>
          </a:bodyPr>
          <a:lstStyle/>
          <a:p>
            <a:r>
              <a:rPr lang="en-US" sz="1200">
                <a:solidFill>
                  <a:srgbClr val="183B56"/>
                </a:solidFill>
                <a:latin typeface="Arial"/>
                <a:ea typeface="Arial"/>
              </a:rPr>
              <a:t>KMH · Effective Rate</a:t>
            </a:r>
          </a:p>
        </p:txBody>
      </p:sp>
      <p:sp>
        <p:nvSpPr>
          <p:cNvPr id="100024" name="S10.Metrics.Value1"/>
          <p:cNvSpPr txBox="1"/>
          <p:nvPr/>
        </p:nvSpPr>
        <p:spPr>
          <a:xfrm>
            <a:off x="4337304" y="6144768"/>
            <a:ext cx="3520440" cy="338328"/>
          </a:xfrm>
          <a:prstGeom prst="rect">
            <a:avLst/>
          </a:prstGeom>
          <a:noFill/>
          <a:ln>
            <a:noFill/>
          </a:ln>
        </p:spPr>
        <p:txBody>
          <a:bodyPr lIns="0" tIns="0" rIns="0" bIns="0">
            <a:noAutofit/>
          </a:bodyPr>
          <a:lstStyle/>
          <a:p>
            <a:r>
              <a:rPr lang="en-US" sz="2200" b="1">
                <a:solidFill>
                  <a:srgbClr val="008C95"/>
                </a:solidFill>
                <a:latin typeface="Arial"/>
                <a:ea typeface="Arial"/>
              </a:rPr>
              <a:t>≈0.322 MHz</a:t>
            </a:r>
          </a:p>
        </p:txBody>
      </p:sp>
      <p:sp>
        <p:nvSpPr>
          <p:cNvPr id="100025" name="S10.Metrics.Divider2"/>
          <p:cNvSpPr/>
          <p:nvPr/>
        </p:nvSpPr>
        <p:spPr>
          <a:xfrm>
            <a:off x="8025384" y="5952744"/>
            <a:ext cx="8230" cy="457200"/>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26" name="S10.Metrics.Label2"/>
          <p:cNvSpPr txBox="1"/>
          <p:nvPr/>
        </p:nvSpPr>
        <p:spPr>
          <a:xfrm>
            <a:off x="8189976" y="5925312"/>
            <a:ext cx="3520440" cy="201168"/>
          </a:xfrm>
          <a:prstGeom prst="rect">
            <a:avLst/>
          </a:prstGeom>
          <a:noFill/>
          <a:ln>
            <a:noFill/>
          </a:ln>
        </p:spPr>
        <p:txBody>
          <a:bodyPr lIns="0" tIns="0" rIns="0" bIns="0">
            <a:noAutofit/>
          </a:bodyPr>
          <a:lstStyle/>
          <a:p>
            <a:r>
              <a:rPr lang="en-US" sz="1200">
                <a:solidFill>
                  <a:srgbClr val="183B56"/>
                </a:solidFill>
                <a:latin typeface="Arial"/>
                <a:ea typeface="Arial"/>
              </a:rPr>
              <a:t>Global Pause · Host-Observed</a:t>
            </a:r>
          </a:p>
        </p:txBody>
      </p:sp>
      <p:sp>
        <p:nvSpPr>
          <p:cNvPr id="100027" name="S10.Metrics.Value2"/>
          <p:cNvSpPr txBox="1"/>
          <p:nvPr/>
        </p:nvSpPr>
        <p:spPr>
          <a:xfrm>
            <a:off x="8189976" y="6144768"/>
            <a:ext cx="3520440" cy="338328"/>
          </a:xfrm>
          <a:prstGeom prst="rect">
            <a:avLst/>
          </a:prstGeom>
          <a:noFill/>
          <a:ln>
            <a:noFill/>
          </a:ln>
        </p:spPr>
        <p:txBody>
          <a:bodyPr lIns="0" tIns="0" rIns="0" bIns="0">
            <a:noAutofit/>
          </a:bodyPr>
          <a:lstStyle/>
          <a:p>
            <a:r>
              <a:rPr lang="en-US" sz="2200" b="1">
                <a:solidFill>
                  <a:srgbClr val="DF973E"/>
                </a:solidFill>
                <a:latin typeface="Arial"/>
                <a:ea typeface="Arial"/>
              </a:rPr>
              <a:t>≈0.8–1.1 ms</a:t>
            </a:r>
          </a:p>
        </p:txBody>
      </p:sp>
      <p:sp>
        <p:nvSpPr>
          <p:cNvPr id="100028" name="S10.Metrics.Scope"/>
          <p:cNvSpPr txBox="1"/>
          <p:nvPr/>
        </p:nvSpPr>
        <p:spPr>
          <a:xfrm>
            <a:off x="320040" y="6565392"/>
            <a:ext cx="10881360" cy="201168"/>
          </a:xfrm>
          <a:prstGeom prst="rect">
            <a:avLst/>
          </a:prstGeom>
          <a:noFill/>
          <a:ln>
            <a:noFill/>
          </a:ln>
        </p:spPr>
        <p:txBody>
          <a:bodyPr lIns="0" tIns="0" rIns="0" bIns="0">
            <a:noAutofit/>
          </a:bodyPr>
          <a:lstStyle/>
          <a:p>
            <a:r>
              <a:rPr lang="en-US" sz="1000">
                <a:solidFill>
                  <a:srgbClr val="607184"/>
                </a:solidFill>
                <a:latin typeface="Arial"/>
                <a:ea typeface="Arial"/>
              </a:rPr>
              <a:t>Measured run windows; KMH measured before checkpoint save. Pause latency includes Host control.</a:t>
            </a:r>
          </a:p>
        </p:txBody>
      </p:sp>
      <p:sp>
        <p:nvSpPr>
          <p:cNvPr id="100029" name="S10.PageNumber"/>
          <p:cNvSpPr txBox="1"/>
          <p:nvPr/>
        </p:nvSpPr>
        <p:spPr>
          <a:xfrm>
            <a:off x="11548872" y="6629400"/>
            <a:ext cx="310896" cy="182880"/>
          </a:xfrm>
          <a:prstGeom prst="rect">
            <a:avLst/>
          </a:prstGeom>
          <a:noFill/>
          <a:ln>
            <a:noFill/>
          </a:ln>
        </p:spPr>
        <p:txBody>
          <a:bodyPr lIns="0" tIns="0" rIns="0" bIns="0">
            <a:noAutofit/>
          </a:bodyPr>
          <a:lstStyle/>
          <a:p>
            <a:pPr algn="r"/>
            <a:r>
              <a:rPr lang="en-US" sz="1000">
                <a:solidFill>
                  <a:srgbClr val="607184"/>
                </a:solidFill>
                <a:latin typeface="Arial"/>
                <a:ea typeface="Arial"/>
              </a:rPr>
              <a:t>10</a:t>
            </a:r>
          </a:p>
        </p:txBody>
      </p:sp>
    </p:spTree>
  </p:cSld>
</p:sld>
</file>

<file path=ppt/slides/merged13_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11.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200" b="1">
                <a:solidFill>
                  <a:srgbClr val="183B56"/>
                </a:solidFill>
                <a:latin typeface="Arial"/>
                <a:ea typeface="Arial"/>
              </a:rPr>
              <a:t>Future Work</a:t>
            </a:r>
          </a:p>
        </p:txBody>
      </p:sp>
      <p:sp>
        <p:nvSpPr>
          <p:cNvPr id="100000" name="S11.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11.Item1.Number"/>
          <p:cNvSpPr txBox="1"/>
          <p:nvPr/>
        </p:nvSpPr>
        <p:spPr>
          <a:xfrm>
            <a:off x="438912" y="1243584"/>
            <a:ext cx="347472" cy="438912"/>
          </a:xfrm>
          <a:prstGeom prst="rect">
            <a:avLst/>
          </a:prstGeom>
          <a:noFill/>
          <a:ln>
            <a:noFill/>
          </a:ln>
        </p:spPr>
        <p:txBody>
          <a:bodyPr lIns="0" tIns="0" rIns="0" bIns="0">
            <a:noAutofit/>
          </a:bodyPr>
          <a:lstStyle/>
          <a:p>
            <a:r>
              <a:rPr lang="en-US" sz="2200" b="1">
                <a:solidFill>
                  <a:srgbClr val="008C95"/>
                </a:solidFill>
                <a:latin typeface="Arial"/>
                <a:ea typeface="Arial"/>
              </a:rPr>
              <a:t>1.</a:t>
            </a:r>
          </a:p>
        </p:txBody>
      </p:sp>
      <p:sp>
        <p:nvSpPr>
          <p:cNvPr id="100002" name="S11.Item1.Heading"/>
          <p:cNvSpPr txBox="1"/>
          <p:nvPr/>
        </p:nvSpPr>
        <p:spPr>
          <a:xfrm>
            <a:off x="914400" y="1243584"/>
            <a:ext cx="4005072" cy="841248"/>
          </a:xfrm>
          <a:prstGeom prst="rect">
            <a:avLst/>
          </a:prstGeom>
          <a:noFill/>
          <a:ln>
            <a:noFill/>
          </a:ln>
        </p:spPr>
        <p:txBody>
          <a:bodyPr lIns="0" tIns="0" rIns="0" bIns="0">
            <a:noAutofit/>
          </a:bodyPr>
          <a:lstStyle/>
          <a:p>
            <a:r>
              <a:rPr lang="en-US" sz="2200" b="1">
                <a:solidFill>
                  <a:srgbClr val="183B56"/>
                </a:solidFill>
                <a:latin typeface="Arial"/>
                <a:ea typeface="Arial"/>
              </a:rPr>
              <a:t>Fabric Deployment &amp;</a:t>
            </a:r>
          </a:p>
          <a:p>
            <a:r>
              <a:rPr lang="en-US" sz="2200" b="1">
                <a:solidFill>
                  <a:srgbClr val="183B56"/>
                </a:solidFill>
                <a:latin typeface="Arial"/>
                <a:ea typeface="Arial"/>
              </a:rPr>
              <a:t>Four-FPGA Integration</a:t>
            </a:r>
          </a:p>
        </p:txBody>
      </p:sp>
      <p:sp>
        <p:nvSpPr>
          <p:cNvPr id="100003" name="S11.Item1.Body"/>
          <p:cNvSpPr txBox="1"/>
          <p:nvPr/>
        </p:nvSpPr>
        <p:spPr>
          <a:xfrm>
            <a:off x="5074920" y="1225296"/>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20354A"/>
                </a:solidFill>
                <a:latin typeface="Arial"/>
                <a:ea typeface="Arial"/>
              </a:rPr>
              <a:t>Complete board-level Fabric integration and validation.</a:t>
            </a:r>
          </a:p>
          <a:p>
            <a:pPr>
              <a:lnSpc>
                <a:spcPct val="125000"/>
              </a:lnSpc>
              <a:spcBef>
                <a:spcPts val="0"/>
              </a:spcBef>
              <a:spcAft>
                <a:spcPts val="0"/>
              </a:spcAft>
            </a:pPr>
            <a:r>
              <a:rPr lang="en-US" sz="1800">
                <a:solidFill>
                  <a:srgbClr val="20354A"/>
                </a:solidFill>
                <a:latin typeface="Arial"/>
                <a:ea typeface="Arial"/>
              </a:rPr>
              <a:t>Build a four-FPGA emulation system.</a:t>
            </a:r>
          </a:p>
        </p:txBody>
      </p:sp>
      <p:sp>
        <p:nvSpPr>
          <p:cNvPr id="100004" name="S11.Item1.Separator"/>
          <p:cNvSpPr/>
          <p:nvPr/>
        </p:nvSpPr>
        <p:spPr>
          <a:xfrm>
            <a:off x="438912" y="2441448"/>
            <a:ext cx="11439144" cy="10973"/>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sp>
        <p:nvSpPr>
          <p:cNvPr id="100005" name="S11.Item2.Number"/>
          <p:cNvSpPr txBox="1"/>
          <p:nvPr/>
        </p:nvSpPr>
        <p:spPr>
          <a:xfrm>
            <a:off x="438912" y="2706624"/>
            <a:ext cx="347472" cy="438912"/>
          </a:xfrm>
          <a:prstGeom prst="rect">
            <a:avLst/>
          </a:prstGeom>
          <a:noFill/>
          <a:ln>
            <a:noFill/>
          </a:ln>
        </p:spPr>
        <p:txBody>
          <a:bodyPr lIns="0" tIns="0" rIns="0" bIns="0">
            <a:noAutofit/>
          </a:bodyPr>
          <a:lstStyle/>
          <a:p>
            <a:r>
              <a:rPr lang="en-US" sz="2200" b="1">
                <a:solidFill>
                  <a:srgbClr val="008C95"/>
                </a:solidFill>
                <a:latin typeface="Arial"/>
                <a:ea typeface="Arial"/>
              </a:rPr>
              <a:t>2.</a:t>
            </a:r>
          </a:p>
        </p:txBody>
      </p:sp>
      <p:sp>
        <p:nvSpPr>
          <p:cNvPr id="100006" name="S11.Item2.Heading"/>
          <p:cNvSpPr txBox="1"/>
          <p:nvPr/>
        </p:nvSpPr>
        <p:spPr>
          <a:xfrm>
            <a:off x="914400" y="2706624"/>
            <a:ext cx="4005072" cy="841248"/>
          </a:xfrm>
          <a:prstGeom prst="rect">
            <a:avLst/>
          </a:prstGeom>
          <a:noFill/>
          <a:ln>
            <a:noFill/>
          </a:ln>
        </p:spPr>
        <p:txBody>
          <a:bodyPr lIns="0" tIns="0" rIns="0" bIns="0">
            <a:noAutofit/>
          </a:bodyPr>
          <a:lstStyle/>
          <a:p>
            <a:r>
              <a:rPr lang="en-US" sz="2200" b="1">
                <a:solidFill>
                  <a:srgbClr val="183B56"/>
                </a:solidFill>
                <a:latin typeface="Arial"/>
                <a:ea typeface="Arial"/>
              </a:rPr>
              <a:t>Performance Analysis &amp;</a:t>
            </a:r>
          </a:p>
          <a:p>
            <a:r>
              <a:rPr lang="en-US" sz="2200" b="1">
                <a:solidFill>
                  <a:srgbClr val="183B56"/>
                </a:solidFill>
                <a:latin typeface="Arial"/>
                <a:ea typeface="Arial"/>
              </a:rPr>
              <a:t>Runtime Optimization</a:t>
            </a:r>
          </a:p>
        </p:txBody>
      </p:sp>
      <p:sp>
        <p:nvSpPr>
          <p:cNvPr id="100007" name="S11.Item2.Body"/>
          <p:cNvSpPr txBox="1"/>
          <p:nvPr/>
        </p:nvSpPr>
        <p:spPr>
          <a:xfrm>
            <a:off x="5074920" y="2688336"/>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20354A"/>
                </a:solidFill>
                <a:latin typeface="Arial"/>
                <a:ea typeface="Arial"/>
              </a:rPr>
              <a:t>Analyze execution and communication overheads on four FPGAs.</a:t>
            </a:r>
          </a:p>
          <a:p>
            <a:pPr>
              <a:lnSpc>
                <a:spcPct val="125000"/>
              </a:lnSpc>
              <a:spcBef>
                <a:spcPts val="0"/>
              </a:spcBef>
              <a:spcAft>
                <a:spcPts val="0"/>
              </a:spcAft>
            </a:pPr>
            <a:r>
              <a:rPr lang="en-US" sz="1800">
                <a:solidFill>
                  <a:srgbClr val="20354A"/>
                </a:solidFill>
                <a:latin typeface="Arial"/>
                <a:ea typeface="Arial"/>
              </a:rPr>
              <a:t>Reduce polling overhead with interrupt-driven control.</a:t>
            </a:r>
          </a:p>
        </p:txBody>
      </p:sp>
      <p:sp>
        <p:nvSpPr>
          <p:cNvPr id="100008" name="S11.Item2.Separator"/>
          <p:cNvSpPr/>
          <p:nvPr/>
        </p:nvSpPr>
        <p:spPr>
          <a:xfrm>
            <a:off x="438912" y="3904488"/>
            <a:ext cx="11439144" cy="10973"/>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sp>
        <p:nvSpPr>
          <p:cNvPr id="100009" name="S11.Item3.Number"/>
          <p:cNvSpPr txBox="1"/>
          <p:nvPr/>
        </p:nvSpPr>
        <p:spPr>
          <a:xfrm>
            <a:off x="438912" y="4169664"/>
            <a:ext cx="347472" cy="438912"/>
          </a:xfrm>
          <a:prstGeom prst="rect">
            <a:avLst/>
          </a:prstGeom>
          <a:noFill/>
          <a:ln>
            <a:noFill/>
          </a:ln>
        </p:spPr>
        <p:txBody>
          <a:bodyPr lIns="0" tIns="0" rIns="0" bIns="0">
            <a:noAutofit/>
          </a:bodyPr>
          <a:lstStyle/>
          <a:p>
            <a:r>
              <a:rPr lang="en-US" sz="2200" b="1">
                <a:solidFill>
                  <a:srgbClr val="008C95"/>
                </a:solidFill>
                <a:latin typeface="Arial"/>
                <a:ea typeface="Arial"/>
              </a:rPr>
              <a:t>3.</a:t>
            </a:r>
          </a:p>
        </p:txBody>
      </p:sp>
      <p:sp>
        <p:nvSpPr>
          <p:cNvPr id="100010" name="S11.Item3.Heading"/>
          <p:cNvSpPr txBox="1"/>
          <p:nvPr/>
        </p:nvSpPr>
        <p:spPr>
          <a:xfrm>
            <a:off x="914400" y="4169664"/>
            <a:ext cx="4005072" cy="841248"/>
          </a:xfrm>
          <a:prstGeom prst="rect">
            <a:avLst/>
          </a:prstGeom>
          <a:noFill/>
          <a:ln>
            <a:noFill/>
          </a:ln>
        </p:spPr>
        <p:txBody>
          <a:bodyPr lIns="0" tIns="0" rIns="0" bIns="0">
            <a:noAutofit/>
          </a:bodyPr>
          <a:lstStyle/>
          <a:p>
            <a:r>
              <a:rPr lang="en-US" sz="2200" b="1">
                <a:solidFill>
                  <a:srgbClr val="183B56"/>
                </a:solidFill>
                <a:latin typeface="Arial"/>
                <a:ea typeface="Arial"/>
              </a:rPr>
              <a:t>Partitioning Optimization</a:t>
            </a:r>
          </a:p>
          <a:p>
            <a:r>
              <a:rPr lang="en-US" sz="2200" b="1">
                <a:solidFill>
                  <a:srgbClr val="183B56"/>
                </a:solidFill>
                <a:latin typeface="Arial"/>
                <a:ea typeface="Arial"/>
              </a:rPr>
              <a:t>&amp; Evaluation</a:t>
            </a:r>
          </a:p>
        </p:txBody>
      </p:sp>
      <p:sp>
        <p:nvSpPr>
          <p:cNvPr id="100011" name="S11.Item3.Body"/>
          <p:cNvSpPr txBox="1"/>
          <p:nvPr/>
        </p:nvSpPr>
        <p:spPr>
          <a:xfrm>
            <a:off x="5074920" y="4151376"/>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20354A"/>
                </a:solidFill>
                <a:latin typeface="Arial"/>
                <a:ea typeface="Arial"/>
              </a:rPr>
              <a:t>Improve multi-resource balance and reduce communication cost.</a:t>
            </a:r>
          </a:p>
          <a:p>
            <a:pPr>
              <a:lnSpc>
                <a:spcPct val="125000"/>
              </a:lnSpc>
              <a:spcBef>
                <a:spcPts val="0"/>
              </a:spcBef>
              <a:spcAft>
                <a:spcPts val="0"/>
              </a:spcAft>
            </a:pPr>
            <a:r>
              <a:rPr lang="en-US" sz="1800">
                <a:solidFill>
                  <a:srgbClr val="20354A"/>
                </a:solidFill>
                <a:latin typeface="Arial"/>
                <a:ea typeface="Arial"/>
              </a:rPr>
              <a:t>Evaluate the impact on emulation performance.</a:t>
            </a:r>
          </a:p>
        </p:txBody>
      </p:sp>
      <p:sp>
        <p:nvSpPr>
          <p:cNvPr id="100012" name="S11.Item3.Separator"/>
          <p:cNvSpPr/>
          <p:nvPr/>
        </p:nvSpPr>
        <p:spPr>
          <a:xfrm>
            <a:off x="438912" y="5367528"/>
            <a:ext cx="11439144" cy="10973"/>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sp>
        <p:nvSpPr>
          <p:cNvPr id="100013" name="S11.Item4.Number"/>
          <p:cNvSpPr txBox="1"/>
          <p:nvPr/>
        </p:nvSpPr>
        <p:spPr>
          <a:xfrm>
            <a:off x="438912" y="5650992"/>
            <a:ext cx="347472" cy="438912"/>
          </a:xfrm>
          <a:prstGeom prst="rect">
            <a:avLst/>
          </a:prstGeom>
          <a:noFill/>
          <a:ln>
            <a:noFill/>
          </a:ln>
        </p:spPr>
        <p:txBody>
          <a:bodyPr lIns="0" tIns="0" rIns="0" bIns="0">
            <a:noAutofit/>
          </a:bodyPr>
          <a:lstStyle/>
          <a:p>
            <a:r>
              <a:rPr lang="en-US" sz="2200" b="1">
                <a:solidFill>
                  <a:srgbClr val="008C95"/>
                </a:solidFill>
                <a:latin typeface="Arial"/>
                <a:ea typeface="Arial"/>
              </a:rPr>
              <a:t>4.</a:t>
            </a:r>
          </a:p>
        </p:txBody>
      </p:sp>
      <p:sp>
        <p:nvSpPr>
          <p:cNvPr id="100014" name="S11.Item4.Heading"/>
          <p:cNvSpPr txBox="1"/>
          <p:nvPr/>
        </p:nvSpPr>
        <p:spPr>
          <a:xfrm>
            <a:off x="914400" y="5650992"/>
            <a:ext cx="4005072" cy="841248"/>
          </a:xfrm>
          <a:prstGeom prst="rect">
            <a:avLst/>
          </a:prstGeom>
          <a:noFill/>
          <a:ln>
            <a:noFill/>
          </a:ln>
        </p:spPr>
        <p:txBody>
          <a:bodyPr lIns="0" tIns="0" rIns="0" bIns="0">
            <a:noAutofit/>
          </a:bodyPr>
          <a:lstStyle/>
          <a:p>
            <a:r>
              <a:rPr lang="en-US" sz="2200" b="1">
                <a:solidFill>
                  <a:srgbClr val="183B56"/>
                </a:solidFill>
                <a:latin typeface="Arial"/>
                <a:ea typeface="Arial"/>
              </a:rPr>
              <a:t>Thesis Writing</a:t>
            </a:r>
          </a:p>
        </p:txBody>
      </p:sp>
      <p:sp>
        <p:nvSpPr>
          <p:cNvPr id="100015" name="S11.Item4.Body"/>
          <p:cNvSpPr txBox="1"/>
          <p:nvPr/>
        </p:nvSpPr>
        <p:spPr>
          <a:xfrm>
            <a:off x="5074920" y="5632704"/>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20354A"/>
                </a:solidFill>
                <a:latin typeface="Arial"/>
                <a:ea typeface="Arial"/>
              </a:rPr>
              <a:t>Consolidate experimental results and complete the thesis.</a:t>
            </a:r>
          </a:p>
        </p:txBody>
      </p:sp>
      <p:sp>
        <p:nvSpPr>
          <p:cNvPr id="100016" name="S11.PageNumber"/>
          <p:cNvSpPr txBox="1"/>
          <p:nvPr/>
        </p:nvSpPr>
        <p:spPr>
          <a:xfrm>
            <a:off x="11548872" y="6629400"/>
            <a:ext cx="310896" cy="182880"/>
          </a:xfrm>
          <a:prstGeom prst="rect">
            <a:avLst/>
          </a:prstGeom>
          <a:noFill/>
          <a:ln>
            <a:noFill/>
          </a:ln>
        </p:spPr>
        <p:txBody>
          <a:bodyPr lIns="0" tIns="0" rIns="0" bIns="0">
            <a:noAutofit/>
          </a:bodyPr>
          <a:lstStyle/>
          <a:p>
            <a:pPr algn="r"/>
            <a:r>
              <a:rPr lang="en-US" sz="1000">
                <a:solidFill>
                  <a:srgbClr val="607184"/>
                </a:solidFill>
                <a:latin typeface="Arial"/>
                <a:ea typeface="Arial"/>
              </a:rPr>
              <a:t>11</a:t>
            </a:r>
          </a:p>
        </p:txBody>
      </p:sp>
    </p:spTree>
  </p:cSld>
</p:sld>
</file>

<file path=ppt/theme/merged01_theme1.xml><?xml version="1.0" encoding="utf-8"?>
<a:theme xmlns:thm15="http://schemas.microsoft.com/office/thememl/2012/main" xmlns:a="http://schemas.openxmlformats.org/drawingml/2006/main" name="Office 主题​​">
  <a:themeElements>
    <a:clrScheme name="Office">
      <a:dk1>
        <a:srgbClr val="20354A"/>
      </a:dk1>
      <a:lt1>
        <a:srgbClr val="FFFFFF"/>
      </a:lt1>
      <a:dk2>
        <a:srgbClr val="183B56"/>
      </a:dk2>
      <a:lt2>
        <a:srgbClr val="F1F5F8"/>
      </a:lt2>
      <a:accent1>
        <a:srgbClr val="183B56"/>
      </a:accent1>
      <a:accent2>
        <a:srgbClr val="008C95"/>
      </a:accent2>
      <a:accent3>
        <a:srgbClr val="DF973E"/>
      </a:accent3>
      <a:accent4>
        <a:srgbClr val="EAF4F3"/>
      </a:accent4>
      <a:accent5>
        <a:srgbClr val="607184"/>
      </a:accent5>
      <a:accent6>
        <a:srgbClr val="F1F5F8"/>
      </a:accent6>
      <a:hlink>
        <a:srgbClr val="008C95"/>
      </a:hlink>
      <a:folHlink>
        <a:srgbClr val="183B56"/>
      </a:folHlink>
    </a:clrScheme>
    <a:fontScheme name="Times New Roman-Arial">
      <a:majorFont>
        <a:latin typeface="Arial"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9AD3241-154C-2740-9C14-854ABD765FCE}" vid="{BE3E2D31-4906-1341-844B-962DFDAE7921}"/>
    </a:ext>
  </a:extLst>
</a:theme>
</file>

<file path=ppt/theme/merged01_theme2.xml><?xml version="1.0" encoding="utf-8"?>
<a:theme xmlns:thm15="http://schemas.microsoft.com/office/thememl/2012/main"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merged02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3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4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5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6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7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8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09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10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1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12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merged13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