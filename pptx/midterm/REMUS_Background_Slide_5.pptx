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5328290f3ee4ad6" /><Relationship Type="http://schemas.openxmlformats.org/package/2006/relationships/metadata/core-properties" Target="/docProps/core.xml" Id="R54c450b3d53a4cd1" /><Relationship Type="http://schemas.openxmlformats.org/officeDocument/2006/relationships/extended-properties" Target="/docProps/app.xml" Id="R950076ed208041c8" /><Relationship Type="http://schemas.openxmlformats.org/officeDocument/2006/relationships/custom-properties" Target="/docProps/custom.xml" Id="Rfd469886f24c498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aa3df616ff8d45e0"/>
  </p:notesMasterIdLst>
  <p:sldIdLst>
    <p:sldId id="256" r:id="Rd9c9303ef08b4088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9c9303ef08b4088" /><Relationship Type="http://schemas.openxmlformats.org/officeDocument/2006/relationships/notesMaster" Target="/ppt/notesMasters/notesMaster1.xml" Id="Raa3df616ff8d45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8203a9145ad4a0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e7aeded0ffe4882" /><Relationship Type="http://schemas.openxmlformats.org/officeDocument/2006/relationships/slide" Target="/ppt/slides/slide1.xml" Id="Rc8cd224a92c944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Overall target workflow and mid-term work areas, based on the user's updated five-stage reference figure/presentation-reference/midterm-background-05.png. The State Capture, Restore &amp; Replay card deliberately uses the same blue/teal styling as preceding stages, not yellow. Fabric routing and runtime control are folded into deployment; cycle execution and global pause form one stage. The four FPGA icons are an illustrative topology, not evidence of a tested four-FPGA system. State capture aggregates local states into a global snapshot; the final icon depicts the intended path from snapshot through restoration and replay to waveform reconstruction, not direct conversion of a dump into a waveform. Restore/replay is planned for further development and validation according to src/midterm/outline.md sections 1.1 and 1.7. Scope bullets are work areas, not completed-feature checks; implementation and experiment evidence belong on the later progress slides.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ee464a4b247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b028cd705941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0f1ad9c3b4e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566942f3b4f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84a25575b1432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3a911f81b3a8427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8a403de9a4986" /><Relationship Type="http://schemas.openxmlformats.org/officeDocument/2006/relationships/image" Target="/ppt/media/image.png" Id="Rfb26429d0c184e71" /><Relationship Type="http://schemas.openxmlformats.org/officeDocument/2006/relationships/image" Target="/ppt/media/image2.png" Id="R1984d9b74c864437" /><Relationship Type="http://schemas.openxmlformats.org/officeDocument/2006/relationships/image" Target="/ppt/media/image3.png" Id="Rbe03d3b990204695" /><Relationship Type="http://schemas.openxmlformats.org/officeDocument/2006/relationships/image" Target="/ppt/media/image4.png" Id="Rb40915c6070843e2" /><Relationship Type="http://schemas.openxmlformats.org/officeDocument/2006/relationships/image" Target="/ppt/media/image5.png" Id="R13ce9b7ec8d2457e" /><Relationship Type="http://schemas.openxmlformats.org/officeDocument/2006/relationships/image" Target="/ppt/media/image6.png" Id="R9cf2c4b472494a92" /><Relationship Type="http://schemas.openxmlformats.org/officeDocument/2006/relationships/image" Target="/ppt/media/image7.png" Id="R0eca468e47bb443e" /><Relationship Type="http://schemas.openxmlformats.org/officeDocument/2006/relationships/image" Target="/ppt/media/image8.png" Id="R52e1c8c028144cc1" /><Relationship Type="http://schemas.openxmlformats.org/officeDocument/2006/relationships/notesSlide" Target="/ppt/notesSlides/notesSlide1.xml" Id="R5daedea80b09449f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5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3000" b="1">
                <a:solidFill>
                  <a:srgbClr val="183B56"/>
                </a:solidFill>
                <a:latin typeface="Arial"/>
              </a:rPr>
              <a:t>REMUS: Overall Workflow and Mid-Term Scope</a:t>
            </a:r>
          </a:p>
        </p:txBody>
      </p:sp>
      <p:sp>
        <p:nvSpPr>
          <p:cNvPr id="100000" name="S05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5.Workflow.Heading"/>
          <p:cNvSpPr txBox="1"/>
          <p:nvPr/>
        </p:nvSpPr>
        <p:spPr>
          <a:xfrm>
            <a:off x="320040" y="960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Overall Workflow</a:t>
            </a:r>
          </a:p>
        </p:txBody>
      </p:sp>
      <p:sp>
        <p:nvSpPr>
          <p:cNvPr id="100002" name="S05.RTL.Panel"/>
          <p:cNvSpPr/>
          <p:nvPr/>
        </p:nvSpPr>
        <p:spPr>
          <a:xfrm>
            <a:off x="320040" y="1463040"/>
            <a:ext cx="1938528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3" name="S05.RTL.Number"/>
          <p:cNvSpPr/>
          <p:nvPr/>
        </p:nvSpPr>
        <p:spPr>
          <a:xfrm>
            <a:off x="1074420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4" name="S05.RTL.Title"/>
          <p:cNvSpPr txBox="1"/>
          <p:nvPr/>
        </p:nvSpPr>
        <p:spPr>
          <a:xfrm>
            <a:off x="411480" y="2139696"/>
            <a:ext cx="1755648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RTL Design</a:t>
            </a:r>
          </a:p>
        </p:txBody>
      </p:sp>
      <p:sp>
        <p:nvSpPr>
          <p:cNvPr id="100005" name="S05.Partition.Panel"/>
          <p:cNvSpPr/>
          <p:nvPr/>
        </p:nvSpPr>
        <p:spPr>
          <a:xfrm>
            <a:off x="2450592" y="1463040"/>
            <a:ext cx="2057400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5.Partition.Number"/>
          <p:cNvSpPr/>
          <p:nvPr/>
        </p:nvSpPr>
        <p:spPr>
          <a:xfrm>
            <a:off x="3264408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07" name="S05.Partition.Title"/>
          <p:cNvSpPr txBox="1"/>
          <p:nvPr/>
        </p:nvSpPr>
        <p:spPr>
          <a:xfrm>
            <a:off x="2542032" y="2139696"/>
            <a:ext cx="1874520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Automated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Partitioning</a:t>
            </a:r>
          </a:p>
        </p:txBody>
      </p:sp>
      <p:sp>
        <p:nvSpPr>
          <p:cNvPr id="100008" name="S05.Deploy.Panel"/>
          <p:cNvSpPr/>
          <p:nvPr/>
        </p:nvSpPr>
        <p:spPr>
          <a:xfrm>
            <a:off x="4700016" y="1463040"/>
            <a:ext cx="2157984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5.Deploy.Number"/>
          <p:cNvSpPr/>
          <p:nvPr/>
        </p:nvSpPr>
        <p:spPr>
          <a:xfrm>
            <a:off x="5564124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10" name="S05.Deploy.Title"/>
          <p:cNvSpPr txBox="1"/>
          <p:nvPr/>
        </p:nvSpPr>
        <p:spPr>
          <a:xfrm>
            <a:off x="4791456" y="2139696"/>
            <a:ext cx="1975104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Multi-FPGA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Deployment</a:t>
            </a:r>
          </a:p>
        </p:txBody>
      </p:sp>
      <p:sp>
        <p:nvSpPr>
          <p:cNvPr id="100011" name="S05.Deploy.Caption"/>
          <p:cNvSpPr txBox="1"/>
          <p:nvPr/>
        </p:nvSpPr>
        <p:spPr>
          <a:xfrm>
            <a:off x="4791456" y="2798064"/>
            <a:ext cx="1975104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Fabric routing &amp;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runtime control</a:t>
            </a:r>
          </a:p>
        </p:txBody>
      </p:sp>
      <p:sp>
        <p:nvSpPr>
          <p:cNvPr id="100012" name="S05.Cycle.Panel"/>
          <p:cNvSpPr/>
          <p:nvPr/>
        </p:nvSpPr>
        <p:spPr>
          <a:xfrm>
            <a:off x="7050024" y="1463040"/>
            <a:ext cx="2606040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3" name="S05.Cycle.Number"/>
          <p:cNvSpPr/>
          <p:nvPr/>
        </p:nvSpPr>
        <p:spPr>
          <a:xfrm>
            <a:off x="8138160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014" name="S05.Cycle.Title"/>
          <p:cNvSpPr txBox="1"/>
          <p:nvPr/>
        </p:nvSpPr>
        <p:spPr>
          <a:xfrm>
            <a:off x="7141464" y="2139696"/>
            <a:ext cx="2423160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Cycle-Accurate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Execution &amp; Global Pause</a:t>
            </a:r>
          </a:p>
        </p:txBody>
      </p:sp>
      <p:sp>
        <p:nvSpPr>
          <p:cNvPr id="100015" name="S05.Cycle.Caption"/>
          <p:cNvSpPr txBox="1"/>
          <p:nvPr/>
        </p:nvSpPr>
        <p:spPr>
          <a:xfrm>
            <a:off x="7141464" y="2980944"/>
            <a:ext cx="2423160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Synchronized DUT cycles</a:t>
            </a:r>
          </a:p>
        </p:txBody>
      </p:sp>
      <p:sp>
        <p:nvSpPr>
          <p:cNvPr id="100016" name="S05.State.Panel"/>
          <p:cNvSpPr/>
          <p:nvPr/>
        </p:nvSpPr>
        <p:spPr>
          <a:xfrm>
            <a:off x="9848088" y="1463040"/>
            <a:ext cx="2029968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5.State.Number"/>
          <p:cNvSpPr/>
          <p:nvPr/>
        </p:nvSpPr>
        <p:spPr>
          <a:xfrm>
            <a:off x="10648188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00018" name="S05.State.Title"/>
          <p:cNvSpPr txBox="1"/>
          <p:nvPr/>
        </p:nvSpPr>
        <p:spPr>
          <a:xfrm>
            <a:off x="9939528" y="2139696"/>
            <a:ext cx="1847088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State Capture,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Restore &amp; Replay</a:t>
            </a:r>
          </a:p>
        </p:txBody>
      </p:sp>
      <p:sp>
        <p:nvSpPr>
          <p:cNvPr id="100019" name="S05.State.Caption"/>
          <p:cNvSpPr txBox="1"/>
          <p:nvPr/>
        </p:nvSpPr>
        <p:spPr>
          <a:xfrm>
            <a:off x="9939528" y="2798064"/>
            <a:ext cx="1847088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Debug and replay support</a:t>
            </a:r>
          </a:p>
        </p:txBody>
      </p:sp>
      <p:sp>
        <p:nvSpPr>
          <p:cNvPr id="100020" name="S05.Workflow.Arrow1"/>
          <p:cNvSpPr/>
          <p:nvPr/>
        </p:nvSpPr>
        <p:spPr>
          <a:xfrm>
            <a:off x="2176272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1" name="S05.Workflow.Arrow2"/>
          <p:cNvSpPr/>
          <p:nvPr/>
        </p:nvSpPr>
        <p:spPr>
          <a:xfrm>
            <a:off x="4425696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2" name="S05.Workflow.Arrow3"/>
          <p:cNvSpPr/>
          <p:nvPr/>
        </p:nvSpPr>
        <p:spPr>
          <a:xfrm>
            <a:off x="6775704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5.Workflow.Arrow4"/>
          <p:cNvSpPr/>
          <p:nvPr/>
        </p:nvSpPr>
        <p:spPr>
          <a:xfrm>
            <a:off x="9573768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24" name="S05.RTL.Document" descr="Hierarchical RTL design"/>
          <p:cNvPicPr>
            <a:picLocks noChangeAspect="1"/>
          </p:cNvPicPr>
          <p:nvPr/>
        </p:nvPicPr>
        <p:blipFill>
          <a:blip xmlns:r="http://schemas.openxmlformats.org/officeDocument/2006/relationships" r:embed="Rfb26429d0c184e71"/>
          <a:srcRect l="22807" t="18580" r="21929" b="14354"/>
          <a:stretch>
            <a:fillRect/>
          </a:stretch>
        </p:blipFill>
        <p:spPr>
          <a:xfrm>
            <a:off x="781812" y="2980944"/>
            <a:ext cx="1014984" cy="1231748"/>
          </a:xfrm>
          <a:prstGeom prst="rect">
            <a:avLst/>
          </a:prstGeom>
        </p:spPr>
      </p:pic>
      <p:pic>
        <p:nvPicPr>
          <p:cNvPr id="100025" name="S05.Partition.Circuit" descr="Circuit partitioning"/>
          <p:cNvPicPr>
            <a:picLocks noChangeAspect="1"/>
          </p:cNvPicPr>
          <p:nvPr/>
        </p:nvPicPr>
        <p:blipFill>
          <a:blip xmlns:r="http://schemas.openxmlformats.org/officeDocument/2006/relationships" r:embed="R1984d9b74c864437"/>
          <a:srcRect l="15869" t="18660" r="15789" b="18660"/>
          <a:stretch>
            <a:fillRect/>
          </a:stretch>
        </p:blipFill>
        <p:spPr>
          <a:xfrm>
            <a:off x="2816352" y="3014907"/>
            <a:ext cx="1325880" cy="1216035"/>
          </a:xfrm>
          <a:prstGeom prst="rect">
            <a:avLst/>
          </a:prstGeom>
        </p:spPr>
      </p:pic>
      <p:pic>
        <p:nvPicPr>
          <p:cNvPr id="100026" name="S05.Deploy.TL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be03d3b990204695"/>
          <a:srcRect l="21371" t="23684" r="21291" b="20972"/>
          <a:stretch>
            <a:fillRect/>
          </a:stretch>
        </p:blipFill>
        <p:spPr>
          <a:xfrm>
            <a:off x="5138928" y="3381381"/>
            <a:ext cx="457200" cy="441303"/>
          </a:xfrm>
          <a:prstGeom prst="rect">
            <a:avLst/>
          </a:prstGeom>
        </p:spPr>
      </p:pic>
      <p:pic>
        <p:nvPicPr>
          <p:cNvPr id="100027" name="S05.Deploy.TR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b40915c6070843e2"/>
          <a:srcRect l="21371" t="23684" r="21291" b="20972"/>
          <a:stretch>
            <a:fillRect/>
          </a:stretch>
        </p:blipFill>
        <p:spPr>
          <a:xfrm>
            <a:off x="5961888" y="3381381"/>
            <a:ext cx="457200" cy="441303"/>
          </a:xfrm>
          <a:prstGeom prst="rect">
            <a:avLst/>
          </a:prstGeom>
        </p:spPr>
      </p:pic>
      <p:pic>
        <p:nvPicPr>
          <p:cNvPr id="100028" name="S05.Deploy.BL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13ce9b7ec8d2457e"/>
          <a:srcRect l="21371" t="23684" r="21291" b="20972"/>
          <a:stretch>
            <a:fillRect/>
          </a:stretch>
        </p:blipFill>
        <p:spPr>
          <a:xfrm>
            <a:off x="5138928" y="3893445"/>
            <a:ext cx="457200" cy="441303"/>
          </a:xfrm>
          <a:prstGeom prst="rect">
            <a:avLst/>
          </a:prstGeom>
        </p:spPr>
      </p:pic>
      <p:pic>
        <p:nvPicPr>
          <p:cNvPr id="100029" name="S05.Deploy.BR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9cf2c4b472494a92"/>
          <a:srcRect l="21371" t="23684" r="21291" b="20972"/>
          <a:stretch>
            <a:fillRect/>
          </a:stretch>
        </p:blipFill>
        <p:spPr>
          <a:xfrm>
            <a:off x="5961888" y="3893445"/>
            <a:ext cx="457200" cy="441303"/>
          </a:xfrm>
          <a:prstGeom prst="rect">
            <a:avLst/>
          </a:prstGeom>
        </p:spPr>
      </p:pic>
      <p:cxnSp>
        <p:nvCxnSpPr>
          <p:cNvPr id="100030" name="S05.Deploy.LinkTLTR"/>
          <p:cNvCxnSpPr>
            <a:stCxn id="100026" idx="0"/>
            <a:endCxn id="100027" idx="0"/>
          </p:cNvCxnSpPr>
          <p:nvPr/>
        </p:nvCxnSpPr>
        <p:spPr>
          <a:xfrm>
            <a:off x="5596128" y="3602032"/>
            <a:ext cx="365760" cy="0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cxnSp>
        <p:nvCxnSpPr>
          <p:cNvPr id="100031" name="S05.Deploy.LinkBLBR"/>
          <p:cNvCxnSpPr>
            <a:stCxn id="100028" idx="0"/>
            <a:endCxn id="100029" idx="0"/>
          </p:cNvCxnSpPr>
          <p:nvPr/>
        </p:nvCxnSpPr>
        <p:spPr>
          <a:xfrm>
            <a:off x="5596128" y="4114096"/>
            <a:ext cx="365760" cy="0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cxnSp>
        <p:nvCxnSpPr>
          <p:cNvPr id="100032" name="S05.Deploy.LinkTLBL"/>
          <p:cNvCxnSpPr>
            <a:stCxn id="100026" idx="0"/>
            <a:endCxn id="100028" idx="0"/>
          </p:cNvCxnSpPr>
          <p:nvPr/>
        </p:nvCxnSpPr>
        <p:spPr>
          <a:xfrm>
            <a:off x="5367528" y="3822684"/>
            <a:ext cx="0" cy="70761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cxnSp>
        <p:nvCxnSpPr>
          <p:cNvPr id="100033" name="S05.Deploy.LinkTRBR"/>
          <p:cNvCxnSpPr>
            <a:stCxn id="100027" idx="0"/>
            <a:endCxn id="100029" idx="0"/>
          </p:cNvCxnSpPr>
          <p:nvPr/>
        </p:nvCxnSpPr>
        <p:spPr>
          <a:xfrm>
            <a:off x="6190488" y="3822684"/>
            <a:ext cx="0" cy="70761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sp>
        <p:nvSpPr>
          <p:cNvPr id="100034" name="S05.Deploy.Scope"/>
          <p:cNvSpPr txBox="1"/>
          <p:nvPr/>
        </p:nvSpPr>
        <p:spPr>
          <a:xfrm>
            <a:off x="4809744" y="4334256"/>
            <a:ext cx="1938528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100" b="0">
                <a:solidFill>
                  <a:srgbClr val="607184"/>
                </a:solidFill>
                <a:latin typeface="Arial"/>
                <a:ea typeface="Arial"/>
              </a:defRPr>
            </a:pPr>
            <a:endParaRPr sz="1100"/>
          </a:p>
        </p:txBody>
      </p:sp>
      <p:sp>
        <p:nvSpPr>
          <p:cNvPr id="100035" name="S05.Cycle.Icon0"/>
          <p:cNvSpPr/>
          <p:nvPr/>
        </p:nvSpPr>
        <p:spPr>
          <a:xfrm>
            <a:off x="7324344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cxnSp>
        <p:nvCxnSpPr>
          <p:cNvPr id="100036" name="S05.Cycle.Clock0.Minute"/>
          <p:cNvCxnSpPr/>
          <p:nvPr/>
        </p:nvCxnSpPr>
        <p:spPr>
          <a:xfrm>
            <a:off x="7543800" y="3534156"/>
            <a:ext cx="0" cy="141732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37" name="S05.Cycle.Clock0.Hour"/>
          <p:cNvCxnSpPr/>
          <p:nvPr/>
        </p:nvCxnSpPr>
        <p:spPr>
          <a:xfrm>
            <a:off x="7543800" y="3675888"/>
            <a:ext cx="96012" cy="82296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38" name="S05.Cycle.SyncDrop0"/>
          <p:cNvCxnSpPr/>
          <p:nvPr/>
        </p:nvCxnSpPr>
        <p:spPr>
          <a:xfrm>
            <a:off x="7543800" y="3968496"/>
            <a:ext cx="0" cy="164592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sp>
        <p:nvSpPr>
          <p:cNvPr id="100039" name="S05.Cycle.Icon1"/>
          <p:cNvSpPr/>
          <p:nvPr/>
        </p:nvSpPr>
        <p:spPr>
          <a:xfrm>
            <a:off x="8133588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08C95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5.Cycle.PauseBar0"/>
          <p:cNvSpPr/>
          <p:nvPr/>
        </p:nvSpPr>
        <p:spPr>
          <a:xfrm>
            <a:off x="8268919" y="3570732"/>
            <a:ext cx="52121" cy="210312"/>
          </a:xfrm>
          <a:prstGeom prst="round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1" name="S05.Cycle.PauseBar1"/>
          <p:cNvSpPr/>
          <p:nvPr/>
        </p:nvSpPr>
        <p:spPr>
          <a:xfrm>
            <a:off x="8385048" y="3570732"/>
            <a:ext cx="52121" cy="210312"/>
          </a:xfrm>
          <a:prstGeom prst="round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cxnSp>
        <p:nvCxnSpPr>
          <p:cNvPr id="100042" name="S05.Cycle.SyncDrop1"/>
          <p:cNvCxnSpPr/>
          <p:nvPr/>
        </p:nvCxnSpPr>
        <p:spPr>
          <a:xfrm>
            <a:off x="8353044" y="3968496"/>
            <a:ext cx="0" cy="164592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sp>
        <p:nvSpPr>
          <p:cNvPr id="100043" name="S05.Cycle.Icon2"/>
          <p:cNvSpPr/>
          <p:nvPr/>
        </p:nvSpPr>
        <p:spPr>
          <a:xfrm>
            <a:off x="8942832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cxnSp>
        <p:nvCxnSpPr>
          <p:cNvPr id="100044" name="S05.Cycle.Clock2.Minute"/>
          <p:cNvCxnSpPr/>
          <p:nvPr/>
        </p:nvCxnSpPr>
        <p:spPr>
          <a:xfrm>
            <a:off x="9162288" y="3534156"/>
            <a:ext cx="0" cy="141732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45" name="S05.Cycle.Clock2.Hour"/>
          <p:cNvCxnSpPr/>
          <p:nvPr/>
        </p:nvCxnSpPr>
        <p:spPr>
          <a:xfrm>
            <a:off x="9162288" y="3675888"/>
            <a:ext cx="96012" cy="82296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46" name="S05.Cycle.SyncDrop2"/>
          <p:cNvCxnSpPr/>
          <p:nvPr/>
        </p:nvCxnSpPr>
        <p:spPr>
          <a:xfrm>
            <a:off x="9162288" y="3968496"/>
            <a:ext cx="0" cy="164592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cxnSp>
        <p:nvCxnSpPr>
          <p:cNvPr id="100047" name="S05.Cycle.Progress0"/>
          <p:cNvCxnSpPr>
            <a:stCxn id="100035" idx="0"/>
            <a:endCxn id="100039" idx="0"/>
          </p:cNvCxnSpPr>
          <p:nvPr/>
        </p:nvCxnSpPr>
        <p:spPr>
          <a:xfrm>
            <a:off x="7763256" y="3675888"/>
            <a:ext cx="370332" cy="0"/>
          </a:xfrm>
          <a:prstGeom prst="straightConnector1">
            <a:avLst/>
          </a:prstGeom>
          <a:ln w="20320">
            <a:solidFill>
              <a:srgbClr val="183B56"/>
            </a:solidFill>
            <a:tailEnd type="triangle"/>
          </a:ln>
        </p:spPr>
      </p:cxnSp>
      <p:cxnSp>
        <p:nvCxnSpPr>
          <p:cNvPr id="100048" name="S05.Cycle.Progress1"/>
          <p:cNvCxnSpPr>
            <a:stCxn id="100039" idx="0"/>
            <a:endCxn id="100043" idx="0"/>
          </p:cNvCxnSpPr>
          <p:nvPr/>
        </p:nvCxnSpPr>
        <p:spPr>
          <a:xfrm>
            <a:off x="8572500" y="3675888"/>
            <a:ext cx="370332" cy="0"/>
          </a:xfrm>
          <a:prstGeom prst="straightConnector1">
            <a:avLst/>
          </a:prstGeom>
          <a:ln w="20320">
            <a:solidFill>
              <a:srgbClr val="183B56"/>
            </a:solidFill>
            <a:tailEnd type="triangle"/>
          </a:ln>
        </p:spPr>
      </p:cxnSp>
      <p:cxnSp>
        <p:nvCxnSpPr>
          <p:cNvPr id="100049" name="S05.Cycle.SyncBus"/>
          <p:cNvCxnSpPr/>
          <p:nvPr/>
        </p:nvCxnSpPr>
        <p:spPr>
          <a:xfrm>
            <a:off x="7543800" y="4133088"/>
            <a:ext cx="1618488" cy="0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pic>
        <p:nvPicPr>
          <p:cNvPr id="100051" name="S05.State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0eca468e47bb443e"/>
          <a:srcRect l="16746" t="16427" r="16746" b="11961"/>
          <a:stretch>
            <a:fillRect/>
          </a:stretch>
        </p:blipFill>
        <p:spPr>
          <a:xfrm>
            <a:off x="10076688" y="3566038"/>
            <a:ext cx="484632" cy="521822"/>
          </a:xfrm>
          <a:prstGeom prst="rect">
            <a:avLst/>
          </a:prstGeom>
        </p:spPr>
      </p:pic>
      <p:pic>
        <p:nvPicPr>
          <p:cNvPr id="100052" name="S05.State.Waveform" descr="Waveform monitor"/>
          <p:cNvPicPr>
            <a:picLocks noChangeAspect="1"/>
          </p:cNvPicPr>
          <p:nvPr/>
        </p:nvPicPr>
        <p:blipFill>
          <a:blip xmlns:r="http://schemas.openxmlformats.org/officeDocument/2006/relationships" r:embed="R52e1c8c028144cc1"/>
          <a:srcRect l="12280" t="25518" r="12200" b="19936"/>
          <a:stretch>
            <a:fillRect/>
          </a:stretch>
        </p:blipFill>
        <p:spPr>
          <a:xfrm>
            <a:off x="10972800" y="3575182"/>
            <a:ext cx="704088" cy="508549"/>
          </a:xfrm>
          <a:prstGeom prst="rect">
            <a:avLst/>
          </a:prstGeom>
        </p:spPr>
      </p:pic>
      <p:sp>
        <p:nvSpPr>
          <p:cNvPr id="100053" name="S05.State.ToReplay"/>
          <p:cNvSpPr/>
          <p:nvPr/>
        </p:nvSpPr>
        <p:spPr>
          <a:xfrm>
            <a:off x="10616184" y="3748918"/>
            <a:ext cx="292608" cy="164592"/>
          </a:xfrm>
          <a:prstGeom prst="rightArrow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4" name="S05.State.Scope"/>
          <p:cNvSpPr txBox="1"/>
          <p:nvPr/>
        </p:nvSpPr>
        <p:spPr>
          <a:xfrm>
            <a:off x="9939528" y="4050792"/>
            <a:ext cx="1847088" cy="3931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200" b="0">
                <a:solidFill>
                  <a:srgbClr val="607184"/>
                </a:solidFill>
                <a:latin typeface="Arial"/>
                <a:ea typeface="Arial"/>
              </a:defRPr>
            </a:pPr>
            <a:endParaRPr sz="1200"/>
          </a:p>
        </p:txBody>
      </p:sp>
      <p:sp>
        <p:nvSpPr>
          <p:cNvPr id="100055" name="S05.Scope.Heading"/>
          <p:cNvSpPr txBox="1"/>
          <p:nvPr/>
        </p:nvSpPr>
        <p:spPr>
          <a:xfrm>
            <a:off x="320040" y="4837176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Mid-Term Scope</a:t>
            </a:r>
          </a:p>
        </p:txBody>
      </p:sp>
      <p:sp>
        <p:nvSpPr>
          <p:cNvPr id="100056" name="S05.Scope.Rule"/>
          <p:cNvSpPr/>
          <p:nvPr/>
        </p:nvSpPr>
        <p:spPr>
          <a:xfrm>
            <a:off x="3246120" y="5038344"/>
            <a:ext cx="8631936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7" name="S05.Scope.Panel"/>
          <p:cNvSpPr/>
          <p:nvPr/>
        </p:nvSpPr>
        <p:spPr>
          <a:xfrm>
            <a:off x="320039" y="5367528"/>
            <a:ext cx="11665915" cy="1097280"/>
          </a:xfrm>
          <a:prstGeom prst="roundRect">
            <a:avLst>
              <a:gd name="adj" fmla="val 8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5.Scope.Bullet0"/>
          <p:cNvSpPr/>
          <p:nvPr/>
        </p:nvSpPr>
        <p:spPr>
          <a:xfrm>
            <a:off x="475488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9" name="S05.Scope.Title0"/>
          <p:cNvSpPr txBox="1"/>
          <p:nvPr/>
        </p:nvSpPr>
        <p:spPr>
          <a:xfrm>
            <a:off x="658368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Partitioning</a:t>
            </a:r>
          </a:p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framework</a:t>
            </a:r>
          </a:p>
        </p:txBody>
      </p:sp>
      <p:sp>
        <p:nvSpPr>
          <p:cNvPr id="100060" name="S05.Scope.Text0"/>
          <p:cNvSpPr txBox="1"/>
          <p:nvPr/>
        </p:nvSpPr>
        <p:spPr>
          <a:xfrm>
            <a:off x="658368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RTL partitioning</a:t>
            </a:r>
          </a:p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and mapping</a:t>
            </a:r>
          </a:p>
        </p:txBody>
      </p:sp>
      <p:sp>
        <p:nvSpPr>
          <p:cNvPr id="100061" name="S05.Scope.Divider1"/>
          <p:cNvSpPr/>
          <p:nvPr/>
        </p:nvSpPr>
        <p:spPr>
          <a:xfrm>
            <a:off x="2631643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2" name="S05.Scope.Bullet1"/>
          <p:cNvSpPr/>
          <p:nvPr/>
        </p:nvSpPr>
        <p:spPr>
          <a:xfrm>
            <a:off x="2787091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3" name="S05.Scope.Title1"/>
          <p:cNvSpPr txBox="1"/>
          <p:nvPr/>
        </p:nvSpPr>
        <p:spPr>
          <a:xfrm>
            <a:off x="2969971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Cycle-accurate</a:t>
            </a:r>
          </a:p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execution</a:t>
            </a:r>
          </a:p>
        </p:txBody>
      </p:sp>
      <p:sp>
        <p:nvSpPr>
          <p:cNvPr id="100064" name="S05.Scope.Text1"/>
          <p:cNvSpPr txBox="1"/>
          <p:nvPr/>
        </p:nvSpPr>
        <p:spPr>
          <a:xfrm>
            <a:off x="2969971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Multi-FPGA runs</a:t>
            </a:r>
          </a:p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with cycle control</a:t>
            </a:r>
          </a:p>
        </p:txBody>
      </p:sp>
      <p:sp>
        <p:nvSpPr>
          <p:cNvPr id="100065" name="S05.Scope.Divider2"/>
          <p:cNvSpPr/>
          <p:nvPr/>
        </p:nvSpPr>
        <p:spPr>
          <a:xfrm>
            <a:off x="4943246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6" name="S05.Scope.Bullet2"/>
          <p:cNvSpPr/>
          <p:nvPr/>
        </p:nvSpPr>
        <p:spPr>
          <a:xfrm>
            <a:off x="5098694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7" name="S05.Scope.Title2"/>
          <p:cNvSpPr txBox="1"/>
          <p:nvPr/>
        </p:nvSpPr>
        <p:spPr>
          <a:xfrm>
            <a:off x="5281574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Global pause &amp;</a:t>
            </a:r>
          </a:p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state dump</a:t>
            </a:r>
          </a:p>
        </p:txBody>
      </p:sp>
      <p:sp>
        <p:nvSpPr>
          <p:cNvPr id="100068" name="S05.Scope.Text2"/>
          <p:cNvSpPr txBox="1"/>
          <p:nvPr/>
        </p:nvSpPr>
        <p:spPr>
          <a:xfrm>
            <a:off x="5281574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Global snapshots</a:t>
            </a:r>
          </a:p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across FPGAs</a:t>
            </a:r>
          </a:p>
        </p:txBody>
      </p:sp>
      <p:sp>
        <p:nvSpPr>
          <p:cNvPr id="100069" name="S05.Scope.Divider3"/>
          <p:cNvSpPr/>
          <p:nvPr/>
        </p:nvSpPr>
        <p:spPr>
          <a:xfrm>
            <a:off x="7254850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0" name="S05.Scope.Bullet3"/>
          <p:cNvSpPr/>
          <p:nvPr/>
        </p:nvSpPr>
        <p:spPr>
          <a:xfrm>
            <a:off x="7410298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1" name="S05.Scope.Title3"/>
          <p:cNvSpPr txBox="1"/>
          <p:nvPr/>
        </p:nvSpPr>
        <p:spPr>
          <a:xfrm>
            <a:off x="7593178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Restore &amp; replay</a:t>
            </a:r>
          </a:p>
        </p:txBody>
      </p:sp>
      <p:sp>
        <p:nvSpPr>
          <p:cNvPr id="100072" name="S05.Scope.Text3"/>
          <p:cNvSpPr txBox="1"/>
          <p:nvPr/>
        </p:nvSpPr>
        <p:spPr>
          <a:xfrm>
            <a:off x="7593178" y="5841187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300" b="0">
                <a:solidFill>
                  <a:srgbClr val="20354A"/>
                </a:solidFill>
                <a:latin typeface="Arial"/>
                <a:ea typeface="Arial"/>
              </a:defRPr>
            </a:pPr>
            <a:r>
              <a:rPr sz="1300">
                <a:solidFill>
                  <a:srgbClr val="20354A"/>
                </a:solidFill>
                <a:latin typeface="Arial"/>
              </a:rPr>
              <a:t>Planned: restore &amp; replay checks</a:t>
            </a:r>
          </a:p>
        </p:txBody>
      </p:sp>
      <p:sp>
        <p:nvSpPr>
          <p:cNvPr id="100073" name="S05.Scope.Divider4"/>
          <p:cNvSpPr/>
          <p:nvPr/>
        </p:nvSpPr>
        <p:spPr>
          <a:xfrm>
            <a:off x="9566453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4" name="S05.Scope.Bullet4"/>
          <p:cNvSpPr/>
          <p:nvPr/>
        </p:nvSpPr>
        <p:spPr>
          <a:xfrm>
            <a:off x="9721901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5" name="S05.Scope.Title4"/>
          <p:cNvSpPr txBox="1"/>
          <p:nvPr/>
        </p:nvSpPr>
        <p:spPr>
          <a:xfrm>
            <a:off x="9904781" y="5504688"/>
            <a:ext cx="2081174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5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1500" b="1">
                <a:solidFill>
                  <a:srgbClr val="183B56"/>
                </a:solidFill>
                <a:latin typeface="Arial"/>
              </a:rPr>
              <a:t>Dual-FPGA prototype</a:t>
            </a:r>
          </a:p>
        </p:txBody>
      </p:sp>
      <p:sp>
        <p:nvSpPr>
          <p:cNvPr id="100076" name="S05.Scope.Text4"/>
          <p:cNvSpPr txBox="1"/>
          <p:nvPr/>
        </p:nvSpPr>
        <p:spPr>
          <a:xfrm>
            <a:off x="9904781" y="5881421"/>
            <a:ext cx="1865376" cy="5102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300" b="0">
                <a:solidFill>
                  <a:srgbClr val="20354A"/>
                </a:solidFill>
                <a:latin typeface="Arial"/>
                <a:ea typeface="Arial"/>
              </a:defRPr>
            </a:pPr>
            <a:r>
              <a:rPr sz="1300">
                <a:solidFill>
                  <a:srgbClr val="20354A"/>
                </a:solidFill>
                <a:latin typeface="Arial"/>
              </a:rPr>
              <a:t>Initial evaluation and system tests</a:t>
            </a:r>
          </a:p>
        </p:txBody>
      </p:sp>
      <p:sp>
        <p:nvSpPr>
          <p:cNvPr id="100077" name="S05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2026-10-29T08:01:04.0000000Z</dcterms:created>
  <lastModifiedBy>OfficeCLI</lastModifiedBy>
  <dcterms:modified xsi:type="dcterms:W3CDTF">2026-10-29T08:01:04.5626409Z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2026-10-29T08:01:09Z</vt:lpwstr>
  </op:property>
</op:Properties>
</file>