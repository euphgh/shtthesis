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65771a4ecd349c5" /><Relationship Type="http://schemas.openxmlformats.org/package/2006/relationships/metadata/core-properties" Target="/docProps/core.xml" Id="Ra0d592043105452c" /><Relationship Type="http://schemas.openxmlformats.org/officeDocument/2006/relationships/extended-properties" Target="/docProps/app.xml" Id="R686f278b6e094162" /><Relationship Type="http://schemas.openxmlformats.org/officeDocument/2006/relationships/custom-properties" Target="/docProps/custom.xml" Id="R7dd54095cced428f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65e6452f62aa4bb8"/>
  </p:notesMasterIdLst>
  <p:sldIdLst>
    <p:sldId id="256" r:id="Redfcb01452bf4c9f"/>
  </p:sldIdLst>
  <p:sldSz cx="12192000" cy="6858000" type="screen16x9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edfcb01452bf4c9f" /><Relationship Type="http://schemas.openxmlformats.org/officeDocument/2006/relationships/notesMaster" Target="/ppt/notesMasters/notesMaster1.xml" Id="R65e6452f62aa4b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ff687c3ea354302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83B56"/>
      </a:accent1>
      <a:accent2>
        <a:srgbClr val="008C95"/>
      </a:accent2>
      <a:accent3>
        <a:srgbClr val="DF973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261e842cf934823" /><Relationship Type="http://schemas.openxmlformats.org/officeDocument/2006/relationships/slide" Target="/ppt/slides/slide1.xml" Id="R6c4bb1fdcff24d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Overall target workflow and mid-term work areas, based on the user's updated five-stage reference figure/presentation-reference/midterm-background-05.png. The State Capture, Restore &amp; Replay card deliberately uses the same blue/teal styling as preceding stages, not yellow. Fabric routing and runtime control are folded into deployment; cycle execution and global pause form one stage. The four FPGA icons are an illustrative topology, not evidence of a tested four-FPGA system. State capture aggregates local states into a global snapshot; the final icon depicts the intended path from snapshot through restoration and replay to waveform reconstruction, not direct conversion of a dump into a waveform. Restore/replay is planned for further development and validation according to src/midterm/outline.md sections 1.1 and 1.7. Scope bullets are work areas, not completed-feature checks; implementation and experiment evidence belong on the later progress slides.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cb3a0719c3488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732c8977ab423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337d171df1481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2108b9f73647c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ca8ecd36594b68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c7c793352fcf44f5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7bbf018b349ef" /><Relationship Type="http://schemas.openxmlformats.org/officeDocument/2006/relationships/image" Target="/ppt/media/image.png" Id="R929d8bcde8104f70" /><Relationship Type="http://schemas.openxmlformats.org/officeDocument/2006/relationships/image" Target="/ppt/media/image2.png" Id="Rbb0253b9b05647a8" /><Relationship Type="http://schemas.openxmlformats.org/officeDocument/2006/relationships/image" Target="/ppt/media/image3.png" Id="Rf9e3b060ec4342c1" /><Relationship Type="http://schemas.openxmlformats.org/officeDocument/2006/relationships/image" Target="/ppt/media/image4.png" Id="R9553ab4c34234c1f" /><Relationship Type="http://schemas.openxmlformats.org/officeDocument/2006/relationships/image" Target="/ppt/media/image5.png" Id="Rab07b5aec71a431a" /><Relationship Type="http://schemas.openxmlformats.org/officeDocument/2006/relationships/image" Target="/ppt/media/image6.png" Id="R23690e0597184e7d" /><Relationship Type="http://schemas.openxmlformats.org/officeDocument/2006/relationships/image" Target="/ppt/media/image7.png" Id="R15b59909bb2f4cf0" /><Relationship Type="http://schemas.openxmlformats.org/officeDocument/2006/relationships/image" Target="/ppt/media/image8.png" Id="R3f82a8408d3a48b7" /><Relationship Type="http://schemas.openxmlformats.org/officeDocument/2006/relationships/notesSlide" Target="/ppt/notesSlides/notesSlide1.xml" Id="R9960368aea994e4c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05.Title"/>
          <p:cNvSpPr/>
          <p:nvPr>
            <p:ph type="title"/>
          </p:nvPr>
        </p:nvSpPr>
        <p:spPr>
          <a:xfrm xmlns:a="http://schemas.openxmlformats.org/drawingml/2006/main">
            <a:off x="320040" y="128016"/>
            <a:ext cx="11558016" cy="493776"/>
          </a:xfrm>
          <a:noFill/>
          <a:ln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83B56"/>
                </a:solidFill>
                <a:latin typeface="Arial"/>
                <a:ea typeface="Arial"/>
              </a:rPr>
              <a:t>5. REMUS: Overall Workflow and Mid-Term Scope</a:t>
            </a:r>
          </a:p>
        </p:txBody>
      </p:sp>
      <p:sp>
        <p:nvSpPr>
          <p:cNvPr id="100000" name="S05.TitleRule"/>
          <p:cNvSpPr/>
          <p:nvPr/>
        </p:nvSpPr>
        <p:spPr>
          <a:xfrm>
            <a:off x="320040" y="713232"/>
            <a:ext cx="11558016" cy="2540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01" name="S05.Workflow.Heading"/>
          <p:cNvSpPr txBox="1"/>
          <p:nvPr/>
        </p:nvSpPr>
        <p:spPr>
          <a:xfrm>
            <a:off x="320040" y="9601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2200" b="1">
                <a:solidFill>
                  <a:srgbClr val="183B56"/>
                </a:solidFill>
                <a:latin typeface="Arial"/>
                <a:ea typeface="Arial"/>
              </a:rPr>
              <a:t>Overall Workflow</a:t>
            </a:r>
          </a:p>
        </p:txBody>
      </p:sp>
      <p:sp>
        <p:nvSpPr>
          <p:cNvPr id="100002" name="S05.RTL.Panel"/>
          <p:cNvSpPr/>
          <p:nvPr/>
        </p:nvSpPr>
        <p:spPr>
          <a:xfrm>
            <a:off x="320040" y="1463040"/>
            <a:ext cx="1938528" cy="3072384"/>
          </a:xfrm>
          <a:prstGeom prst="roundRect">
            <a:avLst>
              <a:gd name="adj" fmla="val 6500"/>
            </a:avLst>
          </a:prstGeom>
          <a:solidFill>
            <a:srgbClr val="EAF4F3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03" name="S05.RTL.Number"/>
          <p:cNvSpPr/>
          <p:nvPr/>
        </p:nvSpPr>
        <p:spPr>
          <a:xfrm>
            <a:off x="1074420" y="1609344"/>
            <a:ext cx="429768" cy="429768"/>
          </a:xfrm>
          <a:prstGeom prst="ellipse">
            <a:avLst/>
          </a:prstGeom>
          <a:solidFill>
            <a:srgbClr val="008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2100" b="1">
                <a:solidFill>
                  <a:srgbClr val="FFFFF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100004" name="S05.RTL.Title"/>
          <p:cNvSpPr txBox="1"/>
          <p:nvPr/>
        </p:nvSpPr>
        <p:spPr>
          <a:xfrm>
            <a:off x="411480" y="2139696"/>
            <a:ext cx="1755648" cy="7680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/>
            <a:r>
              <a:rPr lang="en-US" sz="1700" b="1">
                <a:solidFill>
                  <a:srgbClr val="183B56"/>
                </a:solidFill>
                <a:latin typeface="Arial"/>
                <a:ea typeface="Arial"/>
              </a:rPr>
              <a:t>RTL Design</a:t>
            </a:r>
          </a:p>
        </p:txBody>
      </p:sp>
      <p:sp>
        <p:nvSpPr>
          <p:cNvPr id="100005" name="S05.Partition.Panel"/>
          <p:cNvSpPr/>
          <p:nvPr/>
        </p:nvSpPr>
        <p:spPr>
          <a:xfrm>
            <a:off x="2450592" y="1463040"/>
            <a:ext cx="2057400" cy="3072384"/>
          </a:xfrm>
          <a:prstGeom prst="roundRect">
            <a:avLst>
              <a:gd name="adj" fmla="val 6500"/>
            </a:avLst>
          </a:prstGeom>
          <a:solidFill>
            <a:srgbClr val="EAF4F3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06" name="S05.Partition.Number"/>
          <p:cNvSpPr/>
          <p:nvPr/>
        </p:nvSpPr>
        <p:spPr>
          <a:xfrm>
            <a:off x="3264408" y="1609344"/>
            <a:ext cx="429768" cy="429768"/>
          </a:xfrm>
          <a:prstGeom prst="ellipse">
            <a:avLst/>
          </a:prstGeom>
          <a:solidFill>
            <a:srgbClr val="008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2100" b="1">
                <a:solidFill>
                  <a:srgbClr val="FFFFF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100007" name="S05.Partition.Title"/>
          <p:cNvSpPr txBox="1"/>
          <p:nvPr/>
        </p:nvSpPr>
        <p:spPr>
          <a:xfrm>
            <a:off x="2542032" y="2139696"/>
            <a:ext cx="1874520" cy="7680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/>
            <a:r>
              <a:rPr lang="en-US" sz="1700" b="1">
                <a:solidFill>
                  <a:srgbClr val="183B56"/>
                </a:solidFill>
                <a:latin typeface="Arial"/>
                <a:ea typeface="Arial"/>
              </a:rPr>
              <a:t>Automated</a:t>
            </a:r>
          </a:p>
          <a:p>
            <a:pPr algn="ctr"/>
            <a:r>
              <a:rPr lang="en-US" sz="1700" b="1">
                <a:solidFill>
                  <a:srgbClr val="183B56"/>
                </a:solidFill>
                <a:latin typeface="Arial"/>
                <a:ea typeface="Arial"/>
              </a:rPr>
              <a:t>Partitioning</a:t>
            </a:r>
          </a:p>
        </p:txBody>
      </p:sp>
      <p:sp>
        <p:nvSpPr>
          <p:cNvPr id="100008" name="S05.Deploy.Panel"/>
          <p:cNvSpPr/>
          <p:nvPr/>
        </p:nvSpPr>
        <p:spPr>
          <a:xfrm>
            <a:off x="4700016" y="1463040"/>
            <a:ext cx="2157984" cy="3072384"/>
          </a:xfrm>
          <a:prstGeom prst="roundRect">
            <a:avLst>
              <a:gd name="adj" fmla="val 6500"/>
            </a:avLst>
          </a:prstGeom>
          <a:solidFill>
            <a:srgbClr val="EAF4F3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09" name="S05.Deploy.Number"/>
          <p:cNvSpPr/>
          <p:nvPr/>
        </p:nvSpPr>
        <p:spPr>
          <a:xfrm>
            <a:off x="5564124" y="1609344"/>
            <a:ext cx="429768" cy="429768"/>
          </a:xfrm>
          <a:prstGeom prst="ellipse">
            <a:avLst/>
          </a:prstGeom>
          <a:solidFill>
            <a:srgbClr val="008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2100" b="1">
                <a:solidFill>
                  <a:srgbClr val="FFFFFF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100010" name="S05.Deploy.Title"/>
          <p:cNvSpPr txBox="1"/>
          <p:nvPr/>
        </p:nvSpPr>
        <p:spPr>
          <a:xfrm>
            <a:off x="4791456" y="2139696"/>
            <a:ext cx="1975104" cy="7680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/>
            <a:r>
              <a:rPr lang="en-US" sz="1700" b="1">
                <a:solidFill>
                  <a:srgbClr val="183B56"/>
                </a:solidFill>
                <a:latin typeface="Arial"/>
                <a:ea typeface="Arial"/>
              </a:rPr>
              <a:t>Multi-FPGA</a:t>
            </a:r>
          </a:p>
          <a:p>
            <a:pPr algn="ctr"/>
            <a:r>
              <a:rPr lang="en-US" sz="1700" b="1">
                <a:solidFill>
                  <a:srgbClr val="183B56"/>
                </a:solidFill>
                <a:latin typeface="Arial"/>
                <a:ea typeface="Arial"/>
              </a:rPr>
              <a:t>Deployment</a:t>
            </a:r>
          </a:p>
        </p:txBody>
      </p:sp>
      <p:sp>
        <p:nvSpPr>
          <p:cNvPr id="100011" name="S05.Deploy.Caption"/>
          <p:cNvSpPr txBox="1"/>
          <p:nvPr/>
        </p:nvSpPr>
        <p:spPr>
          <a:xfrm>
            <a:off x="4791456" y="2798064"/>
            <a:ext cx="1975104" cy="4663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/>
            <a:r>
              <a:rPr lang="en-US" sz="1400">
                <a:solidFill>
                  <a:srgbClr val="20354A"/>
                </a:solidFill>
                <a:latin typeface="Arial"/>
                <a:ea typeface="Arial"/>
              </a:rPr>
              <a:t>Fabric routing &amp;</a:t>
            </a:r>
          </a:p>
          <a:p>
            <a:pPr algn="ctr"/>
            <a:r>
              <a:rPr lang="en-US" sz="1400">
                <a:solidFill>
                  <a:srgbClr val="20354A"/>
                </a:solidFill>
                <a:latin typeface="Arial"/>
                <a:ea typeface="Arial"/>
              </a:rPr>
              <a:t>runtime control</a:t>
            </a:r>
          </a:p>
        </p:txBody>
      </p:sp>
      <p:sp>
        <p:nvSpPr>
          <p:cNvPr id="100012" name="S05.Cycle.Panel"/>
          <p:cNvSpPr/>
          <p:nvPr/>
        </p:nvSpPr>
        <p:spPr>
          <a:xfrm>
            <a:off x="7050024" y="1463040"/>
            <a:ext cx="2606040" cy="3072384"/>
          </a:xfrm>
          <a:prstGeom prst="roundRect">
            <a:avLst>
              <a:gd name="adj" fmla="val 6500"/>
            </a:avLst>
          </a:prstGeom>
          <a:solidFill>
            <a:srgbClr val="EAF4F3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13" name="S05.Cycle.Number"/>
          <p:cNvSpPr/>
          <p:nvPr/>
        </p:nvSpPr>
        <p:spPr>
          <a:xfrm>
            <a:off x="8138160" y="1609344"/>
            <a:ext cx="429768" cy="429768"/>
          </a:xfrm>
          <a:prstGeom prst="ellipse">
            <a:avLst/>
          </a:prstGeom>
          <a:solidFill>
            <a:srgbClr val="008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2100" b="1">
                <a:solidFill>
                  <a:srgbClr val="FFFFFF"/>
                </a:solidFill>
                <a:latin typeface="Arial"/>
                <a:ea typeface="Arial"/>
              </a:rPr>
              <a:t>4</a:t>
            </a:r>
          </a:p>
        </p:txBody>
      </p:sp>
      <p:sp>
        <p:nvSpPr>
          <p:cNvPr id="100014" name="S05.Cycle.Title"/>
          <p:cNvSpPr txBox="1"/>
          <p:nvPr/>
        </p:nvSpPr>
        <p:spPr>
          <a:xfrm>
            <a:off x="7141464" y="2139696"/>
            <a:ext cx="2423160" cy="7680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/>
            <a:r>
              <a:rPr lang="en-US" sz="1700" b="1">
                <a:solidFill>
                  <a:srgbClr val="183B56"/>
                </a:solidFill>
                <a:latin typeface="Arial"/>
                <a:ea typeface="Arial"/>
              </a:rPr>
              <a:t>Cycle-Accurate</a:t>
            </a:r>
          </a:p>
          <a:p>
            <a:pPr algn="ctr"/>
            <a:r>
              <a:rPr lang="en-US" sz="1700" b="1">
                <a:solidFill>
                  <a:srgbClr val="183B56"/>
                </a:solidFill>
                <a:latin typeface="Arial"/>
                <a:ea typeface="Arial"/>
              </a:rPr>
              <a:t>Execution &amp; Global Pause</a:t>
            </a:r>
          </a:p>
        </p:txBody>
      </p:sp>
      <p:sp>
        <p:nvSpPr>
          <p:cNvPr id="100015" name="S05.Cycle.Caption"/>
          <p:cNvSpPr txBox="1"/>
          <p:nvPr/>
        </p:nvSpPr>
        <p:spPr>
          <a:xfrm>
            <a:off x="7141464" y="2980944"/>
            <a:ext cx="2423160" cy="4663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/>
            <a:r>
              <a:rPr lang="en-US" sz="1400">
                <a:solidFill>
                  <a:srgbClr val="20354A"/>
                </a:solidFill>
                <a:latin typeface="Arial"/>
                <a:ea typeface="Arial"/>
              </a:rPr>
              <a:t>Synchronized DUT cycles</a:t>
            </a:r>
          </a:p>
        </p:txBody>
      </p:sp>
      <p:sp>
        <p:nvSpPr>
          <p:cNvPr id="100016" name="S05.State.Panel"/>
          <p:cNvSpPr/>
          <p:nvPr/>
        </p:nvSpPr>
        <p:spPr>
          <a:xfrm>
            <a:off x="9848088" y="1463040"/>
            <a:ext cx="2029968" cy="3072384"/>
          </a:xfrm>
          <a:prstGeom prst="roundRect">
            <a:avLst>
              <a:gd name="adj" fmla="val 6500"/>
            </a:avLst>
          </a:prstGeom>
          <a:solidFill>
            <a:srgbClr val="EAF4F3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17" name="S05.State.Number"/>
          <p:cNvSpPr/>
          <p:nvPr/>
        </p:nvSpPr>
        <p:spPr>
          <a:xfrm>
            <a:off x="10648188" y="1609344"/>
            <a:ext cx="429768" cy="429768"/>
          </a:xfrm>
          <a:prstGeom prst="ellipse">
            <a:avLst/>
          </a:prstGeom>
          <a:solidFill>
            <a:srgbClr val="008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2100" b="1">
                <a:solidFill>
                  <a:srgbClr val="FFFFFF"/>
                </a:solidFill>
                <a:latin typeface="Arial"/>
                <a:ea typeface="Arial"/>
              </a:rPr>
              <a:t>5</a:t>
            </a:r>
          </a:p>
        </p:txBody>
      </p:sp>
      <p:sp>
        <p:nvSpPr>
          <p:cNvPr id="100018" name="S05.State.Title"/>
          <p:cNvSpPr txBox="1"/>
          <p:nvPr/>
        </p:nvSpPr>
        <p:spPr>
          <a:xfrm>
            <a:off x="9939528" y="2139696"/>
            <a:ext cx="1847088" cy="7680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/>
            <a:r>
              <a:rPr lang="en-US" sz="1700" b="1">
                <a:solidFill>
                  <a:srgbClr val="183B56"/>
                </a:solidFill>
                <a:latin typeface="Arial"/>
                <a:ea typeface="Arial"/>
              </a:rPr>
              <a:t>State Capture,</a:t>
            </a:r>
          </a:p>
          <a:p>
            <a:pPr algn="ctr"/>
            <a:r>
              <a:rPr lang="en-US" sz="1700" b="1">
                <a:solidFill>
                  <a:srgbClr val="183B56"/>
                </a:solidFill>
                <a:latin typeface="Arial"/>
                <a:ea typeface="Arial"/>
              </a:rPr>
              <a:t>Restore &amp; Replay</a:t>
            </a:r>
          </a:p>
        </p:txBody>
      </p:sp>
      <p:sp>
        <p:nvSpPr>
          <p:cNvPr id="100019" name="S05.State.Caption"/>
          <p:cNvSpPr txBox="1"/>
          <p:nvPr/>
        </p:nvSpPr>
        <p:spPr>
          <a:xfrm>
            <a:off x="9939528" y="2798064"/>
            <a:ext cx="1847088" cy="4663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/>
            <a:r>
              <a:rPr lang="en-US" sz="1400">
                <a:solidFill>
                  <a:srgbClr val="20354A"/>
                </a:solidFill>
                <a:latin typeface="Arial"/>
                <a:ea typeface="Arial"/>
              </a:rPr>
              <a:t>Debug and replay support</a:t>
            </a:r>
          </a:p>
        </p:txBody>
      </p:sp>
      <p:sp>
        <p:nvSpPr>
          <p:cNvPr id="100020" name="S05.Workflow.Arrow1"/>
          <p:cNvSpPr/>
          <p:nvPr/>
        </p:nvSpPr>
        <p:spPr>
          <a:xfrm>
            <a:off x="2176272" y="2926080"/>
            <a:ext cx="356616" cy="274320"/>
          </a:xfrm>
          <a:prstGeom prst="rightArrow">
            <a:avLst/>
          </a:prstGeom>
          <a:solidFill>
            <a:srgbClr val="DF973E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21" name="S05.Workflow.Arrow2"/>
          <p:cNvSpPr/>
          <p:nvPr/>
        </p:nvSpPr>
        <p:spPr>
          <a:xfrm>
            <a:off x="4425696" y="2926080"/>
            <a:ext cx="356616" cy="274320"/>
          </a:xfrm>
          <a:prstGeom prst="rightArrow">
            <a:avLst/>
          </a:prstGeom>
          <a:solidFill>
            <a:srgbClr val="DF973E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22" name="S05.Workflow.Arrow3"/>
          <p:cNvSpPr/>
          <p:nvPr/>
        </p:nvSpPr>
        <p:spPr>
          <a:xfrm>
            <a:off x="6775704" y="2926080"/>
            <a:ext cx="356616" cy="274320"/>
          </a:xfrm>
          <a:prstGeom prst="rightArrow">
            <a:avLst/>
          </a:prstGeom>
          <a:solidFill>
            <a:srgbClr val="DF973E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23" name="S05.Workflow.Arrow4"/>
          <p:cNvSpPr/>
          <p:nvPr/>
        </p:nvSpPr>
        <p:spPr>
          <a:xfrm>
            <a:off x="9573768" y="2926080"/>
            <a:ext cx="356616" cy="274320"/>
          </a:xfrm>
          <a:prstGeom prst="rightArrow">
            <a:avLst/>
          </a:prstGeom>
          <a:solidFill>
            <a:srgbClr val="DF973E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pic>
        <p:nvPicPr>
          <p:cNvPr id="100024" name="S05.RTL.Document" descr="Hierarchical RTL design"/>
          <p:cNvPicPr>
            <a:picLocks noChangeAspect="1"/>
          </p:cNvPicPr>
          <p:nvPr/>
        </p:nvPicPr>
        <p:blipFill>
          <a:blip xmlns:r="http://schemas.openxmlformats.org/officeDocument/2006/relationships" r:embed="R929d8bcde8104f70"/>
          <a:srcRect l="22807" t="18580" r="21929" b="14354"/>
          <a:stretch>
            <a:fillRect/>
          </a:stretch>
        </p:blipFill>
        <p:spPr>
          <a:xfrm>
            <a:off x="781812" y="3218688"/>
            <a:ext cx="1014984" cy="1231748"/>
          </a:xfrm>
          <a:prstGeom prst="rect">
            <a:avLst/>
          </a:prstGeom>
        </p:spPr>
      </p:pic>
      <p:pic>
        <p:nvPicPr>
          <p:cNvPr id="100025" name="S05.Partition.Circuit" descr="Circuit partitioning"/>
          <p:cNvPicPr>
            <a:picLocks noChangeAspect="1"/>
          </p:cNvPicPr>
          <p:nvPr/>
        </p:nvPicPr>
        <p:blipFill>
          <a:blip xmlns:r="http://schemas.openxmlformats.org/officeDocument/2006/relationships" r:embed="Rbb0253b9b05647a8"/>
          <a:srcRect l="15869" t="18660" r="15789" b="18660"/>
          <a:stretch>
            <a:fillRect/>
          </a:stretch>
        </p:blipFill>
        <p:spPr>
          <a:xfrm>
            <a:off x="2816352" y="3273552"/>
            <a:ext cx="1325880" cy="1216035"/>
          </a:xfrm>
          <a:prstGeom prst="rect">
            <a:avLst/>
          </a:prstGeom>
        </p:spPr>
      </p:pic>
      <p:pic>
        <p:nvPicPr>
          <p:cNvPr id="100026" name="S05.Deploy.TL" descr="FPGA chip"/>
          <p:cNvPicPr>
            <a:picLocks noChangeAspect="1"/>
          </p:cNvPicPr>
          <p:nvPr/>
        </p:nvPicPr>
        <p:blipFill>
          <a:blip xmlns:r="http://schemas.openxmlformats.org/officeDocument/2006/relationships" r:embed="Rf9e3b060ec4342c1"/>
          <a:srcRect l="21371" t="23684" r="21291" b="20972"/>
          <a:stretch>
            <a:fillRect/>
          </a:stretch>
        </p:blipFill>
        <p:spPr>
          <a:xfrm>
            <a:off x="5138928" y="3310128"/>
            <a:ext cx="457200" cy="441303"/>
          </a:xfrm>
          <a:prstGeom prst="rect">
            <a:avLst/>
          </a:prstGeom>
        </p:spPr>
      </p:pic>
      <p:pic>
        <p:nvPicPr>
          <p:cNvPr id="100027" name="S05.Deploy.TR" descr="FPGA chip"/>
          <p:cNvPicPr>
            <a:picLocks noChangeAspect="1"/>
          </p:cNvPicPr>
          <p:nvPr/>
        </p:nvPicPr>
        <p:blipFill>
          <a:blip xmlns:r="http://schemas.openxmlformats.org/officeDocument/2006/relationships" r:embed="R9553ab4c34234c1f"/>
          <a:srcRect l="21371" t="23684" r="21291" b="20972"/>
          <a:stretch>
            <a:fillRect/>
          </a:stretch>
        </p:blipFill>
        <p:spPr>
          <a:xfrm>
            <a:off x="5961888" y="3310128"/>
            <a:ext cx="457200" cy="441303"/>
          </a:xfrm>
          <a:prstGeom prst="rect">
            <a:avLst/>
          </a:prstGeom>
        </p:spPr>
      </p:pic>
      <p:pic>
        <p:nvPicPr>
          <p:cNvPr id="100028" name="S05.Deploy.BL" descr="FPGA chip"/>
          <p:cNvPicPr>
            <a:picLocks noChangeAspect="1"/>
          </p:cNvPicPr>
          <p:nvPr/>
        </p:nvPicPr>
        <p:blipFill>
          <a:blip xmlns:r="http://schemas.openxmlformats.org/officeDocument/2006/relationships" r:embed="Rab07b5aec71a431a"/>
          <a:srcRect l="21371" t="23684" r="21291" b="20972"/>
          <a:stretch>
            <a:fillRect/>
          </a:stretch>
        </p:blipFill>
        <p:spPr>
          <a:xfrm>
            <a:off x="5138928" y="3822192"/>
            <a:ext cx="457200" cy="441303"/>
          </a:xfrm>
          <a:prstGeom prst="rect">
            <a:avLst/>
          </a:prstGeom>
        </p:spPr>
      </p:pic>
      <p:pic>
        <p:nvPicPr>
          <p:cNvPr id="100029" name="S05.Deploy.BR" descr="FPGA chip"/>
          <p:cNvPicPr>
            <a:picLocks noChangeAspect="1"/>
          </p:cNvPicPr>
          <p:nvPr/>
        </p:nvPicPr>
        <p:blipFill>
          <a:blip xmlns:r="http://schemas.openxmlformats.org/officeDocument/2006/relationships" r:embed="R23690e0597184e7d"/>
          <a:srcRect l="21371" t="23684" r="21291" b="20972"/>
          <a:stretch>
            <a:fillRect/>
          </a:stretch>
        </p:blipFill>
        <p:spPr>
          <a:xfrm>
            <a:off x="5961888" y="3822192"/>
            <a:ext cx="457200" cy="441303"/>
          </a:xfrm>
          <a:prstGeom prst="rect">
            <a:avLst/>
          </a:prstGeom>
        </p:spPr>
      </p:pic>
      <p:cxnSp>
        <p:nvCxnSpPr>
          <p:cNvPr id="100030" name="S05.Deploy.LinkTLTR"/>
          <p:cNvCxnSpPr>
            <a:stCxn id="100026" idx="0"/>
            <a:endCxn id="100027" idx="0"/>
          </p:cNvCxnSpPr>
          <p:nvPr/>
        </p:nvCxnSpPr>
        <p:spPr>
          <a:xfrm>
            <a:off x="5596128" y="3530779"/>
            <a:ext cx="365760" cy="0"/>
          </a:xfrm>
          <a:prstGeom prst="straightConnector1">
            <a:avLst/>
          </a:prstGeom>
          <a:ln w="20320">
            <a:solidFill>
              <a:srgbClr val="DF973E"/>
            </a:solidFill>
          </a:ln>
        </p:spPr>
      </p:cxnSp>
      <p:cxnSp>
        <p:nvCxnSpPr>
          <p:cNvPr id="100031" name="S05.Deploy.LinkBLBR"/>
          <p:cNvCxnSpPr>
            <a:stCxn id="100028" idx="0"/>
            <a:endCxn id="100029" idx="0"/>
          </p:cNvCxnSpPr>
          <p:nvPr/>
        </p:nvCxnSpPr>
        <p:spPr>
          <a:xfrm>
            <a:off x="5596128" y="4042843"/>
            <a:ext cx="365760" cy="0"/>
          </a:xfrm>
          <a:prstGeom prst="straightConnector1">
            <a:avLst/>
          </a:prstGeom>
          <a:ln w="20320">
            <a:solidFill>
              <a:srgbClr val="DF973E"/>
            </a:solidFill>
          </a:ln>
        </p:spPr>
      </p:cxnSp>
      <p:cxnSp>
        <p:nvCxnSpPr>
          <p:cNvPr id="100032" name="S05.Deploy.LinkTLBL"/>
          <p:cNvCxnSpPr>
            <a:stCxn id="100026" idx="0"/>
            <a:endCxn id="100028" idx="0"/>
          </p:cNvCxnSpPr>
          <p:nvPr/>
        </p:nvCxnSpPr>
        <p:spPr>
          <a:xfrm>
            <a:off x="5367528" y="3751431"/>
            <a:ext cx="0" cy="70761"/>
          </a:xfrm>
          <a:prstGeom prst="straightConnector1">
            <a:avLst/>
          </a:prstGeom>
          <a:ln w="20320">
            <a:solidFill>
              <a:srgbClr val="DF973E"/>
            </a:solidFill>
          </a:ln>
        </p:spPr>
      </p:cxnSp>
      <p:cxnSp>
        <p:nvCxnSpPr>
          <p:cNvPr id="100033" name="S05.Deploy.LinkTRBR"/>
          <p:cNvCxnSpPr>
            <a:stCxn id="100027" idx="0"/>
            <a:endCxn id="100029" idx="0"/>
          </p:cNvCxnSpPr>
          <p:nvPr/>
        </p:nvCxnSpPr>
        <p:spPr>
          <a:xfrm>
            <a:off x="6190488" y="3751431"/>
            <a:ext cx="0" cy="70761"/>
          </a:xfrm>
          <a:prstGeom prst="straightConnector1">
            <a:avLst/>
          </a:prstGeom>
          <a:ln w="20320">
            <a:solidFill>
              <a:srgbClr val="DF973E"/>
            </a:solidFill>
          </a:ln>
        </p:spPr>
      </p:cxnSp>
      <p:sp>
        <p:nvSpPr>
          <p:cNvPr id="100034" name="S05.Deploy.Scope"/>
          <p:cNvSpPr txBox="1"/>
          <p:nvPr/>
        </p:nvSpPr>
        <p:spPr>
          <a:xfrm>
            <a:off x="4809744" y="4334256"/>
            <a:ext cx="1938528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/>
            <a:r>
              <a:rPr lang="en-US" sz="1100">
                <a:solidFill>
                  <a:srgbClr val="607184"/>
                </a:solidFill>
                <a:latin typeface="Arial"/>
                <a:ea typeface="Arial"/>
              </a:rPr>
              <a:t>Illustrative topology</a:t>
            </a:r>
          </a:p>
        </p:txBody>
      </p:sp>
      <p:sp>
        <p:nvSpPr>
          <p:cNvPr id="100035" name="S05.Cycle.Icon0"/>
          <p:cNvSpPr/>
          <p:nvPr/>
        </p:nvSpPr>
        <p:spPr>
          <a:xfrm>
            <a:off x="7324344" y="3456432"/>
            <a:ext cx="438912" cy="438912"/>
          </a:xfrm>
          <a:prstGeom prst="ellipse">
            <a:avLst/>
          </a:prstGeom>
          <a:solidFill>
            <a:srgbClr val="FFFFFF"/>
          </a:solidFill>
          <a:ln w="27940">
            <a:solidFill>
              <a:srgbClr val="183B56"/>
            </a:solidFill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cxnSp>
        <p:nvCxnSpPr>
          <p:cNvPr id="100036" name="S05.Cycle.Clock0.Minute"/>
          <p:cNvCxnSpPr/>
          <p:nvPr/>
        </p:nvCxnSpPr>
        <p:spPr>
          <a:xfrm>
            <a:off x="7543800" y="3534156"/>
            <a:ext cx="0" cy="141732"/>
          </a:xfrm>
          <a:prstGeom prst="straightConnector1">
            <a:avLst/>
          </a:prstGeom>
          <a:ln w="25400">
            <a:solidFill>
              <a:srgbClr val="183B56"/>
            </a:solidFill>
          </a:ln>
        </p:spPr>
      </p:cxnSp>
      <p:cxnSp>
        <p:nvCxnSpPr>
          <p:cNvPr id="100037" name="S05.Cycle.Clock0.Hour"/>
          <p:cNvCxnSpPr/>
          <p:nvPr/>
        </p:nvCxnSpPr>
        <p:spPr>
          <a:xfrm>
            <a:off x="7543800" y="3675888"/>
            <a:ext cx="96012" cy="82296"/>
          </a:xfrm>
          <a:prstGeom prst="straightConnector1">
            <a:avLst/>
          </a:prstGeom>
          <a:ln w="25400">
            <a:solidFill>
              <a:srgbClr val="183B56"/>
            </a:solidFill>
          </a:ln>
        </p:spPr>
      </p:cxnSp>
      <p:cxnSp>
        <p:nvCxnSpPr>
          <p:cNvPr id="100038" name="S05.Cycle.SyncDrop0"/>
          <p:cNvCxnSpPr/>
          <p:nvPr/>
        </p:nvCxnSpPr>
        <p:spPr>
          <a:xfrm>
            <a:off x="7543800" y="3968496"/>
            <a:ext cx="0" cy="164592"/>
          </a:xfrm>
          <a:prstGeom prst="straightConnector1">
            <a:avLst/>
          </a:prstGeom>
          <a:ln w="20320">
            <a:solidFill>
              <a:srgbClr val="183B56"/>
            </a:solidFill>
            <a:prstDash val="dash"/>
          </a:ln>
        </p:spPr>
      </p:cxnSp>
      <p:sp>
        <p:nvSpPr>
          <p:cNvPr id="100039" name="S05.Cycle.Icon1"/>
          <p:cNvSpPr/>
          <p:nvPr/>
        </p:nvSpPr>
        <p:spPr>
          <a:xfrm>
            <a:off x="8133588" y="3456432"/>
            <a:ext cx="438912" cy="438912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08C95"/>
            </a:solidFill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40" name="S05.Cycle.PauseBar0"/>
          <p:cNvSpPr/>
          <p:nvPr/>
        </p:nvSpPr>
        <p:spPr>
          <a:xfrm>
            <a:off x="8268919" y="3570732"/>
            <a:ext cx="52121" cy="210312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41" name="S05.Cycle.PauseBar1"/>
          <p:cNvSpPr/>
          <p:nvPr/>
        </p:nvSpPr>
        <p:spPr>
          <a:xfrm>
            <a:off x="8385048" y="3570732"/>
            <a:ext cx="52121" cy="210312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cxnSp>
        <p:nvCxnSpPr>
          <p:cNvPr id="100042" name="S05.Cycle.SyncDrop1"/>
          <p:cNvCxnSpPr/>
          <p:nvPr/>
        </p:nvCxnSpPr>
        <p:spPr>
          <a:xfrm>
            <a:off x="8353044" y="3968496"/>
            <a:ext cx="0" cy="164592"/>
          </a:xfrm>
          <a:prstGeom prst="straightConnector1">
            <a:avLst/>
          </a:prstGeom>
          <a:ln w="20320">
            <a:solidFill>
              <a:srgbClr val="183B56"/>
            </a:solidFill>
            <a:prstDash val="dash"/>
          </a:ln>
        </p:spPr>
      </p:cxnSp>
      <p:sp>
        <p:nvSpPr>
          <p:cNvPr id="100043" name="S05.Cycle.Icon2"/>
          <p:cNvSpPr/>
          <p:nvPr/>
        </p:nvSpPr>
        <p:spPr>
          <a:xfrm>
            <a:off x="8942832" y="3456432"/>
            <a:ext cx="438912" cy="438912"/>
          </a:xfrm>
          <a:prstGeom prst="ellipse">
            <a:avLst/>
          </a:prstGeom>
          <a:solidFill>
            <a:srgbClr val="FFFFFF"/>
          </a:solidFill>
          <a:ln w="27940">
            <a:solidFill>
              <a:srgbClr val="183B56"/>
            </a:solidFill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cxnSp>
        <p:nvCxnSpPr>
          <p:cNvPr id="100044" name="S05.Cycle.Clock2.Minute"/>
          <p:cNvCxnSpPr/>
          <p:nvPr/>
        </p:nvCxnSpPr>
        <p:spPr>
          <a:xfrm>
            <a:off x="9162288" y="3534156"/>
            <a:ext cx="0" cy="141732"/>
          </a:xfrm>
          <a:prstGeom prst="straightConnector1">
            <a:avLst/>
          </a:prstGeom>
          <a:ln w="25400">
            <a:solidFill>
              <a:srgbClr val="183B56"/>
            </a:solidFill>
          </a:ln>
        </p:spPr>
      </p:cxnSp>
      <p:cxnSp>
        <p:nvCxnSpPr>
          <p:cNvPr id="100045" name="S05.Cycle.Clock2.Hour"/>
          <p:cNvCxnSpPr/>
          <p:nvPr/>
        </p:nvCxnSpPr>
        <p:spPr>
          <a:xfrm>
            <a:off x="9162288" y="3675888"/>
            <a:ext cx="96012" cy="82296"/>
          </a:xfrm>
          <a:prstGeom prst="straightConnector1">
            <a:avLst/>
          </a:prstGeom>
          <a:ln w="25400">
            <a:solidFill>
              <a:srgbClr val="183B56"/>
            </a:solidFill>
          </a:ln>
        </p:spPr>
      </p:cxnSp>
      <p:cxnSp>
        <p:nvCxnSpPr>
          <p:cNvPr id="100046" name="S05.Cycle.SyncDrop2"/>
          <p:cNvCxnSpPr/>
          <p:nvPr/>
        </p:nvCxnSpPr>
        <p:spPr>
          <a:xfrm>
            <a:off x="9162288" y="3968496"/>
            <a:ext cx="0" cy="164592"/>
          </a:xfrm>
          <a:prstGeom prst="straightConnector1">
            <a:avLst/>
          </a:prstGeom>
          <a:ln w="20320">
            <a:solidFill>
              <a:srgbClr val="183B56"/>
            </a:solidFill>
            <a:prstDash val="dash"/>
          </a:ln>
        </p:spPr>
      </p:cxnSp>
      <p:cxnSp>
        <p:nvCxnSpPr>
          <p:cNvPr id="100047" name="S05.Cycle.Progress0"/>
          <p:cNvCxnSpPr>
            <a:stCxn id="100035" idx="0"/>
            <a:endCxn id="100039" idx="0"/>
          </p:cNvCxnSpPr>
          <p:nvPr/>
        </p:nvCxnSpPr>
        <p:spPr>
          <a:xfrm>
            <a:off x="7763256" y="3675888"/>
            <a:ext cx="370332" cy="0"/>
          </a:xfrm>
          <a:prstGeom prst="straightConnector1">
            <a:avLst/>
          </a:prstGeom>
          <a:ln w="20320">
            <a:solidFill>
              <a:srgbClr val="183B56"/>
            </a:solidFill>
            <a:tailEnd type="triangle"/>
          </a:ln>
        </p:spPr>
      </p:cxnSp>
      <p:cxnSp>
        <p:nvCxnSpPr>
          <p:cNvPr id="100048" name="S05.Cycle.Progress1"/>
          <p:cNvCxnSpPr>
            <a:stCxn id="100039" idx="0"/>
            <a:endCxn id="100043" idx="0"/>
          </p:cNvCxnSpPr>
          <p:nvPr/>
        </p:nvCxnSpPr>
        <p:spPr>
          <a:xfrm>
            <a:off x="8572500" y="3675888"/>
            <a:ext cx="370332" cy="0"/>
          </a:xfrm>
          <a:prstGeom prst="straightConnector1">
            <a:avLst/>
          </a:prstGeom>
          <a:ln w="20320">
            <a:solidFill>
              <a:srgbClr val="183B56"/>
            </a:solidFill>
            <a:tailEnd type="triangle"/>
          </a:ln>
        </p:spPr>
      </p:cxnSp>
      <p:cxnSp>
        <p:nvCxnSpPr>
          <p:cNvPr id="100049" name="S05.Cycle.SyncBus"/>
          <p:cNvCxnSpPr/>
          <p:nvPr/>
        </p:nvCxnSpPr>
        <p:spPr>
          <a:xfrm>
            <a:off x="7543800" y="4133088"/>
            <a:ext cx="1618488" cy="0"/>
          </a:xfrm>
          <a:prstGeom prst="straightConnector1">
            <a:avLst/>
          </a:prstGeom>
          <a:ln w="20320">
            <a:solidFill>
              <a:srgbClr val="183B56"/>
            </a:solidFill>
            <a:prstDash val="dash"/>
          </a:ln>
        </p:spPr>
      </p:cxnSp>
      <p:sp>
        <p:nvSpPr>
          <p:cNvPr id="100050" name="S05.Cycle.SyncLabel"/>
          <p:cNvSpPr txBox="1"/>
          <p:nvPr/>
        </p:nvSpPr>
        <p:spPr>
          <a:xfrm>
            <a:off x="7251192" y="4215384"/>
            <a:ext cx="2203704" cy="2194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/>
            <a:r>
              <a:rPr lang="en-US" sz="1300">
                <a:solidFill>
                  <a:srgbClr val="183B56"/>
                </a:solidFill>
                <a:latin typeface="Arial"/>
                <a:ea typeface="Arial"/>
              </a:rPr>
              <a:t>Synchronized</a:t>
            </a:r>
          </a:p>
        </p:txBody>
      </p:sp>
      <p:pic>
        <p:nvPicPr>
          <p:cNvPr id="100051" name="S05.State.Snapshot" descr="Global snapshot"/>
          <p:cNvPicPr>
            <a:picLocks noChangeAspect="1"/>
          </p:cNvPicPr>
          <p:nvPr/>
        </p:nvPicPr>
        <p:blipFill>
          <a:blip xmlns:r="http://schemas.openxmlformats.org/officeDocument/2006/relationships" r:embed="R15b59909bb2f4cf0"/>
          <a:srcRect l="16746" t="16427" r="16746" b="11961"/>
          <a:stretch>
            <a:fillRect/>
          </a:stretch>
        </p:blipFill>
        <p:spPr>
          <a:xfrm>
            <a:off x="10076688" y="3447288"/>
            <a:ext cx="484632" cy="521822"/>
          </a:xfrm>
          <a:prstGeom prst="rect">
            <a:avLst/>
          </a:prstGeom>
        </p:spPr>
      </p:pic>
      <p:pic>
        <p:nvPicPr>
          <p:cNvPr id="100052" name="S05.State.Waveform" descr="Waveform monitor"/>
          <p:cNvPicPr>
            <a:picLocks noChangeAspect="1"/>
          </p:cNvPicPr>
          <p:nvPr/>
        </p:nvPicPr>
        <p:blipFill>
          <a:blip xmlns:r="http://schemas.openxmlformats.org/officeDocument/2006/relationships" r:embed="R3f82a8408d3a48b7"/>
          <a:srcRect l="12280" t="25518" r="12200" b="19936"/>
          <a:stretch>
            <a:fillRect/>
          </a:stretch>
        </p:blipFill>
        <p:spPr>
          <a:xfrm>
            <a:off x="10972800" y="3456432"/>
            <a:ext cx="704088" cy="508549"/>
          </a:xfrm>
          <a:prstGeom prst="rect">
            <a:avLst/>
          </a:prstGeom>
        </p:spPr>
      </p:pic>
      <p:sp>
        <p:nvSpPr>
          <p:cNvPr id="100053" name="S05.State.ToReplay"/>
          <p:cNvSpPr/>
          <p:nvPr/>
        </p:nvSpPr>
        <p:spPr>
          <a:xfrm>
            <a:off x="10616184" y="3630168"/>
            <a:ext cx="292608" cy="164592"/>
          </a:xfrm>
          <a:prstGeom prst="rightArrow">
            <a:avLst/>
          </a:prstGeom>
          <a:solidFill>
            <a:srgbClr val="008C95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54" name="S05.State.Scope"/>
          <p:cNvSpPr txBox="1"/>
          <p:nvPr/>
        </p:nvSpPr>
        <p:spPr>
          <a:xfrm>
            <a:off x="9939528" y="4050792"/>
            <a:ext cx="1847088" cy="3931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/>
            <a:r>
              <a:rPr lang="en-US" sz="1200">
                <a:solidFill>
                  <a:srgbClr val="607184"/>
                </a:solidFill>
                <a:latin typeface="Arial"/>
                <a:ea typeface="Arial"/>
              </a:rPr>
              <a:t>Restore / replay</a:t>
            </a:r>
          </a:p>
          <a:p>
            <a:pPr algn="ctr"/>
            <a:r>
              <a:rPr lang="en-US" sz="1200">
                <a:solidFill>
                  <a:srgbClr val="607184"/>
                </a:solidFill>
                <a:latin typeface="Arial"/>
                <a:ea typeface="Arial"/>
              </a:rPr>
              <a:t>Planned</a:t>
            </a:r>
          </a:p>
        </p:txBody>
      </p:sp>
      <p:sp>
        <p:nvSpPr>
          <p:cNvPr id="100055" name="S05.Scope.Heading"/>
          <p:cNvSpPr txBox="1"/>
          <p:nvPr/>
        </p:nvSpPr>
        <p:spPr>
          <a:xfrm>
            <a:off x="320040" y="483717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2200" b="1">
                <a:solidFill>
                  <a:srgbClr val="183B56"/>
                </a:solidFill>
                <a:latin typeface="Arial"/>
                <a:ea typeface="Arial"/>
              </a:rPr>
              <a:t>Mid-Term Scope</a:t>
            </a:r>
          </a:p>
        </p:txBody>
      </p:sp>
      <p:sp>
        <p:nvSpPr>
          <p:cNvPr id="100056" name="S05.Scope.Rule"/>
          <p:cNvSpPr/>
          <p:nvPr/>
        </p:nvSpPr>
        <p:spPr>
          <a:xfrm>
            <a:off x="3246120" y="5038344"/>
            <a:ext cx="8631936" cy="10973"/>
          </a:xfrm>
          <a:prstGeom prst="rect">
            <a:avLst/>
          </a:prstGeom>
          <a:solidFill>
            <a:srgbClr val="BDCBD4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57" name="S05.Scope.Panel"/>
          <p:cNvSpPr/>
          <p:nvPr/>
        </p:nvSpPr>
        <p:spPr>
          <a:xfrm>
            <a:off x="320040" y="5367528"/>
            <a:ext cx="11558016" cy="1097280"/>
          </a:xfrm>
          <a:prstGeom prst="roundRect">
            <a:avLst>
              <a:gd name="adj" fmla="val 8000"/>
            </a:avLst>
          </a:prstGeom>
          <a:solidFill>
            <a:srgbClr val="EAF4F3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58" name="S05.Scope.Bullet0"/>
          <p:cNvSpPr/>
          <p:nvPr/>
        </p:nvSpPr>
        <p:spPr>
          <a:xfrm>
            <a:off x="475488" y="5582412"/>
            <a:ext cx="86868" cy="86868"/>
          </a:xfrm>
          <a:prstGeom prst="ellipse">
            <a:avLst/>
          </a:prstGeom>
          <a:solidFill>
            <a:srgbClr val="008C95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59" name="S05.Scope.Title0"/>
          <p:cNvSpPr txBox="1"/>
          <p:nvPr/>
        </p:nvSpPr>
        <p:spPr>
          <a:xfrm>
            <a:off x="658368" y="5504688"/>
            <a:ext cx="1865376" cy="4389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500" b="1">
                <a:solidFill>
                  <a:srgbClr val="183B56"/>
                </a:solidFill>
                <a:latin typeface="Arial"/>
                <a:ea typeface="Arial"/>
              </a:rPr>
              <a:t>Partitioning</a:t>
            </a:r>
          </a:p>
          <a:p>
            <a:r>
              <a:rPr lang="en-US" sz="1500" b="1">
                <a:solidFill>
                  <a:srgbClr val="183B56"/>
                </a:solidFill>
                <a:latin typeface="Arial"/>
                <a:ea typeface="Arial"/>
              </a:rPr>
              <a:t>framework</a:t>
            </a:r>
          </a:p>
        </p:txBody>
      </p:sp>
      <p:sp>
        <p:nvSpPr>
          <p:cNvPr id="100060" name="S05.Scope.Text0"/>
          <p:cNvSpPr txBox="1"/>
          <p:nvPr/>
        </p:nvSpPr>
        <p:spPr>
          <a:xfrm>
            <a:off x="658368" y="5971032"/>
            <a:ext cx="1865376" cy="42062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300">
                <a:solidFill>
                  <a:srgbClr val="20354A"/>
                </a:solidFill>
                <a:latin typeface="Arial"/>
                <a:ea typeface="Arial"/>
              </a:rPr>
              <a:t>RTL partitioning</a:t>
            </a:r>
          </a:p>
          <a:p>
            <a:r>
              <a:rPr lang="en-US" sz="1300">
                <a:solidFill>
                  <a:srgbClr val="20354A"/>
                </a:solidFill>
                <a:latin typeface="Arial"/>
                <a:ea typeface="Arial"/>
              </a:rPr>
              <a:t>and mapping</a:t>
            </a:r>
          </a:p>
        </p:txBody>
      </p:sp>
      <p:sp>
        <p:nvSpPr>
          <p:cNvPr id="100061" name="S05.Scope.Divider1"/>
          <p:cNvSpPr/>
          <p:nvPr/>
        </p:nvSpPr>
        <p:spPr>
          <a:xfrm>
            <a:off x="2631643" y="5532120"/>
            <a:ext cx="8230" cy="768096"/>
          </a:xfrm>
          <a:prstGeom prst="rect">
            <a:avLst/>
          </a:prstGeom>
          <a:solidFill>
            <a:srgbClr val="BDCBD4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62" name="S05.Scope.Bullet1"/>
          <p:cNvSpPr/>
          <p:nvPr/>
        </p:nvSpPr>
        <p:spPr>
          <a:xfrm>
            <a:off x="2787091" y="5582412"/>
            <a:ext cx="86868" cy="86868"/>
          </a:xfrm>
          <a:prstGeom prst="ellipse">
            <a:avLst/>
          </a:prstGeom>
          <a:solidFill>
            <a:srgbClr val="008C95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63" name="S05.Scope.Title1"/>
          <p:cNvSpPr txBox="1"/>
          <p:nvPr/>
        </p:nvSpPr>
        <p:spPr>
          <a:xfrm>
            <a:off x="2969971" y="5504688"/>
            <a:ext cx="1865376" cy="4389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500" b="1">
                <a:solidFill>
                  <a:srgbClr val="183B56"/>
                </a:solidFill>
                <a:latin typeface="Arial"/>
                <a:ea typeface="Arial"/>
              </a:rPr>
              <a:t>Cycle-accurate</a:t>
            </a:r>
          </a:p>
          <a:p>
            <a:r>
              <a:rPr lang="en-US" sz="1500" b="1">
                <a:solidFill>
                  <a:srgbClr val="183B56"/>
                </a:solidFill>
                <a:latin typeface="Arial"/>
                <a:ea typeface="Arial"/>
              </a:rPr>
              <a:t>execution</a:t>
            </a:r>
          </a:p>
        </p:txBody>
      </p:sp>
      <p:sp>
        <p:nvSpPr>
          <p:cNvPr id="100064" name="S05.Scope.Text1"/>
          <p:cNvSpPr txBox="1"/>
          <p:nvPr/>
        </p:nvSpPr>
        <p:spPr>
          <a:xfrm>
            <a:off x="2969971" y="5971032"/>
            <a:ext cx="1865376" cy="42062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300">
                <a:solidFill>
                  <a:srgbClr val="20354A"/>
                </a:solidFill>
                <a:latin typeface="Arial"/>
                <a:ea typeface="Arial"/>
              </a:rPr>
              <a:t>Multi-FPGA runs</a:t>
            </a:r>
          </a:p>
          <a:p>
            <a:r>
              <a:rPr lang="en-US" sz="1300">
                <a:solidFill>
                  <a:srgbClr val="20354A"/>
                </a:solidFill>
                <a:latin typeface="Arial"/>
                <a:ea typeface="Arial"/>
              </a:rPr>
              <a:t>with cycle control</a:t>
            </a:r>
          </a:p>
        </p:txBody>
      </p:sp>
      <p:sp>
        <p:nvSpPr>
          <p:cNvPr id="100065" name="S05.Scope.Divider2"/>
          <p:cNvSpPr/>
          <p:nvPr/>
        </p:nvSpPr>
        <p:spPr>
          <a:xfrm>
            <a:off x="4943246" y="5532120"/>
            <a:ext cx="8230" cy="768096"/>
          </a:xfrm>
          <a:prstGeom prst="rect">
            <a:avLst/>
          </a:prstGeom>
          <a:solidFill>
            <a:srgbClr val="BDCBD4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66" name="S05.Scope.Bullet2"/>
          <p:cNvSpPr/>
          <p:nvPr/>
        </p:nvSpPr>
        <p:spPr>
          <a:xfrm>
            <a:off x="5098694" y="5582412"/>
            <a:ext cx="86868" cy="86868"/>
          </a:xfrm>
          <a:prstGeom prst="ellipse">
            <a:avLst/>
          </a:prstGeom>
          <a:solidFill>
            <a:srgbClr val="008C95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67" name="S05.Scope.Title2"/>
          <p:cNvSpPr txBox="1"/>
          <p:nvPr/>
        </p:nvSpPr>
        <p:spPr>
          <a:xfrm>
            <a:off x="5281574" y="5504688"/>
            <a:ext cx="1865376" cy="4389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500" b="1">
                <a:solidFill>
                  <a:srgbClr val="183B56"/>
                </a:solidFill>
                <a:latin typeface="Arial"/>
                <a:ea typeface="Arial"/>
              </a:rPr>
              <a:t>Global pause &amp;</a:t>
            </a:r>
          </a:p>
          <a:p>
            <a:r>
              <a:rPr lang="en-US" sz="1500" b="1">
                <a:solidFill>
                  <a:srgbClr val="183B56"/>
                </a:solidFill>
                <a:latin typeface="Arial"/>
                <a:ea typeface="Arial"/>
              </a:rPr>
              <a:t>state dump</a:t>
            </a:r>
          </a:p>
        </p:txBody>
      </p:sp>
      <p:sp>
        <p:nvSpPr>
          <p:cNvPr id="100068" name="S05.Scope.Text2"/>
          <p:cNvSpPr txBox="1"/>
          <p:nvPr/>
        </p:nvSpPr>
        <p:spPr>
          <a:xfrm>
            <a:off x="5281574" y="5971032"/>
            <a:ext cx="1865376" cy="42062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300">
                <a:solidFill>
                  <a:srgbClr val="20354A"/>
                </a:solidFill>
                <a:latin typeface="Arial"/>
                <a:ea typeface="Arial"/>
              </a:rPr>
              <a:t>Global snapshots</a:t>
            </a:r>
          </a:p>
          <a:p>
            <a:r>
              <a:rPr lang="en-US" sz="1300">
                <a:solidFill>
                  <a:srgbClr val="20354A"/>
                </a:solidFill>
                <a:latin typeface="Arial"/>
                <a:ea typeface="Arial"/>
              </a:rPr>
              <a:t>across FPGAs</a:t>
            </a:r>
          </a:p>
        </p:txBody>
      </p:sp>
      <p:sp>
        <p:nvSpPr>
          <p:cNvPr id="100069" name="S05.Scope.Divider3"/>
          <p:cNvSpPr/>
          <p:nvPr/>
        </p:nvSpPr>
        <p:spPr>
          <a:xfrm>
            <a:off x="7254850" y="5532120"/>
            <a:ext cx="8230" cy="768096"/>
          </a:xfrm>
          <a:prstGeom prst="rect">
            <a:avLst/>
          </a:prstGeom>
          <a:solidFill>
            <a:srgbClr val="BDCBD4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70" name="S05.Scope.Bullet3"/>
          <p:cNvSpPr/>
          <p:nvPr/>
        </p:nvSpPr>
        <p:spPr>
          <a:xfrm>
            <a:off x="7410298" y="5582412"/>
            <a:ext cx="86868" cy="86868"/>
          </a:xfrm>
          <a:prstGeom prst="ellipse">
            <a:avLst/>
          </a:prstGeom>
          <a:solidFill>
            <a:srgbClr val="008C95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71" name="S05.Scope.Title3"/>
          <p:cNvSpPr txBox="1"/>
          <p:nvPr/>
        </p:nvSpPr>
        <p:spPr>
          <a:xfrm>
            <a:off x="7593178" y="5504688"/>
            <a:ext cx="1865376" cy="4389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500" b="1">
                <a:solidFill>
                  <a:srgbClr val="183B56"/>
                </a:solidFill>
                <a:latin typeface="Arial"/>
                <a:ea typeface="Arial"/>
              </a:rPr>
              <a:t>Restore &amp; replay</a:t>
            </a:r>
          </a:p>
        </p:txBody>
      </p:sp>
      <p:sp>
        <p:nvSpPr>
          <p:cNvPr id="100072" name="S05.Scope.Text3"/>
          <p:cNvSpPr txBox="1"/>
          <p:nvPr/>
        </p:nvSpPr>
        <p:spPr>
          <a:xfrm>
            <a:off x="7593178" y="5971032"/>
            <a:ext cx="1865376" cy="42062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300">
                <a:solidFill>
                  <a:srgbClr val="20354A"/>
                </a:solidFill>
                <a:latin typeface="Arial"/>
                <a:ea typeface="Arial"/>
              </a:rPr>
              <a:t>Planned: restore</a:t>
            </a:r>
          </a:p>
          <a:p>
            <a:r>
              <a:rPr lang="en-US" sz="1300">
                <a:solidFill>
                  <a:srgbClr val="20354A"/>
                </a:solidFill>
                <a:latin typeface="Arial"/>
                <a:ea typeface="Arial"/>
              </a:rPr>
              <a:t>&amp; replay checks</a:t>
            </a:r>
          </a:p>
        </p:txBody>
      </p:sp>
      <p:sp>
        <p:nvSpPr>
          <p:cNvPr id="100073" name="S05.Scope.Divider4"/>
          <p:cNvSpPr/>
          <p:nvPr/>
        </p:nvSpPr>
        <p:spPr>
          <a:xfrm>
            <a:off x="9566453" y="5532120"/>
            <a:ext cx="8230" cy="768096"/>
          </a:xfrm>
          <a:prstGeom prst="rect">
            <a:avLst/>
          </a:prstGeom>
          <a:solidFill>
            <a:srgbClr val="BDCBD4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74" name="S05.Scope.Bullet4"/>
          <p:cNvSpPr/>
          <p:nvPr/>
        </p:nvSpPr>
        <p:spPr>
          <a:xfrm>
            <a:off x="9721901" y="5582412"/>
            <a:ext cx="86868" cy="86868"/>
          </a:xfrm>
          <a:prstGeom prst="ellipse">
            <a:avLst/>
          </a:prstGeom>
          <a:solidFill>
            <a:srgbClr val="008C95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75" name="S05.Scope.Title4"/>
          <p:cNvSpPr txBox="1"/>
          <p:nvPr/>
        </p:nvSpPr>
        <p:spPr>
          <a:xfrm>
            <a:off x="9904781" y="5504688"/>
            <a:ext cx="1865376" cy="4389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500" b="1">
                <a:solidFill>
                  <a:srgbClr val="183B56"/>
                </a:solidFill>
                <a:latin typeface="Arial"/>
                <a:ea typeface="Arial"/>
              </a:rPr>
              <a:t>Dual-FPGA</a:t>
            </a:r>
          </a:p>
          <a:p>
            <a:r>
              <a:rPr lang="en-US" sz="1500" b="1">
                <a:solidFill>
                  <a:srgbClr val="183B56"/>
                </a:solidFill>
                <a:latin typeface="Arial"/>
                <a:ea typeface="Arial"/>
              </a:rPr>
              <a:t>prototype</a:t>
            </a:r>
          </a:p>
        </p:txBody>
      </p:sp>
      <p:sp>
        <p:nvSpPr>
          <p:cNvPr id="100076" name="S05.Scope.Text4"/>
          <p:cNvSpPr txBox="1"/>
          <p:nvPr/>
        </p:nvSpPr>
        <p:spPr>
          <a:xfrm>
            <a:off x="9904781" y="5971032"/>
            <a:ext cx="1865376" cy="42062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300">
                <a:solidFill>
                  <a:srgbClr val="20354A"/>
                </a:solidFill>
                <a:latin typeface="Arial"/>
                <a:ea typeface="Arial"/>
              </a:rPr>
              <a:t>Initial evaluation</a:t>
            </a:r>
          </a:p>
          <a:p>
            <a:r>
              <a:rPr lang="en-US" sz="1300">
                <a:solidFill>
                  <a:srgbClr val="20354A"/>
                </a:solidFill>
                <a:latin typeface="Arial"/>
                <a:ea typeface="Arial"/>
              </a:rPr>
              <a:t>and system tests</a:t>
            </a:r>
          </a:p>
        </p:txBody>
      </p:sp>
      <p:sp>
        <p:nvSpPr>
          <p:cNvPr id="100077" name="S05.PageNumber"/>
          <p:cNvSpPr txBox="1"/>
          <p:nvPr/>
        </p:nvSpPr>
        <p:spPr>
          <a:xfrm>
            <a:off x="11631168" y="6629400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r"/>
            <a:r>
              <a:rPr lang="en-US" sz="1000">
                <a:solidFill>
                  <a:srgbClr val="607184"/>
                </a:solidFill>
                <a:latin typeface="Arial"/>
                <a:ea typeface="Arial"/>
              </a:rPr>
              <a:t>5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83B56"/>
      </a:accent1>
      <a:accent2>
        <a:srgbClr val="008C95"/>
      </a:accent2>
      <a:accent3>
        <a:srgbClr val="DF973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OfficeCLI/1.0.156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OfficeCLI</dc:creator>
  <dcterms:created xsi:type="dcterms:W3CDTF">2026-10-13T13:13:27.0000000Z</dcterms:created>
  <lastModifiedBy>OfficeCLI</lastModifiedBy>
  <dcterms:modified xsi:type="dcterms:W3CDTF">2026-10-13T13:13:28.2854774Z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1.0.156</vt:lpwstr>
  </op:property>
  <op:property fmtid="{D5CDD505-2E9C-101B-9397-08002B2CF9AE}" pid="3" name="OfficeCLI.LastModified">
    <vt:lpwstr xmlns:vt="http://schemas.openxmlformats.org/officeDocument/2006/docPropsVTypes">2026-10-13T13:13:30Z</vt:lpwstr>
  </op:property>
</op:Properties>
</file>