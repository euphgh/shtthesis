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46304"/>
            <a:ext cx="11567160" cy="411480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80" b="1">
                <a:solidFill>
                  <a:srgbClr val="C12022"/>
                </a:solidFill>
                <a:latin typeface="Aptos"/>
              </a:rPr>
              <a:t>2. Multi-FPGA Prototyping Is Fast, but Hard to Debug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9184" y="658368"/>
            <a:ext cx="11530584" cy="21945"/>
          </a:xfrm>
          <a:prstGeom prst="rect">
            <a:avLst/>
          </a:prstGeom>
          <a:solidFill>
            <a:srgbClr val="DD8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5495544" cy="5449824"/>
          </a:xfrm>
          <a:prstGeom prst="roundRect">
            <a:avLst>
              <a:gd name="adj" fmla="val 10000"/>
            </a:avLst>
          </a:prstGeom>
          <a:solidFill>
            <a:srgbClr val="FB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81344" y="960120"/>
            <a:ext cx="5596128" cy="5449824"/>
          </a:xfrm>
          <a:prstGeom prst="roundRect">
            <a:avLst>
              <a:gd name="adj" fmla="val 10000"/>
            </a:avLst>
          </a:prstGeom>
          <a:solidFill>
            <a:srgbClr val="E8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61288"/>
            <a:ext cx="5230368" cy="338328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12022"/>
                </a:solidFill>
                <a:latin typeface="Aptos"/>
              </a:rPr>
              <a:t>Multi-FPGA Prototyping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1072" y="1161288"/>
            <a:ext cx="5376672" cy="338328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174E9D"/>
                </a:solidFill>
                <a:latin typeface="Aptos"/>
              </a:rPr>
              <a:t>Replayable Multi-FPGA Emulation</a:t>
            </a:r>
          </a:p>
        </p:txBody>
      </p:sp>
      <p:sp>
        <p:nvSpPr>
          <p:cNvPr id="8" name="Oval 7"/>
          <p:cNvSpPr/>
          <p:nvPr/>
        </p:nvSpPr>
        <p:spPr>
          <a:xfrm>
            <a:off x="740664" y="1715414"/>
            <a:ext cx="274320" cy="274320"/>
          </a:xfrm>
          <a:prstGeom prst="ellipse">
            <a:avLst/>
          </a:prstGeom>
          <a:solidFill>
            <a:srgbClr val="24A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5294" y="1730959"/>
            <a:ext cx="246888" cy="246888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ejaVu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729130"/>
            <a:ext cx="4343400" cy="320040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202F41"/>
                </a:solidFill>
                <a:latin typeface="Aptos"/>
              </a:rPr>
              <a:t>Large design capacity</a:t>
            </a:r>
          </a:p>
        </p:txBody>
      </p:sp>
      <p:sp>
        <p:nvSpPr>
          <p:cNvPr id="11" name="Oval 10"/>
          <p:cNvSpPr/>
          <p:nvPr/>
        </p:nvSpPr>
        <p:spPr>
          <a:xfrm>
            <a:off x="740664" y="2154326"/>
            <a:ext cx="274320" cy="274320"/>
          </a:xfrm>
          <a:prstGeom prst="ellipse">
            <a:avLst/>
          </a:prstGeom>
          <a:solidFill>
            <a:srgbClr val="24A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" y="2169871"/>
            <a:ext cx="246888" cy="246888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ejaVu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168042"/>
            <a:ext cx="4343400" cy="320040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202F41"/>
                </a:solidFill>
                <a:latin typeface="Aptos"/>
              </a:rPr>
              <a:t>High execution speed</a:t>
            </a:r>
          </a:p>
        </p:txBody>
      </p:sp>
      <p:sp>
        <p:nvSpPr>
          <p:cNvPr id="14" name="Oval 13"/>
          <p:cNvSpPr/>
          <p:nvPr/>
        </p:nvSpPr>
        <p:spPr>
          <a:xfrm>
            <a:off x="740664" y="2593238"/>
            <a:ext cx="274320" cy="274320"/>
          </a:xfrm>
          <a:prstGeom prst="ellipse">
            <a:avLst/>
          </a:prstGeom>
          <a:solidFill>
            <a:srgbClr val="24A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5294" y="2608783"/>
            <a:ext cx="246888" cy="246888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ejaVu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606954"/>
            <a:ext cx="4343400" cy="320040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202F41"/>
                </a:solidFill>
                <a:latin typeface="Aptos"/>
              </a:rPr>
              <a:t>Long software workloads</a:t>
            </a:r>
          </a:p>
        </p:txBody>
      </p:sp>
      <p:sp>
        <p:nvSpPr>
          <p:cNvPr id="17" name="Oval 16"/>
          <p:cNvSpPr/>
          <p:nvPr/>
        </p:nvSpPr>
        <p:spPr>
          <a:xfrm>
            <a:off x="740664" y="3032150"/>
            <a:ext cx="274320" cy="274320"/>
          </a:xfrm>
          <a:prstGeom prst="ellipse">
            <a:avLst/>
          </a:prstGeom>
          <a:solidFill>
            <a:srgbClr val="E3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" y="3047695"/>
            <a:ext cx="246888" cy="246888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ejaVu Sans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045866"/>
            <a:ext cx="4343400" cy="320040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202F41"/>
                </a:solidFill>
                <a:latin typeface="Aptos"/>
              </a:rPr>
              <a:t>Limited visibility</a:t>
            </a:r>
          </a:p>
        </p:txBody>
      </p:sp>
      <p:sp>
        <p:nvSpPr>
          <p:cNvPr id="20" name="Oval 19"/>
          <p:cNvSpPr/>
          <p:nvPr/>
        </p:nvSpPr>
        <p:spPr>
          <a:xfrm>
            <a:off x="740664" y="3471062"/>
            <a:ext cx="274320" cy="274320"/>
          </a:xfrm>
          <a:prstGeom prst="ellipse">
            <a:avLst/>
          </a:prstGeom>
          <a:solidFill>
            <a:srgbClr val="E3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" y="3486607"/>
            <a:ext cx="246888" cy="246888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ejaVu Sans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3484778"/>
            <a:ext cx="4343400" cy="320040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202F41"/>
                </a:solidFill>
                <a:latin typeface="Aptos"/>
              </a:rPr>
              <a:t>Limited full-state replay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1687982"/>
            <a:ext cx="274320" cy="274320"/>
          </a:xfrm>
          <a:prstGeom prst="ellipse">
            <a:avLst/>
          </a:prstGeom>
          <a:solidFill>
            <a:srgbClr val="24A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6870" y="1703527"/>
            <a:ext cx="246888" cy="246888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ejaVu San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7" y="1701698"/>
            <a:ext cx="4343400" cy="320040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202F41"/>
                </a:solidFill>
                <a:latin typeface="Aptos"/>
              </a:rPr>
              <a:t>Run large RTL designs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2108606"/>
            <a:ext cx="274320" cy="274320"/>
          </a:xfrm>
          <a:prstGeom prst="ellipse">
            <a:avLst/>
          </a:prstGeom>
          <a:solidFill>
            <a:srgbClr val="24A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6870" y="2124151"/>
            <a:ext cx="246888" cy="246888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ejaVu San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7" y="2122322"/>
            <a:ext cx="4343400" cy="320040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202F41"/>
                </a:solidFill>
                <a:latin typeface="Aptos"/>
              </a:rPr>
              <a:t>Cycle-consistent global pause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0" y="2529230"/>
            <a:ext cx="274320" cy="274320"/>
          </a:xfrm>
          <a:prstGeom prst="ellipse">
            <a:avLst/>
          </a:prstGeom>
          <a:solidFill>
            <a:srgbClr val="24A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6870" y="2544775"/>
            <a:ext cx="246888" cy="246888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ejaVu San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7" y="2542946"/>
            <a:ext cx="4343400" cy="320040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202F41"/>
                </a:solidFill>
                <a:latin typeface="Aptos"/>
              </a:rPr>
              <a:t>Full-state extraction</a:t>
            </a:r>
          </a:p>
        </p:txBody>
      </p:sp>
      <p:sp>
        <p:nvSpPr>
          <p:cNvPr id="32" name="Oval 31"/>
          <p:cNvSpPr/>
          <p:nvPr/>
        </p:nvSpPr>
        <p:spPr>
          <a:xfrm>
            <a:off x="6492240" y="2949854"/>
            <a:ext cx="274320" cy="274320"/>
          </a:xfrm>
          <a:prstGeom prst="ellipse">
            <a:avLst/>
          </a:prstGeom>
          <a:solidFill>
            <a:srgbClr val="24A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6870" y="2965399"/>
            <a:ext cx="246888" cy="246888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ejaVu San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2007" y="2963570"/>
            <a:ext cx="4343400" cy="320040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202F41"/>
                </a:solidFill>
                <a:latin typeface="Aptos"/>
              </a:rPr>
              <a:t>State restore</a:t>
            </a:r>
          </a:p>
        </p:txBody>
      </p:sp>
      <p:sp>
        <p:nvSpPr>
          <p:cNvPr id="35" name="Oval 34"/>
          <p:cNvSpPr/>
          <p:nvPr/>
        </p:nvSpPr>
        <p:spPr>
          <a:xfrm>
            <a:off x="6492240" y="3370478"/>
            <a:ext cx="274320" cy="274320"/>
          </a:xfrm>
          <a:prstGeom prst="ellipse">
            <a:avLst/>
          </a:prstGeom>
          <a:solidFill>
            <a:srgbClr val="24A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6870" y="3386023"/>
            <a:ext cx="246888" cy="246888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ejaVu San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07" y="3384194"/>
            <a:ext cx="4343400" cy="320040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202F41"/>
                </a:solidFill>
                <a:latin typeface="Aptos"/>
              </a:rPr>
              <a:t>Deterministic replay</a:t>
            </a:r>
          </a:p>
        </p:txBody>
      </p:sp>
      <p:sp>
        <p:nvSpPr>
          <p:cNvPr id="38" name="Oval 37"/>
          <p:cNvSpPr/>
          <p:nvPr/>
        </p:nvSpPr>
        <p:spPr>
          <a:xfrm>
            <a:off x="6492240" y="3791102"/>
            <a:ext cx="274320" cy="274320"/>
          </a:xfrm>
          <a:prstGeom prst="ellipse">
            <a:avLst/>
          </a:prstGeom>
          <a:solidFill>
            <a:srgbClr val="24A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6870" y="3806647"/>
            <a:ext cx="246888" cy="246888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DejaVu San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7" y="3804818"/>
            <a:ext cx="4343400" cy="320040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202F41"/>
                </a:solidFill>
                <a:latin typeface="Aptos"/>
              </a:rPr>
              <a:t>Waveform reconstruction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" y="4261104"/>
            <a:ext cx="4389120" cy="274320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02F41"/>
                </a:solidFill>
                <a:latin typeface="Aptos"/>
              </a:rPr>
              <a:t>Run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271016" y="4608576"/>
            <a:ext cx="3794760" cy="0"/>
          </a:xfrm>
          <a:prstGeom prst="line">
            <a:avLst/>
          </a:prstGeom>
          <a:ln w="25400">
            <a:solidFill>
              <a:srgbClr val="DD8F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ight Triangle 42"/>
          <p:cNvSpPr/>
          <p:nvPr/>
        </p:nvSpPr>
        <p:spPr>
          <a:xfrm>
            <a:off x="4992624" y="4530852"/>
            <a:ext cx="164592" cy="155448"/>
          </a:xfrm>
          <a:prstGeom prst="rtTriangle">
            <a:avLst/>
          </a:prstGeom>
          <a:solidFill>
            <a:srgbClr val="DD8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fp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4836874"/>
            <a:ext cx="813816" cy="786986"/>
          </a:xfrm>
          <a:prstGeom prst="rect">
            <a:avLst/>
          </a:prstGeom>
        </p:spPr>
      </p:pic>
      <p:pic>
        <p:nvPicPr>
          <p:cNvPr id="45" name="Picture 44" descr="fp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484" y="4836874"/>
            <a:ext cx="813816" cy="786986"/>
          </a:xfrm>
          <a:prstGeom prst="rect">
            <a:avLst/>
          </a:prstGeom>
        </p:spPr>
      </p:pic>
      <p:pic>
        <p:nvPicPr>
          <p:cNvPr id="46" name="Picture 45" descr="fp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116" y="4836874"/>
            <a:ext cx="813816" cy="786986"/>
          </a:xfrm>
          <a:prstGeom prst="rect">
            <a:avLst/>
          </a:prstGeom>
        </p:spPr>
      </p:pic>
      <p:cxnSp>
        <p:nvCxnSpPr>
          <p:cNvPr id="47" name="Connector 46"/>
          <p:cNvCxnSpPr/>
          <p:nvPr/>
        </p:nvCxnSpPr>
        <p:spPr>
          <a:xfrm>
            <a:off x="1984248" y="5230368"/>
            <a:ext cx="530352" cy="0"/>
          </a:xfrm>
          <a:prstGeom prst="line">
            <a:avLst/>
          </a:prstGeom>
          <a:ln w="17145">
            <a:solidFill>
              <a:srgbClr val="202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ight Triangle 47"/>
          <p:cNvSpPr/>
          <p:nvPr/>
        </p:nvSpPr>
        <p:spPr>
          <a:xfrm>
            <a:off x="2468879" y="5173675"/>
            <a:ext cx="128016" cy="114300"/>
          </a:xfrm>
          <a:prstGeom prst="rtTriangle">
            <a:avLst/>
          </a:prstGeom>
          <a:solidFill>
            <a:srgbClr val="202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3648456" y="5230368"/>
            <a:ext cx="493775" cy="0"/>
          </a:xfrm>
          <a:prstGeom prst="line">
            <a:avLst/>
          </a:prstGeom>
          <a:ln w="17145">
            <a:solidFill>
              <a:srgbClr val="202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ight Triangle 49"/>
          <p:cNvSpPr/>
          <p:nvPr/>
        </p:nvSpPr>
        <p:spPr>
          <a:xfrm>
            <a:off x="4096511" y="5173675"/>
            <a:ext cx="128016" cy="114300"/>
          </a:xfrm>
          <a:prstGeom prst="rtTriangle">
            <a:avLst/>
          </a:prstGeom>
          <a:solidFill>
            <a:srgbClr val="202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3136392" y="5632704"/>
            <a:ext cx="0" cy="205740"/>
          </a:xfrm>
          <a:prstGeom prst="line">
            <a:avLst/>
          </a:prstGeom>
          <a:ln w="17780">
            <a:solidFill>
              <a:srgbClr val="67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own Arrow 51"/>
          <p:cNvSpPr/>
          <p:nvPr/>
        </p:nvSpPr>
        <p:spPr>
          <a:xfrm>
            <a:off x="3054096" y="5742432"/>
            <a:ext cx="164592" cy="164592"/>
          </a:xfrm>
          <a:prstGeom prst="downArrow">
            <a:avLst/>
          </a:prstGeom>
          <a:solidFill>
            <a:srgbClr val="67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240280" y="5897880"/>
            <a:ext cx="1792224" cy="329184"/>
          </a:xfrm>
          <a:prstGeom prst="roundRect">
            <a:avLst>
              <a:gd name="adj" fmla="val 10000"/>
            </a:avLst>
          </a:prstGeom>
          <a:solidFill>
            <a:srgbClr val="E5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76856" y="5943600"/>
            <a:ext cx="1709928" cy="246888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0">
                <a:solidFill>
                  <a:srgbClr val="202F41"/>
                </a:solidFill>
                <a:latin typeface="Aptos"/>
              </a:rPr>
              <a:t>Limited visibility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4663440"/>
            <a:ext cx="896112" cy="521207"/>
          </a:xfrm>
          <a:prstGeom prst="roundRect">
            <a:avLst>
              <a:gd name="adj" fmla="val 10000"/>
            </a:avLst>
          </a:prstGeom>
          <a:solidFill>
            <a:srgbClr val="D4F1DB"/>
          </a:solidFill>
          <a:ln w="11430">
            <a:solidFill>
              <a:srgbClr val="A4B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19088" y="4806086"/>
            <a:ext cx="859536" cy="265176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02F41"/>
                </a:solidFill>
                <a:latin typeface="Aptos"/>
              </a:rPr>
              <a:t>Run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313371" y="4924044"/>
            <a:ext cx="49377" cy="0"/>
          </a:xfrm>
          <a:prstGeom prst="line">
            <a:avLst/>
          </a:prstGeom>
          <a:ln w="17145">
            <a:solidFill>
              <a:srgbClr val="202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ight Triangle 57"/>
          <p:cNvSpPr/>
          <p:nvPr/>
        </p:nvSpPr>
        <p:spPr>
          <a:xfrm>
            <a:off x="7317028" y="4867351"/>
            <a:ext cx="128016" cy="114300"/>
          </a:xfrm>
          <a:prstGeom prst="rtTriangle">
            <a:avLst/>
          </a:prstGeom>
          <a:solidFill>
            <a:srgbClr val="202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443216" y="4663440"/>
            <a:ext cx="896112" cy="521207"/>
          </a:xfrm>
          <a:prstGeom prst="roundRect">
            <a:avLst>
              <a:gd name="adj" fmla="val 10000"/>
            </a:avLst>
          </a:prstGeom>
          <a:solidFill>
            <a:srgbClr val="FFEAAD"/>
          </a:solidFill>
          <a:ln w="11430">
            <a:solidFill>
              <a:srgbClr val="A4B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61504" y="4806086"/>
            <a:ext cx="859536" cy="265176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02F41"/>
                </a:solidFill>
                <a:latin typeface="Aptos"/>
              </a:rPr>
              <a:t>Pause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355787" y="4924044"/>
            <a:ext cx="49377" cy="0"/>
          </a:xfrm>
          <a:prstGeom prst="line">
            <a:avLst/>
          </a:prstGeom>
          <a:ln w="17145">
            <a:solidFill>
              <a:srgbClr val="202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ight Triangle 61"/>
          <p:cNvSpPr/>
          <p:nvPr/>
        </p:nvSpPr>
        <p:spPr>
          <a:xfrm>
            <a:off x="8359444" y="4867351"/>
            <a:ext cx="128016" cy="114300"/>
          </a:xfrm>
          <a:prstGeom prst="rtTriangle">
            <a:avLst/>
          </a:prstGeom>
          <a:solidFill>
            <a:srgbClr val="202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485632" y="4663440"/>
            <a:ext cx="896112" cy="521207"/>
          </a:xfrm>
          <a:prstGeom prst="roundRect">
            <a:avLst>
              <a:gd name="adj" fmla="val 10000"/>
            </a:avLst>
          </a:prstGeom>
          <a:solidFill>
            <a:srgbClr val="CEE5FF"/>
          </a:solidFill>
          <a:ln w="11430">
            <a:solidFill>
              <a:srgbClr val="A4B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03919" y="4806086"/>
            <a:ext cx="859536" cy="265176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02F41"/>
                </a:solidFill>
                <a:latin typeface="Aptos"/>
              </a:rPr>
              <a:t>Dump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398203" y="4924044"/>
            <a:ext cx="49377" cy="0"/>
          </a:xfrm>
          <a:prstGeom prst="line">
            <a:avLst/>
          </a:prstGeom>
          <a:ln w="17145">
            <a:solidFill>
              <a:srgbClr val="202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ight Triangle 65"/>
          <p:cNvSpPr/>
          <p:nvPr/>
        </p:nvSpPr>
        <p:spPr>
          <a:xfrm>
            <a:off x="9401860" y="4867351"/>
            <a:ext cx="128016" cy="114300"/>
          </a:xfrm>
          <a:prstGeom prst="rtTriangle">
            <a:avLst/>
          </a:prstGeom>
          <a:solidFill>
            <a:srgbClr val="202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528048" y="4663440"/>
            <a:ext cx="896112" cy="521207"/>
          </a:xfrm>
          <a:prstGeom prst="roundRect">
            <a:avLst>
              <a:gd name="adj" fmla="val 10000"/>
            </a:avLst>
          </a:prstGeom>
          <a:solidFill>
            <a:srgbClr val="FFDADD"/>
          </a:solidFill>
          <a:ln w="11430">
            <a:solidFill>
              <a:srgbClr val="A4B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46336" y="4806086"/>
            <a:ext cx="859536" cy="265176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02F41"/>
                </a:solidFill>
                <a:latin typeface="Aptos"/>
              </a:rPr>
              <a:t>Restore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0440619" y="4924044"/>
            <a:ext cx="49377" cy="0"/>
          </a:xfrm>
          <a:prstGeom prst="line">
            <a:avLst/>
          </a:prstGeom>
          <a:ln w="17145">
            <a:solidFill>
              <a:srgbClr val="202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ight Triangle 69"/>
          <p:cNvSpPr/>
          <p:nvPr/>
        </p:nvSpPr>
        <p:spPr>
          <a:xfrm>
            <a:off x="10444276" y="4867351"/>
            <a:ext cx="128016" cy="114300"/>
          </a:xfrm>
          <a:prstGeom prst="rtTriangle">
            <a:avLst/>
          </a:prstGeom>
          <a:solidFill>
            <a:srgbClr val="202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570464" y="4663440"/>
            <a:ext cx="896112" cy="521207"/>
          </a:xfrm>
          <a:prstGeom prst="roundRect">
            <a:avLst>
              <a:gd name="adj" fmla="val 10000"/>
            </a:avLst>
          </a:prstGeom>
          <a:solidFill>
            <a:srgbClr val="E9D9FE"/>
          </a:solidFill>
          <a:ln w="11430">
            <a:solidFill>
              <a:srgbClr val="A4B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588752" y="4806086"/>
            <a:ext cx="859536" cy="265176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02F41"/>
                </a:solidFill>
                <a:latin typeface="Aptos"/>
              </a:rPr>
              <a:t>Replay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933688" y="5221224"/>
            <a:ext cx="0" cy="169164"/>
          </a:xfrm>
          <a:prstGeom prst="line">
            <a:avLst/>
          </a:prstGeom>
          <a:ln w="17780">
            <a:solidFill>
              <a:srgbClr val="5F74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Down Arrow 73"/>
          <p:cNvSpPr/>
          <p:nvPr/>
        </p:nvSpPr>
        <p:spPr>
          <a:xfrm>
            <a:off x="8851392" y="5294376"/>
            <a:ext cx="164592" cy="164592"/>
          </a:xfrm>
          <a:prstGeom prst="downArrow">
            <a:avLst/>
          </a:prstGeom>
          <a:solidFill>
            <a:srgbClr val="5F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snap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7" y="5405518"/>
            <a:ext cx="548640" cy="61896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193024" y="6080760"/>
            <a:ext cx="1490472" cy="228600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202F41"/>
                </a:solidFill>
                <a:latin typeface="Aptos"/>
              </a:rPr>
              <a:t>Global snapshot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1018520" y="5221224"/>
            <a:ext cx="0" cy="105156"/>
          </a:xfrm>
          <a:prstGeom prst="line">
            <a:avLst/>
          </a:prstGeom>
          <a:ln w="17780">
            <a:solidFill>
              <a:srgbClr val="5F74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Down Arrow 77"/>
          <p:cNvSpPr/>
          <p:nvPr/>
        </p:nvSpPr>
        <p:spPr>
          <a:xfrm>
            <a:off x="10936224" y="5230368"/>
            <a:ext cx="164592" cy="164592"/>
          </a:xfrm>
          <a:prstGeom prst="downArrow">
            <a:avLst/>
          </a:prstGeom>
          <a:solidFill>
            <a:srgbClr val="5F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mon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5383855"/>
            <a:ext cx="731520" cy="6440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0469880" y="6071616"/>
            <a:ext cx="1097280" cy="228600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202F41"/>
                </a:solidFill>
                <a:latin typeface="Aptos"/>
              </a:rPr>
              <a:t>Waveform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530584" y="6583680"/>
            <a:ext cx="274320" cy="155448"/>
          </a:xfrm>
          <a:prstGeom prst="rect">
            <a:avLst/>
          </a:prstGeom>
          <a:noFill/>
        </p:spPr>
        <p:txBody>
          <a:bodyPr wrap="none" lIns="13716" rIns="13716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7748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