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e9558e40a144424" /><Relationship Type="http://schemas.openxmlformats.org/package/2006/relationships/metadata/core-properties" Target="/docProps/core.xml" Id="R5137a25d06174a1e" /><Relationship Type="http://schemas.openxmlformats.org/officeDocument/2006/relationships/extended-properties" Target="/docProps/app.xml" Id="Ra760e5b0544b4153" /><Relationship Type="http://schemas.openxmlformats.org/officeDocument/2006/relationships/custom-properties" Target="/docProps/custom.xml" Id="R96905eb72cdf428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9cacdc73b424286"/>
  </p:notesMasterIdLst>
  <p:sldIdLst>
    <p:sldId id="256" r:id="Rddd67e73bdc64804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dd67e73bdc64804" /><Relationship Type="http://schemas.openxmlformats.org/officeDocument/2006/relationships/notesMaster" Target="/ppt/notesMasters/notesMaster1.xml" Id="Re9cacdc73b4242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ddd02469ea6468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12f14f9585a4766" /><Relationship Type="http://schemas.openxmlformats.org/officeDocument/2006/relationships/slide" Target="/ppt/slides/slide1.xml" Id="R76acbb97f35a46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Runtime operations such as global pause and state management require Host access to each FPGA's registers and memory. The baseline dual-board prototype uses a separate PCIe connection to each FPGA. Fabric provides a shared Host entry through the Ref node and carries resource requests over inter-FPGA links. Ref also retains its local DUT and resources. The diagrams illustrate architecture; three nodes and chain links do not claim a validated three-FPGA deployment. Access bandwidth is shared at Ref, and supported scale still depends on links and implementation constraints. Fabric components and the Driver backend are implemented; the dual-node Cosim environment is established. Current documented evidence does not establish complete end-to-end or Fabric board-level validation. At the user's request, these status lines and the illustrative-topology caption are omitted from the visible slide, not converted into success claims. Sources: src/midterm/progress/runtime.tex; ../docs/source/project-notes/fabric/status.md. Design reference: figure/presentation-reference/midterm-runtime-09-v1.png. All visible text, diagrams, and arrows are native editable PowerPoint elements.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2c2041173e46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fb6d0caeb147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c6cd7b98da46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6f198b598141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607325f41345f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4af97836b0240e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d9a812d8e4d7c" /><Relationship Type="http://schemas.openxmlformats.org/officeDocument/2006/relationships/notesSlide" Target="/ppt/notesSlides/notesSlide1.xml" Id="Rfd209380746b4f5c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9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B56"/>
                </a:solidFill>
                <a:latin typeface="Arial"/>
                <a:ea typeface="Arial"/>
              </a:rPr>
              <a:t>9. Scalable Multi-FPGA Runtime</a:t>
            </a:r>
          </a:p>
        </p:txBody>
      </p:sp>
      <p:sp>
        <p:nvSpPr>
          <p:cNvPr id="100000" name="S09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9.Direct.Panel"/>
          <p:cNvSpPr/>
          <p:nvPr/>
        </p:nvSpPr>
        <p:spPr>
          <a:xfrm>
            <a:off x="320040" y="987552"/>
            <a:ext cx="5596128" cy="361188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9.Direct.Heading"/>
          <p:cNvSpPr txBox="1"/>
          <p:nvPr/>
        </p:nvSpPr>
        <p:spPr>
          <a:xfrm>
            <a:off x="484632" y="1124712"/>
            <a:ext cx="5266944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Direct PCIe Access</a:t>
            </a:r>
          </a:p>
        </p:txBody>
      </p:sp>
      <p:sp>
        <p:nvSpPr>
          <p:cNvPr id="100003" name="S09.Direct.Host"/>
          <p:cNvSpPr txBox="1"/>
          <p:nvPr/>
        </p:nvSpPr>
        <p:spPr>
          <a:xfrm>
            <a:off x="502920" y="1719072"/>
            <a:ext cx="5230368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Host</a:t>
            </a:r>
          </a:p>
        </p:txBody>
      </p:sp>
      <p:sp>
        <p:nvSpPr>
          <p:cNvPr id="100004" name="S09.Direct.Node0"/>
          <p:cNvSpPr/>
          <p:nvPr/>
        </p:nvSpPr>
        <p:spPr>
          <a:xfrm>
            <a:off x="484632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9.Direct.Node0.Label"/>
          <p:cNvSpPr txBox="1"/>
          <p:nvPr/>
        </p:nvSpPr>
        <p:spPr>
          <a:xfrm>
            <a:off x="521208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A</a:t>
            </a:r>
          </a:p>
        </p:txBody>
      </p:sp>
      <p:sp>
        <p:nvSpPr>
          <p:cNvPr id="100006" name="S09.Direct.Node0.Resources"/>
          <p:cNvSpPr txBox="1"/>
          <p:nvPr/>
        </p:nvSpPr>
        <p:spPr>
          <a:xfrm>
            <a:off x="576072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07" name="S09.Direct.PCIe0"/>
          <p:cNvSpPr/>
          <p:nvPr/>
        </p:nvSpPr>
        <p:spPr>
          <a:xfrm>
            <a:off x="1120140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8" name="S09.Direct.PCIe0.Label"/>
          <p:cNvSpPr txBox="1"/>
          <p:nvPr/>
        </p:nvSpPr>
        <p:spPr>
          <a:xfrm>
            <a:off x="1298448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09" name="S09.Direct.Link0"/>
          <p:cNvSpPr/>
          <p:nvPr/>
        </p:nvSpPr>
        <p:spPr>
          <a:xfrm>
            <a:off x="1911096" y="3703320"/>
            <a:ext cx="484632" cy="137160"/>
          </a:xfrm>
          <a:prstGeom prst="leftRight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9.Direct.Node1"/>
          <p:cNvSpPr/>
          <p:nvPr/>
        </p:nvSpPr>
        <p:spPr>
          <a:xfrm>
            <a:off x="2414016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9.Direct.Node1.Label"/>
          <p:cNvSpPr txBox="1"/>
          <p:nvPr/>
        </p:nvSpPr>
        <p:spPr>
          <a:xfrm>
            <a:off x="2450592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B</a:t>
            </a:r>
          </a:p>
        </p:txBody>
      </p:sp>
      <p:sp>
        <p:nvSpPr>
          <p:cNvPr id="100012" name="S09.Direct.Node1.Resources"/>
          <p:cNvSpPr txBox="1"/>
          <p:nvPr/>
        </p:nvSpPr>
        <p:spPr>
          <a:xfrm>
            <a:off x="2505456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13" name="S09.Direct.PCIe1"/>
          <p:cNvSpPr/>
          <p:nvPr/>
        </p:nvSpPr>
        <p:spPr>
          <a:xfrm>
            <a:off x="3049524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9.Direct.PCIe1.Label"/>
          <p:cNvSpPr txBox="1"/>
          <p:nvPr/>
        </p:nvSpPr>
        <p:spPr>
          <a:xfrm>
            <a:off x="3227832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15" name="S09.Direct.Link1"/>
          <p:cNvSpPr/>
          <p:nvPr/>
        </p:nvSpPr>
        <p:spPr>
          <a:xfrm>
            <a:off x="3840480" y="3703320"/>
            <a:ext cx="484632" cy="137160"/>
          </a:xfrm>
          <a:prstGeom prst="leftRight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9.Direct.Node2"/>
          <p:cNvSpPr/>
          <p:nvPr/>
        </p:nvSpPr>
        <p:spPr>
          <a:xfrm>
            <a:off x="4343400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9.Direct.Node2.Label"/>
          <p:cNvSpPr txBox="1"/>
          <p:nvPr/>
        </p:nvSpPr>
        <p:spPr>
          <a:xfrm>
            <a:off x="4379976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C</a:t>
            </a:r>
          </a:p>
        </p:txBody>
      </p:sp>
      <p:sp>
        <p:nvSpPr>
          <p:cNvPr id="100018" name="S09.Direct.Node2.Resources"/>
          <p:cNvSpPr txBox="1"/>
          <p:nvPr/>
        </p:nvSpPr>
        <p:spPr>
          <a:xfrm>
            <a:off x="4434840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19" name="S09.Direct.PCIe2"/>
          <p:cNvSpPr/>
          <p:nvPr/>
        </p:nvSpPr>
        <p:spPr>
          <a:xfrm>
            <a:off x="4978908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9.Direct.PCIe2.Label"/>
          <p:cNvSpPr txBox="1"/>
          <p:nvPr/>
        </p:nvSpPr>
        <p:spPr>
          <a:xfrm>
            <a:off x="5157216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21" name="S09.Direct.LinkCaption"/>
          <p:cNvSpPr txBox="1"/>
          <p:nvPr/>
        </p:nvSpPr>
        <p:spPr>
          <a:xfrm>
            <a:off x="1600200" y="4325112"/>
            <a:ext cx="3035808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607184"/>
                </a:solidFill>
                <a:latin typeface="Arial"/>
                <a:ea typeface="Arial"/>
              </a:rPr>
              <a:t>DUT communication</a:t>
            </a:r>
          </a:p>
        </p:txBody>
      </p:sp>
      <p:sp>
        <p:nvSpPr>
          <p:cNvPr id="100022" name="S09.Direct.Bullet0"/>
          <p:cNvSpPr/>
          <p:nvPr/>
        </p:nvSpPr>
        <p:spPr>
          <a:xfrm>
            <a:off x="374904" y="508406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9.Direct.Text0"/>
          <p:cNvSpPr txBox="1"/>
          <p:nvPr/>
        </p:nvSpPr>
        <p:spPr>
          <a:xfrm>
            <a:off x="649224" y="496519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Separate Host connection per FPGA</a:t>
            </a:r>
          </a:p>
        </p:txBody>
      </p:sp>
      <p:sp>
        <p:nvSpPr>
          <p:cNvPr id="100024" name="S09.Direct.Bullet1"/>
          <p:cNvSpPr/>
          <p:nvPr/>
        </p:nvSpPr>
        <p:spPr>
          <a:xfrm>
            <a:off x="374904" y="558698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5" name="S09.Direct.Text1"/>
          <p:cNvSpPr txBox="1"/>
          <p:nvPr/>
        </p:nvSpPr>
        <p:spPr>
          <a:xfrm>
            <a:off x="649224" y="546811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Limited by Host PCIe connectivity</a:t>
            </a:r>
          </a:p>
        </p:txBody>
      </p:sp>
      <p:sp>
        <p:nvSpPr>
          <p:cNvPr id="100026" name="S09.Fabric.Panel"/>
          <p:cNvSpPr/>
          <p:nvPr/>
        </p:nvSpPr>
        <p:spPr>
          <a:xfrm>
            <a:off x="6281928" y="987552"/>
            <a:ext cx="5596128" cy="3611880"/>
          </a:xfrm>
          <a:prstGeom prst="roundRect">
            <a:avLst>
              <a:gd name="adj" fmla="val 4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7" name="S09.Fabric.Heading"/>
          <p:cNvSpPr txBox="1"/>
          <p:nvPr/>
        </p:nvSpPr>
        <p:spPr>
          <a:xfrm>
            <a:off x="6446520" y="1124712"/>
            <a:ext cx="5266944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Fabric-Based Access</a:t>
            </a:r>
          </a:p>
        </p:txBody>
      </p:sp>
      <p:sp>
        <p:nvSpPr>
          <p:cNvPr id="100028" name="S09.Fabric.Host"/>
          <p:cNvSpPr txBox="1"/>
          <p:nvPr/>
        </p:nvSpPr>
        <p:spPr>
          <a:xfrm>
            <a:off x="6464808" y="1719072"/>
            <a:ext cx="5230368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Host</a:t>
            </a:r>
          </a:p>
        </p:txBody>
      </p:sp>
      <p:sp>
        <p:nvSpPr>
          <p:cNvPr id="100029" name="S09.Fabric.Node0"/>
          <p:cNvSpPr/>
          <p:nvPr/>
        </p:nvSpPr>
        <p:spPr>
          <a:xfrm>
            <a:off x="6446520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8C95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9.Fabric.Node0.Label"/>
          <p:cNvSpPr txBox="1"/>
          <p:nvPr/>
        </p:nvSpPr>
        <p:spPr>
          <a:xfrm>
            <a:off x="6483096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008C95"/>
                </a:solidFill>
                <a:latin typeface="Arial"/>
                <a:ea typeface="Arial"/>
              </a:rPr>
              <a:t>Ref FPGA</a:t>
            </a:r>
          </a:p>
        </p:txBody>
      </p:sp>
      <p:sp>
        <p:nvSpPr>
          <p:cNvPr id="100031" name="S09.Fabric.Node0.Resources"/>
          <p:cNvSpPr txBox="1"/>
          <p:nvPr/>
        </p:nvSpPr>
        <p:spPr>
          <a:xfrm>
            <a:off x="6537960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32" name="S09.Fabric.PCIe0"/>
          <p:cNvSpPr/>
          <p:nvPr/>
        </p:nvSpPr>
        <p:spPr>
          <a:xfrm>
            <a:off x="7082028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3" name="S09.Fabric.PCIe0.Label"/>
          <p:cNvSpPr txBox="1"/>
          <p:nvPr/>
        </p:nvSpPr>
        <p:spPr>
          <a:xfrm>
            <a:off x="7260336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34" name="S09.Fabric.Link0"/>
          <p:cNvSpPr/>
          <p:nvPr/>
        </p:nvSpPr>
        <p:spPr>
          <a:xfrm>
            <a:off x="7872984" y="3703320"/>
            <a:ext cx="484632" cy="137160"/>
          </a:xfrm>
          <a:prstGeom prst="leftRightArrow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5" name="S09.Fabric.Link0.Label"/>
          <p:cNvSpPr txBox="1"/>
          <p:nvPr/>
        </p:nvSpPr>
        <p:spPr>
          <a:xfrm>
            <a:off x="7836408" y="3447288"/>
            <a:ext cx="557784" cy="2194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200" b="1">
                <a:solidFill>
                  <a:srgbClr val="008C95"/>
                </a:solidFill>
                <a:latin typeface="Arial"/>
                <a:ea typeface="Arial"/>
              </a:rPr>
              <a:t>Fabric</a:t>
            </a:r>
          </a:p>
        </p:txBody>
      </p:sp>
      <p:sp>
        <p:nvSpPr>
          <p:cNvPr id="100036" name="S09.Fabric.Node1"/>
          <p:cNvSpPr/>
          <p:nvPr/>
        </p:nvSpPr>
        <p:spPr>
          <a:xfrm>
            <a:off x="8375904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7" name="S09.Fabric.Node1.Label"/>
          <p:cNvSpPr txBox="1"/>
          <p:nvPr/>
        </p:nvSpPr>
        <p:spPr>
          <a:xfrm>
            <a:off x="8412480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B</a:t>
            </a:r>
          </a:p>
        </p:txBody>
      </p:sp>
      <p:sp>
        <p:nvSpPr>
          <p:cNvPr id="100038" name="S09.Fabric.Node1.Resources"/>
          <p:cNvSpPr txBox="1"/>
          <p:nvPr/>
        </p:nvSpPr>
        <p:spPr>
          <a:xfrm>
            <a:off x="8467344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39" name="S09.Fabric.Link1"/>
          <p:cNvSpPr/>
          <p:nvPr/>
        </p:nvSpPr>
        <p:spPr>
          <a:xfrm>
            <a:off x="9802368" y="3703320"/>
            <a:ext cx="484632" cy="137160"/>
          </a:xfrm>
          <a:prstGeom prst="leftRightArrow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9.Fabric.Link1.Label"/>
          <p:cNvSpPr txBox="1"/>
          <p:nvPr/>
        </p:nvSpPr>
        <p:spPr>
          <a:xfrm>
            <a:off x="9765792" y="3447288"/>
            <a:ext cx="557784" cy="2194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200" b="1">
                <a:solidFill>
                  <a:srgbClr val="008C95"/>
                </a:solidFill>
                <a:latin typeface="Arial"/>
                <a:ea typeface="Arial"/>
              </a:rPr>
              <a:t>Fabric</a:t>
            </a:r>
          </a:p>
        </p:txBody>
      </p:sp>
      <p:sp>
        <p:nvSpPr>
          <p:cNvPr id="100041" name="S09.Fabric.Node2"/>
          <p:cNvSpPr/>
          <p:nvPr/>
        </p:nvSpPr>
        <p:spPr>
          <a:xfrm>
            <a:off x="10305288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9.Fabric.Node2.Label"/>
          <p:cNvSpPr txBox="1"/>
          <p:nvPr/>
        </p:nvSpPr>
        <p:spPr>
          <a:xfrm>
            <a:off x="10341864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C</a:t>
            </a:r>
          </a:p>
        </p:txBody>
      </p:sp>
      <p:sp>
        <p:nvSpPr>
          <p:cNvPr id="100043" name="S09.Fabric.Node2.Resources"/>
          <p:cNvSpPr txBox="1"/>
          <p:nvPr/>
        </p:nvSpPr>
        <p:spPr>
          <a:xfrm>
            <a:off x="10396728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44" name="S09.Fabric.Bullet0"/>
          <p:cNvSpPr/>
          <p:nvPr/>
        </p:nvSpPr>
        <p:spPr>
          <a:xfrm>
            <a:off x="6336792" y="508406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5" name="S09.Fabric.Text0"/>
          <p:cNvSpPr txBox="1"/>
          <p:nvPr/>
        </p:nvSpPr>
        <p:spPr>
          <a:xfrm>
            <a:off x="6611112" y="496519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One Host entry via Ref</a:t>
            </a:r>
          </a:p>
        </p:txBody>
      </p:sp>
      <p:sp>
        <p:nvSpPr>
          <p:cNvPr id="100046" name="S09.Fabric.Bullet1"/>
          <p:cNvSpPr/>
          <p:nvPr/>
        </p:nvSpPr>
        <p:spPr>
          <a:xfrm>
            <a:off x="6336792" y="558698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7" name="S09.Fabric.Text1"/>
          <p:cNvSpPr txBox="1"/>
          <p:nvPr/>
        </p:nvSpPr>
        <p:spPr>
          <a:xfrm>
            <a:off x="6611112" y="546811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Unified register and memory access</a:t>
            </a:r>
          </a:p>
        </p:txBody>
      </p:sp>
      <p:sp>
        <p:nvSpPr>
          <p:cNvPr id="100048" name="S09.Fabric.Bullet2"/>
          <p:cNvSpPr/>
          <p:nvPr/>
        </p:nvSpPr>
        <p:spPr>
          <a:xfrm>
            <a:off x="6336792" y="608990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9" name="S09.Fabric.Text2"/>
          <p:cNvSpPr txBox="1"/>
          <p:nvPr/>
        </p:nvSpPr>
        <p:spPr>
          <a:xfrm>
            <a:off x="6611112" y="597103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Extend through inter-FPGA links</a:t>
            </a:r>
          </a:p>
        </p:txBody>
      </p:sp>
      <p:sp>
        <p:nvSpPr>
          <p:cNvPr id="100050" name="S09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9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2026-10-28T11:48:11.0000000Z</dcterms:created>
  <lastModifiedBy>OfficeCLI</lastModifiedBy>
  <dcterms:modified xsi:type="dcterms:W3CDTF">2026-10-28T11:48:12.1957358Z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2026-10-28T11:48:14Z</vt:lpwstr>
  </op:property>
</op:Properties>
</file>