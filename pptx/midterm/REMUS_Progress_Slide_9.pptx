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8bd38abba9548ff" /><Relationship Type="http://schemas.openxmlformats.org/package/2006/relationships/metadata/core-properties" Target="/docProps/core.xml" Id="Rbaede5ac76264a8e" /><Relationship Type="http://schemas.openxmlformats.org/officeDocument/2006/relationships/extended-properties" Target="/docProps/app.xml" Id="R1bec9e72c4324a70" /><Relationship Type="http://schemas.openxmlformats.org/officeDocument/2006/relationships/custom-properties" Target="/docProps/custom.xml" Id="R2c728e2d8845435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3eba1278033405d"/>
  </p:notesMasterIdLst>
  <p:sldIdLst>
    <p:sldId id="256" r:id="R8f7999761b2548bb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f7999761b2548bb" /><Relationship Type="http://schemas.openxmlformats.org/officeDocument/2006/relationships/notesMaster" Target="/ppt/notesMasters/notesMaster1.xml" Id="Rf3eba1278033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8a4a2b10ec346c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db3b999fc3e41ac" /><Relationship Type="http://schemas.openxmlformats.org/officeDocument/2006/relationships/slide" Target="/ppt/slides/slide1.xml" Id="Re45512ef20b7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Runtime operations such as global pause and state management require Host access to each FPGA's registers and memory. The baseline dual-board prototype uses a separate PCIe connection to each FPGA. Fabric provides a shared Host entry through the Ref node and carries resource requests over inter-FPGA links. Ref also retains its local DUT and resources. The diagrams illustrate architecture; three nodes and chain links do not claim a validated three-FPGA deployment. Access bandwidth is shared at Ref, and supported scale still depends on links and implementation constraints. Fabric components and the Driver backend are implemented; the dual-node Cosim environment is established. Current documented evidence does not establish complete end-to-end or Fabric board-level validation. At the user's request, these status lines and the illustrative-topology caption are omitted from the visible slide, not converted into success claims. Sources: src/midterm/progress/runtime.tex; ../docs/source/project-notes/fabric/status.md. Design reference: figure/presentation-reference/midterm-runtime-09-v1.png. All visible text, diagrams, and arrows are native editable PowerPoint elements.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0721d155084b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c334c520b4f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5387367b4341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e07df762a44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680cc00df4a6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2366ee757034be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89212f24449ed" /><Relationship Type="http://schemas.openxmlformats.org/officeDocument/2006/relationships/notesSlide" Target="/ppt/notesSlides/notesSlide1.xml" Id="Rb9006d71c7654aba" /></Relationships>
</file>

<file path=ppt/slides/slide1.xml><?xml version="1.0" encoding="utf-8"?>
<p:sld xmlns:a="http://schemas.openxmlformats.org/drawingml/2006/main" xmlns:p="http://schemas.openxmlformats.org/presentationml/2006/main">
  <p:cSld xmlns:a="http://schemas.openxmlformats.org/drawingml/2006/main" xmlns:p="http://schemas.openxmlformats.org/presentationml/2006/mai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S09.Title"/>
          <p:cNvSpPr/>
          <p:nvPr>
            <p:ph type="title"/>
          </p:nvPr>
        </p:nvSpPr>
        <p:spPr>
          <a:xfrm xmlns:a="http://schemas.openxmlformats.org/drawingml/2006/main">
            <a:off x="320040" y="128016"/>
            <a:ext cx="11558016" cy="493776"/>
          </a:xfrm>
          <a:noFill/>
          <a:ln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>
            <a:pPr algn="l">
              <a:lnSpc>
                <a:spcPct val="90000"/>
              </a:lnSpc>
              <a:defRPr sz="3000" b="1">
                <a:solidFill>
                  <a:srgbClr val="183B56"/>
                </a:solidFill>
                <a:latin typeface="Arial"/>
                <a:ea typeface="Arial"/>
              </a:defRPr>
            </a:pPr>
            <a:r>
              <a:rPr lang="en-US" sz="3000" b="1">
                <a:solidFill>
                  <a:srgbClr val="183B56"/>
                </a:solidFill>
              </a:rPr>
              <a:t xml:space="preserve">Progress4: Scalable </a:t>
            </a:r>
            <a:r>
              <a:rPr lang="en-US" sz="3000" b="1">
                <a:solidFill>
                  <a:srgbClr val="183B56"/>
                </a:solidFill>
                <a:latin typeface="Arial"/>
              </a:rPr>
              <a:t>Multi-FPGA Runtime</a:t>
            </a:r>
          </a:p>
        </p:txBody>
      </p:sp>
      <p:sp>
        <p:nvSpPr>
          <p:cNvPr id="100000" name="S09.TitleRule"/>
          <p:cNvSpPr/>
          <p:nvPr/>
        </p:nvSpPr>
        <p:spPr>
          <a:xfrm>
            <a:off x="320040" y="713232"/>
            <a:ext cx="11558016" cy="254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1" name="S09.Direct.Panel"/>
          <p:cNvSpPr/>
          <p:nvPr/>
        </p:nvSpPr>
        <p:spPr>
          <a:xfrm>
            <a:off x="320040" y="987552"/>
            <a:ext cx="5596128" cy="361188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2" name="S09.Direct.Heading"/>
          <p:cNvSpPr txBox="1"/>
          <p:nvPr/>
        </p:nvSpPr>
        <p:spPr>
          <a:xfrm>
            <a:off x="484632" y="1124712"/>
            <a:ext cx="5266944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400" b="1">
                <a:solidFill>
                  <a:srgbClr val="183B56"/>
                </a:solidFill>
                <a:latin typeface="Arial"/>
                <a:ea typeface="Arial"/>
              </a:rPr>
              <a:t>Direct PCIe Access</a:t>
            </a:r>
          </a:p>
        </p:txBody>
      </p:sp>
      <p:sp>
        <p:nvSpPr>
          <p:cNvPr id="100003" name="S09.Direct.Host"/>
          <p:cNvSpPr txBox="1"/>
          <p:nvPr/>
        </p:nvSpPr>
        <p:spPr>
          <a:xfrm>
            <a:off x="502920" y="1719072"/>
            <a:ext cx="5230368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183B56"/>
                </a:solidFill>
                <a:latin typeface="Arial"/>
                <a:ea typeface="Arial"/>
              </a:rPr>
              <a:t>Host</a:t>
            </a:r>
          </a:p>
        </p:txBody>
      </p:sp>
      <p:sp>
        <p:nvSpPr>
          <p:cNvPr id="100004" name="S09.Direct.Node0"/>
          <p:cNvSpPr/>
          <p:nvPr/>
        </p:nvSpPr>
        <p:spPr>
          <a:xfrm>
            <a:off x="484632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5" name="S09.Direct.Node0.Label"/>
          <p:cNvSpPr txBox="1"/>
          <p:nvPr/>
        </p:nvSpPr>
        <p:spPr>
          <a:xfrm>
            <a:off x="521208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FPGA A</a:t>
            </a:r>
          </a:p>
        </p:txBody>
      </p:sp>
      <p:sp>
        <p:nvSpPr>
          <p:cNvPr id="100006" name="S09.Direct.Node0.Resources"/>
          <p:cNvSpPr txBox="1"/>
          <p:nvPr/>
        </p:nvSpPr>
        <p:spPr>
          <a:xfrm>
            <a:off x="576072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07" name="S09.Direct.PCIe0"/>
          <p:cNvSpPr/>
          <p:nvPr/>
        </p:nvSpPr>
        <p:spPr>
          <a:xfrm>
            <a:off x="1120140" y="2331720"/>
            <a:ext cx="137160" cy="777240"/>
          </a:xfrm>
          <a:prstGeom prst="upDownArrow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08" name="S09.Direct.PCIe0.Label"/>
          <p:cNvSpPr txBox="1"/>
          <p:nvPr/>
        </p:nvSpPr>
        <p:spPr>
          <a:xfrm>
            <a:off x="1298448" y="25786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PCIe</a:t>
            </a:r>
          </a:p>
        </p:txBody>
      </p:sp>
      <p:sp>
        <p:nvSpPr>
          <p:cNvPr id="100009" name="S09.Direct.Link0"/>
          <p:cNvSpPr/>
          <p:nvPr/>
        </p:nvSpPr>
        <p:spPr>
          <a:xfrm>
            <a:off x="1911096" y="3703320"/>
            <a:ext cx="484632" cy="137160"/>
          </a:xfrm>
          <a:prstGeom prst="leftRightArrow">
            <a:avLst/>
          </a:prstGeom>
          <a:solidFill>
            <a:srgbClr val="91A5B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0" name="S09.Direct.Node1"/>
          <p:cNvSpPr/>
          <p:nvPr/>
        </p:nvSpPr>
        <p:spPr>
          <a:xfrm>
            <a:off x="2414016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1" name="S09.Direct.Node1.Label"/>
          <p:cNvSpPr txBox="1"/>
          <p:nvPr/>
        </p:nvSpPr>
        <p:spPr>
          <a:xfrm>
            <a:off x="2450592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FPGA B</a:t>
            </a:r>
          </a:p>
        </p:txBody>
      </p:sp>
      <p:sp>
        <p:nvSpPr>
          <p:cNvPr id="100012" name="S09.Direct.Node1.Resources"/>
          <p:cNvSpPr txBox="1"/>
          <p:nvPr/>
        </p:nvSpPr>
        <p:spPr>
          <a:xfrm>
            <a:off x="2505456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13" name="S09.Direct.PCIe1"/>
          <p:cNvSpPr/>
          <p:nvPr/>
        </p:nvSpPr>
        <p:spPr>
          <a:xfrm>
            <a:off x="3049524" y="2331720"/>
            <a:ext cx="137160" cy="777240"/>
          </a:xfrm>
          <a:prstGeom prst="upDownArrow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4" name="S09.Direct.PCIe1.Label"/>
          <p:cNvSpPr txBox="1"/>
          <p:nvPr/>
        </p:nvSpPr>
        <p:spPr>
          <a:xfrm>
            <a:off x="3227832" y="25786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PCIe</a:t>
            </a:r>
          </a:p>
        </p:txBody>
      </p:sp>
      <p:sp>
        <p:nvSpPr>
          <p:cNvPr id="100015" name="S09.Direct.Link1"/>
          <p:cNvSpPr/>
          <p:nvPr/>
        </p:nvSpPr>
        <p:spPr>
          <a:xfrm>
            <a:off x="3840480" y="3703320"/>
            <a:ext cx="484632" cy="137160"/>
          </a:xfrm>
          <a:prstGeom prst="leftRightArrow">
            <a:avLst/>
          </a:prstGeom>
          <a:solidFill>
            <a:srgbClr val="91A5B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6" name="S09.Direct.Node2"/>
          <p:cNvSpPr/>
          <p:nvPr/>
        </p:nvSpPr>
        <p:spPr>
          <a:xfrm>
            <a:off x="4343400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17" name="S09.Direct.Node2.Label"/>
          <p:cNvSpPr txBox="1"/>
          <p:nvPr/>
        </p:nvSpPr>
        <p:spPr>
          <a:xfrm>
            <a:off x="4379976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FPGA C</a:t>
            </a:r>
          </a:p>
        </p:txBody>
      </p:sp>
      <p:sp>
        <p:nvSpPr>
          <p:cNvPr id="100018" name="S09.Direct.Node2.Resources"/>
          <p:cNvSpPr txBox="1"/>
          <p:nvPr/>
        </p:nvSpPr>
        <p:spPr>
          <a:xfrm>
            <a:off x="4434840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19" name="S09.Direct.PCIe2"/>
          <p:cNvSpPr/>
          <p:nvPr/>
        </p:nvSpPr>
        <p:spPr>
          <a:xfrm>
            <a:off x="4978908" y="2331720"/>
            <a:ext cx="137160" cy="777240"/>
          </a:xfrm>
          <a:prstGeom prst="upDownArrow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0" name="S09.Direct.PCIe2.Label"/>
          <p:cNvSpPr txBox="1"/>
          <p:nvPr/>
        </p:nvSpPr>
        <p:spPr>
          <a:xfrm>
            <a:off x="5157216" y="25786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PCIe</a:t>
            </a:r>
          </a:p>
        </p:txBody>
      </p:sp>
      <p:sp>
        <p:nvSpPr>
          <p:cNvPr id="100022" name="S09.Direct.Bullet0"/>
          <p:cNvSpPr/>
          <p:nvPr/>
        </p:nvSpPr>
        <p:spPr>
          <a:xfrm>
            <a:off x="374904" y="5084064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3" name="S09.Direct.Text0"/>
          <p:cNvSpPr txBox="1"/>
          <p:nvPr/>
        </p:nvSpPr>
        <p:spPr>
          <a:xfrm>
            <a:off x="649224" y="4965192"/>
            <a:ext cx="5266944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>
                <a:solidFill>
                  <a:srgbClr val="20354A"/>
                </a:solidFill>
                <a:latin typeface="Arial"/>
                <a:ea typeface="Arial"/>
              </a:rPr>
              <a:t>Separate Host connection per FPGA</a:t>
            </a:r>
          </a:p>
        </p:txBody>
      </p:sp>
      <p:sp>
        <p:nvSpPr>
          <p:cNvPr id="100024" name="S09.Direct.Bullet1"/>
          <p:cNvSpPr/>
          <p:nvPr/>
        </p:nvSpPr>
        <p:spPr>
          <a:xfrm>
            <a:off x="374904" y="5586984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5" name="S09.Direct.Text1"/>
          <p:cNvSpPr txBox="1"/>
          <p:nvPr/>
        </p:nvSpPr>
        <p:spPr>
          <a:xfrm>
            <a:off x="649224" y="5456237"/>
            <a:ext cx="5266944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>
                <a:solidFill>
                  <a:srgbClr val="20354A"/>
                </a:solidFill>
                <a:latin typeface="Arial"/>
                <a:ea typeface="Arial"/>
              </a:rPr>
              <a:t>Limited by Host PCIe connectivity</a:t>
            </a:r>
          </a:p>
        </p:txBody>
      </p:sp>
      <p:sp>
        <p:nvSpPr>
          <p:cNvPr id="100026" name="S09.Fabric.Panel"/>
          <p:cNvSpPr/>
          <p:nvPr/>
        </p:nvSpPr>
        <p:spPr>
          <a:xfrm>
            <a:off x="6281928" y="987552"/>
            <a:ext cx="5596128" cy="3611880"/>
          </a:xfrm>
          <a:prstGeom prst="roundRect">
            <a:avLst>
              <a:gd name="adj" fmla="val 4000"/>
            </a:avLst>
          </a:prstGeom>
          <a:solidFill>
            <a:srgbClr val="EAF4F3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27" name="S09.Fabric.Heading"/>
          <p:cNvSpPr txBox="1"/>
          <p:nvPr/>
        </p:nvSpPr>
        <p:spPr>
          <a:xfrm>
            <a:off x="6446520" y="1124712"/>
            <a:ext cx="5266944" cy="411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400" b="1">
                <a:solidFill>
                  <a:srgbClr val="183B56"/>
                </a:solidFill>
                <a:latin typeface="Arial"/>
                <a:ea typeface="Arial"/>
              </a:rPr>
              <a:t>Fabric-Based Access</a:t>
            </a:r>
          </a:p>
        </p:txBody>
      </p:sp>
      <p:sp>
        <p:nvSpPr>
          <p:cNvPr id="100028" name="S09.Fabric.Host"/>
          <p:cNvSpPr txBox="1"/>
          <p:nvPr/>
        </p:nvSpPr>
        <p:spPr>
          <a:xfrm>
            <a:off x="6464808" y="1719072"/>
            <a:ext cx="5230368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2400" b="1">
                <a:solidFill>
                  <a:srgbClr val="183B56"/>
                </a:solidFill>
                <a:latin typeface="Arial"/>
                <a:ea typeface="Arial"/>
              </a:rPr>
              <a:t>Host</a:t>
            </a:r>
          </a:p>
        </p:txBody>
      </p:sp>
      <p:sp>
        <p:nvSpPr>
          <p:cNvPr id="100029" name="S09.Fabric.Node0"/>
          <p:cNvSpPr/>
          <p:nvPr/>
        </p:nvSpPr>
        <p:spPr>
          <a:xfrm>
            <a:off x="6446520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008C95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0" name="S09.Fabric.Node0.Label"/>
          <p:cNvSpPr txBox="1"/>
          <p:nvPr/>
        </p:nvSpPr>
        <p:spPr>
          <a:xfrm>
            <a:off x="6483096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008C95"/>
                </a:solidFill>
                <a:latin typeface="Arial"/>
                <a:ea typeface="Arial"/>
              </a:rPr>
              <a:t>Ref FPGA</a:t>
            </a:r>
          </a:p>
        </p:txBody>
      </p:sp>
      <p:sp>
        <p:nvSpPr>
          <p:cNvPr id="100031" name="S09.Fabric.Node0.Resources"/>
          <p:cNvSpPr txBox="1"/>
          <p:nvPr/>
        </p:nvSpPr>
        <p:spPr>
          <a:xfrm>
            <a:off x="6537960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32" name="S09.Fabric.PCIe0"/>
          <p:cNvSpPr/>
          <p:nvPr/>
        </p:nvSpPr>
        <p:spPr>
          <a:xfrm>
            <a:off x="7082028" y="2331720"/>
            <a:ext cx="137160" cy="777240"/>
          </a:xfrm>
          <a:prstGeom prst="upDownArrow">
            <a:avLst/>
          </a:prstGeom>
          <a:solidFill>
            <a:srgbClr val="183B56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3" name="S09.Fabric.PCIe0.Label"/>
          <p:cNvSpPr txBox="1"/>
          <p:nvPr/>
        </p:nvSpPr>
        <p:spPr>
          <a:xfrm>
            <a:off x="7260336" y="2578608"/>
            <a:ext cx="658368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600" b="1">
                <a:solidFill>
                  <a:srgbClr val="183B56"/>
                </a:solidFill>
                <a:latin typeface="Arial"/>
                <a:ea typeface="Arial"/>
              </a:rPr>
              <a:t>PCIe</a:t>
            </a:r>
          </a:p>
        </p:txBody>
      </p:sp>
      <p:sp>
        <p:nvSpPr>
          <p:cNvPr id="100034" name="S09.Fabric.Link0"/>
          <p:cNvSpPr/>
          <p:nvPr/>
        </p:nvSpPr>
        <p:spPr>
          <a:xfrm>
            <a:off x="7872984" y="3703320"/>
            <a:ext cx="484632" cy="137160"/>
          </a:xfrm>
          <a:prstGeom prst="leftRightArrow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5" name="S09.Fabric.Link0.Label"/>
          <p:cNvSpPr txBox="1"/>
          <p:nvPr/>
        </p:nvSpPr>
        <p:spPr>
          <a:xfrm>
            <a:off x="7836408" y="3447288"/>
            <a:ext cx="557784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 b="1">
                <a:solidFill>
                  <a:srgbClr val="008C95"/>
                </a:solidFill>
                <a:latin typeface="Arial"/>
                <a:ea typeface="Arial"/>
              </a:rPr>
              <a:t>Fabric</a:t>
            </a:r>
          </a:p>
        </p:txBody>
      </p:sp>
      <p:sp>
        <p:nvSpPr>
          <p:cNvPr id="100036" name="S09.Fabric.Node1"/>
          <p:cNvSpPr/>
          <p:nvPr/>
        </p:nvSpPr>
        <p:spPr>
          <a:xfrm>
            <a:off x="8375904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37" name="S09.Fabric.Node1.Label"/>
          <p:cNvSpPr txBox="1"/>
          <p:nvPr/>
        </p:nvSpPr>
        <p:spPr>
          <a:xfrm>
            <a:off x="8412480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FPGA B</a:t>
            </a:r>
          </a:p>
        </p:txBody>
      </p:sp>
      <p:sp>
        <p:nvSpPr>
          <p:cNvPr id="100038" name="S09.Fabric.Node1.Resources"/>
          <p:cNvSpPr txBox="1"/>
          <p:nvPr/>
        </p:nvSpPr>
        <p:spPr>
          <a:xfrm>
            <a:off x="8467344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39" name="S09.Fabric.Link1"/>
          <p:cNvSpPr/>
          <p:nvPr/>
        </p:nvSpPr>
        <p:spPr>
          <a:xfrm>
            <a:off x="9802368" y="3703320"/>
            <a:ext cx="484632" cy="137160"/>
          </a:xfrm>
          <a:prstGeom prst="leftRightArrow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0" name="S09.Fabric.Link1.Label"/>
          <p:cNvSpPr txBox="1"/>
          <p:nvPr/>
        </p:nvSpPr>
        <p:spPr>
          <a:xfrm>
            <a:off x="9765792" y="3447288"/>
            <a:ext cx="557784" cy="2194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200" b="1">
                <a:solidFill>
                  <a:srgbClr val="008C95"/>
                </a:solidFill>
                <a:latin typeface="Arial"/>
                <a:ea typeface="Arial"/>
              </a:rPr>
              <a:t>Fabric</a:t>
            </a:r>
          </a:p>
        </p:txBody>
      </p:sp>
      <p:sp>
        <p:nvSpPr>
          <p:cNvPr id="100041" name="S09.Fabric.Node2"/>
          <p:cNvSpPr/>
          <p:nvPr/>
        </p:nvSpPr>
        <p:spPr>
          <a:xfrm>
            <a:off x="10305288" y="3127248"/>
            <a:ext cx="1408176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83B56"/>
            </a:solidFill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2" name="S09.Fabric.Node2.Label"/>
          <p:cNvSpPr txBox="1"/>
          <p:nvPr/>
        </p:nvSpPr>
        <p:spPr>
          <a:xfrm>
            <a:off x="10341864" y="3255264"/>
            <a:ext cx="1335024" cy="2743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n-US" sz="1700" b="1">
                <a:solidFill>
                  <a:srgbClr val="183B56"/>
                </a:solidFill>
                <a:latin typeface="Arial"/>
                <a:ea typeface="Arial"/>
              </a:rPr>
              <a:t>FPGA C</a:t>
            </a:r>
          </a:p>
        </p:txBody>
      </p:sp>
      <p:sp>
        <p:nvSpPr>
          <p:cNvPr id="100043" name="S09.Fabric.Node2.Resources"/>
          <p:cNvSpPr txBox="1"/>
          <p:nvPr/>
        </p:nvSpPr>
        <p:spPr>
          <a:xfrm>
            <a:off x="10396728" y="3621024"/>
            <a:ext cx="1225296" cy="475488"/>
          </a:xfrm>
          <a:prstGeom prst="rect">
            <a:avLst/>
          </a:prstGeom>
          <a:solidFill>
            <a:srgbClr val="F1F5F8"/>
          </a:solidFill>
          <a:ln w="8890">
            <a:solidFill>
              <a:srgbClr val="BDCBD4"/>
            </a:solidFill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Registers</a:t>
            </a:r>
          </a:p>
          <a:p>
            <a:pPr algn="ctr"/>
            <a:r>
              <a:rPr lang="en-US" sz="1400">
                <a:solidFill>
                  <a:srgbClr val="20354A"/>
                </a:solidFill>
                <a:latin typeface="Arial"/>
                <a:ea typeface="Arial"/>
              </a:rPr>
              <a:t>Memory</a:t>
            </a:r>
          </a:p>
        </p:txBody>
      </p:sp>
      <p:sp>
        <p:nvSpPr>
          <p:cNvPr id="100044" name="S09.Fabric.Bullet0"/>
          <p:cNvSpPr/>
          <p:nvPr/>
        </p:nvSpPr>
        <p:spPr>
          <a:xfrm>
            <a:off x="6336792" y="5084064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5" name="S09.Fabric.Text0"/>
          <p:cNvSpPr txBox="1"/>
          <p:nvPr/>
        </p:nvSpPr>
        <p:spPr>
          <a:xfrm>
            <a:off x="6611112" y="4965192"/>
            <a:ext cx="5266944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>
                <a:solidFill>
                  <a:srgbClr val="20354A"/>
                </a:solidFill>
                <a:latin typeface="Arial"/>
                <a:ea typeface="Arial"/>
              </a:rPr>
              <a:t>One Host entry via Ref</a:t>
            </a:r>
          </a:p>
        </p:txBody>
      </p:sp>
      <p:sp>
        <p:nvSpPr>
          <p:cNvPr id="100046" name="S09.Fabric.Bullet1"/>
          <p:cNvSpPr/>
          <p:nvPr/>
        </p:nvSpPr>
        <p:spPr>
          <a:xfrm>
            <a:off x="6336792" y="5586984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7" name="S09.Fabric.Text1"/>
          <p:cNvSpPr txBox="1"/>
          <p:nvPr/>
        </p:nvSpPr>
        <p:spPr>
          <a:xfrm>
            <a:off x="6611112" y="5468112"/>
            <a:ext cx="5266944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>
                <a:solidFill>
                  <a:srgbClr val="20354A"/>
                </a:solidFill>
                <a:latin typeface="Arial"/>
                <a:ea typeface="Arial"/>
              </a:rPr>
              <a:t>Unified register and memory access</a:t>
            </a:r>
          </a:p>
        </p:txBody>
      </p:sp>
      <p:sp>
        <p:nvSpPr>
          <p:cNvPr id="100048" name="S09.Fabric.Bullet2"/>
          <p:cNvSpPr/>
          <p:nvPr/>
        </p:nvSpPr>
        <p:spPr>
          <a:xfrm>
            <a:off x="6336792" y="6089904"/>
            <a:ext cx="91440" cy="91440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txBody>
          <a:bodyPr lIns="0" tIns="0" rIns="0" bIns="0">
            <a:noAutofit/>
          </a:bodyPr>
          <a:lstStyle/>
          <a:p>
            <a:endParaRPr lang="en-US" sz="1800">
              <a:solidFill>
                <a:srgbClr val="20354A"/>
              </a:solidFill>
              <a:latin typeface="Arial"/>
              <a:ea typeface="Arial"/>
            </a:endParaRPr>
          </a:p>
        </p:txBody>
      </p:sp>
      <p:sp>
        <p:nvSpPr>
          <p:cNvPr id="100049" name="S09.Fabric.Text2"/>
          <p:cNvSpPr txBox="1"/>
          <p:nvPr/>
        </p:nvSpPr>
        <p:spPr>
          <a:xfrm>
            <a:off x="6611112" y="5971032"/>
            <a:ext cx="5266944" cy="4754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2200">
                <a:solidFill>
                  <a:srgbClr val="20354A"/>
                </a:solidFill>
                <a:latin typeface="Arial"/>
                <a:ea typeface="Arial"/>
              </a:rPr>
              <a:t>Extend through inter-FPGA links</a:t>
            </a:r>
          </a:p>
        </p:txBody>
      </p:sp>
      <p:sp>
        <p:nvSpPr>
          <p:cNvPr id="100050" name="S09.PageNumber"/>
          <p:cNvSpPr txBox="1"/>
          <p:nvPr/>
        </p:nvSpPr>
        <p:spPr>
          <a:xfrm>
            <a:off x="11631168" y="6629400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r"/>
            <a:r>
              <a:rPr lang="en-US" sz="1000">
                <a:solidFill>
                  <a:srgbClr val="607184"/>
                </a:solidFill>
                <a:latin typeface="Arial"/>
                <a:ea typeface="Arial"/>
              </a:rPr>
              <a:t>9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83B56"/>
      </a:accent1>
      <a:accent2>
        <a:srgbClr val="008C95"/>
      </a:accent2>
      <a:accent3>
        <a:srgbClr val="DF973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OfficeCLI/1.0.156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2026-10-29T08:01:19.0000000Z</dcterms:created>
  <lastModifiedBy>OfficeCLI</lastModifiedBy>
  <dcterms:modified xsi:type="dcterms:W3CDTF">2026-10-29T08:01:20.1842576Z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2026-10-29T08:01:22Z</vt:lpwstr>
  </op:property>
</op:Properties>
</file>