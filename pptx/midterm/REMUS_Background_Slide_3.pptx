
<file path=[Content_Types].xml><?xml version="1.0" encoding="utf-8"?>
<Types xmlns="http://schemas.openxmlformats.org/package/2006/content-types">
  <Default Extension="xml" ContentType="application/vnd.openxmlformats-officedocument.presentationml.presentation.main+xml"/>
  <Default Extension="rels" ContentType="application/vnd.openxmlformats-package.relationships+xml"/>
  <Default Extension="png" ContentType="image/png"/>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theme/theme1.xml" ContentType="application/vnd.openxmlformats-officedocument.them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notesMasters/notesMaster1.xml" ContentType="application/vnd.openxmlformats-officedocument.presentationml.notesMaster+xml"/>
  <Override PartName="/ppt/notesMasters/theme/theme2.xml" ContentType="application/vnd.openxmlformats-officedocument.theme+xml"/>
</Types>
</file>

<file path=_rels/.rels>&#65279;<?xml version="1.0" encoding="utf-8"?><Relationships xmlns="http://schemas.openxmlformats.org/package/2006/relationships"><Relationship Type="http://schemas.openxmlformats.org/officeDocument/2006/relationships/officeDocument" Target="/ppt/presentation.xml" Id="R9fafb480d99a46e6" /><Relationship Type="http://schemas.openxmlformats.org/package/2006/relationships/metadata/core-properties" Target="/docProps/core.xml" Id="R0b0c67c998fa4be4" /><Relationship Type="http://schemas.openxmlformats.org/officeDocument/2006/relationships/extended-properties" Target="/docProps/app.xml" Id="R3fceb75e26ba4360" /><Relationship Type="http://schemas.openxmlformats.org/officeDocument/2006/relationships/custom-properties" Target="/docProps/custom.xml" Id="R59eee938f5564d35" /></Relationships>
</file>

<file path=ppt/presentation.xml><?xml version="1.0" encoding="utf-8"?>
<p:presentation xmlns:r="http://schemas.openxmlformats.org/officeDocument/2006/relationships" xmlns:p="http://schemas.openxmlformats.org/presentationml/2006/main">
  <p:sldMasterIdLst>
    <p:sldMasterId xmlns:r="http://schemas.openxmlformats.org/officeDocument/2006/relationships" id="2147483648" r:id="rId1"/>
  </p:sldMasterIdLst>
  <p:notesMasterIdLst>
    <p:notesMasterId r:id="R8736984644b74825"/>
  </p:notesMasterIdLst>
  <p:sldIdLst>
    <p:sldId id="256" r:id="R33b404721afa41d7"/>
  </p:sldIdLst>
  <p:sldSz cx="12192000" cy="6858000" type="screen16x9"/>
  <p:notesSz cx="6858000" cy="9144000"/>
</p:presentation>
</file>

<file path=ppt/_rels/presentation.xml.rels>&#65279;<?xml version="1.0" encoding="utf-8"?><Relationships xmlns="http://schemas.openxmlformats.org/package/2006/relationships"><Relationship Type="http://schemas.openxmlformats.org/officeDocument/2006/relationships/slideMaster" Target="/ppt/slideMasters/slideMaster1.xml" Id="rId1" /><Relationship Type="http://schemas.openxmlformats.org/officeDocument/2006/relationships/theme" Target="/ppt/theme/theme1.xml" Id="rId2" /><Relationship Type="http://schemas.openxmlformats.org/officeDocument/2006/relationships/slide" Target="/ppt/slides/slide1.xml" Id="R33b404721afa41d7" /><Relationship Type="http://schemas.openxmlformats.org/officeDocument/2006/relationships/notesMaster" Target="/ppt/notesMasters/notesMaster1.xml" Id="R8736984644b74825"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2.xml" Id="R1164a42cbdde4649"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a:lstStyle>
            <a:lvl1pPr algn="r">
              <a:defRPr sz="1200"/>
            </a:lvl1pPr>
          </a:lstStyle>
          <a:p>
            <a:fld id="{B1E4B0A2-5C8E-4E5F-9C1D-2F3A4B5C6D71}" type="datetimeFigureOut">
              <a:rPr lang="en-US"/>
            </a:fld>
            <a:endParaRPr lang="en-US"/>
          </a:p>
        </p:txBody>
      </p:sp>
      <p:sp>
        <p:nvSpPr>
          <p:cNvPr id="4" name="Slide Image Placeholder 3"/>
          <p:cNvSpPr>
            <a:spLocks noGrp="1" noRot="1" noChangeAspect="1"/>
          </p:cNvSpPr>
          <p:nvPr>
            <p:ph type="sldImg" idx="2"/>
          </p:nvPr>
        </p:nvSpPr>
        <p:spPr>
          <a:xfrm>
            <a:off x="1143000" y="685800"/>
            <a:ext cx="4572000" cy="2571750"/>
          </a:xfrm>
          <a:prstGeom prst="rect">
            <a:avLst/>
          </a:prstGeom>
          <a:noFill/>
          <a:ln w="12700">
            <a:solidFill>
              <a:prstClr val="black"/>
            </a:solidFill>
          </a:ln>
        </p:spPr>
        <p:txBody>
          <a:bodyPr/>
          <a:lstStyle/>
          <a:p>
            <a:endParaRPr lang="en-US"/>
          </a:p>
        </p:txBody>
      </p:sp>
      <p:sp>
        <p:nvSpPr>
          <p:cNvPr id="5" name="Notes Placeholder 4"/>
          <p:cNvSpPr>
            <a:spLocks noGrp="1"/>
          </p:cNvSpPr>
          <p:nvPr>
            <p:ph type="body" sz="quarter" idx="3"/>
          </p:nvPr>
        </p:nvSpPr>
        <p:spPr>
          <a:xfrm>
            <a:off x="685800" y="3429000"/>
            <a:ext cx="5486400" cy="4114800"/>
          </a:xfrm>
          <a:prstGeom prst="rect">
            <a:avLst/>
          </a:prstGeom>
        </p:spPr>
        <p:txBody>
          <a:bodyPr vert="horz" lIns="91440" tIns="45720" rIns="91440" bIns="45720"/>
          <a:lstStyle/>
          <a:p>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a:lstStyle>
            <a:lvl1pPr algn="r">
              <a:defRPr sz="1200"/>
            </a:lvl1pPr>
          </a:lstStyle>
          <a:p>
            <a:fld id="{B1E4B0A2-5C8E-4E5F-9C1D-2F3A4B5C6D72}" type="slidenum">
              <a:rPr lang="en-US"/>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Masters/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183B56"/>
      </a:accent1>
      <a:accent2>
        <a:srgbClr val="008C95"/>
      </a:accent2>
      <a:accent3>
        <a:srgbClr val="DF973E"/>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majorFont>
      <a:minorFont>
        <a:latin typeface="Arial"/>
        <a:ea typeface=""/>
        <a:cs typeface=""/>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notesMaster" Target="/ppt/notesMasters/notesMaster1.xml" Id="Ra4757e8f69934f3e" /><Relationship Type="http://schemas.openxmlformats.org/officeDocument/2006/relationships/slide" Target="/ppt/slides/slide1.xml" Id="R2d83af93fc034502"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This slide introduces research challenges, not completed REMUS results. DUT logical cycles must remain aligned despite cross-FPGA communication latency; the pulse is conceptual, not a measured clock waveform. Global pause requires all partitions at the same DUT cycle and drained links, providing a stable boundary. Local partition states must be mapped and aggregated into a global snapshot for restoration and deterministic replay. Partitioning must balance resources and cut size while controlling Partition Propagation Depth (PPD) through granularity. Multiple chip icons and the partitioned circuit illustrate the problem, not an experimentally verified FPGA count. Reference: figure/presentation-reference/midterm-background-03.png.</a:t>
            </a:r>
          </a:p>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8ec228ed8f5649b1"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4fe5dedfda424595"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abb1040eaea14a85"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6078a58c35b64a9a"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625ace709c6d4455" /></Relationships>
</file>

<file path=ppt/slideLayouts/slideLayout1.xml><?xml version="1.0" encoding="utf-8"?>
<p:sldLayout xmlns:p="http://schemas.openxmlformats.org/presentationml/2006/main" type="blank">
  <p:cSld name="Blank">
    <p:spTree>
      <p:nvGrpSpPr>
        <p:cNvPr id="1" name=""/>
        <p:cNvGrpSpPr/>
        <p:nvPr/>
      </p:nvGrpSpPr>
      <p:grpSpPr/>
    </p:spTree>
  </p:cSld>
</p:sldLayout>
</file>

<file path=ppt/slideLayouts/slideLayout2.xml><?xml version="1.0" encoding="utf-8"?>
<p:sldLayout xmlns:p="http://schemas.openxmlformats.org/presentationml/2006/main" type="title">
  <p:cSld name="Title Slide">
    <p:spTree>
      <p:nvGrpSpPr>
        <p:cNvPr id="1" name=""/>
        <p:cNvGrpSpPr/>
        <p:nvPr/>
      </p:nvGrpSpPr>
      <p:grpSpPr/>
      <p:sp>
        <p:nvSpPr>
          <p:cNvPr id="2" name="Title"/>
          <p:cNvSpPr>
            <a:spLocks xmlns:a="http://schemas.openxmlformats.org/drawingml/2006/main" noGrp="1"/>
          </p:cNvSpPr>
          <p:nvPr>
            <p:ph type="ctrTitle"/>
          </p:nvPr>
        </p:nvSpPr>
        <p:spPr>
          <a:xfrm xmlns:a="http://schemas.openxmlformats.org/drawingml/2006/main">
            <a:off x="685800" y="2130425"/>
            <a:ext cx="7772400" cy="1470025"/>
          </a:xfrm>
        </p:spPr>
        <p:txBody>
          <a:bodyPr xmlns:a="http://schemas.openxmlformats.org/drawingml/2006/main"/>
          <a:lstStyle xmlns:a="http://schemas.openxmlformats.org/drawingml/2006/main"/>
          <a:p xmlns:a="http://schemas.openxmlformats.org/drawingml/2006/main">
            <a:endParaRPr lang="en-US"/>
          </a:p>
        </p:txBody>
      </p:sp>
      <p:sp>
        <p:nvSpPr>
          <p:cNvPr id="3" name="Subtitle"/>
          <p:cNvSpPr>
            <a:spLocks xmlns:a="http://schemas.openxmlformats.org/drawingml/2006/main" noGrp="1"/>
          </p:cNvSpPr>
          <p:nvPr>
            <p:ph type="subTitle" idx="1"/>
          </p:nvPr>
        </p:nvSpPr>
        <p:spPr>
          <a:xfrm xmlns:a="http://schemas.openxmlformats.org/drawingml/2006/main">
            <a:off x="1371600" y="3886200"/>
            <a:ext cx="6400800" cy="1752600"/>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slideLayout3.xml><?xml version="1.0" encoding="utf-8"?>
<p:sldLayout xmlns:p="http://schemas.openxmlformats.org/presentationml/2006/main" type="objTx">
  <p:cSld name="Title and Content">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
        <p:nvSpPr>
          <p:cNvPr id="3" name="Content"/>
          <p:cNvSpPr>
            <a:spLocks xmlns:a="http://schemas.openxmlformats.org/drawingml/2006/main" noGrp="1"/>
          </p:cNvSpPr>
          <p:nvPr>
            <p:ph type="body" idx="1"/>
          </p:nvPr>
        </p:nvSpPr>
        <p:spPr>
          <a:xfrm xmlns:a="http://schemas.openxmlformats.org/drawingml/2006/main">
            <a:off x="838200" y="1825625"/>
            <a:ext cx="10515600" cy="4351338"/>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slideLayout4.xml><?xml version="1.0" encoding="utf-8"?>
<p:sldLayout xmlns:p="http://schemas.openxmlformats.org/presentationml/2006/main" type="twoColTx">
  <p:cSld name="Two Content">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
        <p:nvSpPr>
          <p:cNvPr id="3" name="Content Left"/>
          <p:cNvSpPr>
            <a:spLocks xmlns:a="http://schemas.openxmlformats.org/drawingml/2006/main" noGrp="1"/>
          </p:cNvSpPr>
          <p:nvPr>
            <p:ph type="body" idx="1"/>
          </p:nvPr>
        </p:nvSpPr>
        <p:spPr>
          <a:xfrm xmlns:a="http://schemas.openxmlformats.org/drawingml/2006/main">
            <a:off x="838200" y="1825625"/>
            <a:ext cx="5181600" cy="4351338"/>
          </a:xfrm>
        </p:spPr>
        <p:txBody>
          <a:bodyPr xmlns:a="http://schemas.openxmlformats.org/drawingml/2006/main"/>
          <a:lstStyle xmlns:a="http://schemas.openxmlformats.org/drawingml/2006/main"/>
          <a:p xmlns:a="http://schemas.openxmlformats.org/drawingml/2006/main">
            <a:endParaRPr lang="en-US"/>
          </a:p>
        </p:txBody>
      </p:sp>
      <p:sp>
        <p:nvSpPr>
          <p:cNvPr id="4" name="Content Right"/>
          <p:cNvSpPr>
            <a:spLocks xmlns:a="http://schemas.openxmlformats.org/drawingml/2006/main" noGrp="1"/>
          </p:cNvSpPr>
          <p:nvPr>
            <p:ph type="body" idx="2"/>
          </p:nvPr>
        </p:nvSpPr>
        <p:spPr>
          <a:xfrm xmlns:a="http://schemas.openxmlformats.org/drawingml/2006/main">
            <a:off x="6172200" y="1825625"/>
            <a:ext cx="5181600" cy="4351338"/>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slideLayout5.xml><?xml version="1.0" encoding="utf-8"?>
<p:sldLayout xmlns:p="http://schemas.openxmlformats.org/presentationml/2006/main" type="titleOnly">
  <p:cSld name="Title Only">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Masters/_rels/slideMaster1.xml.rels>&#65279;<?xml version="1.0" encoding="utf-8"?><Relationships xmlns="http://schemas.openxmlformats.org/package/2006/relationships"><Relationship Type="http://schemas.openxmlformats.org/officeDocument/2006/relationships/slideLayout" Target="/ppt/slideLayouts/slideLayout1.xml" Id="rId1" /><Relationship Type="http://schemas.openxmlformats.org/officeDocument/2006/relationships/theme" Target="/ppt/theme/theme1.xml" Id="R43adfa6d4942413b" /><Relationship Type="http://schemas.openxmlformats.org/officeDocument/2006/relationships/slideLayout" Target="/ppt/slideLayouts/slideLayout2.xml" Id="rId2" /><Relationship Type="http://schemas.openxmlformats.org/officeDocument/2006/relationships/slideLayout" Target="/ppt/slideLayouts/slideLayout3.xml" Id="rId3" /><Relationship Type="http://schemas.openxmlformats.org/officeDocument/2006/relationships/slideLayout" Target="/ppt/slideLayouts/slideLayout4.xml" Id="rId4" /><Relationship Type="http://schemas.openxmlformats.org/officeDocument/2006/relationships/slideLayout" Target="/ppt/slideLayouts/slideLayout5.xml" Id="rId5" /></Relationships>
</file>

<file path=ppt/slideMasters/slideMaster1.xml><?xml version="1.0" encoding="utf-8"?>
<p:sldMaster xmlns:r="http://schemas.openxmlformats.org/officeDocument/2006/relationships" xmlns:p="http://schemas.openxmlformats.org/presentationml/2006/main">
  <p:cSld>
    <p:spTree>
      <p:nvGrpSpPr>
        <p:cNvPr id="1" name=""/>
        <p:cNvGrpSpPr/>
        <p:nvPr/>
      </p:nvGrpSpPr>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Id1"/>
    <p:sldLayoutId xmlns:r="http://schemas.openxmlformats.org/officeDocument/2006/relationships" id="2147483650" r:id="rId2"/>
    <p:sldLayoutId xmlns:r="http://schemas.openxmlformats.org/officeDocument/2006/relationships" id="2147483651" r:id="rId3"/>
    <p:sldLayoutId xmlns:r="http://schemas.openxmlformats.org/officeDocument/2006/relationships" id="2147483652" r:id="rId4"/>
    <p:sldLayoutId xmlns:r="http://schemas.openxmlformats.org/officeDocument/2006/relationships" id="2147483653" r:id="rId5"/>
  </p:sldLayoutIdLst>
</p:sldMaster>
</file>

<file path=ppt/slides/_rels/slide1.xml.rels>&#65279;<?xml version="1.0" encoding="utf-8"?><Relationships xmlns="http://schemas.openxmlformats.org/package/2006/relationships"><Relationship Type="http://schemas.openxmlformats.org/officeDocument/2006/relationships/slideLayout" Target="/ppt/slideLayouts/slideLayout1.xml" Id="Rf210898bb4454eb0" /><Relationship Type="http://schemas.openxmlformats.org/officeDocument/2006/relationships/image" Target="/ppt/media/image.png" Id="R8077effb218d4ed0" /><Relationship Type="http://schemas.openxmlformats.org/officeDocument/2006/relationships/image" Target="/ppt/media/image2.png" Id="Rc417c64d03794cc4" /><Relationship Type="http://schemas.openxmlformats.org/officeDocument/2006/relationships/image" Target="/ppt/media/image3.png" Id="R76c29abcbffe4687" /><Relationship Type="http://schemas.openxmlformats.org/officeDocument/2006/relationships/image" Target="/ppt/media/image4.png" Id="R84c666b5e48d4577" /><Relationship Type="http://schemas.openxmlformats.org/officeDocument/2006/relationships/image" Target="/ppt/media/image5.png" Id="R27a9b8d6feab476f" /><Relationship Type="http://schemas.openxmlformats.org/officeDocument/2006/relationships/image" Target="/ppt/media/image6.png" Id="R2afb9644ba7a477c" /><Relationship Type="http://schemas.openxmlformats.org/officeDocument/2006/relationships/image" Target="/ppt/media/image7.png" Id="R31440147ed7845c0" /><Relationship Type="http://schemas.openxmlformats.org/officeDocument/2006/relationships/image" Target="/ppt/media/image8.png" Id="R7e2f816c7ca64fdf" /><Relationship Type="http://schemas.openxmlformats.org/officeDocument/2006/relationships/image" Target="/ppt/media/image9.png" Id="Re80b5aa27f754e36" /><Relationship Type="http://schemas.openxmlformats.org/officeDocument/2006/relationships/image" Target="/ppt/media/image10.png" Id="Rbe68f538fd0f48bb" /><Relationship Type="http://schemas.openxmlformats.org/officeDocument/2006/relationships/image" Target="/ppt/media/image11.png" Id="R71a329cefec54991" /><Relationship Type="http://schemas.openxmlformats.org/officeDocument/2006/relationships/image" Target="/ppt/media/image12.png" Id="R2f877a2370904d71" /><Relationship Type="http://schemas.openxmlformats.org/officeDocument/2006/relationships/notesSlide" Target="/ppt/notesSlides/notesSlide1.xml" Id="R39c1a78052b94784" /></Relationships>
</file>

<file path=ppt/slides/slide1.xml><?xml version="1.0" encoding="utf-8"?>
<p:sld xmlns:a="http://schemas.openxmlformats.org/drawingml/2006/main" xmlns:p="http://schemas.openxmlformats.org/presentationml/2006/main">
  <p:cSld>
    <p:bg>
      <p:bgPr>
        <a:solidFill xmlns:a="http://schemas.openxmlformats.org/drawingml/2006/main">
          <a:srgbClr val="FFFFFF"/>
        </a:solidFill>
      </p:bgPr>
    </p:bg>
    <p:spTree>
      <p:nvGrpSpPr>
        <p:cNvPr id="1" name=""/>
        <p:cNvGrpSpPr/>
        <p:nvPr/>
      </p:nvGrpSpPr>
      <p:grpSpPr/>
      <p:sp>
        <p:nvSpPr>
          <p:cNvPr id="2" name="S03.Title"/>
          <p:cNvSpPr/>
          <p:nvPr>
            <p:ph type="title"/>
          </p:nvPr>
        </p:nvSpPr>
        <p:spPr>
          <a:xfrm xmlns:a="http://schemas.openxmlformats.org/drawingml/2006/main">
            <a:off x="320040" y="128016"/>
            <a:ext cx="11558016" cy="493776"/>
          </a:xfrm>
          <a:noFill/>
          <a:ln>
            <a:noFill/>
          </a:ln>
        </p:spPr>
        <p:txBody>
          <a:bodyPr xmlns:a="http://schemas.openxmlformats.org/drawingml/2006/main" lIns="0" tIns="0" rIns="0" bIns="0">
            <a:noAutofit/>
          </a:bodyPr>
          <a:lstStyle xmlns:a="http://schemas.openxmlformats.org/drawingml/2006/main"/>
          <a:p xmlns:a="http://schemas.openxmlformats.org/drawingml/2006/main">
            <a:r>
              <a:rPr lang="en-US" sz="3000" b="1">
                <a:solidFill>
                  <a:srgbClr val="183B56"/>
                </a:solidFill>
                <a:latin typeface="Arial"/>
                <a:ea typeface="Arial"/>
              </a:rPr>
              <a:t>3. Key Challenges of Replayable Multi-FPGA Emulation</a:t>
            </a:r>
          </a:p>
        </p:txBody>
      </p:sp>
      <p:sp>
        <p:nvSpPr>
          <p:cNvPr id="100000" name="S03.TitleRule"/>
          <p:cNvSpPr/>
          <p:nvPr/>
        </p:nvSpPr>
        <p:spPr>
          <a:xfrm>
            <a:off x="320040" y="713232"/>
            <a:ext cx="11558016" cy="25400"/>
          </a:xfrm>
          <a:prstGeom prst="rect">
            <a:avLst/>
          </a:prstGeom>
          <a:solidFill>
            <a:srgbClr val="008C95"/>
          </a:solidFill>
          <a:ln>
            <a:noFill/>
          </a:ln>
        </p:spPr>
        <p:txBody>
          <a:bodyPr lIns="0" tIns="0" rIns="0" bIns="0">
            <a:noAutofit/>
          </a:bodyPr>
          <a:lstStyle/>
          <a:p>
            <a:endParaRPr lang="en-US" sz="1800">
              <a:solidFill>
                <a:srgbClr val="20354A"/>
              </a:solidFill>
              <a:latin typeface="Arial"/>
              <a:ea typeface="Arial"/>
            </a:endParaRPr>
          </a:p>
        </p:txBody>
      </p:sp>
      <p:sp>
        <p:nvSpPr>
          <p:cNvPr id="100001" name="S03.Cycle.Panel"/>
          <p:cNvSpPr/>
          <p:nvPr/>
        </p:nvSpPr>
        <p:spPr>
          <a:xfrm>
            <a:off x="320040" y="1024128"/>
            <a:ext cx="5687568" cy="2404872"/>
          </a:xfrm>
          <a:prstGeom prst="roundRect">
            <a:avLst>
              <a:gd name="adj" fmla="val 6500"/>
            </a:avLst>
          </a:prstGeom>
          <a:solidFill>
            <a:srgbClr val="EAF4F3"/>
          </a:solidFill>
          <a:ln>
            <a:noFill/>
          </a:ln>
        </p:spPr>
        <p:txBody>
          <a:bodyPr lIns="0" tIns="0" rIns="0" bIns="0">
            <a:noAutofit/>
          </a:bodyPr>
          <a:lstStyle/>
          <a:p>
            <a:endParaRPr lang="en-US" sz="1800">
              <a:solidFill>
                <a:srgbClr val="20354A"/>
              </a:solidFill>
              <a:latin typeface="Arial"/>
              <a:ea typeface="Arial"/>
            </a:endParaRPr>
          </a:p>
        </p:txBody>
      </p:sp>
      <p:sp>
        <p:nvSpPr>
          <p:cNvPr id="100002" name="S03.Cycle.Divider"/>
          <p:cNvSpPr/>
          <p:nvPr/>
        </p:nvSpPr>
        <p:spPr>
          <a:xfrm>
            <a:off x="2313432" y="1252728"/>
            <a:ext cx="8230" cy="1947672"/>
          </a:xfrm>
          <a:prstGeom prst="rect">
            <a:avLst/>
          </a:prstGeom>
          <a:solidFill>
            <a:srgbClr val="BDCBD4"/>
          </a:solidFill>
          <a:ln>
            <a:noFill/>
          </a:ln>
        </p:spPr>
        <p:txBody>
          <a:bodyPr lIns="0" tIns="0" rIns="0" bIns="0">
            <a:noAutofit/>
          </a:bodyPr>
          <a:lstStyle/>
          <a:p>
            <a:endParaRPr lang="en-US" sz="1800">
              <a:solidFill>
                <a:srgbClr val="20354A"/>
              </a:solidFill>
              <a:latin typeface="Arial"/>
              <a:ea typeface="Arial"/>
            </a:endParaRPr>
          </a:p>
        </p:txBody>
      </p:sp>
      <p:sp>
        <p:nvSpPr>
          <p:cNvPr id="100003" name="S03.Cycle.Heading"/>
          <p:cNvSpPr txBox="1"/>
          <p:nvPr/>
        </p:nvSpPr>
        <p:spPr>
          <a:xfrm>
            <a:off x="2532888" y="1234440"/>
            <a:ext cx="3264408" cy="640080"/>
          </a:xfrm>
          <a:prstGeom prst="rect">
            <a:avLst/>
          </a:prstGeom>
          <a:noFill/>
          <a:ln>
            <a:noFill/>
          </a:ln>
        </p:spPr>
        <p:txBody>
          <a:bodyPr lIns="0" tIns="0" rIns="0" bIns="0">
            <a:noAutofit/>
          </a:bodyPr>
          <a:lstStyle/>
          <a:p>
            <a:r>
              <a:rPr lang="en-US" sz="2000" b="1">
                <a:solidFill>
                  <a:srgbClr val="183B56"/>
                </a:solidFill>
                <a:latin typeface="Arial"/>
                <a:ea typeface="Arial"/>
              </a:rPr>
              <a:t>Cycle-Accurate</a:t>
            </a:r>
          </a:p>
          <a:p>
            <a:r>
              <a:rPr lang="en-US" sz="2000" b="1">
                <a:solidFill>
                  <a:srgbClr val="183B56"/>
                </a:solidFill>
                <a:latin typeface="Arial"/>
                <a:ea typeface="Arial"/>
              </a:rPr>
              <a:t>Execution</a:t>
            </a:r>
          </a:p>
        </p:txBody>
      </p:sp>
      <p:sp>
        <p:nvSpPr>
          <p:cNvPr id="100004" name="S03.Cycle.Bullet1"/>
          <p:cNvSpPr/>
          <p:nvPr/>
        </p:nvSpPr>
        <p:spPr>
          <a:xfrm>
            <a:off x="2569464" y="2052828"/>
            <a:ext cx="91440" cy="91440"/>
          </a:xfrm>
          <a:prstGeom prst="ellipse">
            <a:avLst/>
          </a:prstGeom>
          <a:solidFill>
            <a:srgbClr val="008C95"/>
          </a:solidFill>
          <a:ln>
            <a:noFill/>
          </a:ln>
        </p:spPr>
        <p:txBody>
          <a:bodyPr lIns="0" tIns="0" rIns="0" bIns="0">
            <a:noAutofit/>
          </a:bodyPr>
          <a:lstStyle/>
          <a:p>
            <a:endParaRPr lang="en-US" sz="1800">
              <a:solidFill>
                <a:srgbClr val="20354A"/>
              </a:solidFill>
              <a:latin typeface="Arial"/>
              <a:ea typeface="Arial"/>
            </a:endParaRPr>
          </a:p>
        </p:txBody>
      </p:sp>
      <p:sp>
        <p:nvSpPr>
          <p:cNvPr id="100005" name="S03.Cycle.Text1"/>
          <p:cNvSpPr txBox="1"/>
          <p:nvPr/>
        </p:nvSpPr>
        <p:spPr>
          <a:xfrm>
            <a:off x="2807208" y="1975104"/>
            <a:ext cx="3017520" cy="557784"/>
          </a:xfrm>
          <a:prstGeom prst="rect">
            <a:avLst/>
          </a:prstGeom>
          <a:noFill/>
          <a:ln>
            <a:noFill/>
          </a:ln>
        </p:spPr>
        <p:txBody>
          <a:bodyPr lIns="0" tIns="0" rIns="0" bIns="0">
            <a:noAutofit/>
          </a:bodyPr>
          <a:lstStyle/>
          <a:p>
            <a:r>
              <a:rPr lang="en-US" sz="1700">
                <a:solidFill>
                  <a:srgbClr val="20354A"/>
                </a:solidFill>
                <a:latin typeface="Arial"/>
                <a:ea typeface="Arial"/>
              </a:rPr>
              <a:t>Align DUT cycles across</a:t>
            </a:r>
          </a:p>
          <a:p>
            <a:r>
              <a:rPr lang="en-US" sz="1700">
                <a:solidFill>
                  <a:srgbClr val="20354A"/>
                </a:solidFill>
                <a:latin typeface="Arial"/>
                <a:ea typeface="Arial"/>
              </a:rPr>
              <a:t>partitions</a:t>
            </a:r>
          </a:p>
        </p:txBody>
      </p:sp>
      <p:sp>
        <p:nvSpPr>
          <p:cNvPr id="100006" name="S03.Cycle.Bullet2"/>
          <p:cNvSpPr/>
          <p:nvPr/>
        </p:nvSpPr>
        <p:spPr>
          <a:xfrm>
            <a:off x="2569464" y="2674620"/>
            <a:ext cx="91440" cy="91440"/>
          </a:xfrm>
          <a:prstGeom prst="ellipse">
            <a:avLst/>
          </a:prstGeom>
          <a:solidFill>
            <a:srgbClr val="008C95"/>
          </a:solidFill>
          <a:ln>
            <a:noFill/>
          </a:ln>
        </p:spPr>
        <p:txBody>
          <a:bodyPr lIns="0" tIns="0" rIns="0" bIns="0">
            <a:noAutofit/>
          </a:bodyPr>
          <a:lstStyle/>
          <a:p>
            <a:endParaRPr lang="en-US" sz="1800">
              <a:solidFill>
                <a:srgbClr val="20354A"/>
              </a:solidFill>
              <a:latin typeface="Arial"/>
              <a:ea typeface="Arial"/>
            </a:endParaRPr>
          </a:p>
        </p:txBody>
      </p:sp>
      <p:sp>
        <p:nvSpPr>
          <p:cNvPr id="100007" name="S03.Cycle.Text2"/>
          <p:cNvSpPr txBox="1"/>
          <p:nvPr/>
        </p:nvSpPr>
        <p:spPr>
          <a:xfrm>
            <a:off x="2807208" y="2596896"/>
            <a:ext cx="3017520" cy="557784"/>
          </a:xfrm>
          <a:prstGeom prst="rect">
            <a:avLst/>
          </a:prstGeom>
          <a:noFill/>
          <a:ln>
            <a:noFill/>
          </a:ln>
        </p:spPr>
        <p:txBody>
          <a:bodyPr lIns="0" tIns="0" rIns="0" bIns="0">
            <a:noAutofit/>
          </a:bodyPr>
          <a:lstStyle/>
          <a:p>
            <a:r>
              <a:rPr lang="en-US" sz="1700">
                <a:solidFill>
                  <a:srgbClr val="20354A"/>
                </a:solidFill>
                <a:latin typeface="Arial"/>
                <a:ea typeface="Arial"/>
              </a:rPr>
              <a:t>Account for cross-FPGA</a:t>
            </a:r>
          </a:p>
          <a:p>
            <a:r>
              <a:rPr lang="en-US" sz="1700">
                <a:solidFill>
                  <a:srgbClr val="20354A"/>
                </a:solidFill>
                <a:latin typeface="Arial"/>
                <a:ea typeface="Arial"/>
              </a:rPr>
              <a:t>communication latency</a:t>
            </a:r>
          </a:p>
        </p:txBody>
      </p:sp>
      <p:sp>
        <p:nvSpPr>
          <p:cNvPr id="100008" name="S03.Pause.Panel"/>
          <p:cNvSpPr/>
          <p:nvPr/>
        </p:nvSpPr>
        <p:spPr>
          <a:xfrm>
            <a:off x="6190488" y="1024128"/>
            <a:ext cx="5687568" cy="2404872"/>
          </a:xfrm>
          <a:prstGeom prst="roundRect">
            <a:avLst>
              <a:gd name="adj" fmla="val 6500"/>
            </a:avLst>
          </a:prstGeom>
          <a:solidFill>
            <a:srgbClr val="F1F5F8"/>
          </a:solidFill>
          <a:ln>
            <a:noFill/>
          </a:ln>
        </p:spPr>
        <p:txBody>
          <a:bodyPr lIns="0" tIns="0" rIns="0" bIns="0">
            <a:noAutofit/>
          </a:bodyPr>
          <a:lstStyle/>
          <a:p>
            <a:endParaRPr lang="en-US" sz="1800">
              <a:solidFill>
                <a:srgbClr val="20354A"/>
              </a:solidFill>
              <a:latin typeface="Arial"/>
              <a:ea typeface="Arial"/>
            </a:endParaRPr>
          </a:p>
        </p:txBody>
      </p:sp>
      <p:sp>
        <p:nvSpPr>
          <p:cNvPr id="100009" name="S03.Pause.Divider"/>
          <p:cNvSpPr/>
          <p:nvPr/>
        </p:nvSpPr>
        <p:spPr>
          <a:xfrm>
            <a:off x="8183880" y="1252728"/>
            <a:ext cx="8230" cy="1947672"/>
          </a:xfrm>
          <a:prstGeom prst="rect">
            <a:avLst/>
          </a:prstGeom>
          <a:solidFill>
            <a:srgbClr val="BDCBD4"/>
          </a:solidFill>
          <a:ln>
            <a:noFill/>
          </a:ln>
        </p:spPr>
        <p:txBody>
          <a:bodyPr lIns="0" tIns="0" rIns="0" bIns="0">
            <a:noAutofit/>
          </a:bodyPr>
          <a:lstStyle/>
          <a:p>
            <a:endParaRPr lang="en-US" sz="1800">
              <a:solidFill>
                <a:srgbClr val="20354A"/>
              </a:solidFill>
              <a:latin typeface="Arial"/>
              <a:ea typeface="Arial"/>
            </a:endParaRPr>
          </a:p>
        </p:txBody>
      </p:sp>
      <p:sp>
        <p:nvSpPr>
          <p:cNvPr id="100010" name="S03.Pause.Heading"/>
          <p:cNvSpPr txBox="1"/>
          <p:nvPr/>
        </p:nvSpPr>
        <p:spPr>
          <a:xfrm>
            <a:off x="8403336" y="1234440"/>
            <a:ext cx="3264408" cy="640080"/>
          </a:xfrm>
          <a:prstGeom prst="rect">
            <a:avLst/>
          </a:prstGeom>
          <a:noFill/>
          <a:ln>
            <a:noFill/>
          </a:ln>
        </p:spPr>
        <p:txBody>
          <a:bodyPr lIns="0" tIns="0" rIns="0" bIns="0">
            <a:noAutofit/>
          </a:bodyPr>
          <a:lstStyle/>
          <a:p>
            <a:r>
              <a:rPr lang="en-US" sz="2000" b="1">
                <a:solidFill>
                  <a:srgbClr val="183B56"/>
                </a:solidFill>
                <a:latin typeface="Arial"/>
                <a:ea typeface="Arial"/>
              </a:rPr>
              <a:t>Cycle-Consistent</a:t>
            </a:r>
          </a:p>
          <a:p>
            <a:r>
              <a:rPr lang="en-US" sz="2000" b="1">
                <a:solidFill>
                  <a:srgbClr val="183B56"/>
                </a:solidFill>
                <a:latin typeface="Arial"/>
                <a:ea typeface="Arial"/>
              </a:rPr>
              <a:t>Global Pause</a:t>
            </a:r>
          </a:p>
        </p:txBody>
      </p:sp>
      <p:sp>
        <p:nvSpPr>
          <p:cNvPr id="100011" name="S03.Pause.Bullet1"/>
          <p:cNvSpPr/>
          <p:nvPr/>
        </p:nvSpPr>
        <p:spPr>
          <a:xfrm>
            <a:off x="8439912" y="2052828"/>
            <a:ext cx="91440" cy="91440"/>
          </a:xfrm>
          <a:prstGeom prst="ellipse">
            <a:avLst/>
          </a:prstGeom>
          <a:solidFill>
            <a:srgbClr val="008C95"/>
          </a:solidFill>
          <a:ln>
            <a:noFill/>
          </a:ln>
        </p:spPr>
        <p:txBody>
          <a:bodyPr lIns="0" tIns="0" rIns="0" bIns="0">
            <a:noAutofit/>
          </a:bodyPr>
          <a:lstStyle/>
          <a:p>
            <a:endParaRPr lang="en-US" sz="1800">
              <a:solidFill>
                <a:srgbClr val="20354A"/>
              </a:solidFill>
              <a:latin typeface="Arial"/>
              <a:ea typeface="Arial"/>
            </a:endParaRPr>
          </a:p>
        </p:txBody>
      </p:sp>
      <p:sp>
        <p:nvSpPr>
          <p:cNvPr id="100012" name="S03.Pause.Text1"/>
          <p:cNvSpPr txBox="1"/>
          <p:nvPr/>
        </p:nvSpPr>
        <p:spPr>
          <a:xfrm>
            <a:off x="8677656" y="1975104"/>
            <a:ext cx="3017520" cy="557784"/>
          </a:xfrm>
          <a:prstGeom prst="rect">
            <a:avLst/>
          </a:prstGeom>
          <a:noFill/>
          <a:ln>
            <a:noFill/>
          </a:ln>
        </p:spPr>
        <p:txBody>
          <a:bodyPr lIns="0" tIns="0" rIns="0" bIns="0">
            <a:noAutofit/>
          </a:bodyPr>
          <a:lstStyle/>
          <a:p>
            <a:r>
              <a:rPr lang="en-US" sz="1700">
                <a:solidFill>
                  <a:srgbClr val="20354A"/>
                </a:solidFill>
                <a:latin typeface="Arial"/>
                <a:ea typeface="Arial"/>
              </a:rPr>
              <a:t>Stop partitions at the</a:t>
            </a:r>
          </a:p>
          <a:p>
            <a:r>
              <a:rPr lang="en-US" sz="1700">
                <a:solidFill>
                  <a:srgbClr val="20354A"/>
                </a:solidFill>
                <a:latin typeface="Arial"/>
                <a:ea typeface="Arial"/>
              </a:rPr>
              <a:t>same logical cycle</a:t>
            </a:r>
          </a:p>
        </p:txBody>
      </p:sp>
      <p:sp>
        <p:nvSpPr>
          <p:cNvPr id="100013" name="S03.Pause.Bullet2"/>
          <p:cNvSpPr/>
          <p:nvPr/>
        </p:nvSpPr>
        <p:spPr>
          <a:xfrm>
            <a:off x="8439912" y="2674620"/>
            <a:ext cx="91440" cy="91440"/>
          </a:xfrm>
          <a:prstGeom prst="ellipse">
            <a:avLst/>
          </a:prstGeom>
          <a:solidFill>
            <a:srgbClr val="008C95"/>
          </a:solidFill>
          <a:ln>
            <a:noFill/>
          </a:ln>
        </p:spPr>
        <p:txBody>
          <a:bodyPr lIns="0" tIns="0" rIns="0" bIns="0">
            <a:noAutofit/>
          </a:bodyPr>
          <a:lstStyle/>
          <a:p>
            <a:endParaRPr lang="en-US" sz="1800">
              <a:solidFill>
                <a:srgbClr val="20354A"/>
              </a:solidFill>
              <a:latin typeface="Arial"/>
              <a:ea typeface="Arial"/>
            </a:endParaRPr>
          </a:p>
        </p:txBody>
      </p:sp>
      <p:sp>
        <p:nvSpPr>
          <p:cNvPr id="100014" name="S03.Pause.Text2"/>
          <p:cNvSpPr txBox="1"/>
          <p:nvPr/>
        </p:nvSpPr>
        <p:spPr>
          <a:xfrm>
            <a:off x="8677656" y="2596896"/>
            <a:ext cx="3017520" cy="557784"/>
          </a:xfrm>
          <a:prstGeom prst="rect">
            <a:avLst/>
          </a:prstGeom>
          <a:noFill/>
          <a:ln>
            <a:noFill/>
          </a:ln>
        </p:spPr>
        <p:txBody>
          <a:bodyPr lIns="0" tIns="0" rIns="0" bIns="0">
            <a:noAutofit/>
          </a:bodyPr>
          <a:lstStyle/>
          <a:p>
            <a:r>
              <a:rPr lang="en-US" sz="1700">
                <a:solidFill>
                  <a:srgbClr val="20354A"/>
                </a:solidFill>
                <a:latin typeface="Arial"/>
                <a:ea typeface="Arial"/>
              </a:rPr>
              <a:t>Drain links for a stable</a:t>
            </a:r>
          </a:p>
          <a:p>
            <a:r>
              <a:rPr lang="en-US" sz="1700">
                <a:solidFill>
                  <a:srgbClr val="20354A"/>
                </a:solidFill>
                <a:latin typeface="Arial"/>
                <a:ea typeface="Arial"/>
              </a:rPr>
              <a:t>snapshot boundary</a:t>
            </a:r>
          </a:p>
        </p:txBody>
      </p:sp>
      <p:sp>
        <p:nvSpPr>
          <p:cNvPr id="100015" name="S03.State.Panel"/>
          <p:cNvSpPr/>
          <p:nvPr/>
        </p:nvSpPr>
        <p:spPr>
          <a:xfrm>
            <a:off x="320040" y="3675888"/>
            <a:ext cx="5687568" cy="2404872"/>
          </a:xfrm>
          <a:prstGeom prst="roundRect">
            <a:avLst>
              <a:gd name="adj" fmla="val 6500"/>
            </a:avLst>
          </a:prstGeom>
          <a:solidFill>
            <a:srgbClr val="FCF4E8"/>
          </a:solidFill>
          <a:ln>
            <a:noFill/>
          </a:ln>
        </p:spPr>
        <p:txBody>
          <a:bodyPr lIns="0" tIns="0" rIns="0" bIns="0">
            <a:noAutofit/>
          </a:bodyPr>
          <a:lstStyle/>
          <a:p>
            <a:endParaRPr lang="en-US" sz="1800">
              <a:solidFill>
                <a:srgbClr val="20354A"/>
              </a:solidFill>
              <a:latin typeface="Arial"/>
              <a:ea typeface="Arial"/>
            </a:endParaRPr>
          </a:p>
        </p:txBody>
      </p:sp>
      <p:sp>
        <p:nvSpPr>
          <p:cNvPr id="100016" name="S03.State.Divider"/>
          <p:cNvSpPr/>
          <p:nvPr/>
        </p:nvSpPr>
        <p:spPr>
          <a:xfrm>
            <a:off x="2313432" y="3904488"/>
            <a:ext cx="8230" cy="1947672"/>
          </a:xfrm>
          <a:prstGeom prst="rect">
            <a:avLst/>
          </a:prstGeom>
          <a:solidFill>
            <a:srgbClr val="BDCBD4"/>
          </a:solidFill>
          <a:ln>
            <a:noFill/>
          </a:ln>
        </p:spPr>
        <p:txBody>
          <a:bodyPr lIns="0" tIns="0" rIns="0" bIns="0">
            <a:noAutofit/>
          </a:bodyPr>
          <a:lstStyle/>
          <a:p>
            <a:endParaRPr lang="en-US" sz="1800">
              <a:solidFill>
                <a:srgbClr val="20354A"/>
              </a:solidFill>
              <a:latin typeface="Arial"/>
              <a:ea typeface="Arial"/>
            </a:endParaRPr>
          </a:p>
        </p:txBody>
      </p:sp>
      <p:sp>
        <p:nvSpPr>
          <p:cNvPr id="100017" name="S03.State.Heading"/>
          <p:cNvSpPr txBox="1"/>
          <p:nvPr/>
        </p:nvSpPr>
        <p:spPr>
          <a:xfrm>
            <a:off x="2532888" y="3886200"/>
            <a:ext cx="3264408" cy="640080"/>
          </a:xfrm>
          <a:prstGeom prst="rect">
            <a:avLst/>
          </a:prstGeom>
          <a:noFill/>
          <a:ln>
            <a:noFill/>
          </a:ln>
        </p:spPr>
        <p:txBody>
          <a:bodyPr lIns="0" tIns="0" rIns="0" bIns="0">
            <a:noAutofit/>
          </a:bodyPr>
          <a:lstStyle/>
          <a:p>
            <a:r>
              <a:rPr lang="en-US" sz="2000" b="1">
                <a:solidFill>
                  <a:srgbClr val="183B56"/>
                </a:solidFill>
                <a:latin typeface="Arial"/>
                <a:ea typeface="Arial"/>
              </a:rPr>
              <a:t>Distributed State</a:t>
            </a:r>
          </a:p>
          <a:p>
            <a:r>
              <a:rPr lang="en-US" sz="2000" b="1">
                <a:solidFill>
                  <a:srgbClr val="183B56"/>
                </a:solidFill>
                <a:latin typeface="Arial"/>
                <a:ea typeface="Arial"/>
              </a:rPr>
              <a:t>Management</a:t>
            </a:r>
          </a:p>
        </p:txBody>
      </p:sp>
      <p:sp>
        <p:nvSpPr>
          <p:cNvPr id="100018" name="S03.State.Bullet1"/>
          <p:cNvSpPr/>
          <p:nvPr/>
        </p:nvSpPr>
        <p:spPr>
          <a:xfrm>
            <a:off x="2569464" y="4704588"/>
            <a:ext cx="91440" cy="91440"/>
          </a:xfrm>
          <a:prstGeom prst="ellipse">
            <a:avLst/>
          </a:prstGeom>
          <a:solidFill>
            <a:srgbClr val="008C95"/>
          </a:solidFill>
          <a:ln>
            <a:noFill/>
          </a:ln>
        </p:spPr>
        <p:txBody>
          <a:bodyPr lIns="0" tIns="0" rIns="0" bIns="0">
            <a:noAutofit/>
          </a:bodyPr>
          <a:lstStyle/>
          <a:p>
            <a:endParaRPr lang="en-US" sz="1800">
              <a:solidFill>
                <a:srgbClr val="20354A"/>
              </a:solidFill>
              <a:latin typeface="Arial"/>
              <a:ea typeface="Arial"/>
            </a:endParaRPr>
          </a:p>
        </p:txBody>
      </p:sp>
      <p:sp>
        <p:nvSpPr>
          <p:cNvPr id="100019" name="S03.State.Text1"/>
          <p:cNvSpPr txBox="1"/>
          <p:nvPr/>
        </p:nvSpPr>
        <p:spPr>
          <a:xfrm>
            <a:off x="2807208" y="4626864"/>
            <a:ext cx="3017520" cy="557784"/>
          </a:xfrm>
          <a:prstGeom prst="rect">
            <a:avLst/>
          </a:prstGeom>
          <a:noFill/>
          <a:ln>
            <a:noFill/>
          </a:ln>
        </p:spPr>
        <p:txBody>
          <a:bodyPr lIns="0" tIns="0" rIns="0" bIns="0">
            <a:noAutofit/>
          </a:bodyPr>
          <a:lstStyle/>
          <a:p>
            <a:r>
              <a:rPr lang="en-US" sz="1700">
                <a:solidFill>
                  <a:srgbClr val="20354A"/>
                </a:solidFill>
                <a:latin typeface="Arial"/>
                <a:ea typeface="Arial"/>
              </a:rPr>
              <a:t>Extract local states</a:t>
            </a:r>
          </a:p>
        </p:txBody>
      </p:sp>
      <p:sp>
        <p:nvSpPr>
          <p:cNvPr id="100020" name="S03.State.Bullet2"/>
          <p:cNvSpPr/>
          <p:nvPr/>
        </p:nvSpPr>
        <p:spPr>
          <a:xfrm>
            <a:off x="2569464" y="5326380"/>
            <a:ext cx="91440" cy="91440"/>
          </a:xfrm>
          <a:prstGeom prst="ellipse">
            <a:avLst/>
          </a:prstGeom>
          <a:solidFill>
            <a:srgbClr val="008C95"/>
          </a:solidFill>
          <a:ln>
            <a:noFill/>
          </a:ln>
        </p:spPr>
        <p:txBody>
          <a:bodyPr lIns="0" tIns="0" rIns="0" bIns="0">
            <a:noAutofit/>
          </a:bodyPr>
          <a:lstStyle/>
          <a:p>
            <a:endParaRPr lang="en-US" sz="1800">
              <a:solidFill>
                <a:srgbClr val="20354A"/>
              </a:solidFill>
              <a:latin typeface="Arial"/>
              <a:ea typeface="Arial"/>
            </a:endParaRPr>
          </a:p>
        </p:txBody>
      </p:sp>
      <p:sp>
        <p:nvSpPr>
          <p:cNvPr id="100021" name="S03.State.Text2"/>
          <p:cNvSpPr txBox="1"/>
          <p:nvPr/>
        </p:nvSpPr>
        <p:spPr>
          <a:xfrm>
            <a:off x="2807208" y="5248656"/>
            <a:ext cx="3017520" cy="557784"/>
          </a:xfrm>
          <a:prstGeom prst="rect">
            <a:avLst/>
          </a:prstGeom>
          <a:noFill/>
          <a:ln>
            <a:noFill/>
          </a:ln>
        </p:spPr>
        <p:txBody>
          <a:bodyPr lIns="0" tIns="0" rIns="0" bIns="0">
            <a:noAutofit/>
          </a:bodyPr>
          <a:lstStyle/>
          <a:p>
            <a:r>
              <a:rPr lang="en-US" sz="1700">
                <a:solidFill>
                  <a:srgbClr val="20354A"/>
                </a:solidFill>
                <a:latin typeface="Arial"/>
                <a:ea typeface="Arial"/>
              </a:rPr>
              <a:t>Form a global snapshot</a:t>
            </a:r>
          </a:p>
          <a:p>
            <a:r>
              <a:rPr lang="en-US" sz="1700">
                <a:solidFill>
                  <a:srgbClr val="20354A"/>
                </a:solidFill>
                <a:latin typeface="Arial"/>
                <a:ea typeface="Arial"/>
              </a:rPr>
              <a:t>for restore and replay</a:t>
            </a:r>
          </a:p>
        </p:txBody>
      </p:sp>
      <p:sp>
        <p:nvSpPr>
          <p:cNvPr id="100022" name="S03.Partition.Panel"/>
          <p:cNvSpPr/>
          <p:nvPr/>
        </p:nvSpPr>
        <p:spPr>
          <a:xfrm>
            <a:off x="6190488" y="3675888"/>
            <a:ext cx="5687568" cy="2404872"/>
          </a:xfrm>
          <a:prstGeom prst="roundRect">
            <a:avLst>
              <a:gd name="adj" fmla="val 6500"/>
            </a:avLst>
          </a:prstGeom>
          <a:solidFill>
            <a:srgbClr val="EAF4F3"/>
          </a:solidFill>
          <a:ln>
            <a:noFill/>
          </a:ln>
        </p:spPr>
        <p:txBody>
          <a:bodyPr lIns="0" tIns="0" rIns="0" bIns="0">
            <a:noAutofit/>
          </a:bodyPr>
          <a:lstStyle/>
          <a:p>
            <a:endParaRPr lang="en-US" sz="1800">
              <a:solidFill>
                <a:srgbClr val="20354A"/>
              </a:solidFill>
              <a:latin typeface="Arial"/>
              <a:ea typeface="Arial"/>
            </a:endParaRPr>
          </a:p>
        </p:txBody>
      </p:sp>
      <p:sp>
        <p:nvSpPr>
          <p:cNvPr id="100023" name="S03.Partition.Divider"/>
          <p:cNvSpPr/>
          <p:nvPr/>
        </p:nvSpPr>
        <p:spPr>
          <a:xfrm>
            <a:off x="8183880" y="3904488"/>
            <a:ext cx="8230" cy="1947672"/>
          </a:xfrm>
          <a:prstGeom prst="rect">
            <a:avLst/>
          </a:prstGeom>
          <a:solidFill>
            <a:srgbClr val="BDCBD4"/>
          </a:solidFill>
          <a:ln>
            <a:noFill/>
          </a:ln>
        </p:spPr>
        <p:txBody>
          <a:bodyPr lIns="0" tIns="0" rIns="0" bIns="0">
            <a:noAutofit/>
          </a:bodyPr>
          <a:lstStyle/>
          <a:p>
            <a:endParaRPr lang="en-US" sz="1800">
              <a:solidFill>
                <a:srgbClr val="20354A"/>
              </a:solidFill>
              <a:latin typeface="Arial"/>
              <a:ea typeface="Arial"/>
            </a:endParaRPr>
          </a:p>
        </p:txBody>
      </p:sp>
      <p:sp>
        <p:nvSpPr>
          <p:cNvPr id="100024" name="S03.Partition.Heading"/>
          <p:cNvSpPr txBox="1"/>
          <p:nvPr/>
        </p:nvSpPr>
        <p:spPr>
          <a:xfrm>
            <a:off x="8403336" y="3886200"/>
            <a:ext cx="3264408" cy="640080"/>
          </a:xfrm>
          <a:prstGeom prst="rect">
            <a:avLst/>
          </a:prstGeom>
          <a:noFill/>
          <a:ln>
            <a:noFill/>
          </a:ln>
        </p:spPr>
        <p:txBody>
          <a:bodyPr lIns="0" tIns="0" rIns="0" bIns="0">
            <a:noAutofit/>
          </a:bodyPr>
          <a:lstStyle/>
          <a:p>
            <a:r>
              <a:rPr lang="en-US" sz="2000" b="1">
                <a:solidFill>
                  <a:srgbClr val="183B56"/>
                </a:solidFill>
                <a:latin typeface="Arial"/>
                <a:ea typeface="Arial"/>
              </a:rPr>
              <a:t>Automated</a:t>
            </a:r>
          </a:p>
          <a:p>
            <a:r>
              <a:rPr lang="en-US" sz="2000" b="1">
                <a:solidFill>
                  <a:srgbClr val="183B56"/>
                </a:solidFill>
                <a:latin typeface="Arial"/>
                <a:ea typeface="Arial"/>
              </a:rPr>
              <a:t>Partitioning</a:t>
            </a:r>
          </a:p>
        </p:txBody>
      </p:sp>
      <p:sp>
        <p:nvSpPr>
          <p:cNvPr id="100025" name="S03.Partition.Bullet1"/>
          <p:cNvSpPr/>
          <p:nvPr/>
        </p:nvSpPr>
        <p:spPr>
          <a:xfrm>
            <a:off x="8439912" y="4704588"/>
            <a:ext cx="91440" cy="91440"/>
          </a:xfrm>
          <a:prstGeom prst="ellipse">
            <a:avLst/>
          </a:prstGeom>
          <a:solidFill>
            <a:srgbClr val="008C95"/>
          </a:solidFill>
          <a:ln>
            <a:noFill/>
          </a:ln>
        </p:spPr>
        <p:txBody>
          <a:bodyPr lIns="0" tIns="0" rIns="0" bIns="0">
            <a:noAutofit/>
          </a:bodyPr>
          <a:lstStyle/>
          <a:p>
            <a:endParaRPr lang="en-US" sz="1800">
              <a:solidFill>
                <a:srgbClr val="20354A"/>
              </a:solidFill>
              <a:latin typeface="Arial"/>
              <a:ea typeface="Arial"/>
            </a:endParaRPr>
          </a:p>
        </p:txBody>
      </p:sp>
      <p:sp>
        <p:nvSpPr>
          <p:cNvPr id="100026" name="S03.Partition.Text1"/>
          <p:cNvSpPr txBox="1"/>
          <p:nvPr/>
        </p:nvSpPr>
        <p:spPr>
          <a:xfrm>
            <a:off x="8677656" y="4626864"/>
            <a:ext cx="3017520" cy="557784"/>
          </a:xfrm>
          <a:prstGeom prst="rect">
            <a:avLst/>
          </a:prstGeom>
          <a:noFill/>
          <a:ln>
            <a:noFill/>
          </a:ln>
        </p:spPr>
        <p:txBody>
          <a:bodyPr lIns="0" tIns="0" rIns="0" bIns="0">
            <a:noAutofit/>
          </a:bodyPr>
          <a:lstStyle/>
          <a:p>
            <a:r>
              <a:rPr lang="en-US" sz="1700">
                <a:solidFill>
                  <a:srgbClr val="20354A"/>
                </a:solidFill>
                <a:latin typeface="Arial"/>
                <a:ea typeface="Arial"/>
              </a:rPr>
              <a:t>Balance resources and</a:t>
            </a:r>
          </a:p>
          <a:p>
            <a:r>
              <a:rPr lang="en-US" sz="1700">
                <a:solidFill>
                  <a:srgbClr val="20354A"/>
                </a:solidFill>
                <a:latin typeface="Arial"/>
                <a:ea typeface="Arial"/>
              </a:rPr>
              <a:t>cut size</a:t>
            </a:r>
          </a:p>
        </p:txBody>
      </p:sp>
      <p:sp>
        <p:nvSpPr>
          <p:cNvPr id="100027" name="S03.Partition.Bullet2"/>
          <p:cNvSpPr/>
          <p:nvPr/>
        </p:nvSpPr>
        <p:spPr>
          <a:xfrm>
            <a:off x="8439912" y="5326380"/>
            <a:ext cx="91440" cy="91440"/>
          </a:xfrm>
          <a:prstGeom prst="ellipse">
            <a:avLst/>
          </a:prstGeom>
          <a:solidFill>
            <a:srgbClr val="008C95"/>
          </a:solidFill>
          <a:ln>
            <a:noFill/>
          </a:ln>
        </p:spPr>
        <p:txBody>
          <a:bodyPr lIns="0" tIns="0" rIns="0" bIns="0">
            <a:noAutofit/>
          </a:bodyPr>
          <a:lstStyle/>
          <a:p>
            <a:endParaRPr lang="en-US" sz="1800">
              <a:solidFill>
                <a:srgbClr val="20354A"/>
              </a:solidFill>
              <a:latin typeface="Arial"/>
              <a:ea typeface="Arial"/>
            </a:endParaRPr>
          </a:p>
        </p:txBody>
      </p:sp>
      <p:sp>
        <p:nvSpPr>
          <p:cNvPr id="100028" name="S03.Partition.Text2"/>
          <p:cNvSpPr txBox="1"/>
          <p:nvPr/>
        </p:nvSpPr>
        <p:spPr>
          <a:xfrm>
            <a:off x="8677656" y="5248656"/>
            <a:ext cx="3017520" cy="749808"/>
          </a:xfrm>
          <a:prstGeom prst="rect">
            <a:avLst/>
          </a:prstGeom>
          <a:noFill/>
          <a:ln>
            <a:noFill/>
          </a:ln>
        </p:spPr>
        <p:txBody>
          <a:bodyPr lIns="0" tIns="0" rIns="0" bIns="0">
            <a:noAutofit/>
          </a:bodyPr>
          <a:lstStyle/>
          <a:p>
            <a:r>
              <a:rPr lang="en-US" sz="1700">
                <a:solidFill>
                  <a:srgbClr val="20354A"/>
                </a:solidFill>
                <a:latin typeface="Arial"/>
                <a:ea typeface="Arial"/>
              </a:rPr>
              <a:t>Control Partition</a:t>
            </a:r>
          </a:p>
          <a:p>
            <a:r>
              <a:rPr lang="en-US" sz="1700">
                <a:solidFill>
                  <a:srgbClr val="20354A"/>
                </a:solidFill>
                <a:latin typeface="Arial"/>
                <a:ea typeface="Arial"/>
              </a:rPr>
              <a:t>Propagation Depth (PPD)</a:t>
            </a:r>
          </a:p>
          <a:p>
            <a:r>
              <a:rPr lang="en-US" sz="1700">
                <a:solidFill>
                  <a:srgbClr val="20354A"/>
                </a:solidFill>
                <a:latin typeface="Arial"/>
                <a:ea typeface="Arial"/>
              </a:rPr>
              <a:t>through granularity</a:t>
            </a:r>
          </a:p>
        </p:txBody>
      </p:sp>
      <p:pic>
        <p:nvPicPr>
          <p:cNvPr id="100029" name="S03.Cycle.Left" descr="FPGA chip"/>
          <p:cNvPicPr>
            <a:picLocks noChangeAspect="1"/>
          </p:cNvPicPr>
          <p:nvPr/>
        </p:nvPicPr>
        <p:blipFill>
          <a:blip xmlns:r="http://schemas.openxmlformats.org/officeDocument/2006/relationships" r:embed="R8077effb218d4ed0"/>
          <a:srcRect l="21371" t="23684" r="21291" b="20972"/>
          <a:stretch>
            <a:fillRect/>
          </a:stretch>
        </p:blipFill>
        <p:spPr>
          <a:xfrm>
            <a:off x="502920" y="2029968"/>
            <a:ext cx="603504" cy="582519"/>
          </a:xfrm>
          <a:prstGeom prst="rect">
            <a:avLst/>
          </a:prstGeom>
        </p:spPr>
      </p:pic>
      <p:pic>
        <p:nvPicPr>
          <p:cNvPr id="100030" name="S03.Cycle.Right" descr="FPGA chip"/>
          <p:cNvPicPr>
            <a:picLocks noChangeAspect="1"/>
          </p:cNvPicPr>
          <p:nvPr/>
        </p:nvPicPr>
        <p:blipFill>
          <a:blip xmlns:r="http://schemas.openxmlformats.org/officeDocument/2006/relationships" r:embed="Rc417c64d03794cc4"/>
          <a:srcRect l="21371" t="23684" r="21291" b="20972"/>
          <a:stretch>
            <a:fillRect/>
          </a:stretch>
        </p:blipFill>
        <p:spPr>
          <a:xfrm>
            <a:off x="1618488" y="2029968"/>
            <a:ext cx="603504" cy="582519"/>
          </a:xfrm>
          <a:prstGeom prst="rect">
            <a:avLst/>
          </a:prstGeom>
        </p:spPr>
      </p:pic>
      <p:pic>
        <p:nvPicPr>
          <p:cNvPr id="100031" name="S03.Cycle.Clock" descr="Logical cycle progression"/>
          <p:cNvPicPr>
            <a:picLocks noChangeAspect="1"/>
          </p:cNvPicPr>
          <p:nvPr/>
        </p:nvPicPr>
        <p:blipFill>
          <a:blip xmlns:r="http://schemas.openxmlformats.org/officeDocument/2006/relationships" r:embed="R76c29abcbffe4687"/>
          <a:srcRect l="13078" t="10047" r="12918" b="10526"/>
          <a:stretch>
            <a:fillRect/>
          </a:stretch>
        </p:blipFill>
        <p:spPr>
          <a:xfrm>
            <a:off x="1143000" y="1435608"/>
            <a:ext cx="438912" cy="471073"/>
          </a:xfrm>
          <a:prstGeom prst="rect">
            <a:avLst/>
          </a:prstGeom>
        </p:spPr>
      </p:pic>
      <p:cxnSp>
        <p:nvCxnSpPr>
          <p:cNvPr id="100032" name="S03.Cycle.Pulse0"/>
          <p:cNvCxnSpPr/>
          <p:nvPr/>
        </p:nvCxnSpPr>
        <p:spPr>
          <a:xfrm>
            <a:off x="1133856" y="2377440"/>
            <a:ext cx="82296" cy="0"/>
          </a:xfrm>
          <a:prstGeom prst="straightConnector1">
            <a:avLst/>
          </a:prstGeom>
          <a:ln w="29210">
            <a:solidFill>
              <a:srgbClr val="DF973E"/>
            </a:solidFill>
          </a:ln>
        </p:spPr>
      </p:cxnSp>
      <p:cxnSp>
        <p:nvCxnSpPr>
          <p:cNvPr id="100033" name="S03.Cycle.Pulse1"/>
          <p:cNvCxnSpPr/>
          <p:nvPr/>
        </p:nvCxnSpPr>
        <p:spPr>
          <a:xfrm>
            <a:off x="1216152" y="2148840"/>
            <a:ext cx="0" cy="228600"/>
          </a:xfrm>
          <a:prstGeom prst="straightConnector1">
            <a:avLst/>
          </a:prstGeom>
          <a:ln w="29210">
            <a:solidFill>
              <a:srgbClr val="DF973E"/>
            </a:solidFill>
          </a:ln>
        </p:spPr>
      </p:cxnSp>
      <p:cxnSp>
        <p:nvCxnSpPr>
          <p:cNvPr id="100034" name="S03.Cycle.Pulse2"/>
          <p:cNvCxnSpPr/>
          <p:nvPr/>
        </p:nvCxnSpPr>
        <p:spPr>
          <a:xfrm>
            <a:off x="1216152" y="2148840"/>
            <a:ext cx="118872" cy="0"/>
          </a:xfrm>
          <a:prstGeom prst="straightConnector1">
            <a:avLst/>
          </a:prstGeom>
          <a:ln w="29210">
            <a:solidFill>
              <a:srgbClr val="DF973E"/>
            </a:solidFill>
          </a:ln>
        </p:spPr>
      </p:cxnSp>
      <p:cxnSp>
        <p:nvCxnSpPr>
          <p:cNvPr id="100035" name="S03.Cycle.Pulse3"/>
          <p:cNvCxnSpPr/>
          <p:nvPr/>
        </p:nvCxnSpPr>
        <p:spPr>
          <a:xfrm>
            <a:off x="1335024" y="2148840"/>
            <a:ext cx="0" cy="228600"/>
          </a:xfrm>
          <a:prstGeom prst="straightConnector1">
            <a:avLst/>
          </a:prstGeom>
          <a:ln w="29210">
            <a:solidFill>
              <a:srgbClr val="DF973E"/>
            </a:solidFill>
          </a:ln>
        </p:spPr>
      </p:cxnSp>
      <p:cxnSp>
        <p:nvCxnSpPr>
          <p:cNvPr id="100036" name="S03.Cycle.Pulse4"/>
          <p:cNvCxnSpPr/>
          <p:nvPr/>
        </p:nvCxnSpPr>
        <p:spPr>
          <a:xfrm>
            <a:off x="1335024" y="2377440"/>
            <a:ext cx="118872" cy="0"/>
          </a:xfrm>
          <a:prstGeom prst="straightConnector1">
            <a:avLst/>
          </a:prstGeom>
          <a:ln w="29210">
            <a:solidFill>
              <a:srgbClr val="DF973E"/>
            </a:solidFill>
          </a:ln>
        </p:spPr>
      </p:cxnSp>
      <p:cxnSp>
        <p:nvCxnSpPr>
          <p:cNvPr id="100037" name="S03.Cycle.Pulse5"/>
          <p:cNvCxnSpPr/>
          <p:nvPr/>
        </p:nvCxnSpPr>
        <p:spPr>
          <a:xfrm>
            <a:off x="1453896" y="2148840"/>
            <a:ext cx="0" cy="228600"/>
          </a:xfrm>
          <a:prstGeom prst="straightConnector1">
            <a:avLst/>
          </a:prstGeom>
          <a:ln w="29210">
            <a:solidFill>
              <a:srgbClr val="DF973E"/>
            </a:solidFill>
          </a:ln>
        </p:spPr>
      </p:cxnSp>
      <p:cxnSp>
        <p:nvCxnSpPr>
          <p:cNvPr id="100038" name="S03.Cycle.Pulse6"/>
          <p:cNvCxnSpPr/>
          <p:nvPr/>
        </p:nvCxnSpPr>
        <p:spPr>
          <a:xfrm>
            <a:off x="1453896" y="2148840"/>
            <a:ext cx="109728" cy="0"/>
          </a:xfrm>
          <a:prstGeom prst="straightConnector1">
            <a:avLst/>
          </a:prstGeom>
          <a:ln w="29210">
            <a:solidFill>
              <a:srgbClr val="DF973E"/>
            </a:solidFill>
          </a:ln>
        </p:spPr>
      </p:cxnSp>
      <p:cxnSp>
        <p:nvCxnSpPr>
          <p:cNvPr id="100039" name="S03.Cycle.Pulse7"/>
          <p:cNvCxnSpPr/>
          <p:nvPr/>
        </p:nvCxnSpPr>
        <p:spPr>
          <a:xfrm>
            <a:off x="1563624" y="2148840"/>
            <a:ext cx="0" cy="228600"/>
          </a:xfrm>
          <a:prstGeom prst="straightConnector1">
            <a:avLst/>
          </a:prstGeom>
          <a:ln w="29210">
            <a:solidFill>
              <a:srgbClr val="DF973E"/>
            </a:solidFill>
          </a:ln>
        </p:spPr>
      </p:cxnSp>
      <p:cxnSp>
        <p:nvCxnSpPr>
          <p:cNvPr id="100040" name="S03.Cycle.Pulse8"/>
          <p:cNvCxnSpPr/>
          <p:nvPr/>
        </p:nvCxnSpPr>
        <p:spPr>
          <a:xfrm>
            <a:off x="1563624" y="2377440"/>
            <a:ext cx="27432" cy="0"/>
          </a:xfrm>
          <a:prstGeom prst="straightConnector1">
            <a:avLst/>
          </a:prstGeom>
          <a:ln w="29210">
            <a:solidFill>
              <a:srgbClr val="DF973E"/>
            </a:solidFill>
          </a:ln>
        </p:spPr>
      </p:cxnSp>
      <p:sp>
        <p:nvSpPr>
          <p:cNvPr id="100041" name="S03.Cycle.Label"/>
          <p:cNvSpPr txBox="1"/>
          <p:nvPr/>
        </p:nvSpPr>
        <p:spPr>
          <a:xfrm>
            <a:off x="475488" y="2862072"/>
            <a:ext cx="1773936" cy="256032"/>
          </a:xfrm>
          <a:prstGeom prst="rect">
            <a:avLst/>
          </a:prstGeom>
          <a:noFill/>
          <a:ln>
            <a:noFill/>
          </a:ln>
        </p:spPr>
        <p:txBody>
          <a:bodyPr lIns="0" tIns="0" rIns="0" bIns="0">
            <a:noAutofit/>
          </a:bodyPr>
          <a:lstStyle/>
          <a:p>
            <a:pPr algn="ctr"/>
            <a:r>
              <a:rPr lang="en-US" sz="1400">
                <a:solidFill>
                  <a:srgbClr val="183B56"/>
                </a:solidFill>
                <a:latin typeface="Arial"/>
                <a:ea typeface="Arial"/>
              </a:rPr>
              <a:t>DUT cycle n</a:t>
            </a:r>
          </a:p>
        </p:txBody>
      </p:sp>
      <p:pic>
        <p:nvPicPr>
          <p:cNvPr id="100042" name="S03.Pause.Top" descr="FPGA chip"/>
          <p:cNvPicPr>
            <a:picLocks noChangeAspect="1"/>
          </p:cNvPicPr>
          <p:nvPr/>
        </p:nvPicPr>
        <p:blipFill>
          <a:blip xmlns:r="http://schemas.openxmlformats.org/officeDocument/2006/relationships" r:embed="R84c666b5e48d4577"/>
          <a:srcRect l="21371" t="23684" r="21291" b="20972"/>
          <a:stretch>
            <a:fillRect/>
          </a:stretch>
        </p:blipFill>
        <p:spPr>
          <a:xfrm>
            <a:off x="6922008" y="1353312"/>
            <a:ext cx="539496" cy="520737"/>
          </a:xfrm>
          <a:prstGeom prst="rect">
            <a:avLst/>
          </a:prstGeom>
        </p:spPr>
      </p:pic>
      <p:pic>
        <p:nvPicPr>
          <p:cNvPr id="100043" name="S03.Pause.Left" descr="FPGA chip"/>
          <p:cNvPicPr>
            <a:picLocks noChangeAspect="1"/>
          </p:cNvPicPr>
          <p:nvPr/>
        </p:nvPicPr>
        <p:blipFill>
          <a:blip xmlns:r="http://schemas.openxmlformats.org/officeDocument/2006/relationships" r:embed="R27a9b8d6feab476f"/>
          <a:srcRect l="21371" t="23684" r="21291" b="20972"/>
          <a:stretch>
            <a:fillRect/>
          </a:stretch>
        </p:blipFill>
        <p:spPr>
          <a:xfrm>
            <a:off x="6409944" y="2414016"/>
            <a:ext cx="539496" cy="520737"/>
          </a:xfrm>
          <a:prstGeom prst="rect">
            <a:avLst/>
          </a:prstGeom>
        </p:spPr>
      </p:pic>
      <p:pic>
        <p:nvPicPr>
          <p:cNvPr id="100044" name="S03.Pause.Right" descr="FPGA chip"/>
          <p:cNvPicPr>
            <a:picLocks noChangeAspect="1"/>
          </p:cNvPicPr>
          <p:nvPr/>
        </p:nvPicPr>
        <p:blipFill>
          <a:blip xmlns:r="http://schemas.openxmlformats.org/officeDocument/2006/relationships" r:embed="R2afb9644ba7a477c"/>
          <a:srcRect l="21371" t="23684" r="21291" b="20972"/>
          <a:stretch>
            <a:fillRect/>
          </a:stretch>
        </p:blipFill>
        <p:spPr>
          <a:xfrm>
            <a:off x="7434072" y="2414016"/>
            <a:ext cx="539496" cy="520737"/>
          </a:xfrm>
          <a:prstGeom prst="rect">
            <a:avLst/>
          </a:prstGeom>
        </p:spPr>
      </p:pic>
      <p:cxnSp>
        <p:nvCxnSpPr>
          <p:cNvPr id="100045" name="S03.Pause.SyncLeft"/>
          <p:cNvCxnSpPr>
            <a:stCxn id="100042" idx="0"/>
            <a:endCxn id="100043" idx="0"/>
          </p:cNvCxnSpPr>
          <p:nvPr/>
        </p:nvCxnSpPr>
        <p:spPr>
          <a:xfrm flipH="1">
            <a:off x="6679692" y="1874049"/>
            <a:ext cx="512064" cy="539967"/>
          </a:xfrm>
          <a:prstGeom prst="straightConnector1">
            <a:avLst/>
          </a:prstGeom>
          <a:ln w="25400">
            <a:solidFill>
              <a:srgbClr val="DF973E"/>
            </a:solidFill>
          </a:ln>
        </p:spPr>
      </p:cxnSp>
      <p:cxnSp>
        <p:nvCxnSpPr>
          <p:cNvPr id="100046" name="S03.Pause.SyncRight"/>
          <p:cNvCxnSpPr>
            <a:stCxn id="100042" idx="0"/>
            <a:endCxn id="100044" idx="0"/>
          </p:cNvCxnSpPr>
          <p:nvPr/>
        </p:nvCxnSpPr>
        <p:spPr>
          <a:xfrm>
            <a:off x="7191756" y="1874049"/>
            <a:ext cx="512064" cy="539967"/>
          </a:xfrm>
          <a:prstGeom prst="straightConnector1">
            <a:avLst/>
          </a:prstGeom>
          <a:ln w="25400">
            <a:solidFill>
              <a:srgbClr val="DF973E"/>
            </a:solidFill>
          </a:ln>
        </p:spPr>
      </p:cxnSp>
      <p:cxnSp>
        <p:nvCxnSpPr>
          <p:cNvPr id="100047" name="S03.Pause.SyncBottom"/>
          <p:cNvCxnSpPr>
            <a:stCxn id="100043" idx="0"/>
            <a:endCxn id="100044" idx="0"/>
          </p:cNvCxnSpPr>
          <p:nvPr/>
        </p:nvCxnSpPr>
        <p:spPr>
          <a:xfrm>
            <a:off x="6949440" y="2674384"/>
            <a:ext cx="484632" cy="0"/>
          </a:xfrm>
          <a:prstGeom prst="straightConnector1">
            <a:avLst/>
          </a:prstGeom>
          <a:ln w="25400">
            <a:solidFill>
              <a:srgbClr val="DF973E"/>
            </a:solidFill>
          </a:ln>
        </p:spPr>
      </p:cxnSp>
      <p:pic>
        <p:nvPicPr>
          <p:cNvPr id="100048" name="S03.Pause.Symbol" descr="Coordinated pause"/>
          <p:cNvPicPr>
            <a:picLocks noChangeAspect="1"/>
          </p:cNvPicPr>
          <p:nvPr/>
        </p:nvPicPr>
        <p:blipFill>
          <a:blip xmlns:r="http://schemas.openxmlformats.org/officeDocument/2006/relationships" r:embed="R31440147ed7845c0"/>
          <a:srcRect l="11164" t="11323" r="10765" b="10606"/>
          <a:stretch>
            <a:fillRect/>
          </a:stretch>
        </p:blipFill>
        <p:spPr>
          <a:xfrm>
            <a:off x="6967728" y="1956816"/>
            <a:ext cx="448056" cy="448056"/>
          </a:xfrm>
          <a:prstGeom prst="rect">
            <a:avLst/>
          </a:prstGeom>
        </p:spPr>
      </p:pic>
      <p:sp>
        <p:nvSpPr>
          <p:cNvPr id="100049" name="S03.Pause.Label"/>
          <p:cNvSpPr txBox="1"/>
          <p:nvPr/>
        </p:nvSpPr>
        <p:spPr>
          <a:xfrm>
            <a:off x="6373368" y="3063240"/>
            <a:ext cx="1645920" cy="256032"/>
          </a:xfrm>
          <a:prstGeom prst="rect">
            <a:avLst/>
          </a:prstGeom>
          <a:noFill/>
          <a:ln>
            <a:noFill/>
          </a:ln>
        </p:spPr>
        <p:txBody>
          <a:bodyPr lIns="0" tIns="0" rIns="0" bIns="0">
            <a:noAutofit/>
          </a:bodyPr>
          <a:lstStyle/>
          <a:p>
            <a:pPr algn="ctr"/>
            <a:r>
              <a:rPr lang="en-US" sz="1300">
                <a:solidFill>
                  <a:srgbClr val="183B56"/>
                </a:solidFill>
                <a:latin typeface="Arial"/>
                <a:ea typeface="Arial"/>
              </a:rPr>
              <a:t>Same DUT cycle n</a:t>
            </a:r>
          </a:p>
        </p:txBody>
      </p:sp>
      <p:pic>
        <p:nvPicPr>
          <p:cNvPr id="100050" name="S03.State.FPGA1" descr="FPGA chip"/>
          <p:cNvPicPr>
            <a:picLocks noChangeAspect="1"/>
          </p:cNvPicPr>
          <p:nvPr/>
        </p:nvPicPr>
        <p:blipFill>
          <a:blip xmlns:r="http://schemas.openxmlformats.org/officeDocument/2006/relationships" r:embed="R7e2f816c7ca64fdf"/>
          <a:srcRect l="21371" t="23684" r="21291" b="20972"/>
          <a:stretch>
            <a:fillRect/>
          </a:stretch>
        </p:blipFill>
        <p:spPr>
          <a:xfrm>
            <a:off x="484632" y="4251960"/>
            <a:ext cx="502920" cy="485433"/>
          </a:xfrm>
          <a:prstGeom prst="rect">
            <a:avLst/>
          </a:prstGeom>
        </p:spPr>
      </p:pic>
      <p:pic>
        <p:nvPicPr>
          <p:cNvPr id="100051" name="S03.State.FPGA2" descr="FPGA chip"/>
          <p:cNvPicPr>
            <a:picLocks noChangeAspect="1"/>
          </p:cNvPicPr>
          <p:nvPr/>
        </p:nvPicPr>
        <p:blipFill>
          <a:blip xmlns:r="http://schemas.openxmlformats.org/officeDocument/2006/relationships" r:embed="Re80b5aa27f754e36"/>
          <a:srcRect l="21371" t="23684" r="21291" b="20972"/>
          <a:stretch>
            <a:fillRect/>
          </a:stretch>
        </p:blipFill>
        <p:spPr>
          <a:xfrm>
            <a:off x="1106424" y="4251960"/>
            <a:ext cx="502920" cy="485433"/>
          </a:xfrm>
          <a:prstGeom prst="rect">
            <a:avLst/>
          </a:prstGeom>
        </p:spPr>
      </p:pic>
      <p:pic>
        <p:nvPicPr>
          <p:cNvPr id="100052" name="S03.State.FPGA3" descr="FPGA chip"/>
          <p:cNvPicPr>
            <a:picLocks noChangeAspect="1"/>
          </p:cNvPicPr>
          <p:nvPr/>
        </p:nvPicPr>
        <p:blipFill>
          <a:blip xmlns:r="http://schemas.openxmlformats.org/officeDocument/2006/relationships" r:embed="Rbe68f538fd0f48bb"/>
          <a:srcRect l="21371" t="23684" r="21291" b="20972"/>
          <a:stretch>
            <a:fillRect/>
          </a:stretch>
        </p:blipFill>
        <p:spPr>
          <a:xfrm>
            <a:off x="1728216" y="4251960"/>
            <a:ext cx="502920" cy="485433"/>
          </a:xfrm>
          <a:prstGeom prst="rect">
            <a:avLst/>
          </a:prstGeom>
        </p:spPr>
      </p:pic>
      <p:sp>
        <p:nvSpPr>
          <p:cNvPr id="100053" name="S03.State.LocalLabel"/>
          <p:cNvSpPr txBox="1"/>
          <p:nvPr/>
        </p:nvSpPr>
        <p:spPr>
          <a:xfrm>
            <a:off x="475488" y="3886200"/>
            <a:ext cx="1773936" cy="246888"/>
          </a:xfrm>
          <a:prstGeom prst="rect">
            <a:avLst/>
          </a:prstGeom>
          <a:noFill/>
          <a:ln>
            <a:noFill/>
          </a:ln>
        </p:spPr>
        <p:txBody>
          <a:bodyPr lIns="0" tIns="0" rIns="0" bIns="0">
            <a:noAutofit/>
          </a:bodyPr>
          <a:lstStyle/>
          <a:p>
            <a:pPr algn="ctr"/>
            <a:r>
              <a:rPr lang="en-US" sz="1400">
                <a:solidFill>
                  <a:srgbClr val="183B56"/>
                </a:solidFill>
                <a:latin typeface="Arial"/>
                <a:ea typeface="Arial"/>
              </a:rPr>
              <a:t>Local states</a:t>
            </a:r>
          </a:p>
        </p:txBody>
      </p:sp>
      <p:pic>
        <p:nvPicPr>
          <p:cNvPr id="100054" name="S03.State.Snapshot" descr="Global snapshot"/>
          <p:cNvPicPr>
            <a:picLocks noChangeAspect="1"/>
          </p:cNvPicPr>
          <p:nvPr/>
        </p:nvPicPr>
        <p:blipFill>
          <a:blip xmlns:r="http://schemas.openxmlformats.org/officeDocument/2006/relationships" r:embed="R71a329cefec54991"/>
          <a:srcRect l="16746" t="16427" r="16746" b="11961"/>
          <a:stretch>
            <a:fillRect/>
          </a:stretch>
        </p:blipFill>
        <p:spPr>
          <a:xfrm>
            <a:off x="1129284" y="5193792"/>
            <a:ext cx="457200" cy="492285"/>
          </a:xfrm>
          <a:prstGeom prst="rect">
            <a:avLst/>
          </a:prstGeom>
        </p:spPr>
      </p:pic>
      <p:cxnSp>
        <p:nvCxnSpPr>
          <p:cNvPr id="100055" name="S03.State.Drop1"/>
          <p:cNvCxnSpPr/>
          <p:nvPr/>
        </p:nvCxnSpPr>
        <p:spPr>
          <a:xfrm>
            <a:off x="736092" y="4736592"/>
            <a:ext cx="0" cy="320040"/>
          </a:xfrm>
          <a:prstGeom prst="straightConnector1">
            <a:avLst/>
          </a:prstGeom>
          <a:ln w="25400">
            <a:solidFill>
              <a:srgbClr val="008C95"/>
            </a:solidFill>
          </a:ln>
        </p:spPr>
      </p:cxnSp>
      <p:cxnSp>
        <p:nvCxnSpPr>
          <p:cNvPr id="100056" name="S03.State.Drop2"/>
          <p:cNvCxnSpPr/>
          <p:nvPr/>
        </p:nvCxnSpPr>
        <p:spPr>
          <a:xfrm>
            <a:off x="1357884" y="4736592"/>
            <a:ext cx="0" cy="320040"/>
          </a:xfrm>
          <a:prstGeom prst="straightConnector1">
            <a:avLst/>
          </a:prstGeom>
          <a:ln w="25400">
            <a:solidFill>
              <a:srgbClr val="008C95"/>
            </a:solidFill>
          </a:ln>
        </p:spPr>
      </p:cxnSp>
      <p:cxnSp>
        <p:nvCxnSpPr>
          <p:cNvPr id="100057" name="S03.State.Drop3"/>
          <p:cNvCxnSpPr/>
          <p:nvPr/>
        </p:nvCxnSpPr>
        <p:spPr>
          <a:xfrm>
            <a:off x="1979676" y="4736592"/>
            <a:ext cx="0" cy="320040"/>
          </a:xfrm>
          <a:prstGeom prst="straightConnector1">
            <a:avLst/>
          </a:prstGeom>
          <a:ln w="25400">
            <a:solidFill>
              <a:srgbClr val="008C95"/>
            </a:solidFill>
          </a:ln>
        </p:spPr>
      </p:cxnSp>
      <p:cxnSp>
        <p:nvCxnSpPr>
          <p:cNvPr id="100058" name="S03.State.Bus"/>
          <p:cNvCxnSpPr/>
          <p:nvPr/>
        </p:nvCxnSpPr>
        <p:spPr>
          <a:xfrm>
            <a:off x="736092" y="5056632"/>
            <a:ext cx="1243584" cy="0"/>
          </a:xfrm>
          <a:prstGeom prst="straightConnector1">
            <a:avLst/>
          </a:prstGeom>
          <a:ln w="25400">
            <a:solidFill>
              <a:srgbClr val="008C95"/>
            </a:solidFill>
          </a:ln>
        </p:spPr>
      </p:cxnSp>
      <p:cxnSp>
        <p:nvCxnSpPr>
          <p:cNvPr id="100059" name="S03.State.Aggregate"/>
          <p:cNvCxnSpPr/>
          <p:nvPr/>
        </p:nvCxnSpPr>
        <p:spPr>
          <a:xfrm>
            <a:off x="1357884" y="5056632"/>
            <a:ext cx="0" cy="137160"/>
          </a:xfrm>
          <a:prstGeom prst="straightConnector1">
            <a:avLst/>
          </a:prstGeom>
          <a:ln w="25400">
            <a:solidFill>
              <a:srgbClr val="008C95"/>
            </a:solidFill>
            <a:tailEnd type="triangle"/>
          </a:ln>
        </p:spPr>
      </p:cxnSp>
      <p:sp>
        <p:nvSpPr>
          <p:cNvPr id="100060" name="S03.State.GlobalLabel"/>
          <p:cNvSpPr txBox="1"/>
          <p:nvPr/>
        </p:nvSpPr>
        <p:spPr>
          <a:xfrm>
            <a:off x="475488" y="5760720"/>
            <a:ext cx="1773936" cy="228600"/>
          </a:xfrm>
          <a:prstGeom prst="rect">
            <a:avLst/>
          </a:prstGeom>
          <a:noFill/>
          <a:ln>
            <a:noFill/>
          </a:ln>
        </p:spPr>
        <p:txBody>
          <a:bodyPr lIns="0" tIns="0" rIns="0" bIns="0">
            <a:noAutofit/>
          </a:bodyPr>
          <a:lstStyle/>
          <a:p>
            <a:pPr algn="ctr"/>
            <a:r>
              <a:rPr lang="en-US" sz="1300">
                <a:solidFill>
                  <a:srgbClr val="183B56"/>
                </a:solidFill>
                <a:latin typeface="Arial"/>
                <a:ea typeface="Arial"/>
              </a:rPr>
              <a:t>Global snapshot</a:t>
            </a:r>
          </a:p>
        </p:txBody>
      </p:sp>
      <p:pic>
        <p:nvPicPr>
          <p:cNvPr id="100061" name="S03.Partition.Circuit" descr="Circuit partitioning"/>
          <p:cNvPicPr>
            <a:picLocks noChangeAspect="1"/>
          </p:cNvPicPr>
          <p:nvPr/>
        </p:nvPicPr>
        <p:blipFill>
          <a:blip xmlns:r="http://schemas.openxmlformats.org/officeDocument/2006/relationships" r:embed="R2f877a2370904d71"/>
          <a:srcRect l="15869" t="18660" r="15789" b="18660"/>
          <a:stretch>
            <a:fillRect/>
          </a:stretch>
        </p:blipFill>
        <p:spPr>
          <a:xfrm>
            <a:off x="6455664" y="4288536"/>
            <a:ext cx="1481328" cy="1358605"/>
          </a:xfrm>
          <a:prstGeom prst="rect">
            <a:avLst/>
          </a:prstGeom>
        </p:spPr>
      </p:pic>
      <p:sp>
        <p:nvSpPr>
          <p:cNvPr id="100062" name="S03.Partition.Label"/>
          <p:cNvSpPr txBox="1"/>
          <p:nvPr/>
        </p:nvSpPr>
        <p:spPr>
          <a:xfrm>
            <a:off x="6373368" y="5852160"/>
            <a:ext cx="1682496" cy="246888"/>
          </a:xfrm>
          <a:prstGeom prst="rect">
            <a:avLst/>
          </a:prstGeom>
          <a:noFill/>
          <a:ln>
            <a:noFill/>
          </a:ln>
        </p:spPr>
        <p:txBody>
          <a:bodyPr lIns="0" tIns="0" rIns="0" bIns="0">
            <a:noAutofit/>
          </a:bodyPr>
          <a:lstStyle/>
          <a:p>
            <a:pPr algn="ctr"/>
            <a:r>
              <a:rPr lang="en-US" sz="1300">
                <a:solidFill>
                  <a:srgbClr val="183B56"/>
                </a:solidFill>
                <a:latin typeface="Arial"/>
                <a:ea typeface="Arial"/>
              </a:rPr>
              <a:t>Partitioned design</a:t>
            </a:r>
          </a:p>
        </p:txBody>
      </p:sp>
      <p:sp>
        <p:nvSpPr>
          <p:cNvPr id="100063" name="S03.Takeaway"/>
          <p:cNvSpPr txBox="1"/>
          <p:nvPr/>
        </p:nvSpPr>
        <p:spPr>
          <a:xfrm>
            <a:off x="502920" y="6355080"/>
            <a:ext cx="11155680" cy="320040"/>
          </a:xfrm>
          <a:prstGeom prst="rect">
            <a:avLst/>
          </a:prstGeom>
          <a:noFill/>
          <a:ln>
            <a:noFill/>
          </a:ln>
        </p:spPr>
        <p:txBody>
          <a:bodyPr lIns="0" tIns="0" rIns="0" bIns="0">
            <a:noAutofit/>
          </a:bodyPr>
          <a:lstStyle/>
          <a:p>
            <a:pPr algn="ctr"/>
            <a:r>
              <a:rPr lang="en-US" sz="1800" b="1">
                <a:solidFill>
                  <a:srgbClr val="183B56"/>
                </a:solidFill>
                <a:latin typeface="Arial"/>
                <a:ea typeface="Arial"/>
              </a:rPr>
              <a:t>Replayable emulation requires scalable deployment and globally coordinated debugging.</a:t>
            </a:r>
          </a:p>
        </p:txBody>
      </p:sp>
      <p:sp>
        <p:nvSpPr>
          <p:cNvPr id="100064" name="S03.PageNumber"/>
          <p:cNvSpPr txBox="1"/>
          <p:nvPr/>
        </p:nvSpPr>
        <p:spPr>
          <a:xfrm>
            <a:off x="11631168" y="6629400"/>
            <a:ext cx="228600" cy="182880"/>
          </a:xfrm>
          <a:prstGeom prst="rect">
            <a:avLst/>
          </a:prstGeom>
          <a:noFill/>
          <a:ln>
            <a:noFill/>
          </a:ln>
        </p:spPr>
        <p:txBody>
          <a:bodyPr lIns="0" tIns="0" rIns="0" bIns="0">
            <a:noAutofit/>
          </a:bodyPr>
          <a:lstStyle/>
          <a:p>
            <a:pPr algn="r"/>
            <a:r>
              <a:rPr lang="en-US" sz="1000">
                <a:solidFill>
                  <a:srgbClr val="607184"/>
                </a:solidFill>
                <a:latin typeface="Arial"/>
                <a:ea typeface="Arial"/>
              </a:rPr>
              <a:t>3</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183B56"/>
      </a:accent1>
      <a:accent2>
        <a:srgbClr val="008C95"/>
      </a:accent2>
      <a:accent3>
        <a:srgbClr val="DF973E"/>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majorFont>
      <a:minorFont>
        <a:latin typeface="Arial"/>
        <a:ea typeface=""/>
        <a:cs typeface=""/>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ap:Properties xmlns:ap="http://schemas.openxmlformats.org/officeDocument/2006/extended-properties">
  <ap:Application>OfficeCLI/1.0.156</ap:Application>
</ap:Properties>
</file>

<file path=docProps/core.xml><?xml version="1.0" encoding="utf-8"?>
<coreProperties xmlns:dc="http://purl.org/dc/elements/1.1/" xmlns:dcterms="http://purl.org/dc/terms/" xmlns:xsi="http://www.w3.org/2001/XMLSchema-instance" xmlns="http://schemas.openxmlformats.org/package/2006/metadata/core-properties">
  <dc:creator>OfficeCLI</dc:creator>
  <dcterms:created xsi:type="dcterms:W3CDTF">2026-10-13T02:04:06.0000000Z</dcterms:created>
  <lastModifiedBy>OfficeCLI</lastModifiedBy>
  <dcterms:modified xsi:type="dcterms:W3CDTF">2026-10-13T02:04:07.2478547Z</dcterms:modified>
</coreProperties>
</file>

<file path=docProps/custom.xml><?xml version="1.0" encoding="utf-8"?>
<op:Properties xmlns:op="http://schemas.openxmlformats.org/officeDocument/2006/custom-properties">
  <op:property fmtid="{D5CDD505-2E9C-101B-9397-08002B2CF9AE}" pid="2" name="OfficeCLI.Version">
    <vt:lpwstr xmlns:vt="http://schemas.openxmlformats.org/officeDocument/2006/docPropsVTypes">1.0.156</vt:lpwstr>
  </op:property>
  <op:property fmtid="{D5CDD505-2E9C-101B-9397-08002B2CF9AE}" pid="3" name="OfficeCLI.LastModified">
    <vt:lpwstr xmlns:vt="http://schemas.openxmlformats.org/officeDocument/2006/docPropsVTypes">2026-10-13T02:04:09Z</vt:lpwstr>
  </op:property>
</op:Properties>
</file>