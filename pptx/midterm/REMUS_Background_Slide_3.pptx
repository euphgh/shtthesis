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38e5cd46dd4493f" /><Relationship Type="http://schemas.openxmlformats.org/package/2006/relationships/metadata/core-properties" Target="/docProps/core.xml" Id="R91dc5169277f4e9d" /><Relationship Type="http://schemas.openxmlformats.org/officeDocument/2006/relationships/extended-properties" Target="/docProps/app.xml" Id="Rb2455ede1729491f" /><Relationship Type="http://schemas.openxmlformats.org/officeDocument/2006/relationships/custom-properties" Target="/docProps/custom.xml" Id="R984ee0a98ec74a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df7c9a1f8d864867"/>
  </p:notesMasterIdLst>
  <p:sldIdLst>
    <p:sldId id="256" r:id="R3060392dc2214d56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060392dc2214d56" /><Relationship Type="http://schemas.openxmlformats.org/officeDocument/2006/relationships/notesMaster" Target="/ppt/notesMasters/notesMaster1.xml" Id="Rdf7c9a1f8d8648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15f005980854e4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314b603a6714e10" /><Relationship Type="http://schemas.openxmlformats.org/officeDocument/2006/relationships/slide" Target="/ppt/slides/slide1.xml" Id="R191f42206ed54f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This slide introduces research challenges, not completed REMUS results. DUT logical cycles must remain aligned despite cross-FPGA communication latency; the pulse is conceptual, not a measured clock waveform. Global pause requires all partitions at the same DUT cycle and drained links, providing a stable boundary. Local partition states must be mapped and aggregated into a global snapshot for restoration and deterministic replay. Partitioning must balance resources and cut size while limiting the maximum path-cut number through granularity selection. Multiple chip icons and the partitioned circuit illustrate the problem, not an experimentally verified FPGA count. Reference: figure/presentation-reference/midterm-background-03.png.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b7815fdd754c8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2745d755ad410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0464da412246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40c1deb665432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ebb5ea3d794919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bd76b9189b94d4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2f47b825846ae" /><Relationship Type="http://schemas.openxmlformats.org/officeDocument/2006/relationships/image" Target="/ppt/media/image.png" Id="Rba598bb6ef214e83" /><Relationship Type="http://schemas.openxmlformats.org/officeDocument/2006/relationships/image" Target="/ppt/media/image2.png" Id="Re91805885ebe439e" /><Relationship Type="http://schemas.openxmlformats.org/officeDocument/2006/relationships/image" Target="/ppt/media/image3.png" Id="R08cfa58610394cd8" /><Relationship Type="http://schemas.openxmlformats.org/officeDocument/2006/relationships/image" Target="/ppt/media/image4.png" Id="R989e085673fb4f3e" /><Relationship Type="http://schemas.openxmlformats.org/officeDocument/2006/relationships/image" Target="/ppt/media/image5.png" Id="R883baff142c8421e" /><Relationship Type="http://schemas.openxmlformats.org/officeDocument/2006/relationships/image" Target="/ppt/media/image6.png" Id="R1503ae1180e34bc6" /><Relationship Type="http://schemas.openxmlformats.org/officeDocument/2006/relationships/image" Target="/ppt/media/image7.png" Id="Re43803a846b54ae8" /><Relationship Type="http://schemas.openxmlformats.org/officeDocument/2006/relationships/image" Target="/ppt/media/image8.png" Id="R2a783bd662d8467d" /><Relationship Type="http://schemas.openxmlformats.org/officeDocument/2006/relationships/image" Target="/ppt/media/image9.png" Id="R63d2241641584ba5" /><Relationship Type="http://schemas.openxmlformats.org/officeDocument/2006/relationships/image" Target="/ppt/media/image10.png" Id="Re0984c45fad74436" /><Relationship Type="http://schemas.openxmlformats.org/officeDocument/2006/relationships/image" Target="/ppt/media/image11.png" Id="R22fc9bd161c14e36" /><Relationship Type="http://schemas.openxmlformats.org/officeDocument/2006/relationships/image" Target="/ppt/media/image12.png" Id="R35917c59115044f1" /><Relationship Type="http://schemas.openxmlformats.org/officeDocument/2006/relationships/notesSlide" Target="/ppt/notesSlides/notesSlide1.xml" Id="R1aa232f0d22442d2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xmlns:a="http://schemas.openxmlformats.org/drawingml/2006/main" xmlns:p="http://schemas.openxmlformats.org/presentationml/2006/main" xmlns:r="http://schemas.openxmlformats.org/officeDocument/2006/relationships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3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>
            <a:pPr algn="l">
              <a:lnSpc>
                <a:spcPct val="90000"/>
              </a:lnSpc>
              <a:defRPr sz="3000" b="1">
                <a:solidFill>
                  <a:srgbClr val="C00000"/>
                </a:solidFill>
                <a:latin typeface="Arial"/>
                <a:ea typeface="Arial"/>
              </a:defRPr>
            </a:pPr>
            <a:r>
              <a:rPr lang="en-US" sz="3000" b="1">
                <a:solidFill>
                  <a:srgbClr val="C00000"/>
                </a:solidFill>
                <a:latin typeface="Arial"/>
              </a:rPr>
              <a:t xml:space="preserve">Key Challenges of </a:t>
            </a:r>
            <a:r>
              <a:rPr lang="en-US" sz="3000" b="1">
                <a:solidFill>
                  <a:srgbClr val="C00000"/>
                </a:solidFill>
                <a:latin typeface="Arial"/>
              </a:rPr>
              <a:t>Replayable</a:t>
            </a:r>
            <a:r>
              <a:rPr lang="en-US" sz="3000" b="1">
                <a:solidFill>
                  <a:srgbClr val="C00000"/>
                </a:solidFill>
                <a:latin typeface="Arial"/>
              </a:rPr>
              <a:t xml:space="preserve"> Multi-FPGA Emulation</a:t>
            </a:r>
          </a:p>
        </p:txBody>
      </p:sp>
      <p:sp>
        <p:nvSpPr>
          <p:cNvPr id="100000" name="S03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C55A11"/>
          </a:solidFill>
          <a:ln>
            <a:solidFill>
              <a:srgbClr val="C55A11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C55A11"/>
              </a:solidFill>
              <a:latin typeface="Arial"/>
              <a:ea typeface="Arial"/>
            </a:endParaRPr>
          </a:p>
        </p:txBody>
      </p:sp>
      <p:sp>
        <p:nvSpPr>
          <p:cNvPr id="100001" name="S03.Cycle.Panel"/>
          <p:cNvSpPr/>
          <p:nvPr/>
        </p:nvSpPr>
        <p:spPr>
          <a:xfrm>
            <a:off x="320040" y="939720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2" name="S03.Cycle.Divider"/>
          <p:cNvSpPr/>
          <p:nvPr/>
        </p:nvSpPr>
        <p:spPr>
          <a:xfrm>
            <a:off x="2313432" y="1252728"/>
            <a:ext cx="8230" cy="1947672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3" name="S03.Cycle.Heading"/>
          <p:cNvSpPr txBox="1"/>
          <p:nvPr/>
        </p:nvSpPr>
        <p:spPr>
          <a:xfrm>
            <a:off x="2504542" y="1234440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Arial"/>
                <a:ea typeface="Arial"/>
              </a:defRPr>
            </a:pPr>
            <a:r>
              <a:rPr sz="2000" b="1">
                <a:solidFill>
                  <a:srgbClr val="333333"/>
                </a:solidFill>
                <a:latin typeface="Arial"/>
              </a:rPr>
              <a:t>Cycle-Accurate Execution</a:t>
            </a:r>
          </a:p>
        </p:txBody>
      </p:sp>
      <p:sp>
        <p:nvSpPr>
          <p:cNvPr id="100004" name="S03.Cycle.Bullet1"/>
          <p:cNvSpPr/>
          <p:nvPr/>
        </p:nvSpPr>
        <p:spPr>
          <a:xfrm>
            <a:off x="2569464" y="1968420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5" name="S03.Cycle.Text1"/>
          <p:cNvSpPr txBox="1"/>
          <p:nvPr/>
        </p:nvSpPr>
        <p:spPr>
          <a:xfrm>
            <a:off x="2807208" y="189069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Align DUT cycles across</a:t>
            </a:r>
          </a:p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partitions</a:t>
            </a:r>
          </a:p>
        </p:txBody>
      </p:sp>
      <p:sp>
        <p:nvSpPr>
          <p:cNvPr id="100006" name="S03.Cycle.Bullet2"/>
          <p:cNvSpPr/>
          <p:nvPr/>
        </p:nvSpPr>
        <p:spPr>
          <a:xfrm>
            <a:off x="2569464" y="2674620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7" name="S03.Cycle.Text2"/>
          <p:cNvSpPr txBox="1"/>
          <p:nvPr/>
        </p:nvSpPr>
        <p:spPr>
          <a:xfrm>
            <a:off x="2807208" y="259689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Account for cross-FPGA</a:t>
            </a:r>
          </a:p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communication latency</a:t>
            </a:r>
          </a:p>
        </p:txBody>
      </p:sp>
      <p:sp>
        <p:nvSpPr>
          <p:cNvPr id="100008" name="S03.Pause.Panel"/>
          <p:cNvSpPr/>
          <p:nvPr/>
        </p:nvSpPr>
        <p:spPr>
          <a:xfrm>
            <a:off x="6190488" y="946638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F5F5F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9" name="S03.Pause.Divider"/>
          <p:cNvSpPr/>
          <p:nvPr/>
        </p:nvSpPr>
        <p:spPr>
          <a:xfrm>
            <a:off x="8183880" y="1175238"/>
            <a:ext cx="8230" cy="1947672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0" name="S03.Pause.Heading"/>
          <p:cNvSpPr txBox="1"/>
          <p:nvPr/>
        </p:nvSpPr>
        <p:spPr>
          <a:xfrm>
            <a:off x="8403336" y="1156950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b="1">
                <a:solidFill>
                  <a:srgbClr val="333333"/>
                </a:solidFill>
                <a:latin typeface="Arial"/>
                <a:ea typeface="Arial"/>
              </a:rPr>
              <a:t>Cycle-Consistent</a:t>
            </a:r>
          </a:p>
          <a:p>
            <a:r>
              <a:rPr lang="en-US" sz="2000" b="1">
                <a:solidFill>
                  <a:srgbClr val="333333"/>
                </a:solidFill>
                <a:latin typeface="Arial"/>
                <a:ea typeface="Arial"/>
              </a:rPr>
              <a:t>Global Pause</a:t>
            </a:r>
          </a:p>
        </p:txBody>
      </p:sp>
      <p:sp>
        <p:nvSpPr>
          <p:cNvPr id="100011" name="S03.Pause.Bullet1"/>
          <p:cNvSpPr/>
          <p:nvPr/>
        </p:nvSpPr>
        <p:spPr>
          <a:xfrm>
            <a:off x="8439912" y="1975338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2" name="S03.Pause.Text1"/>
          <p:cNvSpPr txBox="1"/>
          <p:nvPr/>
        </p:nvSpPr>
        <p:spPr>
          <a:xfrm>
            <a:off x="8677656" y="1897614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Stop partitions at the</a:t>
            </a:r>
          </a:p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same logical cycle</a:t>
            </a:r>
          </a:p>
        </p:txBody>
      </p:sp>
      <p:sp>
        <p:nvSpPr>
          <p:cNvPr id="100013" name="S03.Pause.Bullet2"/>
          <p:cNvSpPr/>
          <p:nvPr/>
        </p:nvSpPr>
        <p:spPr>
          <a:xfrm>
            <a:off x="8439912" y="2597130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4" name="S03.Pause.Text2"/>
          <p:cNvSpPr txBox="1"/>
          <p:nvPr/>
        </p:nvSpPr>
        <p:spPr>
          <a:xfrm>
            <a:off x="8677656" y="251940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700" b="0">
                <a:solidFill>
                  <a:srgbClr val="1F1F1F"/>
                </a:solidFill>
                <a:latin typeface="Arial"/>
                <a:ea typeface="Arial"/>
              </a:defRPr>
            </a:pPr>
            <a:r>
              <a:rPr lang="en-US" sz="1700">
                <a:solidFill>
                  <a:srgbClr val="1F1F1F"/>
                </a:solidFill>
              </a:rPr>
              <a:t>Internal states from different cycle</a:t>
            </a:r>
            <a:r>
              <a:rPr lang="en-US" sz="1700">
                <a:solidFill>
                  <a:srgbClr val="1F1F1F"/>
                </a:solidFill>
              </a:rPr>
              <a:t xml:space="preserve"> </a:t>
            </a:r>
            <a:r>
              <a:rPr lang="en-US" sz="1700">
                <a:solidFill>
                  <a:srgbClr val="1F1F1F"/>
                </a:solidFill>
              </a:rPr>
              <a:t>can not be replayed</a:t>
            </a:r>
          </a:p>
        </p:txBody>
      </p:sp>
      <p:sp>
        <p:nvSpPr>
          <p:cNvPr id="100015" name="S03.State.Panel"/>
          <p:cNvSpPr/>
          <p:nvPr/>
        </p:nvSpPr>
        <p:spPr>
          <a:xfrm>
            <a:off x="320040" y="3644892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FFF3E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6" name="S03.State.Divider"/>
          <p:cNvSpPr/>
          <p:nvPr/>
        </p:nvSpPr>
        <p:spPr>
          <a:xfrm>
            <a:off x="2313432" y="3873492"/>
            <a:ext cx="8230" cy="1947672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7" name="S03.State.Heading"/>
          <p:cNvSpPr txBox="1"/>
          <p:nvPr/>
        </p:nvSpPr>
        <p:spPr>
          <a:xfrm>
            <a:off x="2532888" y="3855204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b="1">
                <a:solidFill>
                  <a:srgbClr val="333333"/>
                </a:solidFill>
                <a:latin typeface="Arial"/>
                <a:ea typeface="Arial"/>
              </a:rPr>
              <a:t>Distributed State</a:t>
            </a:r>
          </a:p>
          <a:p>
            <a:r>
              <a:rPr lang="en-US" sz="2000" b="1">
                <a:solidFill>
                  <a:srgbClr val="333333"/>
                </a:solidFill>
                <a:latin typeface="Arial"/>
                <a:ea typeface="Arial"/>
              </a:rPr>
              <a:t>Management</a:t>
            </a:r>
          </a:p>
        </p:txBody>
      </p:sp>
      <p:sp>
        <p:nvSpPr>
          <p:cNvPr id="100018" name="S03.State.Bullet1"/>
          <p:cNvSpPr/>
          <p:nvPr/>
        </p:nvSpPr>
        <p:spPr>
          <a:xfrm>
            <a:off x="2569464" y="4828340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9" name="S03.State.Text1"/>
          <p:cNvSpPr txBox="1"/>
          <p:nvPr/>
        </p:nvSpPr>
        <p:spPr>
          <a:xfrm>
            <a:off x="2807208" y="475061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Extract local states</a:t>
            </a:r>
          </a:p>
        </p:txBody>
      </p:sp>
      <p:sp>
        <p:nvSpPr>
          <p:cNvPr id="100020" name="S03.State.Bullet2"/>
          <p:cNvSpPr/>
          <p:nvPr/>
        </p:nvSpPr>
        <p:spPr>
          <a:xfrm>
            <a:off x="2569464" y="5295384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1" name="S03.State.Text2"/>
          <p:cNvSpPr txBox="1"/>
          <p:nvPr/>
        </p:nvSpPr>
        <p:spPr>
          <a:xfrm>
            <a:off x="2807208" y="5217660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Form a global snapshot</a:t>
            </a:r>
          </a:p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for restore and replay</a:t>
            </a:r>
          </a:p>
        </p:txBody>
      </p:sp>
      <p:sp>
        <p:nvSpPr>
          <p:cNvPr id="100022" name="S03.Partition.Panel"/>
          <p:cNvSpPr/>
          <p:nvPr/>
        </p:nvSpPr>
        <p:spPr>
          <a:xfrm>
            <a:off x="6190488" y="3644892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3" name="S03.Partition.Divider"/>
          <p:cNvSpPr/>
          <p:nvPr/>
        </p:nvSpPr>
        <p:spPr>
          <a:xfrm>
            <a:off x="8183880" y="3873492"/>
            <a:ext cx="8230" cy="1947672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4" name="S03.Partition.Heading"/>
          <p:cNvSpPr txBox="1"/>
          <p:nvPr/>
        </p:nvSpPr>
        <p:spPr>
          <a:xfrm>
            <a:off x="8403336" y="3855204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Arial"/>
                <a:ea typeface="Arial"/>
              </a:defRPr>
            </a:pPr>
            <a:r>
              <a:rPr sz="2000" b="1">
                <a:solidFill>
                  <a:srgbClr val="333333"/>
                </a:solidFill>
                <a:latin typeface="Arial"/>
              </a:rPr>
              <a:t>Automated Partitioning</a:t>
            </a:r>
          </a:p>
        </p:txBody>
      </p:sp>
      <p:sp>
        <p:nvSpPr>
          <p:cNvPr id="100025" name="S03.Partition.Bullet1"/>
          <p:cNvSpPr/>
          <p:nvPr/>
        </p:nvSpPr>
        <p:spPr>
          <a:xfrm>
            <a:off x="8439912" y="4504781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6" name="S03.Partition.Text1"/>
          <p:cNvSpPr txBox="1"/>
          <p:nvPr/>
        </p:nvSpPr>
        <p:spPr>
          <a:xfrm>
            <a:off x="8677656" y="4427057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Balance resources and</a:t>
            </a:r>
          </a:p>
          <a:p>
            <a:r>
              <a:rPr lang="en-US" sz="1700">
                <a:solidFill>
                  <a:srgbClr val="1F1F1F"/>
                </a:solidFill>
                <a:latin typeface="Arial"/>
                <a:ea typeface="Arial"/>
              </a:rPr>
              <a:t>cut size</a:t>
            </a:r>
          </a:p>
        </p:txBody>
      </p:sp>
      <p:sp>
        <p:nvSpPr>
          <p:cNvPr id="100027" name="S03.Partition.Bullet2"/>
          <p:cNvSpPr/>
          <p:nvPr/>
        </p:nvSpPr>
        <p:spPr>
          <a:xfrm>
            <a:off x="8439912" y="5126573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8" name="S03.Partition.Text2"/>
          <p:cNvSpPr txBox="1"/>
          <p:nvPr/>
        </p:nvSpPr>
        <p:spPr>
          <a:xfrm>
            <a:off x="8677656" y="5048849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700" b="0">
                <a:solidFill>
                  <a:srgbClr val="1F1F1F"/>
                </a:solidFill>
                <a:latin typeface="Arial"/>
                <a:ea typeface="Arial"/>
              </a:defRPr>
            </a:pPr>
            <a:r>
              <a:rPr sz="1700">
                <a:solidFill>
                  <a:srgbClr val="1F1F1F"/>
                </a:solidFill>
                <a:latin typeface="Arial"/>
              </a:rPr>
              <a:t>Limit Maximum Path-Cut Number through granularity</a:t>
            </a:r>
          </a:p>
        </p:txBody>
      </p:sp>
      <p:pic>
        <p:nvPicPr>
          <p:cNvPr id="100029" name="S03.Cycle.Lef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ba598bb6ef214e83"/>
          <a:srcRect l="21371" t="23684" r="21291" b="20972"/>
          <a:stretch>
            <a:fillRect/>
          </a:stretch>
        </p:blipFill>
        <p:spPr>
          <a:xfrm>
            <a:off x="502920" y="2029968"/>
            <a:ext cx="603504" cy="582519"/>
          </a:xfrm>
          <a:prstGeom prst="rect">
            <a:avLst/>
          </a:prstGeom>
        </p:spPr>
      </p:pic>
      <p:pic>
        <p:nvPicPr>
          <p:cNvPr id="100030" name="S03.Cycle.Righ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e91805885ebe439e"/>
          <a:srcRect l="21371" t="23684" r="21291" b="20972"/>
          <a:stretch>
            <a:fillRect/>
          </a:stretch>
        </p:blipFill>
        <p:spPr>
          <a:xfrm>
            <a:off x="1618488" y="2029968"/>
            <a:ext cx="603504" cy="582519"/>
          </a:xfrm>
          <a:prstGeom prst="rect">
            <a:avLst/>
          </a:prstGeom>
        </p:spPr>
      </p:pic>
      <p:pic>
        <p:nvPicPr>
          <p:cNvPr id="100031" name="S03.Cycle.Clock" descr="Logical cycle progression"/>
          <p:cNvPicPr>
            <a:picLocks noChangeAspect="1"/>
          </p:cNvPicPr>
          <p:nvPr/>
        </p:nvPicPr>
        <p:blipFill>
          <a:blip xmlns:r="http://schemas.openxmlformats.org/officeDocument/2006/relationships" r:embed="R08cfa58610394cd8"/>
          <a:srcRect l="13078" t="10047" r="12918" b="10526"/>
          <a:stretch>
            <a:fillRect/>
          </a:stretch>
        </p:blipFill>
        <p:spPr>
          <a:xfrm>
            <a:off x="1143000" y="1435608"/>
            <a:ext cx="438912" cy="471073"/>
          </a:xfrm>
          <a:prstGeom prst="rect">
            <a:avLst/>
          </a:prstGeom>
        </p:spPr>
      </p:pic>
      <p:cxnSp>
        <p:nvCxnSpPr>
          <p:cNvPr id="100032" name="S03.Cycle.Pulse0"/>
          <p:cNvCxnSpPr/>
          <p:nvPr/>
        </p:nvCxnSpPr>
        <p:spPr>
          <a:xfrm>
            <a:off x="1133856" y="2377440"/>
            <a:ext cx="82296" cy="0"/>
          </a:xfrm>
          <a:prstGeom prst="straightConnector1">
            <a:avLst/>
          </a:prstGeom>
          <a:ln w="29210">
            <a:solidFill>
              <a:srgbClr val="ED7D31"/>
            </a:solidFill>
          </a:ln>
        </p:spPr>
      </p:cxnSp>
      <p:cxnSp>
        <p:nvCxnSpPr>
          <p:cNvPr id="100033" name="S03.Cycle.Pulse1"/>
          <p:cNvCxnSpPr/>
          <p:nvPr/>
        </p:nvCxnSpPr>
        <p:spPr>
          <a:xfrm>
            <a:off x="1216152" y="2148840"/>
            <a:ext cx="0" cy="228600"/>
          </a:xfrm>
          <a:prstGeom prst="straightConnector1">
            <a:avLst/>
          </a:prstGeom>
          <a:ln w="29210">
            <a:solidFill>
              <a:srgbClr val="ED7D31"/>
            </a:solidFill>
          </a:ln>
        </p:spPr>
      </p:cxnSp>
      <p:cxnSp>
        <p:nvCxnSpPr>
          <p:cNvPr id="100034" name="S03.Cycle.Pulse2"/>
          <p:cNvCxnSpPr/>
          <p:nvPr/>
        </p:nvCxnSpPr>
        <p:spPr>
          <a:xfrm>
            <a:off x="1216152" y="2148840"/>
            <a:ext cx="118872" cy="0"/>
          </a:xfrm>
          <a:prstGeom prst="straightConnector1">
            <a:avLst/>
          </a:prstGeom>
          <a:ln w="29210">
            <a:solidFill>
              <a:srgbClr val="ED7D31"/>
            </a:solidFill>
          </a:ln>
        </p:spPr>
      </p:cxnSp>
      <p:cxnSp>
        <p:nvCxnSpPr>
          <p:cNvPr id="100035" name="S03.Cycle.Pulse3"/>
          <p:cNvCxnSpPr/>
          <p:nvPr/>
        </p:nvCxnSpPr>
        <p:spPr>
          <a:xfrm>
            <a:off x="1335024" y="2148840"/>
            <a:ext cx="0" cy="228600"/>
          </a:xfrm>
          <a:prstGeom prst="straightConnector1">
            <a:avLst/>
          </a:prstGeom>
          <a:ln w="29210">
            <a:solidFill>
              <a:srgbClr val="ED7D31"/>
            </a:solidFill>
          </a:ln>
        </p:spPr>
      </p:cxnSp>
      <p:cxnSp>
        <p:nvCxnSpPr>
          <p:cNvPr id="100036" name="S03.Cycle.Pulse4"/>
          <p:cNvCxnSpPr/>
          <p:nvPr/>
        </p:nvCxnSpPr>
        <p:spPr>
          <a:xfrm>
            <a:off x="1335024" y="2377440"/>
            <a:ext cx="118872" cy="0"/>
          </a:xfrm>
          <a:prstGeom prst="straightConnector1">
            <a:avLst/>
          </a:prstGeom>
          <a:ln w="29210">
            <a:solidFill>
              <a:srgbClr val="ED7D31"/>
            </a:solidFill>
          </a:ln>
        </p:spPr>
      </p:cxnSp>
      <p:cxnSp>
        <p:nvCxnSpPr>
          <p:cNvPr id="100037" name="S03.Cycle.Pulse5"/>
          <p:cNvCxnSpPr/>
          <p:nvPr/>
        </p:nvCxnSpPr>
        <p:spPr>
          <a:xfrm>
            <a:off x="1453896" y="2148840"/>
            <a:ext cx="0" cy="228600"/>
          </a:xfrm>
          <a:prstGeom prst="straightConnector1">
            <a:avLst/>
          </a:prstGeom>
          <a:ln w="29210">
            <a:solidFill>
              <a:srgbClr val="ED7D31"/>
            </a:solidFill>
          </a:ln>
        </p:spPr>
      </p:cxnSp>
      <p:cxnSp>
        <p:nvCxnSpPr>
          <p:cNvPr id="100038" name="S03.Cycle.Pulse6"/>
          <p:cNvCxnSpPr/>
          <p:nvPr/>
        </p:nvCxnSpPr>
        <p:spPr>
          <a:xfrm>
            <a:off x="1453896" y="2148840"/>
            <a:ext cx="109728" cy="0"/>
          </a:xfrm>
          <a:prstGeom prst="straightConnector1">
            <a:avLst/>
          </a:prstGeom>
          <a:ln w="29210">
            <a:solidFill>
              <a:srgbClr val="ED7D31"/>
            </a:solidFill>
          </a:ln>
        </p:spPr>
      </p:cxnSp>
      <p:cxnSp>
        <p:nvCxnSpPr>
          <p:cNvPr id="100039" name="S03.Cycle.Pulse7"/>
          <p:cNvCxnSpPr/>
          <p:nvPr/>
        </p:nvCxnSpPr>
        <p:spPr>
          <a:xfrm>
            <a:off x="1563624" y="2148840"/>
            <a:ext cx="0" cy="228600"/>
          </a:xfrm>
          <a:prstGeom prst="straightConnector1">
            <a:avLst/>
          </a:prstGeom>
          <a:ln w="29210">
            <a:solidFill>
              <a:srgbClr val="ED7D31"/>
            </a:solidFill>
          </a:ln>
        </p:spPr>
      </p:cxnSp>
      <p:cxnSp>
        <p:nvCxnSpPr>
          <p:cNvPr id="100040" name="S03.Cycle.Pulse8"/>
          <p:cNvCxnSpPr/>
          <p:nvPr/>
        </p:nvCxnSpPr>
        <p:spPr>
          <a:xfrm>
            <a:off x="1563624" y="2377440"/>
            <a:ext cx="27432" cy="0"/>
          </a:xfrm>
          <a:prstGeom prst="straightConnector1">
            <a:avLst/>
          </a:prstGeom>
          <a:ln w="29210">
            <a:solidFill>
              <a:srgbClr val="ED7D31"/>
            </a:solidFill>
          </a:ln>
        </p:spPr>
      </p:cxnSp>
      <p:sp>
        <p:nvSpPr>
          <p:cNvPr id="100041" name="S03.Cycle.Label"/>
          <p:cNvSpPr txBox="1"/>
          <p:nvPr/>
        </p:nvSpPr>
        <p:spPr>
          <a:xfrm>
            <a:off x="475488" y="2862072"/>
            <a:ext cx="1773936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Arial"/>
                <a:ea typeface="Arial"/>
              </a:defRPr>
            </a:pPr>
            <a:r>
              <a:rPr sz="1400">
                <a:solidFill>
                  <a:srgbClr val="333333"/>
                </a:solidFill>
                <a:latin typeface="Arial"/>
              </a:rPr>
              <a:t>Same DUT cycle n</a:t>
            </a:r>
          </a:p>
        </p:txBody>
      </p:sp>
      <p:pic>
        <p:nvPicPr>
          <p:cNvPr id="100042" name="S03.Pause.Top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989e085673fb4f3e"/>
          <a:srcRect l="21371" t="23684" r="21291" b="20972"/>
          <a:stretch>
            <a:fillRect/>
          </a:stretch>
        </p:blipFill>
        <p:spPr>
          <a:xfrm>
            <a:off x="6922008" y="1275822"/>
            <a:ext cx="539496" cy="520737"/>
          </a:xfrm>
          <a:prstGeom prst="rect">
            <a:avLst/>
          </a:prstGeom>
        </p:spPr>
      </p:pic>
      <p:pic>
        <p:nvPicPr>
          <p:cNvPr id="100043" name="S03.Pause.Lef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883baff142c8421e"/>
          <a:srcRect l="21371" t="23684" r="21291" b="20972"/>
          <a:stretch>
            <a:fillRect/>
          </a:stretch>
        </p:blipFill>
        <p:spPr>
          <a:xfrm>
            <a:off x="6409944" y="2336526"/>
            <a:ext cx="539496" cy="520737"/>
          </a:xfrm>
          <a:prstGeom prst="rect">
            <a:avLst/>
          </a:prstGeom>
        </p:spPr>
      </p:pic>
      <p:pic>
        <p:nvPicPr>
          <p:cNvPr id="100044" name="S03.Pause.Righ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1503ae1180e34bc6"/>
          <a:srcRect l="21371" t="23684" r="21291" b="20972"/>
          <a:stretch>
            <a:fillRect/>
          </a:stretch>
        </p:blipFill>
        <p:spPr>
          <a:xfrm>
            <a:off x="7434072" y="2336526"/>
            <a:ext cx="539496" cy="520737"/>
          </a:xfrm>
          <a:prstGeom prst="rect">
            <a:avLst/>
          </a:prstGeom>
        </p:spPr>
      </p:pic>
      <p:cxnSp>
        <p:nvCxnSpPr>
          <p:cNvPr id="100045" name="S03.Pause.SyncLeft"/>
          <p:cNvCxnSpPr>
            <a:stCxn id="100042" idx="0"/>
            <a:endCxn id="100043" idx="0"/>
          </p:cNvCxnSpPr>
          <p:nvPr/>
        </p:nvCxnSpPr>
        <p:spPr>
          <a:xfrm flipH="1">
            <a:off x="6679692" y="1796559"/>
            <a:ext cx="512064" cy="539967"/>
          </a:xfrm>
          <a:prstGeom prst="straightConnector1">
            <a:avLst/>
          </a:prstGeom>
          <a:ln w="25400">
            <a:solidFill>
              <a:srgbClr val="ED7D31"/>
            </a:solidFill>
          </a:ln>
        </p:spPr>
      </p:cxnSp>
      <p:cxnSp>
        <p:nvCxnSpPr>
          <p:cNvPr id="100046" name="S03.Pause.SyncRight"/>
          <p:cNvCxnSpPr>
            <a:stCxn id="100042" idx="0"/>
            <a:endCxn id="100044" idx="0"/>
          </p:cNvCxnSpPr>
          <p:nvPr/>
        </p:nvCxnSpPr>
        <p:spPr>
          <a:xfrm>
            <a:off x="7191756" y="1796559"/>
            <a:ext cx="512064" cy="539967"/>
          </a:xfrm>
          <a:prstGeom prst="straightConnector1">
            <a:avLst/>
          </a:prstGeom>
          <a:ln w="25400">
            <a:solidFill>
              <a:srgbClr val="ED7D31"/>
            </a:solidFill>
          </a:ln>
        </p:spPr>
      </p:cxnSp>
      <p:cxnSp>
        <p:nvCxnSpPr>
          <p:cNvPr id="100047" name="S03.Pause.SyncBottom"/>
          <p:cNvCxnSpPr>
            <a:stCxn id="100043" idx="0"/>
            <a:endCxn id="100044" idx="0"/>
          </p:cNvCxnSpPr>
          <p:nvPr/>
        </p:nvCxnSpPr>
        <p:spPr>
          <a:xfrm>
            <a:off x="6949440" y="2596894"/>
            <a:ext cx="484632" cy="0"/>
          </a:xfrm>
          <a:prstGeom prst="straightConnector1">
            <a:avLst/>
          </a:prstGeom>
          <a:ln w="25400">
            <a:solidFill>
              <a:srgbClr val="ED7D31"/>
            </a:solidFill>
          </a:ln>
        </p:spPr>
      </p:cxnSp>
      <p:pic>
        <p:nvPicPr>
          <p:cNvPr id="100048" name="S03.Pause.Symbol" descr="Coordinated pause"/>
          <p:cNvPicPr>
            <a:picLocks noChangeAspect="1"/>
          </p:cNvPicPr>
          <p:nvPr/>
        </p:nvPicPr>
        <p:blipFill>
          <a:blip xmlns:r="http://schemas.openxmlformats.org/officeDocument/2006/relationships" r:embed="Re43803a846b54ae8"/>
          <a:srcRect l="11164" t="11323" r="10765" b="10606"/>
          <a:stretch>
            <a:fillRect/>
          </a:stretch>
        </p:blipFill>
        <p:spPr>
          <a:xfrm>
            <a:off x="6967728" y="2020006"/>
            <a:ext cx="448056" cy="448056"/>
          </a:xfrm>
          <a:prstGeom prst="rect">
            <a:avLst/>
          </a:prstGeom>
        </p:spPr>
      </p:pic>
      <p:sp>
        <p:nvSpPr>
          <p:cNvPr id="100049" name="S03.Pause.Label"/>
          <p:cNvSpPr txBox="1"/>
          <p:nvPr/>
        </p:nvSpPr>
        <p:spPr>
          <a:xfrm>
            <a:off x="6373368" y="2985750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300">
                <a:solidFill>
                  <a:srgbClr val="333333"/>
                </a:solidFill>
                <a:latin typeface="Arial"/>
                <a:ea typeface="Arial"/>
              </a:rPr>
              <a:t>Same DUT cycle n</a:t>
            </a:r>
          </a:p>
        </p:txBody>
      </p:sp>
      <p:pic>
        <p:nvPicPr>
          <p:cNvPr id="100050" name="S03.State.FPGA1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2a783bd662d8467d"/>
          <a:srcRect l="21371" t="23684" r="21291" b="20972"/>
          <a:stretch>
            <a:fillRect/>
          </a:stretch>
        </p:blipFill>
        <p:spPr>
          <a:xfrm>
            <a:off x="484632" y="4220964"/>
            <a:ext cx="502920" cy="485433"/>
          </a:xfrm>
          <a:prstGeom prst="rect">
            <a:avLst/>
          </a:prstGeom>
        </p:spPr>
      </p:pic>
      <p:pic>
        <p:nvPicPr>
          <p:cNvPr id="100051" name="S03.State.FPGA2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63d2241641584ba5"/>
          <a:srcRect l="21371" t="23684" r="21291" b="20972"/>
          <a:stretch>
            <a:fillRect/>
          </a:stretch>
        </p:blipFill>
        <p:spPr>
          <a:xfrm>
            <a:off x="1106424" y="4220964"/>
            <a:ext cx="502920" cy="485433"/>
          </a:xfrm>
          <a:prstGeom prst="rect">
            <a:avLst/>
          </a:prstGeom>
        </p:spPr>
      </p:pic>
      <p:pic>
        <p:nvPicPr>
          <p:cNvPr id="100052" name="S03.State.FPGA3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e0984c45fad74436"/>
          <a:srcRect l="21371" t="23684" r="21291" b="20972"/>
          <a:stretch>
            <a:fillRect/>
          </a:stretch>
        </p:blipFill>
        <p:spPr>
          <a:xfrm>
            <a:off x="1728216" y="4220964"/>
            <a:ext cx="502920" cy="485433"/>
          </a:xfrm>
          <a:prstGeom prst="rect">
            <a:avLst/>
          </a:prstGeom>
        </p:spPr>
      </p:pic>
      <p:sp>
        <p:nvSpPr>
          <p:cNvPr id="100053" name="S03.State.LocalLabel"/>
          <p:cNvSpPr txBox="1"/>
          <p:nvPr/>
        </p:nvSpPr>
        <p:spPr>
          <a:xfrm>
            <a:off x="475488" y="3855204"/>
            <a:ext cx="1773936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333333"/>
                </a:solidFill>
                <a:latin typeface="Arial"/>
                <a:ea typeface="Arial"/>
              </a:rPr>
              <a:t>Local states</a:t>
            </a:r>
          </a:p>
        </p:txBody>
      </p:sp>
      <p:pic>
        <p:nvPicPr>
          <p:cNvPr id="100054" name="S03.State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22fc9bd161c14e36"/>
          <a:srcRect l="16746" t="16427" r="16746" b="11961"/>
          <a:stretch>
            <a:fillRect/>
          </a:stretch>
        </p:blipFill>
        <p:spPr>
          <a:xfrm>
            <a:off x="1129284" y="5162796"/>
            <a:ext cx="457200" cy="492285"/>
          </a:xfrm>
          <a:prstGeom prst="rect">
            <a:avLst/>
          </a:prstGeom>
        </p:spPr>
      </p:pic>
      <p:cxnSp>
        <p:nvCxnSpPr>
          <p:cNvPr id="100055" name="S03.State.Drop1"/>
          <p:cNvCxnSpPr/>
          <p:nvPr/>
        </p:nvCxnSpPr>
        <p:spPr>
          <a:xfrm>
            <a:off x="736092" y="4705596"/>
            <a:ext cx="0" cy="320040"/>
          </a:xfrm>
          <a:prstGeom prst="straightConnector1">
            <a:avLst/>
          </a:prstGeom>
          <a:ln w="25400">
            <a:solidFill>
              <a:srgbClr val="70AD47"/>
            </a:solidFill>
          </a:ln>
        </p:spPr>
      </p:cxnSp>
      <p:cxnSp>
        <p:nvCxnSpPr>
          <p:cNvPr id="100056" name="S03.State.Drop2"/>
          <p:cNvCxnSpPr/>
          <p:nvPr/>
        </p:nvCxnSpPr>
        <p:spPr>
          <a:xfrm>
            <a:off x="1357884" y="4705596"/>
            <a:ext cx="0" cy="320040"/>
          </a:xfrm>
          <a:prstGeom prst="straightConnector1">
            <a:avLst/>
          </a:prstGeom>
          <a:ln w="25400">
            <a:solidFill>
              <a:srgbClr val="70AD47"/>
            </a:solidFill>
          </a:ln>
        </p:spPr>
      </p:cxnSp>
      <p:cxnSp>
        <p:nvCxnSpPr>
          <p:cNvPr id="100057" name="S03.State.Drop3"/>
          <p:cNvCxnSpPr/>
          <p:nvPr/>
        </p:nvCxnSpPr>
        <p:spPr>
          <a:xfrm>
            <a:off x="1979676" y="4705596"/>
            <a:ext cx="0" cy="320040"/>
          </a:xfrm>
          <a:prstGeom prst="straightConnector1">
            <a:avLst/>
          </a:prstGeom>
          <a:ln w="25400">
            <a:solidFill>
              <a:srgbClr val="70AD47"/>
            </a:solidFill>
          </a:ln>
        </p:spPr>
      </p:cxnSp>
      <p:cxnSp>
        <p:nvCxnSpPr>
          <p:cNvPr id="100058" name="S03.State.Bus"/>
          <p:cNvCxnSpPr/>
          <p:nvPr/>
        </p:nvCxnSpPr>
        <p:spPr>
          <a:xfrm>
            <a:off x="736092" y="5025636"/>
            <a:ext cx="1243584" cy="0"/>
          </a:xfrm>
          <a:prstGeom prst="straightConnector1">
            <a:avLst/>
          </a:prstGeom>
          <a:ln w="25400">
            <a:solidFill>
              <a:srgbClr val="70AD47"/>
            </a:solidFill>
          </a:ln>
        </p:spPr>
      </p:cxnSp>
      <p:cxnSp>
        <p:nvCxnSpPr>
          <p:cNvPr id="100059" name="S03.State.Aggregate"/>
          <p:cNvCxnSpPr/>
          <p:nvPr/>
        </p:nvCxnSpPr>
        <p:spPr>
          <a:xfrm>
            <a:off x="1357884" y="5025636"/>
            <a:ext cx="0" cy="137160"/>
          </a:xfrm>
          <a:prstGeom prst="straightConnector1">
            <a:avLst/>
          </a:prstGeom>
          <a:ln w="25400">
            <a:solidFill>
              <a:srgbClr val="70AD47"/>
            </a:solidFill>
            <a:tailEnd type="triangle"/>
          </a:ln>
        </p:spPr>
      </p:cxnSp>
      <p:sp>
        <p:nvSpPr>
          <p:cNvPr id="100060" name="S03.State.GlobalLabel"/>
          <p:cNvSpPr txBox="1"/>
          <p:nvPr/>
        </p:nvSpPr>
        <p:spPr>
          <a:xfrm>
            <a:off x="475488" y="5729724"/>
            <a:ext cx="1773936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300">
                <a:solidFill>
                  <a:srgbClr val="333333"/>
                </a:solidFill>
                <a:latin typeface="Arial"/>
                <a:ea typeface="Arial"/>
              </a:rPr>
              <a:t>Global snapshot</a:t>
            </a:r>
          </a:p>
        </p:txBody>
      </p:sp>
      <p:pic>
        <p:nvPicPr>
          <p:cNvPr id="100061" name="S03.Partition.Circuit" descr="Circuit partitioning"/>
          <p:cNvPicPr>
            <a:picLocks noChangeAspect="1"/>
          </p:cNvPicPr>
          <p:nvPr/>
        </p:nvPicPr>
        <p:blipFill>
          <a:blip xmlns:r="http://schemas.openxmlformats.org/officeDocument/2006/relationships" r:embed="R35917c59115044f1"/>
          <a:srcRect l="15869" t="18660" r="15789" b="18660"/>
          <a:stretch>
            <a:fillRect/>
          </a:stretch>
        </p:blipFill>
        <p:spPr>
          <a:xfrm>
            <a:off x="6455664" y="4074660"/>
            <a:ext cx="1481328" cy="1358605"/>
          </a:xfrm>
          <a:prstGeom prst="rect">
            <a:avLst/>
          </a:prstGeom>
        </p:spPr>
      </p:pic>
      <p:sp>
        <p:nvSpPr>
          <p:cNvPr id="100062" name="S03.Partition.Label"/>
          <p:cNvSpPr txBox="1"/>
          <p:nvPr/>
        </p:nvSpPr>
        <p:spPr>
          <a:xfrm>
            <a:off x="6373368" y="5638280"/>
            <a:ext cx="1682496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300">
                <a:solidFill>
                  <a:srgbClr val="333333"/>
                </a:solidFill>
                <a:latin typeface="Arial"/>
                <a:ea typeface="Arial"/>
              </a:rPr>
              <a:t>Partitioned design</a:t>
            </a:r>
          </a:p>
        </p:txBody>
      </p:sp>
      <p:sp>
        <p:nvSpPr>
          <p:cNvPr id="100063" name="S03.Takeaway"/>
          <p:cNvSpPr txBox="1"/>
          <p:nvPr/>
        </p:nvSpPr>
        <p:spPr>
          <a:xfrm>
            <a:off x="804672" y="630936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Arial"/>
                <a:ea typeface="Arial"/>
              </a:defRPr>
            </a:pPr>
            <a:r>
              <a:rPr lang="en-US" b="1">
                <a:solidFill>
                  <a:srgbClr val="333333"/>
                </a:solidFill>
              </a:rPr>
              <a:t>Academe</a:t>
            </a:r>
            <a:r>
              <a:rPr lang="en-US" b="1">
                <a:solidFill>
                  <a:srgbClr val="333333"/>
                </a:solidFill>
              </a:rPr>
              <a:t xml:space="preserve"> </a:t>
            </a:r>
            <a:r>
              <a:rPr lang="en-US" b="1">
                <a:solidFill>
                  <a:srgbClr val="333333"/>
                </a:solidFill>
              </a:rPr>
              <a:t>have made progress in individual fields, still gaps in Multi-FPGA Emulation system.</a:t>
            </a:r>
          </a:p>
        </p:txBody>
      </p:sp>
      <p:sp>
        <p:nvSpPr>
          <p:cNvPr id="100064" name="S03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898989"/>
                </a:solidFill>
                <a:latin typeface="Arial"/>
                <a:ea typeface="Arial"/>
              </a:rPr>
              <a:t>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OfficeCLI/1.0.159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2026-10-29T09:27:14.0000000Z</dcterms:created>
  <lastModifiedBy>OfficeCLI</lastModifiedBy>
  <dcterms:modified xsi:type="dcterms:W3CDTF">2026-10-29T09:27:14.4795750Z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1.0.159</vt:lpwstr>
  </op:property>
  <op:property fmtid="{D5CDD505-2E9C-101B-9397-08002B2CF9AE}" pid="3" name="OfficeCLI.LastModified">
    <vt:lpwstr xmlns:vt="http://schemas.openxmlformats.org/officeDocument/2006/docPropsVTypes">2026-10-29T09:27:20Z</vt:lpwstr>
  </op:property>
</op:Properties>
</file>