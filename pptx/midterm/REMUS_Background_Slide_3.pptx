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96c77fea4ce48d2" /><Relationship Type="http://schemas.openxmlformats.org/package/2006/relationships/metadata/core-properties" Target="/docProps/core.xml" Id="Rc0ea15eee0094294" /><Relationship Type="http://schemas.openxmlformats.org/officeDocument/2006/relationships/extended-properties" Target="/docProps/app.xml" Id="R0349eb5a15a44383" /><Relationship Type="http://schemas.openxmlformats.org/officeDocument/2006/relationships/custom-properties" Target="/docProps/custom.xml" Id="R722815c55cd04a0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212a244efb3e4b20"/>
  </p:notesMasterIdLst>
  <p:sldIdLst>
    <p:sldId id="256" r:id="R5ba09894fa3141b0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ba09894fa3141b0" /><Relationship Type="http://schemas.openxmlformats.org/officeDocument/2006/relationships/notesMaster" Target="/ppt/notesMasters/notesMaster1.xml" Id="R212a244efb3e4b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7b2f9fe5d6145a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B56"/>
      </a:accent1>
      <a:accent2>
        <a:srgbClr val="008C95"/>
      </a:accent2>
      <a:accent3>
        <a:srgbClr val="DF973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54154e08d304af6" /><Relationship Type="http://schemas.openxmlformats.org/officeDocument/2006/relationships/slide" Target="/ppt/slides/slide1.xml" Id="R54a042d1d8f3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slide introduces research challenges, not completed REMUS results. DUT logical cycles must remain aligned despite cross-FPGA communication latency; the pulse is conceptual, not a measured clock waveform. Global pause requires all partitions at the same DUT cycle and drained links, providing a stable boundary. Local partition states must be mapped and aggregated into a global snapshot for restoration and deterministic replay. Partitioning must balance resources and cut size while limiting the maximum path-cut number through granularity selection. Multiple chip icons and the partitioned circuit illustrate the problem, not an experimentally verified FPGA count. Reference: figure/presentation-reference/midterm-background-03.png.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3e6fab8e843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309fc731b45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80fdf6d2f44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0e70422b6e40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1822f84a64ac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afa9b4e390347a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aa6a9536444cd" /><Relationship Type="http://schemas.openxmlformats.org/officeDocument/2006/relationships/image" Target="/ppt/media/image.png" Id="R8d5417393a42493c" /><Relationship Type="http://schemas.openxmlformats.org/officeDocument/2006/relationships/image" Target="/ppt/media/image2.png" Id="Ra01df5eb68734e8d" /><Relationship Type="http://schemas.openxmlformats.org/officeDocument/2006/relationships/image" Target="/ppt/media/image3.png" Id="R5482d5069d554efb" /><Relationship Type="http://schemas.openxmlformats.org/officeDocument/2006/relationships/image" Target="/ppt/media/image4.png" Id="R7046b2d9715a4035" /><Relationship Type="http://schemas.openxmlformats.org/officeDocument/2006/relationships/image" Target="/ppt/media/image5.png" Id="R3ff6785503204456" /><Relationship Type="http://schemas.openxmlformats.org/officeDocument/2006/relationships/image" Target="/ppt/media/image6.png" Id="R667a6785fa4d43ea" /><Relationship Type="http://schemas.openxmlformats.org/officeDocument/2006/relationships/image" Target="/ppt/media/image7.png" Id="R6955b8f66e414855" /><Relationship Type="http://schemas.openxmlformats.org/officeDocument/2006/relationships/image" Target="/ppt/media/image8.png" Id="R7a425e0eacc041c0" /><Relationship Type="http://schemas.openxmlformats.org/officeDocument/2006/relationships/image" Target="/ppt/media/image9.png" Id="R8403f77eda794ddf" /><Relationship Type="http://schemas.openxmlformats.org/officeDocument/2006/relationships/image" Target="/ppt/media/image10.png" Id="R9dc06439b26547b7" /><Relationship Type="http://schemas.openxmlformats.org/officeDocument/2006/relationships/image" Target="/ppt/media/image11.png" Id="R00287ad319ca416b" /><Relationship Type="http://schemas.openxmlformats.org/officeDocument/2006/relationships/image" Target="/ppt/media/image12.png" Id="Rf5f4bc39c17343aa" /><Relationship Type="http://schemas.openxmlformats.org/officeDocument/2006/relationships/notesSlide" Target="/ppt/notesSlides/notesSlide1.xml" Id="Rb66ed18454704188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03.Title"/>
          <p:cNvSpPr/>
          <p:nvPr>
            <p:ph type="title"/>
          </p:nvPr>
        </p:nvSpPr>
        <p:spPr>
          <a:xfrm xmlns:a="http://schemas.openxmlformats.org/drawingml/2006/main">
            <a:off x="320040" y="128016"/>
            <a:ext cx="11558016" cy="493776"/>
          </a:xfrm>
          <a:noFill/>
          <a:ln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83B56"/>
                </a:solidFill>
                <a:latin typeface="Arial"/>
                <a:ea typeface="Arial"/>
              </a:rPr>
              <a:t>3. Key Challenges of Replayable Multi-FPGA Emulation</a:t>
            </a:r>
          </a:p>
        </p:txBody>
      </p:sp>
      <p:sp>
        <p:nvSpPr>
          <p:cNvPr id="100000" name="S03.TitleRule"/>
          <p:cNvSpPr/>
          <p:nvPr/>
        </p:nvSpPr>
        <p:spPr>
          <a:xfrm>
            <a:off x="320040" y="713232"/>
            <a:ext cx="11558016" cy="254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1" name="S03.Cycle.Panel"/>
          <p:cNvSpPr/>
          <p:nvPr/>
        </p:nvSpPr>
        <p:spPr>
          <a:xfrm>
            <a:off x="320040" y="1024128"/>
            <a:ext cx="5687568" cy="2404872"/>
          </a:xfrm>
          <a:prstGeom prst="roundRect">
            <a:avLst>
              <a:gd name="adj" fmla="val 6500"/>
            </a:avLst>
          </a:prstGeom>
          <a:solidFill>
            <a:srgbClr val="EAF4F3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2" name="S03.Cycle.Divider"/>
          <p:cNvSpPr/>
          <p:nvPr/>
        </p:nvSpPr>
        <p:spPr>
          <a:xfrm>
            <a:off x="2313432" y="1252728"/>
            <a:ext cx="8230" cy="1947672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3" name="S03.Cycle.Heading"/>
          <p:cNvSpPr txBox="1"/>
          <p:nvPr/>
        </p:nvSpPr>
        <p:spPr>
          <a:xfrm>
            <a:off x="2532888" y="1234440"/>
            <a:ext cx="3264408" cy="640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000" b="1">
                <a:solidFill>
                  <a:srgbClr val="183B56"/>
                </a:solidFill>
                <a:latin typeface="Arial"/>
                <a:ea typeface="Arial"/>
              </a:rPr>
              <a:t>Cycle-Accurate</a:t>
            </a:r>
          </a:p>
          <a:p>
            <a:r>
              <a:rPr lang="en-US" sz="2000" b="1">
                <a:solidFill>
                  <a:srgbClr val="183B56"/>
                </a:solidFill>
                <a:latin typeface="Arial"/>
                <a:ea typeface="Arial"/>
              </a:rPr>
              <a:t>Execution</a:t>
            </a:r>
          </a:p>
        </p:txBody>
      </p:sp>
      <p:sp>
        <p:nvSpPr>
          <p:cNvPr id="100004" name="S03.Cycle.Bullet1"/>
          <p:cNvSpPr/>
          <p:nvPr/>
        </p:nvSpPr>
        <p:spPr>
          <a:xfrm>
            <a:off x="2569464" y="2052828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5" name="S03.Cycle.Text1"/>
          <p:cNvSpPr txBox="1"/>
          <p:nvPr/>
        </p:nvSpPr>
        <p:spPr>
          <a:xfrm>
            <a:off x="2807208" y="1975104"/>
            <a:ext cx="3017520" cy="5577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Align DUT cycles across</a:t>
            </a:r>
          </a:p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partitions</a:t>
            </a:r>
          </a:p>
        </p:txBody>
      </p:sp>
      <p:sp>
        <p:nvSpPr>
          <p:cNvPr id="100006" name="S03.Cycle.Bullet2"/>
          <p:cNvSpPr/>
          <p:nvPr/>
        </p:nvSpPr>
        <p:spPr>
          <a:xfrm>
            <a:off x="2569464" y="2674620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7" name="S03.Cycle.Text2"/>
          <p:cNvSpPr txBox="1"/>
          <p:nvPr/>
        </p:nvSpPr>
        <p:spPr>
          <a:xfrm>
            <a:off x="2807208" y="2596896"/>
            <a:ext cx="3017520" cy="5577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Account for cross-FPGA</a:t>
            </a:r>
          </a:p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communication latency</a:t>
            </a:r>
          </a:p>
        </p:txBody>
      </p:sp>
      <p:sp>
        <p:nvSpPr>
          <p:cNvPr id="100008" name="S03.Pause.Panel"/>
          <p:cNvSpPr/>
          <p:nvPr/>
        </p:nvSpPr>
        <p:spPr>
          <a:xfrm>
            <a:off x="6190488" y="1024128"/>
            <a:ext cx="5687568" cy="2404872"/>
          </a:xfrm>
          <a:prstGeom prst="roundRect">
            <a:avLst>
              <a:gd name="adj" fmla="val 6500"/>
            </a:avLst>
          </a:prstGeom>
          <a:solidFill>
            <a:srgbClr val="F1F5F8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9" name="S03.Pause.Divider"/>
          <p:cNvSpPr/>
          <p:nvPr/>
        </p:nvSpPr>
        <p:spPr>
          <a:xfrm>
            <a:off x="8183880" y="1252728"/>
            <a:ext cx="8230" cy="1947672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0" name="S03.Pause.Heading"/>
          <p:cNvSpPr txBox="1"/>
          <p:nvPr/>
        </p:nvSpPr>
        <p:spPr>
          <a:xfrm>
            <a:off x="8403336" y="1234440"/>
            <a:ext cx="3264408" cy="640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000" b="1">
                <a:solidFill>
                  <a:srgbClr val="183B56"/>
                </a:solidFill>
                <a:latin typeface="Arial"/>
                <a:ea typeface="Arial"/>
              </a:rPr>
              <a:t>Cycle-Consistent</a:t>
            </a:r>
          </a:p>
          <a:p>
            <a:r>
              <a:rPr lang="en-US" sz="2000" b="1">
                <a:solidFill>
                  <a:srgbClr val="183B56"/>
                </a:solidFill>
                <a:latin typeface="Arial"/>
                <a:ea typeface="Arial"/>
              </a:rPr>
              <a:t>Global Pause</a:t>
            </a:r>
          </a:p>
        </p:txBody>
      </p:sp>
      <p:sp>
        <p:nvSpPr>
          <p:cNvPr id="100011" name="S03.Pause.Bullet1"/>
          <p:cNvSpPr/>
          <p:nvPr/>
        </p:nvSpPr>
        <p:spPr>
          <a:xfrm>
            <a:off x="8439912" y="2052828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2" name="S03.Pause.Text1"/>
          <p:cNvSpPr txBox="1"/>
          <p:nvPr/>
        </p:nvSpPr>
        <p:spPr>
          <a:xfrm>
            <a:off x="8677656" y="1975104"/>
            <a:ext cx="3017520" cy="5577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Stop partitions at the</a:t>
            </a:r>
          </a:p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same logical cycle</a:t>
            </a:r>
          </a:p>
        </p:txBody>
      </p:sp>
      <p:sp>
        <p:nvSpPr>
          <p:cNvPr id="100013" name="S03.Pause.Bullet2"/>
          <p:cNvSpPr/>
          <p:nvPr/>
        </p:nvSpPr>
        <p:spPr>
          <a:xfrm>
            <a:off x="8439912" y="2674620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4" name="S03.Pause.Text2"/>
          <p:cNvSpPr txBox="1"/>
          <p:nvPr/>
        </p:nvSpPr>
        <p:spPr>
          <a:xfrm>
            <a:off x="8677656" y="2596896"/>
            <a:ext cx="3017520" cy="5577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Drain links for a stable</a:t>
            </a:r>
          </a:p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snapshot boundary</a:t>
            </a:r>
          </a:p>
        </p:txBody>
      </p:sp>
      <p:sp>
        <p:nvSpPr>
          <p:cNvPr id="100015" name="S03.State.Panel"/>
          <p:cNvSpPr/>
          <p:nvPr/>
        </p:nvSpPr>
        <p:spPr>
          <a:xfrm>
            <a:off x="320040" y="3675888"/>
            <a:ext cx="5687568" cy="2404872"/>
          </a:xfrm>
          <a:prstGeom prst="roundRect">
            <a:avLst>
              <a:gd name="adj" fmla="val 6500"/>
            </a:avLst>
          </a:prstGeom>
          <a:solidFill>
            <a:srgbClr val="FCF4E8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6" name="S03.State.Divider"/>
          <p:cNvSpPr/>
          <p:nvPr/>
        </p:nvSpPr>
        <p:spPr>
          <a:xfrm>
            <a:off x="2313432" y="3904488"/>
            <a:ext cx="8230" cy="1947672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7" name="S03.State.Heading"/>
          <p:cNvSpPr txBox="1"/>
          <p:nvPr/>
        </p:nvSpPr>
        <p:spPr>
          <a:xfrm>
            <a:off x="2532888" y="3886200"/>
            <a:ext cx="3264408" cy="640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000" b="1">
                <a:solidFill>
                  <a:srgbClr val="183B56"/>
                </a:solidFill>
                <a:latin typeface="Arial"/>
                <a:ea typeface="Arial"/>
              </a:rPr>
              <a:t>Distributed State</a:t>
            </a:r>
          </a:p>
          <a:p>
            <a:r>
              <a:rPr lang="en-US" sz="2000" b="1">
                <a:solidFill>
                  <a:srgbClr val="183B56"/>
                </a:solidFill>
                <a:latin typeface="Arial"/>
                <a:ea typeface="Arial"/>
              </a:rPr>
              <a:t>Management</a:t>
            </a:r>
          </a:p>
        </p:txBody>
      </p:sp>
      <p:sp>
        <p:nvSpPr>
          <p:cNvPr id="100018" name="S03.State.Bullet1"/>
          <p:cNvSpPr/>
          <p:nvPr/>
        </p:nvSpPr>
        <p:spPr>
          <a:xfrm>
            <a:off x="2569464" y="4704588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9" name="S03.State.Text1"/>
          <p:cNvSpPr txBox="1"/>
          <p:nvPr/>
        </p:nvSpPr>
        <p:spPr>
          <a:xfrm>
            <a:off x="2807208" y="4626864"/>
            <a:ext cx="3017520" cy="5577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Extract local states</a:t>
            </a:r>
          </a:p>
        </p:txBody>
      </p:sp>
      <p:sp>
        <p:nvSpPr>
          <p:cNvPr id="100020" name="S03.State.Bullet2"/>
          <p:cNvSpPr/>
          <p:nvPr/>
        </p:nvSpPr>
        <p:spPr>
          <a:xfrm>
            <a:off x="2569464" y="5326380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1" name="S03.State.Text2"/>
          <p:cNvSpPr txBox="1"/>
          <p:nvPr/>
        </p:nvSpPr>
        <p:spPr>
          <a:xfrm>
            <a:off x="2807208" y="5248656"/>
            <a:ext cx="3017520" cy="5577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Form a global snapshot</a:t>
            </a:r>
          </a:p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for restore and replay</a:t>
            </a:r>
          </a:p>
        </p:txBody>
      </p:sp>
      <p:sp>
        <p:nvSpPr>
          <p:cNvPr id="100022" name="S03.Partition.Panel"/>
          <p:cNvSpPr/>
          <p:nvPr/>
        </p:nvSpPr>
        <p:spPr>
          <a:xfrm>
            <a:off x="6190488" y="3675888"/>
            <a:ext cx="5687568" cy="2404872"/>
          </a:xfrm>
          <a:prstGeom prst="roundRect">
            <a:avLst>
              <a:gd name="adj" fmla="val 6500"/>
            </a:avLst>
          </a:prstGeom>
          <a:solidFill>
            <a:srgbClr val="EAF4F3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3" name="S03.Partition.Divider"/>
          <p:cNvSpPr/>
          <p:nvPr/>
        </p:nvSpPr>
        <p:spPr>
          <a:xfrm>
            <a:off x="8183880" y="3904488"/>
            <a:ext cx="8230" cy="1947672"/>
          </a:xfrm>
          <a:prstGeom prst="rect">
            <a:avLst/>
          </a:prstGeom>
          <a:solidFill>
            <a:srgbClr val="BDCBD4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4" name="S03.Partition.Heading"/>
          <p:cNvSpPr txBox="1"/>
          <p:nvPr/>
        </p:nvSpPr>
        <p:spPr>
          <a:xfrm>
            <a:off x="8403336" y="3886200"/>
            <a:ext cx="3264408" cy="640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000" b="1">
                <a:solidFill>
                  <a:srgbClr val="183B56"/>
                </a:solidFill>
                <a:latin typeface="Arial"/>
                <a:ea typeface="Arial"/>
              </a:rPr>
              <a:t>Automated</a:t>
            </a:r>
          </a:p>
          <a:p>
            <a:r>
              <a:rPr lang="en-US" sz="2000" b="1">
                <a:solidFill>
                  <a:srgbClr val="183B56"/>
                </a:solidFill>
                <a:latin typeface="Arial"/>
                <a:ea typeface="Arial"/>
              </a:rPr>
              <a:t>Partitioning</a:t>
            </a:r>
          </a:p>
        </p:txBody>
      </p:sp>
      <p:sp>
        <p:nvSpPr>
          <p:cNvPr id="100025" name="S03.Partition.Bullet1"/>
          <p:cNvSpPr/>
          <p:nvPr/>
        </p:nvSpPr>
        <p:spPr>
          <a:xfrm>
            <a:off x="8439912" y="4704588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6" name="S03.Partition.Text1"/>
          <p:cNvSpPr txBox="1"/>
          <p:nvPr/>
        </p:nvSpPr>
        <p:spPr>
          <a:xfrm>
            <a:off x="8677656" y="4626864"/>
            <a:ext cx="3017520" cy="5577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Balance resources and</a:t>
            </a:r>
          </a:p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cut size</a:t>
            </a:r>
          </a:p>
        </p:txBody>
      </p:sp>
      <p:sp>
        <p:nvSpPr>
          <p:cNvPr id="100027" name="S03.Partition.Bullet2"/>
          <p:cNvSpPr/>
          <p:nvPr/>
        </p:nvSpPr>
        <p:spPr>
          <a:xfrm>
            <a:off x="8439912" y="5326380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8" name="S03.Partition.Text2"/>
          <p:cNvSpPr txBox="1"/>
          <p:nvPr/>
        </p:nvSpPr>
        <p:spPr>
          <a:xfrm>
            <a:off x="8677656" y="5248656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Limit Maximum</a:t>
            </a:r>
          </a:p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Path-Cut Number</a:t>
            </a:r>
          </a:p>
          <a:p>
            <a:r>
              <a:rPr lang="en-US" sz="1700">
                <a:solidFill>
                  <a:srgbClr val="20354A"/>
                </a:solidFill>
                <a:latin typeface="Arial"/>
                <a:ea typeface="Arial"/>
              </a:rPr>
              <a:t>through granularity</a:t>
            </a:r>
          </a:p>
        </p:txBody>
      </p:sp>
      <p:pic>
        <p:nvPicPr>
          <p:cNvPr id="100029" name="S03.Cycle.Left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8d5417393a42493c"/>
          <a:srcRect l="21371" t="23684" r="21291" b="20972"/>
          <a:stretch>
            <a:fillRect/>
          </a:stretch>
        </p:blipFill>
        <p:spPr>
          <a:xfrm>
            <a:off x="502920" y="2029968"/>
            <a:ext cx="603504" cy="582519"/>
          </a:xfrm>
          <a:prstGeom prst="rect">
            <a:avLst/>
          </a:prstGeom>
        </p:spPr>
      </p:pic>
      <p:pic>
        <p:nvPicPr>
          <p:cNvPr id="100030" name="S03.Cycle.Right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a01df5eb68734e8d"/>
          <a:srcRect l="21371" t="23684" r="21291" b="20972"/>
          <a:stretch>
            <a:fillRect/>
          </a:stretch>
        </p:blipFill>
        <p:spPr>
          <a:xfrm>
            <a:off x="1618488" y="2029968"/>
            <a:ext cx="603504" cy="582519"/>
          </a:xfrm>
          <a:prstGeom prst="rect">
            <a:avLst/>
          </a:prstGeom>
        </p:spPr>
      </p:pic>
      <p:pic>
        <p:nvPicPr>
          <p:cNvPr id="100031" name="S03.Cycle.Clock" descr="Logical cycle progression"/>
          <p:cNvPicPr>
            <a:picLocks noChangeAspect="1"/>
          </p:cNvPicPr>
          <p:nvPr/>
        </p:nvPicPr>
        <p:blipFill>
          <a:blip xmlns:r="http://schemas.openxmlformats.org/officeDocument/2006/relationships" r:embed="R5482d5069d554efb"/>
          <a:srcRect l="13078" t="10047" r="12918" b="10526"/>
          <a:stretch>
            <a:fillRect/>
          </a:stretch>
        </p:blipFill>
        <p:spPr>
          <a:xfrm>
            <a:off x="1143000" y="1435608"/>
            <a:ext cx="438912" cy="471073"/>
          </a:xfrm>
          <a:prstGeom prst="rect">
            <a:avLst/>
          </a:prstGeom>
        </p:spPr>
      </p:pic>
      <p:cxnSp>
        <p:nvCxnSpPr>
          <p:cNvPr id="100032" name="S03.Cycle.Pulse0"/>
          <p:cNvCxnSpPr/>
          <p:nvPr/>
        </p:nvCxnSpPr>
        <p:spPr>
          <a:xfrm>
            <a:off x="1133856" y="2377440"/>
            <a:ext cx="82296" cy="0"/>
          </a:xfrm>
          <a:prstGeom prst="straightConnector1">
            <a:avLst/>
          </a:prstGeom>
          <a:ln w="29210">
            <a:solidFill>
              <a:srgbClr val="DF973E"/>
            </a:solidFill>
          </a:ln>
        </p:spPr>
      </p:cxnSp>
      <p:cxnSp>
        <p:nvCxnSpPr>
          <p:cNvPr id="100033" name="S03.Cycle.Pulse1"/>
          <p:cNvCxnSpPr/>
          <p:nvPr/>
        </p:nvCxnSpPr>
        <p:spPr>
          <a:xfrm>
            <a:off x="1216152" y="2148840"/>
            <a:ext cx="0" cy="228600"/>
          </a:xfrm>
          <a:prstGeom prst="straightConnector1">
            <a:avLst/>
          </a:prstGeom>
          <a:ln w="29210">
            <a:solidFill>
              <a:srgbClr val="DF973E"/>
            </a:solidFill>
          </a:ln>
        </p:spPr>
      </p:cxnSp>
      <p:cxnSp>
        <p:nvCxnSpPr>
          <p:cNvPr id="100034" name="S03.Cycle.Pulse2"/>
          <p:cNvCxnSpPr/>
          <p:nvPr/>
        </p:nvCxnSpPr>
        <p:spPr>
          <a:xfrm>
            <a:off x="1216152" y="2148840"/>
            <a:ext cx="118872" cy="0"/>
          </a:xfrm>
          <a:prstGeom prst="straightConnector1">
            <a:avLst/>
          </a:prstGeom>
          <a:ln w="29210">
            <a:solidFill>
              <a:srgbClr val="DF973E"/>
            </a:solidFill>
          </a:ln>
        </p:spPr>
      </p:cxnSp>
      <p:cxnSp>
        <p:nvCxnSpPr>
          <p:cNvPr id="100035" name="S03.Cycle.Pulse3"/>
          <p:cNvCxnSpPr/>
          <p:nvPr/>
        </p:nvCxnSpPr>
        <p:spPr>
          <a:xfrm>
            <a:off x="1335024" y="2148840"/>
            <a:ext cx="0" cy="228600"/>
          </a:xfrm>
          <a:prstGeom prst="straightConnector1">
            <a:avLst/>
          </a:prstGeom>
          <a:ln w="29210">
            <a:solidFill>
              <a:srgbClr val="DF973E"/>
            </a:solidFill>
          </a:ln>
        </p:spPr>
      </p:cxnSp>
      <p:cxnSp>
        <p:nvCxnSpPr>
          <p:cNvPr id="100036" name="S03.Cycle.Pulse4"/>
          <p:cNvCxnSpPr/>
          <p:nvPr/>
        </p:nvCxnSpPr>
        <p:spPr>
          <a:xfrm>
            <a:off x="1335024" y="2377440"/>
            <a:ext cx="118872" cy="0"/>
          </a:xfrm>
          <a:prstGeom prst="straightConnector1">
            <a:avLst/>
          </a:prstGeom>
          <a:ln w="29210">
            <a:solidFill>
              <a:srgbClr val="DF973E"/>
            </a:solidFill>
          </a:ln>
        </p:spPr>
      </p:cxnSp>
      <p:cxnSp>
        <p:nvCxnSpPr>
          <p:cNvPr id="100037" name="S03.Cycle.Pulse5"/>
          <p:cNvCxnSpPr/>
          <p:nvPr/>
        </p:nvCxnSpPr>
        <p:spPr>
          <a:xfrm>
            <a:off x="1453896" y="2148840"/>
            <a:ext cx="0" cy="228600"/>
          </a:xfrm>
          <a:prstGeom prst="straightConnector1">
            <a:avLst/>
          </a:prstGeom>
          <a:ln w="29210">
            <a:solidFill>
              <a:srgbClr val="DF973E"/>
            </a:solidFill>
          </a:ln>
        </p:spPr>
      </p:cxnSp>
      <p:cxnSp>
        <p:nvCxnSpPr>
          <p:cNvPr id="100038" name="S03.Cycle.Pulse6"/>
          <p:cNvCxnSpPr/>
          <p:nvPr/>
        </p:nvCxnSpPr>
        <p:spPr>
          <a:xfrm>
            <a:off x="1453896" y="2148840"/>
            <a:ext cx="109728" cy="0"/>
          </a:xfrm>
          <a:prstGeom prst="straightConnector1">
            <a:avLst/>
          </a:prstGeom>
          <a:ln w="29210">
            <a:solidFill>
              <a:srgbClr val="DF973E"/>
            </a:solidFill>
          </a:ln>
        </p:spPr>
      </p:cxnSp>
      <p:cxnSp>
        <p:nvCxnSpPr>
          <p:cNvPr id="100039" name="S03.Cycle.Pulse7"/>
          <p:cNvCxnSpPr/>
          <p:nvPr/>
        </p:nvCxnSpPr>
        <p:spPr>
          <a:xfrm>
            <a:off x="1563624" y="2148840"/>
            <a:ext cx="0" cy="228600"/>
          </a:xfrm>
          <a:prstGeom prst="straightConnector1">
            <a:avLst/>
          </a:prstGeom>
          <a:ln w="29210">
            <a:solidFill>
              <a:srgbClr val="DF973E"/>
            </a:solidFill>
          </a:ln>
        </p:spPr>
      </p:cxnSp>
      <p:cxnSp>
        <p:nvCxnSpPr>
          <p:cNvPr id="100040" name="S03.Cycle.Pulse8"/>
          <p:cNvCxnSpPr/>
          <p:nvPr/>
        </p:nvCxnSpPr>
        <p:spPr>
          <a:xfrm>
            <a:off x="1563624" y="2377440"/>
            <a:ext cx="27432" cy="0"/>
          </a:xfrm>
          <a:prstGeom prst="straightConnector1">
            <a:avLst/>
          </a:prstGeom>
          <a:ln w="29210">
            <a:solidFill>
              <a:srgbClr val="DF973E"/>
            </a:solidFill>
          </a:ln>
        </p:spPr>
      </p:cxnSp>
      <p:sp>
        <p:nvSpPr>
          <p:cNvPr id="100041" name="S03.Cycle.Label"/>
          <p:cNvSpPr txBox="1"/>
          <p:nvPr/>
        </p:nvSpPr>
        <p:spPr>
          <a:xfrm>
            <a:off x="475488" y="2862072"/>
            <a:ext cx="1773936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400">
                <a:solidFill>
                  <a:srgbClr val="183B56"/>
                </a:solidFill>
                <a:latin typeface="Arial"/>
                <a:ea typeface="Arial"/>
              </a:rPr>
              <a:t>DUT cycle n</a:t>
            </a:r>
          </a:p>
        </p:txBody>
      </p:sp>
      <p:pic>
        <p:nvPicPr>
          <p:cNvPr id="100042" name="S03.Pause.Top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7046b2d9715a4035"/>
          <a:srcRect l="21371" t="23684" r="21291" b="20972"/>
          <a:stretch>
            <a:fillRect/>
          </a:stretch>
        </p:blipFill>
        <p:spPr>
          <a:xfrm>
            <a:off x="6922008" y="1353312"/>
            <a:ext cx="539496" cy="520737"/>
          </a:xfrm>
          <a:prstGeom prst="rect">
            <a:avLst/>
          </a:prstGeom>
        </p:spPr>
      </p:pic>
      <p:pic>
        <p:nvPicPr>
          <p:cNvPr id="100043" name="S03.Pause.Left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3ff6785503204456"/>
          <a:srcRect l="21371" t="23684" r="21291" b="20972"/>
          <a:stretch>
            <a:fillRect/>
          </a:stretch>
        </p:blipFill>
        <p:spPr>
          <a:xfrm>
            <a:off x="6409944" y="2414016"/>
            <a:ext cx="539496" cy="520737"/>
          </a:xfrm>
          <a:prstGeom prst="rect">
            <a:avLst/>
          </a:prstGeom>
        </p:spPr>
      </p:pic>
      <p:pic>
        <p:nvPicPr>
          <p:cNvPr id="100044" name="S03.Pause.Right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667a6785fa4d43ea"/>
          <a:srcRect l="21371" t="23684" r="21291" b="20972"/>
          <a:stretch>
            <a:fillRect/>
          </a:stretch>
        </p:blipFill>
        <p:spPr>
          <a:xfrm>
            <a:off x="7434072" y="2414016"/>
            <a:ext cx="539496" cy="520737"/>
          </a:xfrm>
          <a:prstGeom prst="rect">
            <a:avLst/>
          </a:prstGeom>
        </p:spPr>
      </p:pic>
      <p:cxnSp>
        <p:nvCxnSpPr>
          <p:cNvPr id="100045" name="S03.Pause.SyncLeft"/>
          <p:cNvCxnSpPr>
            <a:stCxn id="100042" idx="0"/>
            <a:endCxn id="100043" idx="0"/>
          </p:cNvCxnSpPr>
          <p:nvPr/>
        </p:nvCxnSpPr>
        <p:spPr>
          <a:xfrm flipH="1">
            <a:off x="6679692" y="1874049"/>
            <a:ext cx="512064" cy="539967"/>
          </a:xfrm>
          <a:prstGeom prst="straightConnector1">
            <a:avLst/>
          </a:prstGeom>
          <a:ln w="25400">
            <a:solidFill>
              <a:srgbClr val="DF973E"/>
            </a:solidFill>
          </a:ln>
        </p:spPr>
      </p:cxnSp>
      <p:cxnSp>
        <p:nvCxnSpPr>
          <p:cNvPr id="100046" name="S03.Pause.SyncRight"/>
          <p:cNvCxnSpPr>
            <a:stCxn id="100042" idx="0"/>
            <a:endCxn id="100044" idx="0"/>
          </p:cNvCxnSpPr>
          <p:nvPr/>
        </p:nvCxnSpPr>
        <p:spPr>
          <a:xfrm>
            <a:off x="7191756" y="1874049"/>
            <a:ext cx="512064" cy="539967"/>
          </a:xfrm>
          <a:prstGeom prst="straightConnector1">
            <a:avLst/>
          </a:prstGeom>
          <a:ln w="25400">
            <a:solidFill>
              <a:srgbClr val="DF973E"/>
            </a:solidFill>
          </a:ln>
        </p:spPr>
      </p:cxnSp>
      <p:cxnSp>
        <p:nvCxnSpPr>
          <p:cNvPr id="100047" name="S03.Pause.SyncBottom"/>
          <p:cNvCxnSpPr>
            <a:stCxn id="100043" idx="0"/>
            <a:endCxn id="100044" idx="0"/>
          </p:cNvCxnSpPr>
          <p:nvPr/>
        </p:nvCxnSpPr>
        <p:spPr>
          <a:xfrm>
            <a:off x="6949440" y="2674384"/>
            <a:ext cx="484632" cy="0"/>
          </a:xfrm>
          <a:prstGeom prst="straightConnector1">
            <a:avLst/>
          </a:prstGeom>
          <a:ln w="25400">
            <a:solidFill>
              <a:srgbClr val="DF973E"/>
            </a:solidFill>
          </a:ln>
        </p:spPr>
      </p:cxnSp>
      <p:pic>
        <p:nvPicPr>
          <p:cNvPr id="100048" name="S03.Pause.Symbol" descr="Coordinated pause"/>
          <p:cNvPicPr>
            <a:picLocks noChangeAspect="1"/>
          </p:cNvPicPr>
          <p:nvPr/>
        </p:nvPicPr>
        <p:blipFill>
          <a:blip xmlns:r="http://schemas.openxmlformats.org/officeDocument/2006/relationships" r:embed="R6955b8f66e414855"/>
          <a:srcRect l="11164" t="11323" r="10765" b="10606"/>
          <a:stretch>
            <a:fillRect/>
          </a:stretch>
        </p:blipFill>
        <p:spPr>
          <a:xfrm>
            <a:off x="6967728" y="1956816"/>
            <a:ext cx="448056" cy="448056"/>
          </a:xfrm>
          <a:prstGeom prst="rect">
            <a:avLst/>
          </a:prstGeom>
        </p:spPr>
      </p:pic>
      <p:sp>
        <p:nvSpPr>
          <p:cNvPr id="100049" name="S03.Pause.Label"/>
          <p:cNvSpPr txBox="1"/>
          <p:nvPr/>
        </p:nvSpPr>
        <p:spPr>
          <a:xfrm>
            <a:off x="6373368" y="30632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300">
                <a:solidFill>
                  <a:srgbClr val="183B56"/>
                </a:solidFill>
                <a:latin typeface="Arial"/>
                <a:ea typeface="Arial"/>
              </a:rPr>
              <a:t>Same DUT cycle n</a:t>
            </a:r>
          </a:p>
        </p:txBody>
      </p:sp>
      <p:pic>
        <p:nvPicPr>
          <p:cNvPr id="100050" name="S03.State.FPGA1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7a425e0eacc041c0"/>
          <a:srcRect l="21371" t="23684" r="21291" b="20972"/>
          <a:stretch>
            <a:fillRect/>
          </a:stretch>
        </p:blipFill>
        <p:spPr>
          <a:xfrm>
            <a:off x="484632" y="4251960"/>
            <a:ext cx="502920" cy="485433"/>
          </a:xfrm>
          <a:prstGeom prst="rect">
            <a:avLst/>
          </a:prstGeom>
        </p:spPr>
      </p:pic>
      <p:pic>
        <p:nvPicPr>
          <p:cNvPr id="100051" name="S03.State.FPGA2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8403f77eda794ddf"/>
          <a:srcRect l="21371" t="23684" r="21291" b="20972"/>
          <a:stretch>
            <a:fillRect/>
          </a:stretch>
        </p:blipFill>
        <p:spPr>
          <a:xfrm>
            <a:off x="1106424" y="4251960"/>
            <a:ext cx="502920" cy="485433"/>
          </a:xfrm>
          <a:prstGeom prst="rect">
            <a:avLst/>
          </a:prstGeom>
        </p:spPr>
      </p:pic>
      <p:pic>
        <p:nvPicPr>
          <p:cNvPr id="100052" name="S03.State.FPGA3" descr="FPGA chip"/>
          <p:cNvPicPr>
            <a:picLocks noChangeAspect="1"/>
          </p:cNvPicPr>
          <p:nvPr/>
        </p:nvPicPr>
        <p:blipFill>
          <a:blip xmlns:r="http://schemas.openxmlformats.org/officeDocument/2006/relationships" r:embed="R9dc06439b26547b7"/>
          <a:srcRect l="21371" t="23684" r="21291" b="20972"/>
          <a:stretch>
            <a:fillRect/>
          </a:stretch>
        </p:blipFill>
        <p:spPr>
          <a:xfrm>
            <a:off x="1728216" y="4251960"/>
            <a:ext cx="502920" cy="485433"/>
          </a:xfrm>
          <a:prstGeom prst="rect">
            <a:avLst/>
          </a:prstGeom>
        </p:spPr>
      </p:pic>
      <p:sp>
        <p:nvSpPr>
          <p:cNvPr id="100053" name="S03.State.LocalLabel"/>
          <p:cNvSpPr txBox="1"/>
          <p:nvPr/>
        </p:nvSpPr>
        <p:spPr>
          <a:xfrm>
            <a:off x="475488" y="3886200"/>
            <a:ext cx="1773936" cy="246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400">
                <a:solidFill>
                  <a:srgbClr val="183B56"/>
                </a:solidFill>
                <a:latin typeface="Arial"/>
                <a:ea typeface="Arial"/>
              </a:rPr>
              <a:t>Local states</a:t>
            </a:r>
          </a:p>
        </p:txBody>
      </p:sp>
      <p:pic>
        <p:nvPicPr>
          <p:cNvPr id="100054" name="S03.State.Snapshot" descr="Global snapshot"/>
          <p:cNvPicPr>
            <a:picLocks noChangeAspect="1"/>
          </p:cNvPicPr>
          <p:nvPr/>
        </p:nvPicPr>
        <p:blipFill>
          <a:blip xmlns:r="http://schemas.openxmlformats.org/officeDocument/2006/relationships" r:embed="R00287ad319ca416b"/>
          <a:srcRect l="16746" t="16427" r="16746" b="11961"/>
          <a:stretch>
            <a:fillRect/>
          </a:stretch>
        </p:blipFill>
        <p:spPr>
          <a:xfrm>
            <a:off x="1129284" y="5193792"/>
            <a:ext cx="457200" cy="492285"/>
          </a:xfrm>
          <a:prstGeom prst="rect">
            <a:avLst/>
          </a:prstGeom>
        </p:spPr>
      </p:pic>
      <p:cxnSp>
        <p:nvCxnSpPr>
          <p:cNvPr id="100055" name="S03.State.Drop1"/>
          <p:cNvCxnSpPr/>
          <p:nvPr/>
        </p:nvCxnSpPr>
        <p:spPr>
          <a:xfrm>
            <a:off x="736092" y="4736592"/>
            <a:ext cx="0" cy="320040"/>
          </a:xfrm>
          <a:prstGeom prst="straightConnector1">
            <a:avLst/>
          </a:prstGeom>
          <a:ln w="25400">
            <a:solidFill>
              <a:srgbClr val="008C95"/>
            </a:solidFill>
          </a:ln>
        </p:spPr>
      </p:cxnSp>
      <p:cxnSp>
        <p:nvCxnSpPr>
          <p:cNvPr id="100056" name="S03.State.Drop2"/>
          <p:cNvCxnSpPr/>
          <p:nvPr/>
        </p:nvCxnSpPr>
        <p:spPr>
          <a:xfrm>
            <a:off x="1357884" y="4736592"/>
            <a:ext cx="0" cy="320040"/>
          </a:xfrm>
          <a:prstGeom prst="straightConnector1">
            <a:avLst/>
          </a:prstGeom>
          <a:ln w="25400">
            <a:solidFill>
              <a:srgbClr val="008C95"/>
            </a:solidFill>
          </a:ln>
        </p:spPr>
      </p:cxnSp>
      <p:cxnSp>
        <p:nvCxnSpPr>
          <p:cNvPr id="100057" name="S03.State.Drop3"/>
          <p:cNvCxnSpPr/>
          <p:nvPr/>
        </p:nvCxnSpPr>
        <p:spPr>
          <a:xfrm>
            <a:off x="1979676" y="4736592"/>
            <a:ext cx="0" cy="320040"/>
          </a:xfrm>
          <a:prstGeom prst="straightConnector1">
            <a:avLst/>
          </a:prstGeom>
          <a:ln w="25400">
            <a:solidFill>
              <a:srgbClr val="008C95"/>
            </a:solidFill>
          </a:ln>
        </p:spPr>
      </p:cxnSp>
      <p:cxnSp>
        <p:nvCxnSpPr>
          <p:cNvPr id="100058" name="S03.State.Bus"/>
          <p:cNvCxnSpPr/>
          <p:nvPr/>
        </p:nvCxnSpPr>
        <p:spPr>
          <a:xfrm>
            <a:off x="736092" y="5056632"/>
            <a:ext cx="1243584" cy="0"/>
          </a:xfrm>
          <a:prstGeom prst="straightConnector1">
            <a:avLst/>
          </a:prstGeom>
          <a:ln w="25400">
            <a:solidFill>
              <a:srgbClr val="008C95"/>
            </a:solidFill>
          </a:ln>
        </p:spPr>
      </p:cxnSp>
      <p:cxnSp>
        <p:nvCxnSpPr>
          <p:cNvPr id="100059" name="S03.State.Aggregate"/>
          <p:cNvCxnSpPr/>
          <p:nvPr/>
        </p:nvCxnSpPr>
        <p:spPr>
          <a:xfrm>
            <a:off x="1357884" y="5056632"/>
            <a:ext cx="0" cy="137160"/>
          </a:xfrm>
          <a:prstGeom prst="straightConnector1">
            <a:avLst/>
          </a:prstGeom>
          <a:ln w="25400">
            <a:solidFill>
              <a:srgbClr val="008C95"/>
            </a:solidFill>
            <a:tailEnd type="triangle"/>
          </a:ln>
        </p:spPr>
      </p:cxnSp>
      <p:sp>
        <p:nvSpPr>
          <p:cNvPr id="100060" name="S03.State.GlobalLabel"/>
          <p:cNvSpPr txBox="1"/>
          <p:nvPr/>
        </p:nvSpPr>
        <p:spPr>
          <a:xfrm>
            <a:off x="475488" y="5760720"/>
            <a:ext cx="1773936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300">
                <a:solidFill>
                  <a:srgbClr val="183B56"/>
                </a:solidFill>
                <a:latin typeface="Arial"/>
                <a:ea typeface="Arial"/>
              </a:rPr>
              <a:t>Global snapshot</a:t>
            </a:r>
          </a:p>
        </p:txBody>
      </p:sp>
      <p:pic>
        <p:nvPicPr>
          <p:cNvPr id="100061" name="S03.Partition.Circuit" descr="Circuit partitioning"/>
          <p:cNvPicPr>
            <a:picLocks noChangeAspect="1"/>
          </p:cNvPicPr>
          <p:nvPr/>
        </p:nvPicPr>
        <p:blipFill>
          <a:blip xmlns:r="http://schemas.openxmlformats.org/officeDocument/2006/relationships" r:embed="Rf5f4bc39c17343aa"/>
          <a:srcRect l="15869" t="18660" r="15789" b="18660"/>
          <a:stretch>
            <a:fillRect/>
          </a:stretch>
        </p:blipFill>
        <p:spPr>
          <a:xfrm>
            <a:off x="6455664" y="4288536"/>
            <a:ext cx="1481328" cy="1358605"/>
          </a:xfrm>
          <a:prstGeom prst="rect">
            <a:avLst/>
          </a:prstGeom>
        </p:spPr>
      </p:pic>
      <p:sp>
        <p:nvSpPr>
          <p:cNvPr id="100062" name="S03.Partition.Label"/>
          <p:cNvSpPr txBox="1"/>
          <p:nvPr/>
        </p:nvSpPr>
        <p:spPr>
          <a:xfrm>
            <a:off x="6373368" y="5852160"/>
            <a:ext cx="1682496" cy="2468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300">
                <a:solidFill>
                  <a:srgbClr val="183B56"/>
                </a:solidFill>
                <a:latin typeface="Arial"/>
                <a:ea typeface="Arial"/>
              </a:rPr>
              <a:t>Partitioned design</a:t>
            </a:r>
          </a:p>
        </p:txBody>
      </p:sp>
      <p:sp>
        <p:nvSpPr>
          <p:cNvPr id="100063" name="S03.Takeaway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800" b="1">
                <a:solidFill>
                  <a:srgbClr val="183B56"/>
                </a:solidFill>
                <a:latin typeface="Arial"/>
                <a:ea typeface="Arial"/>
              </a:rPr>
              <a:t>Replayable emulation requires scalable deployment and globally coordinated debugging.</a:t>
            </a:r>
          </a:p>
        </p:txBody>
      </p:sp>
      <p:sp>
        <p:nvSpPr>
          <p:cNvPr id="100064" name="S03.PageNumber"/>
          <p:cNvSpPr txBox="1"/>
          <p:nvPr/>
        </p:nvSpPr>
        <p:spPr>
          <a:xfrm>
            <a:off x="11631168" y="66294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/>
            <a:r>
              <a:rPr lang="en-US" sz="1000">
                <a:solidFill>
                  <a:srgbClr val="607184"/>
                </a:solidFill>
                <a:latin typeface="Arial"/>
                <a:ea typeface="Arial"/>
              </a:rPr>
              <a:t>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B56"/>
      </a:accent1>
      <a:accent2>
        <a:srgbClr val="008C95"/>
      </a:accent2>
      <a:accent3>
        <a:srgbClr val="DF973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OfficeCLI/1.0.156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2026-10-29T02:08:09.0000000Z</dcterms:created>
  <lastModifiedBy>OfficeCLI</lastModifiedBy>
  <dcterms:modified xsi:type="dcterms:W3CDTF">2026-10-29T02:08:10.0674103Z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2026-10-29T02:08:12Z</vt:lpwstr>
  </op:property>
</op:Properties>
</file>