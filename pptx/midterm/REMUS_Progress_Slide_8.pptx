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0da4ea3aff614a06" /><Relationship Type="http://schemas.openxmlformats.org/package/2006/relationships/metadata/core-properties" Target="/docProps/core.xml" Id="Raba9129f1324474b" /><Relationship Type="http://schemas.openxmlformats.org/officeDocument/2006/relationships/extended-properties" Target="/docProps/app.xml" Id="R7a4fbf8828da480d" /><Relationship Type="http://schemas.openxmlformats.org/officeDocument/2006/relationships/custom-properties" Target="/docProps/custom.xml" Id="R614c11c0bca741b2"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56ef24ee53dd40db"/>
  </p:notesMasterIdLst>
  <p:sldIdLst>
    <p:sldId id="256" r:id="R01d6c9e1f2dd4107"/>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01d6c9e1f2dd4107" /><Relationship Type="http://schemas.openxmlformats.org/officeDocument/2006/relationships/notesMaster" Target="/ppt/notesMasters/notesMaster1.xml" Id="R56ef24ee53dd40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83f512cc5e7a47cd"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efedf9217a18419a" /><Relationship Type="http://schemas.openxmlformats.org/officeDocument/2006/relationships/slide" Target="/ppt/slides/slide1.xml" Id="Ra07486afd30b4fe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implements adaptive RTL granularity selection, weighted hypergraph partitioning using KaHyPar, and path-cut analysis for LI-TDM configuration. The author's revised slide reports graph size around one tenth of the netlist-level baseline, with no significant change in cut-size and path-cut number. These are author-reported comparisons; this slide synchronization does not independently validate the baseline runs. Confirm matched DUTs, configurations and graph-size definitions when finalizing the experimental record. The main chart uses archived KMH two-Part Vivado 2024.2 synthesis results: Part 0 LUT/FF/BRAM utilization 73.18/17.66/14.31 percent; Part 1 75.77/8.17/0.00 percent. BRAM counts are 288.5 and 0 tiles. URAM is 13 versus 0, omitted from the plot for focus. The scope is role_i/ClockResetCore_0/emu_system, including inserted infrastructure; not pure DUT, full board consumption, or post-route utilization. The denominator is whole-device capacity, not the remaining Part budget. The observed resource asymmetry does not isolate adaptive granularity or scalar weights as its sole cause. Constraints, module grouping and synthesis mapping may also matter. Exact build matching between partition summaries and synthesis reports remains to be completed, so no estimation-error or baseline-gain inference is made from their combination. Sources: experiments/synthesis-utilization.md (3.2); src/midterm/progress/partitioning.tex; src/midterm/problems.tex.</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ec6165c4a548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f361d7ec2884de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de90b65cc749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d743890ef64d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67a7f6cea3f4c0b"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6acf2c14d49d43db"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1018d95ddd35492f" /><Relationship Type="http://schemas.openxmlformats.org/officeDocument/2006/relationships/chart" Target="/ppt/slides/charts/chart1.xml" Id="R8eeb2f2b5517482c" /><Relationship Type="http://schemas.openxmlformats.org/officeDocument/2006/relationships/notesSlide" Target="/ppt/notesSlides/notesSlide1.xml" Id="Re04cf8307c8e4983" /></Relationships>
</file>

<file path=ppt/slides/charts/chart1.xml><?xml version="1.0" encoding="utf-8"?>
<c:chartSpace xmlns:c="http://schemas.openxmlformats.org/drawingml/2006/chart">
  <c:date1904 val="0"/>
  <c:roundedCorners val="1"/>
  <c:style val="2"/>
  <c:chart>
    <c:autoTitleDeleted val="1"/>
    <c:plotArea>
      <c:layout/>
      <c:barChart>
        <c:barDir val="col"/>
        <c:grouping val="clustered"/>
        <c:varyColors val="0"/>
        <c:ser>
          <c:idx val="0"/>
          <c:order val="0"/>
          <c:tx>
            <c:v>Part 0</c:v>
          </c:tx>
          <c:spPr>
            <a:solidFill xmlns:a="http://schemas.openxmlformats.org/drawingml/2006/main">
              <a:srgbClr val="183B56"/>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20354A"/>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73.18</c:v>
              </c:pt>
              <c:pt idx="1">
                <c:v>17.66</c:v>
              </c:pt>
              <c:pt idx="2">
                <c:v>14.31</c:v>
              </c:pt>
            </c:numLit>
          </c:val>
        </c:ser>
        <c:ser>
          <c:idx val="1"/>
          <c:order val="1"/>
          <c:tx>
            <c:v>Part 1</c:v>
          </c:tx>
          <c:spPr>
            <a:solidFill xmlns:a="http://schemas.openxmlformats.org/drawingml/2006/main">
              <a:srgbClr val="008C95"/>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20354A"/>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75.77</c:v>
              </c:pt>
              <c:pt idx="1">
                <c:v>8.17</c:v>
              </c:pt>
              <c:pt idx="2">
                <c:v>0</c:v>
              </c:pt>
            </c:numLit>
          </c:val>
        </c:ser>
        <c:dLbls>
          <c:dLblPos val="outEnd"/>
          <c:showLegendKey val="0"/>
          <c:showVal val="1"/>
          <c:showCatName val="0"/>
          <c:showSerName val="0"/>
          <c:showPercent val="0"/>
          <c:showBubbleSize val="1"/>
        </c:dLbls>
        <c:gapWidth val="90"/>
        <c:overlap val="-15"/>
        <c:axId val="1"/>
        <c:axId val="2"/>
      </c:barChart>
      <c:catAx>
        <c:axId val="1"/>
        <c:scaling>
          <c:orientation val="minMax"/>
        </c:scaling>
        <c:delete val="0"/>
        <c:axPos val="b"/>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20354A"/>
                </a:solidFill>
                <a:latin typeface="Arial"/>
                <a:ea typeface="Arial"/>
              </a:defRPr>
            </a:pPr>
            <a:endParaRPr lang="en-CN"/>
          </a:p>
        </c:txPr>
        <c:crossAx val="2"/>
        <c:crosses val="autoZero"/>
        <c:auto val="1"/>
        <c:lblAlgn val="ctr"/>
        <c:lblOffset val="100"/>
      </c:catAx>
      <c:valAx>
        <c:axId val="2"/>
        <c:scaling>
          <c:orientation val="minMax"/>
          <c:max val="90"/>
          <c:min val="0"/>
        </c:scaling>
        <c:delete val="0"/>
        <c:axPos val="l"/>
        <c:majorGridlines>
          <c:spPr xmlns:c="http://schemas.openxmlformats.org/drawingml/2006/chart">
            <a:ln xmlns:a="http://schemas.openxmlformats.org/drawingml/2006/main" w="6350">
              <a:solidFill>
                <a:srgbClr val="DDE5EA"/>
              </a:solidFill>
            </a:ln>
          </c:spPr>
        </c:majorGridlines>
        <c:numFmt formatCode="0" sourceLinked="0"/>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20354A"/>
                </a:solidFill>
                <a:latin typeface="Arial"/>
                <a:ea typeface="Arial"/>
              </a:defRPr>
            </a:pPr>
            <a:endParaRPr lang="en-CN"/>
          </a:p>
        </c:txPr>
        <c:crossAx val="1"/>
        <c:crosses val="autoZero"/>
        <c:crossBetween val="between"/>
        <c:majorUnit val="20"/>
      </c:valAx>
      <c:spPr>
        <a:solidFill xmlns:a="http://schemas.openxmlformats.org/drawingml/2006/main">
          <a:srgbClr val="FFFFFF"/>
        </a:solidFill>
      </c:spPr>
    </c:plotArea>
    <c:legend>
      <c:legendPos val="t"/>
      <c:overlay val="0"/>
      <c:txPr>
        <a:bodyPr xmlns:a="http://schemas.openxmlformats.org/drawingml/2006/main"/>
        <a:lstStyle xmlns:a="http://schemas.openxmlformats.org/drawingml/2006/main"/>
        <a:p xmlns:a="http://schemas.openxmlformats.org/drawingml/2006/main">
          <a:pPr>
            <a:defRPr sz="1500">
              <a:solidFill>
                <a:srgbClr val="20354A"/>
              </a:solidFill>
              <a:latin typeface="Arial"/>
              <a:ea typeface="Arial"/>
            </a:defRPr>
          </a:pPr>
        </a:p>
      </c:txPr>
    </c:legend>
    <c:plotVisOnly val="1"/>
    <c:dispBlanksAs val="gap"/>
  </c:chart>
  <c:spPr>
    <a:solidFill xmlns:a="http://schemas.openxmlformats.org/drawingml/2006/main">
      <a:srgbClr val="FFFFFF"/>
    </a:solidFill>
  </c:spPr>
</c:chartSpace>
</file>

<file path=ppt/slides/slide1.xml><?xml version="1.0" encoding="utf-8"?>
<p:sld xmlns:a="http://schemas.openxmlformats.org/drawingml/2006/main" xmlns:r="http://schemas.openxmlformats.org/officeDocument/2006/relationships" xmlns:c="http://schemas.openxmlformats.org/drawingml/2006/chart" xmlns:p="http://schemas.openxmlformats.org/presentationml/2006/main">
  <p:cSld xmlns:a="http://schemas.openxmlformats.org/drawingml/2006/main" xmlns:p="http://schemas.openxmlformats.org/presentationml/2006/main" xmlns:r="http://schemas.openxmlformats.org/officeDocument/2006/relationships" xmlns:c="http://schemas.openxmlformats.org/drawingml/2006/chart">
    <p:bg>
      <p:bgPr>
        <a:solidFill xmlns:a="http://schemas.openxmlformats.org/drawingml/2006/main">
          <a:srgbClr val="FFFFFF"/>
        </a:solidFill>
      </p:bgPr>
    </p:bg>
    <p:spTree>
      <p:nvGrpSpPr>
        <p:cNvPr id="1" name=""/>
        <p:cNvGrpSpPr/>
        <p:nvPr/>
      </p:nvGrpSpPr>
      <p:grpSpPr/>
      <p:sp>
        <p:nvSpPr>
          <p:cNvPr id="2" name="S08.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lang="en-US" sz="3000" b="1">
                <a:solidFill>
                  <a:srgbClr val="183B56"/>
                </a:solidFill>
              </a:rPr>
              <a:t xml:space="preserve">Progress3: Automated </a:t>
            </a:r>
            <a:r>
              <a:rPr lang="en-US" sz="3000" b="1">
                <a:solidFill>
                  <a:srgbClr val="183B56"/>
                </a:solidFill>
                <a:latin typeface="Arial"/>
              </a:rPr>
              <a:t>Multi-FPGA Circuit Partitioning</a:t>
            </a:r>
          </a:p>
        </p:txBody>
      </p:sp>
      <p:sp>
        <p:nvSpPr>
          <p:cNvPr id="100000" name="S08.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8.Method.Heading"/>
          <p:cNvSpPr txBox="1"/>
          <p:nvPr/>
        </p:nvSpPr>
        <p:spPr>
          <a:xfrm>
            <a:off x="365760" y="1097280"/>
            <a:ext cx="3611880" cy="457200"/>
          </a:xfrm>
          <a:prstGeom prst="rect">
            <a:avLst/>
          </a:prstGeom>
          <a:noFill/>
          <a:ln>
            <a:noFill/>
          </a:ln>
        </p:spPr>
        <p:txBody>
          <a:bodyPr lIns="0" tIns="0" rIns="0" bIns="0">
            <a:noAutofit/>
          </a:bodyPr>
          <a:lstStyle/>
          <a:p>
            <a:r>
              <a:rPr lang="en-US" sz="2200" b="1">
                <a:solidFill>
                  <a:srgbClr val="183B56"/>
                </a:solidFill>
                <a:latin typeface="Arial"/>
                <a:ea typeface="Arial"/>
              </a:rPr>
              <a:t>Automated Partitioning</a:t>
            </a:r>
          </a:p>
        </p:txBody>
      </p:sp>
      <p:sp>
        <p:nvSpPr>
          <p:cNvPr id="100002" name="S08.Method.Number1"/>
          <p:cNvSpPr/>
          <p:nvPr/>
        </p:nvSpPr>
        <p:spPr>
          <a:xfrm>
            <a:off x="384048" y="1865376"/>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3" name="S08.Method.Text1"/>
          <p:cNvSpPr txBox="1"/>
          <p:nvPr/>
        </p:nvSpPr>
        <p:spPr>
          <a:xfrm>
            <a:off x="841248" y="1828800"/>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Adaptive-granularity</a:t>
            </a:r>
          </a:p>
          <a:p>
            <a:r>
              <a:rPr lang="en-US" sz="1900">
                <a:solidFill>
                  <a:srgbClr val="20354A"/>
                </a:solidFill>
                <a:latin typeface="Arial"/>
                <a:ea typeface="Arial"/>
              </a:rPr>
              <a:t>RTL partitioning</a:t>
            </a:r>
          </a:p>
        </p:txBody>
      </p:sp>
      <p:sp>
        <p:nvSpPr>
          <p:cNvPr id="100004" name="S08.Method.Number2"/>
          <p:cNvSpPr/>
          <p:nvPr/>
        </p:nvSpPr>
        <p:spPr>
          <a:xfrm>
            <a:off x="384048" y="2798064"/>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05" name="S08.Method.Text2"/>
          <p:cNvSpPr txBox="1"/>
          <p:nvPr/>
        </p:nvSpPr>
        <p:spPr>
          <a:xfrm>
            <a:off x="841248" y="2761488"/>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KaHyPar-based</a:t>
            </a:r>
          </a:p>
          <a:p>
            <a:r>
              <a:rPr lang="en-US" sz="1900">
                <a:solidFill>
                  <a:srgbClr val="20354A"/>
                </a:solidFill>
                <a:latin typeface="Arial"/>
                <a:ea typeface="Arial"/>
              </a:rPr>
              <a:t>hypergraph partitioning</a:t>
            </a:r>
          </a:p>
        </p:txBody>
      </p:sp>
      <p:sp>
        <p:nvSpPr>
          <p:cNvPr id="100006" name="S08.Method.Number3"/>
          <p:cNvSpPr/>
          <p:nvPr/>
        </p:nvSpPr>
        <p:spPr>
          <a:xfrm>
            <a:off x="384048" y="3730752"/>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07" name="S08.Method.Text3"/>
          <p:cNvSpPr txBox="1"/>
          <p:nvPr/>
        </p:nvSpPr>
        <p:spPr>
          <a:xfrm>
            <a:off x="841248" y="3694176"/>
            <a:ext cx="3063240" cy="713232"/>
          </a:xfrm>
          <a:prstGeom prst="rect">
            <a:avLst/>
          </a:prstGeom>
          <a:noFill/>
          <a:ln>
            <a:noFill/>
          </a:ln>
        </p:spPr>
        <p:txBody>
          <a:bodyPr lIns="0" tIns="0" rIns="0" bIns="0">
            <a:noAutofit/>
          </a:bodyPr>
          <a:lstStyle/>
          <a:p>
            <a:pPr algn="l">
              <a:defRPr sz="1900" b="0">
                <a:solidFill>
                  <a:srgbClr val="20354A"/>
                </a:solidFill>
                <a:latin typeface="Arial"/>
                <a:ea typeface="Arial"/>
              </a:defRPr>
            </a:pPr>
            <a:r>
              <a:rPr sz="1900">
                <a:solidFill>
                  <a:srgbClr val="20354A"/>
                </a:solidFill>
                <a:latin typeface="Arial"/>
              </a:rPr>
              <a:t>Path-cut number analysis</a:t>
            </a:r>
          </a:p>
          <a:p>
            <a:r>
              <a:rPr lang="en-US" sz="1900">
                <a:solidFill>
                  <a:srgbClr val="20354A"/>
                </a:solidFill>
                <a:latin typeface="Arial"/>
              </a:rPr>
              <a:t>for LI-TDM</a:t>
            </a:r>
          </a:p>
        </p:txBody>
      </p:sp>
      <p:sp>
        <p:nvSpPr>
          <p:cNvPr id="100008" name="S08.Efficiency.Status"/>
          <p:cNvSpPr txBox="1"/>
          <p:nvPr/>
        </p:nvSpPr>
        <p:spPr>
          <a:xfrm>
            <a:off x="365760" y="4732020"/>
            <a:ext cx="3950208" cy="2386232"/>
          </a:xfrm>
          <a:prstGeom prst="rect">
            <a:avLst/>
          </a:prstGeom>
          <a:noFill/>
          <a:ln>
            <a:noFill/>
          </a:ln>
        </p:spPr>
        <p:txBody>
          <a:bodyPr lIns="0" tIns="0" rIns="0" bIns="0">
            <a:noAutofit/>
          </a:bodyPr>
          <a:lstStyle/>
          <a:p>
            <a:pPr algn="l">
              <a:defRPr sz="1800" b="0">
                <a:solidFill>
                  <a:srgbClr val="183B56"/>
                </a:solidFill>
                <a:latin typeface="Arial"/>
                <a:ea typeface="Arial"/>
              </a:defRPr>
            </a:pPr>
            <a:r>
              <a:rPr sz="2200" b="1">
                <a:solidFill>
                  <a:srgbClr val="183B56"/>
                </a:solidFill>
                <a:latin typeface="Arial"/>
              </a:rPr>
              <a:t>Experimental Results:</a:t>
            </a:r>
          </a:p>
          <a:p>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183B56"/>
                </a:solidFill>
              </a:rPr>
              <a:t xml:space="preserve">The hypergraph size was reduced to </a:t>
            </a:r>
            <a:r>
              <a:rPr lang="en-US">
                <a:solidFill>
                  <a:srgbClr val="183B56"/>
                </a:solidFill>
              </a:rPr>
              <a:t>1/10</a:t>
            </a:r>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183B56"/>
                </a:solidFill>
              </a:rPr>
              <a:t>No significant change in the</a:t>
            </a:r>
            <a:r>
              <a:rPr lang="en-US">
                <a:solidFill>
                  <a:srgbClr val="183B56"/>
                </a:solidFill>
              </a:rPr>
              <a:t xml:space="preserve"> </a:t>
            </a:r>
            <a:r>
              <a:rPr lang="en-US">
                <a:solidFill>
                  <a:srgbClr val="183B56"/>
                </a:solidFill>
              </a:rPr>
              <a:t>c</a:t>
            </a:r>
            <a:r>
              <a:rPr lang="en-US">
                <a:solidFill>
                  <a:srgbClr val="183B56"/>
                </a:solidFill>
              </a:rPr>
              <a:t>ut</a:t>
            </a:r>
            <a:r>
              <a:rPr lang="en-US">
                <a:solidFill>
                  <a:srgbClr val="183B56"/>
                </a:solidFill>
              </a:rPr>
              <a:t>-</a:t>
            </a:r>
            <a:r>
              <a:rPr lang="en-US">
                <a:solidFill>
                  <a:srgbClr val="183B56"/>
                </a:solidFill>
              </a:rPr>
              <a:t>size and path</a:t>
            </a:r>
            <a:r>
              <a:rPr lang="en-US">
                <a:solidFill>
                  <a:srgbClr val="183B56"/>
                </a:solidFill>
              </a:rPr>
              <a:t>-</a:t>
            </a:r>
            <a:r>
              <a:rPr lang="en-US">
                <a:solidFill>
                  <a:srgbClr val="183B56"/>
                </a:solidFill>
              </a:rPr>
              <a:t>cut</a:t>
            </a:r>
            <a:r>
              <a:rPr lang="en-US">
                <a:solidFill>
                  <a:srgbClr val="183B56"/>
                </a:solidFill>
              </a:rPr>
              <a:t xml:space="preserve"> </a:t>
            </a:r>
            <a:r>
              <a:rPr lang="en-US">
                <a:solidFill>
                  <a:srgbClr val="183B56"/>
                </a:solidFill>
              </a:rPr>
              <a:t>number</a:t>
            </a:r>
            <a:endParaRPr lang="en-US"/>
          </a:p>
          <a:p>
            <a:endParaRPr lang="en-US"/>
          </a:p>
        </p:txBody>
      </p:sp>
      <p:sp>
        <p:nvSpPr>
          <p:cNvPr id="100010" name="S08.Results.Heading"/>
          <p:cNvSpPr txBox="1"/>
          <p:nvPr/>
        </p:nvSpPr>
        <p:spPr>
          <a:xfrm>
            <a:off x="4370832" y="1097280"/>
            <a:ext cx="7479792" cy="457200"/>
          </a:xfrm>
          <a:prstGeom prst="rect">
            <a:avLst/>
          </a:prstGeom>
          <a:noFill/>
          <a:ln>
            <a:noFill/>
          </a:ln>
        </p:spPr>
        <p:txBody>
          <a:bodyPr lIns="0" tIns="0" rIns="0" bIns="0">
            <a:noAutofit/>
          </a:bodyPr>
          <a:lstStyle/>
          <a:p>
            <a:r>
              <a:rPr lang="en-US" sz="2200" b="1">
                <a:solidFill>
                  <a:srgbClr val="183B56"/>
                </a:solidFill>
                <a:latin typeface="Arial"/>
                <a:ea typeface="Arial"/>
              </a:rPr>
              <a:t>Post-Synthesis Resource Utilization</a:t>
            </a:r>
          </a:p>
        </p:txBody>
      </p:sp>
      <p:sp>
        <p:nvSpPr>
          <p:cNvPr id="100011" name="S08.Results.Context"/>
          <p:cNvSpPr txBox="1"/>
          <p:nvPr/>
        </p:nvSpPr>
        <p:spPr>
          <a:xfrm>
            <a:off x="4370832" y="1609344"/>
            <a:ext cx="7479792" cy="320040"/>
          </a:xfrm>
          <a:prstGeom prst="rect">
            <a:avLst/>
          </a:prstGeom>
          <a:noFill/>
          <a:ln>
            <a:noFill/>
          </a:ln>
        </p:spPr>
        <p:txBody>
          <a:bodyPr lIns="0" tIns="0" rIns="0" bIns="0">
            <a:noAutofit/>
          </a:bodyPr>
          <a:lstStyle/>
          <a:p>
            <a:pPr algn="l">
              <a:defRPr sz="1800" b="0">
                <a:solidFill>
                  <a:srgbClr val="183B56"/>
                </a:solidFill>
                <a:latin typeface="Arial"/>
                <a:ea typeface="Arial"/>
              </a:defRPr>
            </a:pPr>
            <a:r>
              <a:rPr>
                <a:solidFill>
                  <a:srgbClr val="183B56"/>
                </a:solidFill>
                <a:latin typeface="Arial"/>
              </a:rPr>
              <a:t>KMH · Two partitions · Utilization (%)</a:t>
            </a:r>
          </a:p>
        </p:txBody>
      </p:sp>
      <p:graphicFrame>
        <p:nvGraphicFramePr>
          <p:cNvPr id="100012" name="S08.Resources.Chart"/>
          <p:cNvGraphicFramePr/>
          <p:nvPr/>
        </p:nvGraphicFramePr>
        <p:xfrm>
          <a:off x="4315968" y="1993392"/>
          <a:ext cx="7543800" cy="3474720"/>
        </p:xfrm>
        <a:graphic>
          <a:graphicData uri="http://schemas.openxmlformats.org/drawingml/2006/chart">
            <c:chart xmlns:r="http://schemas.openxmlformats.org/officeDocument/2006/relationships" xmlns:c="http://schemas.openxmlformats.org/drawingml/2006/chart" r:id="R8eeb2f2b5517482c"/>
          </a:graphicData>
        </a:graphic>
      </p:graphicFrame>
      <p:sp>
        <p:nvSpPr>
          <p:cNvPr id="100013" name="S08.Results.Observation"/>
          <p:cNvSpPr txBox="1"/>
          <p:nvPr/>
        </p:nvSpPr>
        <p:spPr>
          <a:xfrm>
            <a:off x="5285232" y="5760720"/>
            <a:ext cx="7479792" cy="594360"/>
          </a:xfrm>
          <a:prstGeom prst="rect">
            <a:avLst/>
          </a:prstGeom>
          <a:noFill/>
          <a:ln>
            <a:noFill/>
          </a:ln>
        </p:spPr>
        <p:txBody>
          <a:bodyPr lIns="0" tIns="0" rIns="0" bIns="0">
            <a:noAutofit/>
          </a:bodyPr>
          <a:lstStyle/>
          <a:p>
            <a:r>
              <a:rPr lang="en-US" sz="2000">
                <a:solidFill>
                  <a:srgbClr val="183B56"/>
                </a:solidFill>
                <a:latin typeface="Arial"/>
                <a:ea typeface="Arial"/>
              </a:rPr>
              <a:t>Similar LUT usage, uneven FF and BRAM distribution.</a:t>
            </a:r>
          </a:p>
        </p:txBody>
      </p:sp>
      <p:sp>
        <p:nvSpPr>
          <p:cNvPr id="100014" name="S08.Results.Scope"/>
          <p:cNvSpPr txBox="1"/>
          <p:nvPr/>
        </p:nvSpPr>
        <p:spPr>
          <a:xfrm>
            <a:off x="4370832" y="6327648"/>
            <a:ext cx="7479792" cy="256032"/>
          </a:xfrm>
          <a:prstGeom prst="rect">
            <a:avLst/>
          </a:prstGeom>
          <a:noFill/>
          <a:ln>
            <a:noFill/>
          </a:ln>
        </p:spPr>
        <p:txBody>
          <a:bodyPr lIns="0" tIns="0" rIns="0" bIns="0">
            <a:noAutofit/>
          </a:bodyPr>
          <a:lstStyle/>
          <a:p>
            <a:pPr algn="l">
              <a:defRPr sz="1200" b="0">
                <a:solidFill>
                  <a:srgbClr val="607184"/>
                </a:solidFill>
                <a:latin typeface="Arial"/>
                <a:ea typeface="Arial"/>
              </a:defRPr>
            </a:pPr>
            <a:endParaRPr sz="1200"/>
          </a:p>
        </p:txBody>
      </p:sp>
      <p:sp>
        <p:nvSpPr>
          <p:cNvPr id="100015" name="S08.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8</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2026-10-29T08:07:22.0000000Z</dcterms:created>
  <lastModifiedBy>OfficeCLI</lastModifiedBy>
  <dcterms:modified xsi:type="dcterms:W3CDTF">2026-10-29T08:07:22.8122164Z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2026-10-29T08:07:25Z</vt:lpwstr>
  </op:property>
</op:Properties>
</file>