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Types>
</file>

<file path=_rels/.rels>&#65279;<?xml version="1.0" encoding="utf-8"?><Relationships xmlns="http://schemas.openxmlformats.org/package/2006/relationships"><Relationship Type="http://schemas.openxmlformats.org/officeDocument/2006/relationships/officeDocument" Target="/ppt/presentation.xml" Id="R42722888ba704275" /><Relationship Type="http://schemas.openxmlformats.org/package/2006/relationships/metadata/core-properties" Target="/docProps/core.xml" Id="R967641f28cdc4f36" /><Relationship Type="http://schemas.openxmlformats.org/officeDocument/2006/relationships/extended-properties" Target="/docProps/app.xml" Id="Rbd51ddd0b62a4291" /><Relationship Type="http://schemas.openxmlformats.org/officeDocument/2006/relationships/custom-properties" Target="/docProps/custom.xml" Id="Rbde65235de1d45e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93363f4614724424"/>
  </p:notesMasterIdLst>
  <p:sldIdLst>
    <p:sldId id="256" r:id="Rb8c317fad975419d"/>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b8c317fad975419d" /><Relationship Type="http://schemas.openxmlformats.org/officeDocument/2006/relationships/notesMaster" Target="/ppt/notesMasters/notesMaster1.xml" Id="R93363f46147244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5e4afa78b774e2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57a3dfad11394a12" /><Relationship Type="http://schemas.openxmlformats.org/officeDocument/2006/relationships/slide" Target="/ppt/slides/slide1.xml" Id="R5eb12125d70e44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REMUS implements adaptive RTL granularity selection, weighted hypergraph partitioning using KaHyPar, and path-cut analysis for LI-TDM configuration. The author reports preliminary observations on well-structured hierarchical designs: graph size around one tenth and hypergraph solver time around one seventh of the netlist-level baseline, with similar Cut Size, scalar balance and Path-Cut Number. The baseline runs are not finished. These ratios are NOT finalized results and are omitted from the slide. Confirm matched DUTs, configurations, graph-size definition and timing boundaries before publishing quantitative gains. Solver time is not total transformation time. The main chart uses archived KMH two-Part Vivado 2024.2 synthesis results: Part 0 LUT/FF/BRAM utilization 73.18/17.66/14.31 percent; Part 1 75.77/8.17/0.00 percent. BRAM counts are 288.5 and 0 tiles. URAM is 13 versus 0, omitted from the plot for focus. The scope is role_i/ClockResetCore_0/emu_system, including inserted infrastructure; not pure DUT, full board consumption, or post-route utilization. The denominator is whole-device capacity, not the remaining Part budget. The observed resource asymmetry does not isolate adaptive granularity or scalar weights as its sole cause. Constraints, module grouping and synthesis mapping may also matter. Exact build matching between partition summaries and synthesis reports remains to be completed, so no estimation-error or baseline-gain inference is made from their combination. This motivates the resource-modeling discussion and proposed multidimensional constraints on slide 11, without asserting that the planned improvement is already proven. Sources: experiments/synthesis-utilization.md (3.2); src/midterm/progress/partitioning.tex; src/midterm/problems.tex.</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22500c33343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823194e05c44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e1e50922ee40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ec9613565544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51945b6fae4ab4"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848a0674f834547"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6a89933b35ea487d" /><Relationship Type="http://schemas.openxmlformats.org/officeDocument/2006/relationships/chart" Target="/ppt/slides/charts/chart1.xml" Id="R77872e11e53f41fe" /><Relationship Type="http://schemas.openxmlformats.org/officeDocument/2006/relationships/notesSlide" Target="/ppt/notesSlides/notesSlide1.xml" Id="Rdcfde594735c4ceb" /></Relationships>
</file>

<file path=ppt/slides/charts/chart1.xml><?xml version="1.0" encoding="utf-8"?>
<c:chartSpace xmlns:c="http://schemas.openxmlformats.org/drawingml/2006/chart">
  <c:date1904 val="0"/>
  <c:chart>
    <c:plotArea>
      <c:layout/>
      <c:barChart>
        <c:barDir val="col"/>
        <c:grouping val="clustered"/>
        <c:varyColors val="0"/>
        <c:ser>
          <c:idx val="0"/>
          <c:order val="0"/>
          <c:tx>
            <c:v>Part 0</c:v>
          </c:tx>
          <c:spPr>
            <a:solidFill xmlns:a="http://schemas.openxmlformats.org/drawingml/2006/main">
              <a:srgbClr val="183B56"/>
            </a:solidFill>
          </c:spPr>
          <c:invertIfNegative val="0"/>
          <c:cat>
            <c:strLit>
              <c:ptCount val="3"/>
              <c:pt idx="0">
                <c:v>LUT</c:v>
              </c:pt>
              <c:pt idx="1">
                <c:v>FF</c:v>
              </c:pt>
              <c:pt idx="2">
                <c:v>BRAM</c:v>
              </c:pt>
            </c:strLit>
          </c:cat>
          <c:val>
            <c:numLit>
              <c:formatCode>General</c:formatCode>
              <c:ptCount val="3"/>
              <c:pt idx="0">
                <c:v>73.18</c:v>
              </c:pt>
              <c:pt idx="1">
                <c:v>17.66</c:v>
              </c:pt>
              <c:pt idx="2">
                <c:v>14.31</c:v>
              </c:pt>
            </c:numLit>
          </c:val>
        </c:ser>
        <c:ser>
          <c:idx val="1"/>
          <c:order val="1"/>
          <c:tx>
            <c:v>Part 1</c:v>
          </c:tx>
          <c:spPr>
            <a:solidFill xmlns:a="http://schemas.openxmlformats.org/drawingml/2006/main">
              <a:srgbClr val="008C95"/>
            </a:solidFill>
          </c:spPr>
          <c:invertIfNegative val="0"/>
          <c:cat>
            <c:strLit>
              <c:ptCount val="3"/>
              <c:pt idx="0">
                <c:v>LUT</c:v>
              </c:pt>
              <c:pt idx="1">
                <c:v>FF</c:v>
              </c:pt>
              <c:pt idx="2">
                <c:v>BRAM</c:v>
              </c:pt>
            </c:strLit>
          </c:cat>
          <c:val>
            <c:numLit>
              <c:formatCode>General</c:formatCode>
              <c:ptCount val="3"/>
              <c:pt idx="0">
                <c:v>75.77</c:v>
              </c:pt>
              <c:pt idx="1">
                <c:v>8.17</c:v>
              </c:pt>
              <c:pt idx="2">
                <c:v>0</c:v>
              </c:pt>
            </c:numLit>
          </c:val>
        </c:ser>
        <c:dLbls>
          <c:txPr>
            <a:bodyPr xmlns:a="http://schemas.openxmlformats.org/drawingml/2006/main"/>
            <a:lstStyle xmlns:a="http://schemas.openxmlformats.org/drawingml/2006/main"/>
            <a:p xmlns:a="http://schemas.openxmlformats.org/drawingml/2006/main">
              <a:pPr>
                <a:defRPr sz="1800">
                  <a:solidFill>
                    <a:srgbClr val="20354A"/>
                  </a:solidFill>
                  <a:latin typeface="Arial"/>
                  <a:ea typeface="Arial"/>
                </a:defRPr>
              </a:pPr>
            </a:p>
          </c:txPr>
          <c:dLblPos val="outEnd"/>
          <c:showLegendKey val="0"/>
          <c:showVal val="1"/>
          <c:showCatName val="0"/>
          <c:showSerName val="0"/>
          <c:showPercent val="0"/>
        </c:dLbls>
        <c:gapWidth val="90"/>
        <c:overlap val="-15"/>
        <c:axId val="1"/>
        <c:axId val="2"/>
      </c:barChart>
      <c:catAx>
        <c:axId val="1"/>
        <c:scaling>
          <c:orientation val="minMax"/>
        </c:scaling>
        <c:delete val="0"/>
        <c:axPos val="b"/>
        <c:majorTickMark val="out"/>
        <c:minorTickMark val="none"/>
        <c:tickLblPos val="nextTo"/>
        <c:txPr>
          <a:bodyPr xmlns:a="http://schemas.openxmlformats.org/drawingml/2006/main"/>
          <a:lstStyle xmlns:a="http://schemas.openxmlformats.org/drawingml/2006/main"/>
          <a:p xmlns:a="http://schemas.openxmlformats.org/drawingml/2006/main">
            <a:pPr>
              <a:defRPr sz="1600">
                <a:solidFill>
                  <a:srgbClr val="20354A"/>
                </a:solidFill>
                <a:latin typeface="Arial"/>
                <a:ea typeface="Arial"/>
              </a:defRPr>
            </a:pPr>
          </a:p>
        </c:txPr>
        <c:crossAx val="2"/>
        <c:crosses val="autoZero"/>
        <c:auto val="1"/>
        <c:lblAlgn val="ctr"/>
        <c:lblOffset val="100"/>
      </c:catAx>
      <c:valAx>
        <c:axId val="2"/>
        <c:scaling>
          <c:orientation val="minMax"/>
          <c:max val="90"/>
          <c:min val="0"/>
        </c:scaling>
        <c:delete val="0"/>
        <c:axPos val="l"/>
        <c:majorGridlines>
          <c:spPr>
            <a:ln xmlns:a="http://schemas.openxmlformats.org/drawingml/2006/main" w="6350">
              <a:solidFill>
                <a:srgbClr val="DDE5EA"/>
              </a:solidFill>
            </a:ln>
          </c:spPr>
        </c:majorGridlines>
        <c:numFmt formatCode="0" sourceLinked="0"/>
        <c:majorTickMark val="out"/>
        <c:minorTickMark val="none"/>
        <c:tickLblPos val="nextTo"/>
        <c:txPr>
          <a:bodyPr xmlns:a="http://schemas.openxmlformats.org/drawingml/2006/main"/>
          <a:lstStyle xmlns:a="http://schemas.openxmlformats.org/drawingml/2006/main"/>
          <a:p xmlns:a="http://schemas.openxmlformats.org/drawingml/2006/main">
            <a:pPr>
              <a:defRPr sz="1600">
                <a:solidFill>
                  <a:srgbClr val="20354A"/>
                </a:solidFill>
                <a:latin typeface="Arial"/>
                <a:ea typeface="Arial"/>
              </a:defRPr>
            </a:pPr>
          </a:p>
        </c:txPr>
        <c:crossAx val="1"/>
        <c:crosses val="autoZero"/>
        <c:crossBetween val="between"/>
        <c:majorUnit val="20"/>
      </c:valAx>
      <c:spPr>
        <a:solidFill xmlns:a="http://schemas.openxmlformats.org/drawingml/2006/main">
          <a:srgbClr val="FFFFFF"/>
        </a:solidFill>
      </c:spPr>
    </c:plotArea>
    <c:legend>
      <c:legendPos val="t"/>
      <c:overlay val="0"/>
      <c:txPr>
        <a:bodyPr xmlns:a="http://schemas.openxmlformats.org/drawingml/2006/main"/>
        <a:lstStyle xmlns:a="http://schemas.openxmlformats.org/drawingml/2006/main"/>
        <a:p xmlns:a="http://schemas.openxmlformats.org/drawingml/2006/main">
          <a:pPr>
            <a:defRPr sz="1500">
              <a:solidFill>
                <a:srgbClr val="20354A"/>
              </a:solidFill>
              <a:latin typeface="Arial"/>
              <a:ea typeface="Arial"/>
            </a:defRPr>
          </a:pPr>
        </a:p>
      </c:txPr>
    </c:legend>
    <c:plotVisOnly val="1"/>
    <c:dispBlanksAs val="gap"/>
  </c:chart>
  <c:spPr>
    <a:solidFill xmlns:a="http://schemas.openxmlformats.org/drawingml/2006/main">
      <a:srgbClr val="FFFFFF"/>
    </a:solidFill>
  </c:spPr>
</c:chartSpace>
</file>

<file path=ppt/slides/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08.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000" b="1">
                <a:solidFill>
                  <a:srgbClr val="183B56"/>
                </a:solidFill>
                <a:latin typeface="Arial"/>
                <a:ea typeface="Arial"/>
              </a:rPr>
              <a:t>8. Automated Multi-FPGA Circuit Partitioning</a:t>
            </a:r>
          </a:p>
        </p:txBody>
      </p:sp>
      <p:sp>
        <p:nvSpPr>
          <p:cNvPr id="100000" name="S08.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8.Method.Heading"/>
          <p:cNvSpPr txBox="1"/>
          <p:nvPr/>
        </p:nvSpPr>
        <p:spPr>
          <a:xfrm>
            <a:off x="365760" y="1097280"/>
            <a:ext cx="3611880" cy="457200"/>
          </a:xfrm>
          <a:prstGeom prst="rect">
            <a:avLst/>
          </a:prstGeom>
          <a:noFill/>
          <a:ln>
            <a:noFill/>
          </a:ln>
        </p:spPr>
        <p:txBody>
          <a:bodyPr lIns="0" tIns="0" rIns="0" bIns="0">
            <a:noAutofit/>
          </a:bodyPr>
          <a:lstStyle/>
          <a:p>
            <a:r>
              <a:rPr lang="en-US" sz="2200" b="1">
                <a:solidFill>
                  <a:srgbClr val="183B56"/>
                </a:solidFill>
                <a:latin typeface="Arial"/>
                <a:ea typeface="Arial"/>
              </a:rPr>
              <a:t>Automated Partitioning</a:t>
            </a:r>
          </a:p>
        </p:txBody>
      </p:sp>
      <p:sp>
        <p:nvSpPr>
          <p:cNvPr id="100002" name="S08.Method.Number1"/>
          <p:cNvSpPr/>
          <p:nvPr/>
        </p:nvSpPr>
        <p:spPr>
          <a:xfrm>
            <a:off x="384048" y="1865376"/>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1</a:t>
            </a:r>
          </a:p>
        </p:txBody>
      </p:sp>
      <p:sp>
        <p:nvSpPr>
          <p:cNvPr id="100003" name="S08.Method.Text1"/>
          <p:cNvSpPr txBox="1"/>
          <p:nvPr/>
        </p:nvSpPr>
        <p:spPr>
          <a:xfrm>
            <a:off x="841248" y="1828800"/>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Adaptive-granularity</a:t>
            </a:r>
          </a:p>
          <a:p>
            <a:r>
              <a:rPr lang="en-US" sz="1900">
                <a:solidFill>
                  <a:srgbClr val="20354A"/>
                </a:solidFill>
                <a:latin typeface="Arial"/>
                <a:ea typeface="Arial"/>
              </a:rPr>
              <a:t>RTL partitioning</a:t>
            </a:r>
          </a:p>
        </p:txBody>
      </p:sp>
      <p:sp>
        <p:nvSpPr>
          <p:cNvPr id="100004" name="S08.Method.Number2"/>
          <p:cNvSpPr/>
          <p:nvPr/>
        </p:nvSpPr>
        <p:spPr>
          <a:xfrm>
            <a:off x="384048" y="2798064"/>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2</a:t>
            </a:r>
          </a:p>
        </p:txBody>
      </p:sp>
      <p:sp>
        <p:nvSpPr>
          <p:cNvPr id="100005" name="S08.Method.Text2"/>
          <p:cNvSpPr txBox="1"/>
          <p:nvPr/>
        </p:nvSpPr>
        <p:spPr>
          <a:xfrm>
            <a:off x="841248" y="2761488"/>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KaHyPar-based</a:t>
            </a:r>
          </a:p>
          <a:p>
            <a:r>
              <a:rPr lang="en-US" sz="1900">
                <a:solidFill>
                  <a:srgbClr val="20354A"/>
                </a:solidFill>
                <a:latin typeface="Arial"/>
                <a:ea typeface="Arial"/>
              </a:rPr>
              <a:t>hypergraph partitioning</a:t>
            </a:r>
          </a:p>
        </p:txBody>
      </p:sp>
      <p:sp>
        <p:nvSpPr>
          <p:cNvPr id="100006" name="S08.Method.Number3"/>
          <p:cNvSpPr/>
          <p:nvPr/>
        </p:nvSpPr>
        <p:spPr>
          <a:xfrm>
            <a:off x="384048" y="3730752"/>
            <a:ext cx="301752" cy="301752"/>
          </a:xfrm>
          <a:prstGeom prst="ellipse">
            <a:avLst/>
          </a:prstGeom>
          <a:solidFill>
            <a:srgbClr val="008C95"/>
          </a:solidFill>
          <a:ln>
            <a:noFill/>
          </a:ln>
        </p:spPr>
        <p:txBody>
          <a:bodyPr lIns="0" tIns="0" rIns="0" bIns="0" anchor="ctr">
            <a:noAutofit/>
          </a:bodyPr>
          <a:lstStyle/>
          <a:p>
            <a:pPr algn="ctr"/>
            <a:r>
              <a:rPr lang="en-US" sz="1400" b="1">
                <a:solidFill>
                  <a:srgbClr val="FFFFFF"/>
                </a:solidFill>
                <a:latin typeface="Arial"/>
                <a:ea typeface="Arial"/>
              </a:rPr>
              <a:t>3</a:t>
            </a:r>
          </a:p>
        </p:txBody>
      </p:sp>
      <p:sp>
        <p:nvSpPr>
          <p:cNvPr id="100007" name="S08.Method.Text3"/>
          <p:cNvSpPr txBox="1"/>
          <p:nvPr/>
        </p:nvSpPr>
        <p:spPr>
          <a:xfrm>
            <a:off x="841248" y="3694176"/>
            <a:ext cx="3063240" cy="713232"/>
          </a:xfrm>
          <a:prstGeom prst="rect">
            <a:avLst/>
          </a:prstGeom>
          <a:noFill/>
          <a:ln>
            <a:noFill/>
          </a:ln>
        </p:spPr>
        <p:txBody>
          <a:bodyPr lIns="0" tIns="0" rIns="0" bIns="0">
            <a:noAutofit/>
          </a:bodyPr>
          <a:lstStyle/>
          <a:p>
            <a:r>
              <a:rPr lang="en-US" sz="1900">
                <a:solidFill>
                  <a:srgbClr val="20354A"/>
                </a:solidFill>
                <a:latin typeface="Arial"/>
                <a:ea typeface="Arial"/>
              </a:rPr>
              <a:t>Path-cut analysis</a:t>
            </a:r>
          </a:p>
          <a:p>
            <a:r>
              <a:rPr lang="en-US" sz="1900">
                <a:solidFill>
                  <a:srgbClr val="20354A"/>
                </a:solidFill>
                <a:latin typeface="Arial"/>
                <a:ea typeface="Arial"/>
              </a:rPr>
              <a:t>for LI-TDM</a:t>
            </a:r>
          </a:p>
        </p:txBody>
      </p:sp>
      <p:sp>
        <p:nvSpPr>
          <p:cNvPr id="100008" name="S08.Efficiency.Status"/>
          <p:cNvSpPr txBox="1"/>
          <p:nvPr/>
        </p:nvSpPr>
        <p:spPr>
          <a:xfrm>
            <a:off x="365760" y="4965192"/>
            <a:ext cx="3611880" cy="320040"/>
          </a:xfrm>
          <a:prstGeom prst="rect">
            <a:avLst/>
          </a:prstGeom>
          <a:noFill/>
          <a:ln>
            <a:noFill/>
          </a:ln>
        </p:spPr>
        <p:txBody>
          <a:bodyPr lIns="0" tIns="0" rIns="0" bIns="0">
            <a:noAutofit/>
          </a:bodyPr>
          <a:lstStyle/>
          <a:p>
            <a:r>
              <a:rPr lang="en-US" sz="1400">
                <a:solidFill>
                  <a:srgbClr val="607184"/>
                </a:solidFill>
                <a:latin typeface="Arial"/>
                <a:ea typeface="Arial"/>
              </a:rPr>
              <a:t>Preliminary observation</a:t>
            </a:r>
          </a:p>
        </p:txBody>
      </p:sp>
      <p:sp>
        <p:nvSpPr>
          <p:cNvPr id="100009" name="S08.Efficiency.Text"/>
          <p:cNvSpPr txBox="1"/>
          <p:nvPr/>
        </p:nvSpPr>
        <p:spPr>
          <a:xfrm>
            <a:off x="365760" y="5367528"/>
            <a:ext cx="3611880" cy="960120"/>
          </a:xfrm>
          <a:prstGeom prst="rect">
            <a:avLst/>
          </a:prstGeom>
          <a:noFill/>
          <a:ln>
            <a:noFill/>
          </a:ln>
        </p:spPr>
        <p:txBody>
          <a:bodyPr lIns="0" tIns="0" rIns="0" bIns="0">
            <a:noAutofit/>
          </a:bodyPr>
          <a:lstStyle/>
          <a:p>
            <a:r>
              <a:rPr lang="en-US" sz="1800">
                <a:solidFill>
                  <a:srgbClr val="183B56"/>
                </a:solidFill>
                <a:latin typeface="Arial"/>
                <a:ea typeface="Arial"/>
              </a:rPr>
              <a:t>Smaller graphs and faster solving</a:t>
            </a:r>
          </a:p>
          <a:p>
            <a:r>
              <a:rPr lang="en-US" sz="1800">
                <a:solidFill>
                  <a:srgbClr val="183B56"/>
                </a:solidFill>
                <a:latin typeface="Arial"/>
                <a:ea typeface="Arial"/>
              </a:rPr>
              <a:t>on well-structured RTL.</a:t>
            </a:r>
          </a:p>
        </p:txBody>
      </p:sp>
      <p:sp>
        <p:nvSpPr>
          <p:cNvPr id="100010" name="S08.Results.Heading"/>
          <p:cNvSpPr txBox="1"/>
          <p:nvPr/>
        </p:nvSpPr>
        <p:spPr>
          <a:xfrm>
            <a:off x="4370832" y="1097280"/>
            <a:ext cx="7479792" cy="457200"/>
          </a:xfrm>
          <a:prstGeom prst="rect">
            <a:avLst/>
          </a:prstGeom>
          <a:noFill/>
          <a:ln>
            <a:noFill/>
          </a:ln>
        </p:spPr>
        <p:txBody>
          <a:bodyPr lIns="0" tIns="0" rIns="0" bIns="0">
            <a:noAutofit/>
          </a:bodyPr>
          <a:lstStyle/>
          <a:p>
            <a:r>
              <a:rPr lang="en-US" sz="2200" b="1">
                <a:solidFill>
                  <a:srgbClr val="183B56"/>
                </a:solidFill>
                <a:latin typeface="Arial"/>
                <a:ea typeface="Arial"/>
              </a:rPr>
              <a:t>Post-Synthesis Resource Utilization</a:t>
            </a:r>
          </a:p>
        </p:txBody>
      </p:sp>
      <p:sp>
        <p:nvSpPr>
          <p:cNvPr id="100011" name="S08.Results.Context"/>
          <p:cNvSpPr txBox="1"/>
          <p:nvPr/>
        </p:nvSpPr>
        <p:spPr>
          <a:xfrm>
            <a:off x="4370832" y="1609344"/>
            <a:ext cx="7479792" cy="320040"/>
          </a:xfrm>
          <a:prstGeom prst="rect">
            <a:avLst/>
          </a:prstGeom>
          <a:noFill/>
          <a:ln>
            <a:noFill/>
          </a:ln>
        </p:spPr>
        <p:txBody>
          <a:bodyPr lIns="0" tIns="0" rIns="0" bIns="0">
            <a:noAutofit/>
          </a:bodyPr>
          <a:lstStyle/>
          <a:p>
            <a:r>
              <a:rPr lang="en-US" sz="1600">
                <a:solidFill>
                  <a:srgbClr val="607184"/>
                </a:solidFill>
                <a:latin typeface="Arial"/>
                <a:ea typeface="Arial"/>
              </a:rPr>
              <a:t>KMH · Two partitions · Utilization (%)</a:t>
            </a:r>
          </a:p>
        </p:txBody>
      </p:sp>
      <p:graphicFrame>
        <p:nvGraphicFramePr>
          <p:cNvPr id="100012" name="S08.Resources.Chart"/>
          <p:cNvGraphicFramePr/>
          <p:nvPr/>
        </p:nvGraphicFramePr>
        <p:xfrm>
          <a:off x="4315968" y="1993392"/>
          <a:ext cx="7543800" cy="3474720"/>
        </p:xfrm>
        <a:graphic>
          <a:graphicData uri="http://schemas.openxmlformats.org/drawingml/2006/chart">
            <c:chart xmlns:r="http://schemas.openxmlformats.org/officeDocument/2006/relationships" xmlns:c="http://schemas.openxmlformats.org/drawingml/2006/chart" r:id="R77872e11e53f41fe"/>
          </a:graphicData>
        </a:graphic>
      </p:graphicFrame>
      <p:sp>
        <p:nvSpPr>
          <p:cNvPr id="100013" name="S08.Results.Observation"/>
          <p:cNvSpPr txBox="1"/>
          <p:nvPr/>
        </p:nvSpPr>
        <p:spPr>
          <a:xfrm>
            <a:off x="4370832" y="5687568"/>
            <a:ext cx="7479792" cy="594360"/>
          </a:xfrm>
          <a:prstGeom prst="rect">
            <a:avLst/>
          </a:prstGeom>
          <a:noFill/>
          <a:ln>
            <a:noFill/>
          </a:ln>
        </p:spPr>
        <p:txBody>
          <a:bodyPr lIns="0" tIns="0" rIns="0" bIns="0">
            <a:noAutofit/>
          </a:bodyPr>
          <a:lstStyle/>
          <a:p>
            <a:r>
              <a:rPr lang="en-US" sz="2000">
                <a:solidFill>
                  <a:srgbClr val="183B56"/>
                </a:solidFill>
                <a:latin typeface="Arial"/>
                <a:ea typeface="Arial"/>
              </a:rPr>
              <a:t>Similar LUT usage, uneven FF and BRAM distribution.</a:t>
            </a:r>
          </a:p>
        </p:txBody>
      </p:sp>
      <p:sp>
        <p:nvSpPr>
          <p:cNvPr id="100014" name="S08.Results.Scope"/>
          <p:cNvSpPr txBox="1"/>
          <p:nvPr/>
        </p:nvSpPr>
        <p:spPr>
          <a:xfrm>
            <a:off x="4370832" y="6327648"/>
            <a:ext cx="7479792" cy="256032"/>
          </a:xfrm>
          <a:prstGeom prst="rect">
            <a:avLst/>
          </a:prstGeom>
          <a:noFill/>
          <a:ln>
            <a:noFill/>
          </a:ln>
        </p:spPr>
        <p:txBody>
          <a:bodyPr lIns="0" tIns="0" rIns="0" bIns="0">
            <a:noAutofit/>
          </a:bodyPr>
          <a:lstStyle/>
          <a:p>
            <a:r>
              <a:rPr lang="en-US" sz="1200">
                <a:solidFill>
                  <a:srgbClr val="607184"/>
                </a:solidFill>
                <a:latin typeface="Arial"/>
                <a:ea typeface="Arial"/>
              </a:rPr>
              <a:t>EMU_SYSTEM synthesis; percentages of device capacity.</a:t>
            </a:r>
          </a:p>
        </p:txBody>
      </p:sp>
      <p:sp>
        <p:nvSpPr>
          <p:cNvPr id="100015" name="S08.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8</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OfficeCLI/1.0.156</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2026-10-28T12:18:33.0000000Z</dcterms:created>
  <lastModifiedBy>OfficeCLI</lastModifiedBy>
  <dcterms:modified xsi:type="dcterms:W3CDTF">2026-10-28T12:18:34.0572729Z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1.0.156</vt:lpwstr>
  </op:property>
  <op:property fmtid="{D5CDD505-2E9C-101B-9397-08002B2CF9AE}" pid="3" name="OfficeCLI.LastModified">
    <vt:lpwstr xmlns:vt="http://schemas.openxmlformats.org/officeDocument/2006/docPropsVTypes">2026-10-28T12:18:36Z</vt:lpwstr>
  </op:property>
</op:Properties>
</file>