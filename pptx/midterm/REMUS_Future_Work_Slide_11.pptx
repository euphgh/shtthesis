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Types>
</file>

<file path=_rels/.rels>&#65279;<?xml version="1.0" encoding="utf-8"?><Relationships xmlns="http://schemas.openxmlformats.org/package/2006/relationships"><Relationship Type="http://schemas.openxmlformats.org/officeDocument/2006/relationships/officeDocument" Target="/ppt/presentation.xml" Id="R5c008762edb046b0" /><Relationship Type="http://schemas.openxmlformats.org/package/2006/relationships/metadata/core-properties" Target="/docProps/core.xml" Id="R7b41a835119e44dd" /><Relationship Type="http://schemas.openxmlformats.org/officeDocument/2006/relationships/extended-properties" Target="/docProps/app.xml" Id="Ra66e6970aece4996" /><Relationship Type="http://schemas.openxmlformats.org/officeDocument/2006/relationships/custom-properties" Target="/docProps/custom.xml" Id="R09d373d9959f4073"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9b2af560fad542a0"/>
  </p:notesMasterIdLst>
  <p:sldIdLst>
    <p:sldId id="256" r:id="Rc8183487e87a4c36"/>
  </p:sldIdLst>
  <p:sldSz cx="12192000" cy="6858000" type="screen16x9"/>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c8183487e87a4c36" /><Relationship Type="http://schemas.openxmlformats.org/officeDocument/2006/relationships/notesMaster" Target="/ppt/notesMasters/notesMaster1.xml" Id="R9b2af560fad542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7c7384a39e049c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acf5882f718242ad" /><Relationship Type="http://schemas.openxmlformats.org/officeDocument/2006/relationships/slide" Target="/ppt/slides/slide1.xml" Id="R2bc591d6811e43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page combines the remaining problems with the work that addresses them; it does not repeat a separate problem list. First complete Fabric board-level integration and validation, then assemble a four-FPGA emulation system. That platform will support analysis of execution and communication overheads. Use the measurements to guide runtime changes, including interrupt-driven control to reduce Fabric polling overhead. Optimize partitioning for multiple resource types and communication cost, then evaluate whether those changes improve actual emulation performance. Do not promise a performance gain before the experiments. These technical activities may iterate rather than forming a strict one-pass sequence. Finally consolidate experimental results and complete the thesis. Fabric board validation, four-FPGA deployment and interrupt-driven control are future work, not completed results. No defense date is implied. Sources: src/midterm/problems.tex and src/midterm/next_plan.tex; wording and ordering follow the user's approved four-item plan. Design reference: figure/presentation-reference/midterm-future-work-11-v1.png. The user requested smaller 1., 2., 3., 4. numbering at the heading font size, replacing the large 01–04 in that image. All visible objects are native editable PowerPoint shapes, not an embedded design screenshot.</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b56f9e2e0640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9fa27c9c4341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a0cfacab954e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ef826ceecc43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a030ca697c4cf8"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97dcb4b5da634d86"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9fded58187334e54" /><Relationship Type="http://schemas.openxmlformats.org/officeDocument/2006/relationships/notesSlide" Target="/ppt/notesSlides/notesSlide1.xml" Id="R0f541557b1534294" /></Relationships>
</file>

<file path=ppt/slides/slide1.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2" name="S11.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xmlns:a="http://schemas.openxmlformats.org/drawingml/2006/main">
            <a:r>
              <a:rPr lang="en-US" sz="3200" b="1">
                <a:solidFill>
                  <a:srgbClr val="183B56"/>
                </a:solidFill>
                <a:latin typeface="Arial"/>
                <a:ea typeface="Arial"/>
              </a:rPr>
              <a:t>Future Work</a:t>
            </a:r>
          </a:p>
        </p:txBody>
      </p:sp>
      <p:sp>
        <p:nvSpPr>
          <p:cNvPr id="100000" name="S11.TitleRule"/>
          <p:cNvSpPr/>
          <p:nvPr/>
        </p:nvSpPr>
        <p:spPr>
          <a:xfrm>
            <a:off x="320040" y="713232"/>
            <a:ext cx="11558016" cy="25400"/>
          </a:xfrm>
          <a:prstGeom prst="rect">
            <a:avLst/>
          </a:prstGeom>
          <a:solidFill>
            <a:srgbClr val="008C95"/>
          </a:solidFill>
          <a:ln>
            <a:noFill/>
          </a:ln>
        </p:spPr>
        <p:txBody>
          <a:bodyPr lIns="0" tIns="0" rIns="0" bIns="0">
            <a:noAutofit/>
          </a:bodyPr>
          <a:lstStyle/>
          <a:p>
            <a:endParaRPr lang="en-US" sz="1800">
              <a:solidFill>
                <a:srgbClr val="20354A"/>
              </a:solidFill>
              <a:latin typeface="Arial"/>
              <a:ea typeface="Arial"/>
            </a:endParaRPr>
          </a:p>
        </p:txBody>
      </p:sp>
      <p:sp>
        <p:nvSpPr>
          <p:cNvPr id="100001" name="S11.Item1.Number"/>
          <p:cNvSpPr txBox="1"/>
          <p:nvPr/>
        </p:nvSpPr>
        <p:spPr>
          <a:xfrm>
            <a:off x="438912" y="1243584"/>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1.</a:t>
            </a:r>
          </a:p>
        </p:txBody>
      </p:sp>
      <p:sp>
        <p:nvSpPr>
          <p:cNvPr id="100002" name="S11.Item1.Heading"/>
          <p:cNvSpPr txBox="1"/>
          <p:nvPr/>
        </p:nvSpPr>
        <p:spPr>
          <a:xfrm>
            <a:off x="914400" y="1243584"/>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Fabric Deployment &amp;</a:t>
            </a:r>
          </a:p>
          <a:p>
            <a:r>
              <a:rPr lang="en-US" sz="2200" b="1">
                <a:solidFill>
                  <a:srgbClr val="183B56"/>
                </a:solidFill>
                <a:latin typeface="Arial"/>
                <a:ea typeface="Arial"/>
              </a:rPr>
              <a:t>Four-FPGA Integration</a:t>
            </a:r>
          </a:p>
        </p:txBody>
      </p:sp>
      <p:sp>
        <p:nvSpPr>
          <p:cNvPr id="100003" name="S11.Item1.Body"/>
          <p:cNvSpPr txBox="1"/>
          <p:nvPr/>
        </p:nvSpPr>
        <p:spPr>
          <a:xfrm>
            <a:off x="5074920" y="122529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Complete board-level Fabric integration and validation.</a:t>
            </a:r>
          </a:p>
          <a:p>
            <a:pPr>
              <a:lnSpc>
                <a:spcPct val="125000"/>
              </a:lnSpc>
              <a:spcBef>
                <a:spcPts val="0"/>
              </a:spcBef>
              <a:spcAft>
                <a:spcPts val="0"/>
              </a:spcAft>
            </a:pPr>
            <a:r>
              <a:rPr lang="en-US" sz="1800">
                <a:solidFill>
                  <a:srgbClr val="20354A"/>
                </a:solidFill>
                <a:latin typeface="Arial"/>
                <a:ea typeface="Arial"/>
              </a:rPr>
              <a:t>Build a four-FPGA emulation system.</a:t>
            </a:r>
          </a:p>
        </p:txBody>
      </p:sp>
      <p:sp>
        <p:nvSpPr>
          <p:cNvPr id="100004" name="S11.Item1.Separator"/>
          <p:cNvSpPr/>
          <p:nvPr/>
        </p:nvSpPr>
        <p:spPr>
          <a:xfrm>
            <a:off x="438912" y="2441448"/>
            <a:ext cx="11439144" cy="10973"/>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05" name="S11.Item2.Number"/>
          <p:cNvSpPr txBox="1"/>
          <p:nvPr/>
        </p:nvSpPr>
        <p:spPr>
          <a:xfrm>
            <a:off x="438912" y="2706624"/>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2.</a:t>
            </a:r>
          </a:p>
        </p:txBody>
      </p:sp>
      <p:sp>
        <p:nvSpPr>
          <p:cNvPr id="100006" name="S11.Item2.Heading"/>
          <p:cNvSpPr txBox="1"/>
          <p:nvPr/>
        </p:nvSpPr>
        <p:spPr>
          <a:xfrm>
            <a:off x="914400" y="2706624"/>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Performance Analysis &amp;</a:t>
            </a:r>
          </a:p>
          <a:p>
            <a:r>
              <a:rPr lang="en-US" sz="2200" b="1">
                <a:solidFill>
                  <a:srgbClr val="183B56"/>
                </a:solidFill>
                <a:latin typeface="Arial"/>
                <a:ea typeface="Arial"/>
              </a:rPr>
              <a:t>Runtime Optimization</a:t>
            </a:r>
          </a:p>
        </p:txBody>
      </p:sp>
      <p:sp>
        <p:nvSpPr>
          <p:cNvPr id="100007" name="S11.Item2.Body"/>
          <p:cNvSpPr txBox="1"/>
          <p:nvPr/>
        </p:nvSpPr>
        <p:spPr>
          <a:xfrm>
            <a:off x="5074920" y="268833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Analyze execution and communication overheads on four FPGAs.</a:t>
            </a:r>
          </a:p>
          <a:p>
            <a:pPr>
              <a:lnSpc>
                <a:spcPct val="125000"/>
              </a:lnSpc>
              <a:spcBef>
                <a:spcPts val="0"/>
              </a:spcBef>
              <a:spcAft>
                <a:spcPts val="0"/>
              </a:spcAft>
            </a:pPr>
            <a:r>
              <a:rPr lang="en-US" sz="1800">
                <a:solidFill>
                  <a:srgbClr val="20354A"/>
                </a:solidFill>
                <a:latin typeface="Arial"/>
                <a:ea typeface="Arial"/>
              </a:rPr>
              <a:t>Reduce polling overhead with interrupt-driven control.</a:t>
            </a:r>
          </a:p>
        </p:txBody>
      </p:sp>
      <p:sp>
        <p:nvSpPr>
          <p:cNvPr id="100008" name="S11.Item2.Separator"/>
          <p:cNvSpPr/>
          <p:nvPr/>
        </p:nvSpPr>
        <p:spPr>
          <a:xfrm>
            <a:off x="438912" y="3904488"/>
            <a:ext cx="11439144" cy="10973"/>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09" name="S11.Item3.Number"/>
          <p:cNvSpPr txBox="1"/>
          <p:nvPr/>
        </p:nvSpPr>
        <p:spPr>
          <a:xfrm>
            <a:off x="438912" y="4169664"/>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3.</a:t>
            </a:r>
          </a:p>
        </p:txBody>
      </p:sp>
      <p:sp>
        <p:nvSpPr>
          <p:cNvPr id="100010" name="S11.Item3.Heading"/>
          <p:cNvSpPr txBox="1"/>
          <p:nvPr/>
        </p:nvSpPr>
        <p:spPr>
          <a:xfrm>
            <a:off x="914400" y="4169664"/>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Partitioning Optimization</a:t>
            </a:r>
          </a:p>
          <a:p>
            <a:r>
              <a:rPr lang="en-US" sz="2200" b="1">
                <a:solidFill>
                  <a:srgbClr val="183B56"/>
                </a:solidFill>
                <a:latin typeface="Arial"/>
                <a:ea typeface="Arial"/>
              </a:rPr>
              <a:t>&amp; Evaluation</a:t>
            </a:r>
          </a:p>
        </p:txBody>
      </p:sp>
      <p:sp>
        <p:nvSpPr>
          <p:cNvPr id="100011" name="S11.Item3.Body"/>
          <p:cNvSpPr txBox="1"/>
          <p:nvPr/>
        </p:nvSpPr>
        <p:spPr>
          <a:xfrm>
            <a:off x="5074920" y="4151376"/>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Improve multi-resource balance and reduce communication cost.</a:t>
            </a:r>
          </a:p>
          <a:p>
            <a:pPr>
              <a:lnSpc>
                <a:spcPct val="125000"/>
              </a:lnSpc>
              <a:spcBef>
                <a:spcPts val="0"/>
              </a:spcBef>
              <a:spcAft>
                <a:spcPts val="0"/>
              </a:spcAft>
            </a:pPr>
            <a:r>
              <a:rPr lang="en-US" sz="1800">
                <a:solidFill>
                  <a:srgbClr val="20354A"/>
                </a:solidFill>
                <a:latin typeface="Arial"/>
                <a:ea typeface="Arial"/>
              </a:rPr>
              <a:t>Evaluate the impact on emulation performance.</a:t>
            </a:r>
          </a:p>
        </p:txBody>
      </p:sp>
      <p:sp>
        <p:nvSpPr>
          <p:cNvPr id="100012" name="S11.Item3.Separator"/>
          <p:cNvSpPr/>
          <p:nvPr/>
        </p:nvSpPr>
        <p:spPr>
          <a:xfrm>
            <a:off x="438912" y="5367528"/>
            <a:ext cx="11439144" cy="10973"/>
          </a:xfrm>
          <a:prstGeom prst="rect">
            <a:avLst/>
          </a:prstGeom>
          <a:solidFill>
            <a:srgbClr val="D8E3E9"/>
          </a:solidFill>
          <a:ln>
            <a:noFill/>
          </a:ln>
        </p:spPr>
        <p:txBody>
          <a:bodyPr lIns="0" tIns="0" rIns="0" bIns="0">
            <a:noAutofit/>
          </a:bodyPr>
          <a:lstStyle/>
          <a:p>
            <a:endParaRPr lang="en-US" sz="1800">
              <a:solidFill>
                <a:srgbClr val="20354A"/>
              </a:solidFill>
              <a:latin typeface="Arial"/>
              <a:ea typeface="Arial"/>
            </a:endParaRPr>
          </a:p>
        </p:txBody>
      </p:sp>
      <p:sp>
        <p:nvSpPr>
          <p:cNvPr id="100013" name="S11.Item4.Number"/>
          <p:cNvSpPr txBox="1"/>
          <p:nvPr/>
        </p:nvSpPr>
        <p:spPr>
          <a:xfrm>
            <a:off x="438912" y="5650992"/>
            <a:ext cx="347472" cy="438912"/>
          </a:xfrm>
          <a:prstGeom prst="rect">
            <a:avLst/>
          </a:prstGeom>
          <a:noFill/>
          <a:ln>
            <a:noFill/>
          </a:ln>
        </p:spPr>
        <p:txBody>
          <a:bodyPr lIns="0" tIns="0" rIns="0" bIns="0">
            <a:noAutofit/>
          </a:bodyPr>
          <a:lstStyle/>
          <a:p>
            <a:r>
              <a:rPr lang="en-US" sz="2200" b="1">
                <a:solidFill>
                  <a:srgbClr val="008C95"/>
                </a:solidFill>
                <a:latin typeface="Arial"/>
                <a:ea typeface="Arial"/>
              </a:rPr>
              <a:t>4.</a:t>
            </a:r>
          </a:p>
        </p:txBody>
      </p:sp>
      <p:sp>
        <p:nvSpPr>
          <p:cNvPr id="100014" name="S11.Item4.Heading"/>
          <p:cNvSpPr txBox="1"/>
          <p:nvPr/>
        </p:nvSpPr>
        <p:spPr>
          <a:xfrm>
            <a:off x="914400" y="5650992"/>
            <a:ext cx="4005072" cy="841248"/>
          </a:xfrm>
          <a:prstGeom prst="rect">
            <a:avLst/>
          </a:prstGeom>
          <a:noFill/>
          <a:ln>
            <a:noFill/>
          </a:ln>
        </p:spPr>
        <p:txBody>
          <a:bodyPr lIns="0" tIns="0" rIns="0" bIns="0">
            <a:noAutofit/>
          </a:bodyPr>
          <a:lstStyle/>
          <a:p>
            <a:r>
              <a:rPr lang="en-US" sz="2200" b="1">
                <a:solidFill>
                  <a:srgbClr val="183B56"/>
                </a:solidFill>
                <a:latin typeface="Arial"/>
                <a:ea typeface="Arial"/>
              </a:rPr>
              <a:t>Thesis Writing</a:t>
            </a:r>
          </a:p>
        </p:txBody>
      </p:sp>
      <p:sp>
        <p:nvSpPr>
          <p:cNvPr id="100015" name="S11.Item4.Body"/>
          <p:cNvSpPr txBox="1"/>
          <p:nvPr/>
        </p:nvSpPr>
        <p:spPr>
          <a:xfrm>
            <a:off x="5074920" y="5632704"/>
            <a:ext cx="6803136" cy="1024128"/>
          </a:xfrm>
          <a:prstGeom prst="rect">
            <a:avLst/>
          </a:prstGeom>
          <a:noFill/>
          <a:ln>
            <a:noFill/>
          </a:ln>
        </p:spPr>
        <p:txBody>
          <a:bodyPr lIns="0" tIns="0" rIns="0" bIns="0">
            <a:noAutofit/>
          </a:bodyPr>
          <a:lstStyle/>
          <a:p>
            <a:pPr>
              <a:lnSpc>
                <a:spcPct val="125000"/>
              </a:lnSpc>
              <a:spcBef>
                <a:spcPts val="0"/>
              </a:spcBef>
              <a:spcAft>
                <a:spcPts val="0"/>
              </a:spcAft>
            </a:pPr>
            <a:r>
              <a:rPr lang="en-US" sz="1800">
                <a:solidFill>
                  <a:srgbClr val="20354A"/>
                </a:solidFill>
                <a:latin typeface="Arial"/>
                <a:ea typeface="Arial"/>
              </a:rPr>
              <a:t>Consolidate experimental results and complete the thesis.</a:t>
            </a:r>
          </a:p>
        </p:txBody>
      </p:sp>
      <p:sp>
        <p:nvSpPr>
          <p:cNvPr id="100016" name="S11.PageNumber"/>
          <p:cNvSpPr txBox="1"/>
          <p:nvPr/>
        </p:nvSpPr>
        <p:spPr>
          <a:xfrm>
            <a:off x="11548872" y="6629400"/>
            <a:ext cx="310896" cy="182880"/>
          </a:xfrm>
          <a:prstGeom prst="rect">
            <a:avLst/>
          </a:prstGeom>
          <a:noFill/>
          <a:ln>
            <a:noFill/>
          </a:ln>
        </p:spPr>
        <p:txBody>
          <a:bodyPr lIns="0" tIns="0" rIns="0" bIns="0">
            <a:noAutofit/>
          </a:bodyPr>
          <a:lstStyle/>
          <a:p>
            <a:pPr algn="r"/>
            <a:r>
              <a:rPr lang="en-US" sz="1000">
                <a:solidFill>
                  <a:srgbClr val="607184"/>
                </a:solidFill>
                <a:latin typeface="Arial"/>
                <a:ea typeface="Arial"/>
              </a:rPr>
              <a:t>11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183B56"/>
      </a:accent1>
      <a:accent2>
        <a:srgbClr val="008C95"/>
      </a:accent2>
      <a:accent3>
        <a:srgbClr val="DF973E"/>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OfficeCLI/1.0.156</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2026-10-28T12:43:52.0000000Z</dcterms:created>
  <lastModifiedBy>OfficeCLI</lastModifiedBy>
  <dcterms:modified xsi:type="dcterms:W3CDTF">2026-10-28T12:43:53.0218059Z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1.0.156</vt:lpwstr>
  </op:property>
  <op:property fmtid="{D5CDD505-2E9C-101B-9397-08002B2CF9AE}" pid="3" name="OfficeCLI.LastModified">
    <vt:lpwstr xmlns:vt="http://schemas.openxmlformats.org/officeDocument/2006/docPropsVTypes">2026-10-28T12:43:55Z</vt:lpwstr>
  </op:property>
</op:Properties>
</file>