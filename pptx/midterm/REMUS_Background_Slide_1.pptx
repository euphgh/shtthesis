
<file path=[Content_Types].xml><?xml version="1.0" encoding="utf-8"?>
<Types xmlns="http://schemas.openxmlformats.org/package/2006/content-types">
  <Default Extension="xml" ContentType="application/vnd.openxmlformats-officedocument.presentationml.presentation.main+xml"/>
  <Default Extension="rels" ContentType="application/vnd.openxmlformats-package.relationships+xml"/>
  <Default Extension="png" ContentType="image/png"/>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notesMasters/notesMaster1.xml" ContentType="application/vnd.openxmlformats-officedocument.presentationml.notesMaster+xml"/>
  <Override PartName="/ppt/notesMasters/theme/theme2.xml" ContentType="application/vnd.openxmlformats-officedocument.theme+xml"/>
</Types>
</file>

<file path=_rels/.rels>&#65279;<?xml version="1.0" encoding="utf-8"?><Relationships xmlns="http://schemas.openxmlformats.org/package/2006/relationships"><Relationship Type="http://schemas.openxmlformats.org/officeDocument/2006/relationships/officeDocument" Target="/ppt/presentation.xml" Id="Rbd70cb9d48e944c7" /><Relationship Type="http://schemas.openxmlformats.org/package/2006/relationships/metadata/core-properties" Target="/docProps/core.xml" Id="R2146ccb2359f4ec3" /><Relationship Type="http://schemas.openxmlformats.org/officeDocument/2006/relationships/extended-properties" Target="/docProps/app.xml" Id="R0484010482f147bd" /><Relationship Type="http://schemas.openxmlformats.org/officeDocument/2006/relationships/custom-properties" Target="/docProps/custom.xml" Id="R66addd6c6a76441c" /></Relationships>
</file>

<file path=ppt/presentation.xml><?xml version="1.0" encoding="utf-8"?>
<p:presentation xmlns:r="http://schemas.openxmlformats.org/officeDocument/2006/relationships" xmlns:p="http://schemas.openxmlformats.org/presentationml/2006/main">
  <p:sldMasterIdLst>
    <p:sldMasterId xmlns:r="http://schemas.openxmlformats.org/officeDocument/2006/relationships" id="2147483648" r:id="rId1"/>
  </p:sldMasterIdLst>
  <p:notesMasterIdLst>
    <p:notesMasterId r:id="R3d934b5c31f049f4"/>
  </p:notesMasterIdLst>
  <p:sldIdLst>
    <p:sldId id="256" r:id="R26c46175b20c4b6f"/>
  </p:sldIdLst>
  <p:sldSz cx="12192000" cy="6858000" type="screen16x9"/>
  <p:notesSz cx="6858000" cy="9144000"/>
</p:presentation>
</file>

<file path=ppt/_rels/presentation.xml.rels>&#65279;<?xml version="1.0" encoding="utf-8"?><Relationships xmlns="http://schemas.openxmlformats.org/package/2006/relationships"><Relationship Type="http://schemas.openxmlformats.org/officeDocument/2006/relationships/slideMaster" Target="/ppt/slideMasters/slideMaster1.xml" Id="rId1" /><Relationship Type="http://schemas.openxmlformats.org/officeDocument/2006/relationships/theme" Target="/ppt/theme/theme1.xml" Id="rId2" /><Relationship Type="http://schemas.openxmlformats.org/officeDocument/2006/relationships/slide" Target="/ppt/slides/slide1.xml" Id="R26c46175b20c4b6f" /><Relationship Type="http://schemas.openxmlformats.org/officeDocument/2006/relationships/notesMaster" Target="/ppt/notesMasters/notesMaster1.xml" Id="R3d934b5c31f049f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5680f32043cf4cc3"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a:lstStyle>
            <a:lvl1pPr algn="r">
              <a:defRPr sz="1200"/>
            </a:lvl1pPr>
          </a:lstStyle>
          <a:p>
            <a:fld id="{B1E4B0A2-5C8E-4E5F-9C1D-2F3A4B5C6D71}" type="datetimeFigureOut">
              <a:rPr lang="en-US"/>
            </a:fld>
            <a:endParaRPr lang="en-US"/>
          </a:p>
        </p:txBody>
      </p:sp>
      <p:sp>
        <p:nvSpPr>
          <p:cNvPr id="4" name="Slide Image Placeholder 3"/>
          <p:cNvSpPr>
            <a:spLocks noGrp="1" noRot="1" noChangeAspect="1"/>
          </p:cNvSpPr>
          <p:nvPr>
            <p:ph type="sldImg" idx="2"/>
          </p:nvPr>
        </p:nvSpPr>
        <p:spPr>
          <a:xfrm>
            <a:off x="1143000" y="685800"/>
            <a:ext cx="4572000" cy="2571750"/>
          </a:xfrm>
          <a:prstGeom prst="rect">
            <a:avLst/>
          </a:prstGeom>
          <a:noFill/>
          <a:ln w="12700">
            <a:solidFill>
              <a:prstClr val="black"/>
            </a:solidFill>
          </a:ln>
        </p:spPr>
        <p:txBody>
          <a:bodyPr/>
          <a:lstStyle/>
          <a:p>
            <a:endParaRPr lang="en-US"/>
          </a:p>
        </p:txBody>
      </p:sp>
      <p:sp>
        <p:nvSpPr>
          <p:cNvPr id="5" name="Notes Placeholder 4"/>
          <p:cNvSpPr>
            <a:spLocks noGrp="1"/>
          </p:cNvSpPr>
          <p:nvPr>
            <p:ph type="body" sz="quarter" idx="3"/>
          </p:nvPr>
        </p:nvSpPr>
        <p:spPr>
          <a:xfrm>
            <a:off x="685800" y="3429000"/>
            <a:ext cx="5486400" cy="4114800"/>
          </a:xfrm>
          <a:prstGeom prst="rect">
            <a:avLst/>
          </a:prstGeom>
        </p:spPr>
        <p:txBody>
          <a:bodyPr vert="horz" lIns="91440" tIns="45720" rIns="91440" bIns="45720"/>
          <a:lstStyle/>
          <a:p>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a:lstStyle>
            <a:lvl1pPr algn="r">
              <a:defRPr sz="1200"/>
            </a:lvl1pPr>
          </a:lstStyle>
          <a:p>
            <a:fld id="{B1E4B0A2-5C8E-4E5F-9C1D-2F3A4B5C6D72}"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notesMaster" Target="/ppt/notesMasters/notesMaster1.xml" Id="R90cf02d785704246" /><Relationship Type="http://schemas.openxmlformats.org/officeDocument/2006/relationships/slide" Target="/ppt/slides/slide1.xml" Id="R6fb5d7689cb84f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p:nvPr>
            <p:ph type="sldImg" idx="0"/>
          </p:nvPr>
        </p:nvSpPr>
        <p:spPr/>
        <p:txBody>
          <a:bodyPr xmlns:a="http://schemas.openxmlformats.org/drawingml/2006/main"/>
          <a:lstStyle xmlns:a="http://schemas.openxmlformats.org/drawingml/2006/main"/>
          <a:p xmlns:a="http://schemas.openxmlformats.org/drawingml/2006/main"/>
        </p:txBody>
      </p:sp>
      <p:sp>
        <p:nvSpPr>
          <p:cNvPr id="3" name="Notes Placeholder 2"/>
          <p:cNvSpPr/>
          <p:nvPr>
            <p:ph type="body" idx="1"/>
          </p:nvPr>
        </p:nvSpPr>
        <p:spPr/>
        <p:txBody>
          <a:bodyPr xmlns:a="http://schemas.openxmlformats.org/drawingml/2006/main"/>
          <a:lstStyle xmlns:a="http://schemas.openxmlformats.org/drawingml/2006/main"/>
          <a:p xmlns:a="http://schemas.openxmlformats.org/drawingml/2006/main">
            <a:r>
              <a:rPr lang="en-US"/>
              <a:t>Introduce the capacity-versus-observability motivation. RTL simulation provides visibility and flexible debugging, but long software workloads are slow. FPGA prototyping accelerates execution, while one FPGA limits design capacity. Partitioning across multiple FPGAs extends capacity. The next slide introduces the need for coordinated debugging. MHz-level execution is a general prototype characteristic here, not a measured REMUS performance result. Layout reference: figure/presentation-reference/midterm-background-01.png.</a:t>
            </a:r>
          </a:p>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15516e79dd4bb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d5bc36e342d4a2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147cb722e024ad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4932154b4c417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f58584b67b947b7" /></Relationships>
</file>

<file path=ppt/slideLayouts/slideLayout1.xml><?xml version="1.0" encoding="utf-8"?>
<p:sldLayout xmlns:p="http://schemas.openxmlformats.org/presentationml/2006/main" type="blank">
  <p:cSld name="Blank">
    <p:spTree>
      <p:nvGrpSpPr>
        <p:cNvPr id="1" name=""/>
        <p:cNvGrpSpPr/>
        <p:nvPr/>
      </p:nvGrpSpPr>
      <p:grpSpPr/>
    </p:spTree>
  </p:cSld>
</p:sldLayout>
</file>

<file path=ppt/slideLayouts/slideLayout2.xml><?xml version="1.0" encoding="utf-8"?>
<p:sldLayout xmlns:p="http://schemas.openxmlformats.org/presentationml/2006/main" type="title">
  <p:cSld name="Title Slide">
    <p:spTree>
      <p:nvGrpSpPr>
        <p:cNvPr id="1" name=""/>
        <p:cNvGrpSpPr/>
        <p:nvPr/>
      </p:nvGrpSpPr>
      <p:grpSpPr/>
      <p:sp>
        <p:nvSpPr>
          <p:cNvPr id="2" name="Title"/>
          <p:cNvSpPr>
            <a:spLocks xmlns:a="http://schemas.openxmlformats.org/drawingml/2006/main" noGrp="1"/>
          </p:cNvSpPr>
          <p:nvPr>
            <p:ph type="ctrTitle"/>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endParaRPr lang="en-US"/>
          </a:p>
        </p:txBody>
      </p:sp>
      <p:sp>
        <p:nvSpPr>
          <p:cNvPr id="3" name="Subtitle"/>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3.xml><?xml version="1.0" encoding="utf-8"?>
<p:sldLayout xmlns:p="http://schemas.openxmlformats.org/presentationml/2006/main" type="objTx">
  <p:cSld name="Title and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p:cNvSpPr>
            <a:spLocks xmlns:a="http://schemas.openxmlformats.org/drawingml/2006/main" noGrp="1"/>
          </p:cNvSpPr>
          <p:nvPr>
            <p:ph type="body" idx="1"/>
          </p:nvPr>
        </p:nvSpPr>
        <p:spPr>
          <a:xfrm xmlns:a="http://schemas.openxmlformats.org/drawingml/2006/main">
            <a:off x="838200" y="1825625"/>
            <a:ext cx="10515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4.xml><?xml version="1.0" encoding="utf-8"?>
<p:sldLayout xmlns:p="http://schemas.openxmlformats.org/presentationml/2006/main" type="twoColTx">
  <p:cSld name="Two Content">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
        <p:nvSpPr>
          <p:cNvPr id="3" name="Content Left"/>
          <p:cNvSpPr>
            <a:spLocks xmlns:a="http://schemas.openxmlformats.org/drawingml/2006/main" noGrp="1"/>
          </p:cNvSpPr>
          <p:nvPr>
            <p:ph type="body"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endParaRPr lang="en-US"/>
          </a:p>
        </p:txBody>
      </p:sp>
      <p:sp>
        <p:nvSpPr>
          <p:cNvPr id="4" name="Content Right"/>
          <p:cNvSpPr>
            <a:spLocks xmlns:a="http://schemas.openxmlformats.org/drawingml/2006/main" noGrp="1"/>
          </p:cNvSpPr>
          <p:nvPr>
            <p:ph type="body"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Layouts/slideLayout5.xml><?xml version="1.0" encoding="utf-8"?>
<p:sldLayout xmlns:p="http://schemas.openxmlformats.org/presentationml/2006/main" type="titleOnly">
  <p:cSld name="Title Only">
    <p:spTree>
      <p:nvGrpSpPr>
        <p:cNvPr id="1" name=""/>
        <p:cNvGrpSpPr/>
        <p:nvPr/>
      </p:nvGrpSpPr>
      <p:grpSpPr/>
      <p:sp>
        <p:nvSpPr>
          <p:cNvPr id="2" name="Title"/>
          <p:cNvSpPr>
            <a:spLocks xmlns:a="http://schemas.openxmlformats.org/drawingml/2006/main" noGrp="1"/>
          </p:cNvSpPr>
          <p:nvPr>
            <p:ph type="title"/>
          </p:nvPr>
        </p:nvSpPr>
        <p:spPr>
          <a:xfrm xmlns:a="http://schemas.openxmlformats.org/drawingml/2006/main">
            <a:off x="838200" y="365125"/>
            <a:ext cx="10515600" cy="1325563"/>
          </a:xfrm>
        </p:spPr>
        <p:txBody>
          <a:bodyPr xmlns:a="http://schemas.openxmlformats.org/drawingml/2006/main"/>
          <a:lstStyle xmlns:a="http://schemas.openxmlformats.org/drawingml/2006/main"/>
          <a:p xmlns:a="http://schemas.openxmlformats.org/drawingml/2006/main">
            <a:endParaRPr lang="en-US"/>
          </a:p>
        </p:txBody>
      </p:sp>
    </p:spTree>
  </p:cSld>
</p:sldLayout>
</file>

<file path=ppt/slideMasters/_rels/slideMaster1.xml.rels>&#65279;<?xml version="1.0" encoding="utf-8"?><Relationships xmlns="http://schemas.openxmlformats.org/package/2006/relationships"><Relationship Type="http://schemas.openxmlformats.org/officeDocument/2006/relationships/slideLayout" Target="/ppt/slideLayouts/slideLayout1.xml" Id="rId1" /><Relationship Type="http://schemas.openxmlformats.org/officeDocument/2006/relationships/theme" Target="/ppt/theme/theme1.xml" Id="Rce03320a95d144bd" /><Relationship Type="http://schemas.openxmlformats.org/officeDocument/2006/relationships/slideLayout" Target="/ppt/slideLayouts/slideLayout2.xml" Id="rId2" /><Relationship Type="http://schemas.openxmlformats.org/officeDocument/2006/relationships/slideLayout" Target="/ppt/slideLayouts/slideLayout3.xml" Id="rId3" /><Relationship Type="http://schemas.openxmlformats.org/officeDocument/2006/relationships/slideLayout" Target="/ppt/slideLayouts/slideLayout4.xml" Id="rId4" /><Relationship Type="http://schemas.openxmlformats.org/officeDocument/2006/relationships/slideLayout" Target="/ppt/slideLayouts/slideLayout5.xml" Id="rId5" /></Relationships>
</file>

<file path=ppt/slideMasters/slideMaster1.xml><?xml version="1.0" encoding="utf-8"?>
<p:sldMaster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Id1"/>
    <p:sldLayoutId xmlns:r="http://schemas.openxmlformats.org/officeDocument/2006/relationships" id="2147483650" r:id="rId2"/>
    <p:sldLayoutId xmlns:r="http://schemas.openxmlformats.org/officeDocument/2006/relationships" id="2147483651" r:id="rId3"/>
    <p:sldLayoutId xmlns:r="http://schemas.openxmlformats.org/officeDocument/2006/relationships" id="2147483652" r:id="rId4"/>
    <p:sldLayoutId xmlns:r="http://schemas.openxmlformats.org/officeDocument/2006/relationships" id="2147483653" r:id="rId5"/>
  </p:sldLayoutIdLst>
</p:sldMaster>
</file>

<file path=ppt/slides/_rels/slide1.xml.rels>&#65279;<?xml version="1.0" encoding="utf-8"?><Relationships xmlns="http://schemas.openxmlformats.org/package/2006/relationships"><Relationship Type="http://schemas.openxmlformats.org/officeDocument/2006/relationships/slideLayout" Target="/ppt/slideLayouts/slideLayout1.xml" Id="R94e546b348e648f3" /><Relationship Type="http://schemas.openxmlformats.org/officeDocument/2006/relationships/image" Target="/ppt/media/image.png" Id="R65d3e6a315c44c49" /><Relationship Type="http://schemas.openxmlformats.org/officeDocument/2006/relationships/image" Target="/ppt/media/image2.png" Id="Rc3daf020571c4aa5" /><Relationship Type="http://schemas.openxmlformats.org/officeDocument/2006/relationships/image" Target="/ppt/media/image3.png" Id="R17646a6781ab4f24" /><Relationship Type="http://schemas.openxmlformats.org/officeDocument/2006/relationships/image" Target="/ppt/media/image4.png" Id="R9548d3dd9b064b29" /><Relationship Type="http://schemas.openxmlformats.org/officeDocument/2006/relationships/notesSlide" Target="/ppt/notesSlides/notesSlide1.xml" Id="Rdb6245f8f8104257" /></Relationships>
</file>

<file path=ppt/slides/slide1.xml><?xml version="1.0" encoding="utf-8"?>
<p:sld xmlns:a="http://schemas.openxmlformats.org/drawingml/2006/main" xmlns:r="http://schemas.openxmlformats.org/officeDocument/2006/relationships" xmlns:p="http://schemas.openxmlformats.org/presentationml/2006/main">
  <p:cSld xmlns:a="http://schemas.openxmlformats.org/drawingml/2006/main" xmlns:p="http://schemas.openxmlformats.org/presentationml/2006/main" xmlns:r="http://schemas.openxmlformats.org/officeDocument/2006/relationships">
    <p:bg>
      <p:bgPr>
        <a:solidFill xmlns:a="http://schemas.openxmlformats.org/drawingml/2006/main">
          <a:srgbClr val="FFFFFF"/>
        </a:solidFill>
      </p:bgPr>
    </p:bg>
    <p:spTree>
      <p:nvGrpSpPr>
        <p:cNvPr id="1" name=""/>
        <p:cNvGrpSpPr/>
        <p:nvPr/>
      </p:nvGrpSpPr>
      <p:grpSpPr/>
      <p:sp>
        <p:nvSpPr>
          <p:cNvPr id="2" name="S01.Title"/>
          <p:cNvSpPr/>
          <p:nvPr>
            <p:ph type="title"/>
          </p:nvPr>
        </p:nvSpPr>
        <p:spPr>
          <a:xfrm xmlns:a="http://schemas.openxmlformats.org/drawingml/2006/main">
            <a:off x="320040" y="128016"/>
            <a:ext cx="11558016" cy="493776"/>
          </a:xfrm>
          <a:noFill/>
          <a:ln>
            <a:noFill/>
          </a:ln>
        </p:spPr>
        <p:txBody>
          <a:bodyPr xmlns:a="http://schemas.openxmlformats.org/drawingml/2006/main" lIns="0" tIns="0" rIns="0" bIns="0">
            <a:noAutofit/>
          </a:bodyPr>
          <a:lstStyle xmlns:a="http://schemas.openxmlformats.org/drawingml/2006/main"/>
          <a:p>
            <a:pPr algn="l">
              <a:lnSpc>
                <a:spcPct val="90000"/>
              </a:lnSpc>
              <a:defRPr sz="3200" b="1">
                <a:solidFill>
                  <a:srgbClr val="183B56"/>
                </a:solidFill>
                <a:latin typeface="Arial"/>
                <a:ea typeface="Arial"/>
              </a:defRPr>
            </a:pPr>
            <a:r>
              <a:rPr sz="3200" b="1">
                <a:solidFill>
                  <a:srgbClr val="183B56"/>
                </a:solidFill>
                <a:latin typeface="Arial"/>
              </a:rPr>
              <a:t>Intro: From RTL Simulation to Multi-FPGA Prototyping</a:t>
            </a:r>
          </a:p>
        </p:txBody>
      </p:sp>
      <p:sp>
        <p:nvSpPr>
          <p:cNvPr id="100000" name="S01.TitleRule"/>
          <p:cNvSpPr/>
          <p:nvPr/>
        </p:nvSpPr>
        <p:spPr>
          <a:xfrm>
            <a:off x="320040" y="713232"/>
            <a:ext cx="11558016" cy="25400"/>
          </a:xfrm>
          <a:prstGeom prst="rect">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1" name="S01.Stage1.Panel"/>
          <p:cNvSpPr/>
          <p:nvPr/>
        </p:nvSpPr>
        <p:spPr>
          <a:xfrm>
            <a:off x="320040" y="969264"/>
            <a:ext cx="11558016" cy="1600200"/>
          </a:xfrm>
          <a:prstGeom prst="roundRect">
            <a:avLst>
              <a:gd name="adj" fmla="val 10000"/>
            </a:avLst>
          </a:prstGeom>
          <a:solidFill>
            <a:srgbClr val="EAF4F3"/>
          </a:solidFill>
          <a:ln>
            <a:noFill/>
          </a:ln>
        </p:spPr>
        <p:txBody>
          <a:bodyPr lIns="0" tIns="0" rIns="0" bIns="0">
            <a:noAutofit/>
          </a:bodyPr>
          <a:lstStyle/>
          <a:p>
            <a:endParaRPr lang="en-US" sz="1800">
              <a:solidFill>
                <a:srgbClr val="20354A"/>
              </a:solidFill>
              <a:latin typeface="Arial"/>
              <a:ea typeface="Arial"/>
            </a:endParaRPr>
          </a:p>
        </p:txBody>
      </p:sp>
      <p:sp>
        <p:nvSpPr>
          <p:cNvPr id="100002" name="S01.Stage1.Divider"/>
          <p:cNvSpPr/>
          <p:nvPr/>
        </p:nvSpPr>
        <p:spPr>
          <a:xfrm>
            <a:off x="4585716" y="1124712"/>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03" name="S01.Stage1.Heading"/>
          <p:cNvSpPr txBox="1"/>
          <p:nvPr/>
        </p:nvSpPr>
        <p:spPr>
          <a:xfrm>
            <a:off x="5047488" y="1152144"/>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RTL Simulation</a:t>
            </a:r>
          </a:p>
        </p:txBody>
      </p:sp>
      <p:sp>
        <p:nvSpPr>
          <p:cNvPr id="100004" name="S01.Stage1.Bullet1"/>
          <p:cNvSpPr/>
          <p:nvPr/>
        </p:nvSpPr>
        <p:spPr>
          <a:xfrm>
            <a:off x="5166360" y="16322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5" name="S01.Stage1.Text1"/>
          <p:cNvSpPr txBox="1"/>
          <p:nvPr/>
        </p:nvSpPr>
        <p:spPr>
          <a:xfrm>
            <a:off x="5468112" y="15544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Full visibility</a:t>
            </a:r>
          </a:p>
        </p:txBody>
      </p:sp>
      <p:sp>
        <p:nvSpPr>
          <p:cNvPr id="100006" name="S01.Stage1.Bullet2"/>
          <p:cNvSpPr/>
          <p:nvPr/>
        </p:nvSpPr>
        <p:spPr>
          <a:xfrm>
            <a:off x="5166360" y="19248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7" name="S01.Stage1.Text2"/>
          <p:cNvSpPr txBox="1"/>
          <p:nvPr/>
        </p:nvSpPr>
        <p:spPr>
          <a:xfrm>
            <a:off x="5468112" y="18470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Flexible debugging</a:t>
            </a:r>
          </a:p>
        </p:txBody>
      </p:sp>
      <p:sp>
        <p:nvSpPr>
          <p:cNvPr id="100008" name="S01.Stage1.Bullet3"/>
          <p:cNvSpPr/>
          <p:nvPr/>
        </p:nvSpPr>
        <p:spPr>
          <a:xfrm>
            <a:off x="5166360" y="221742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09" name="S01.Stage1.Text3"/>
          <p:cNvSpPr txBox="1"/>
          <p:nvPr/>
        </p:nvSpPr>
        <p:spPr>
          <a:xfrm>
            <a:off x="5468112" y="213969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Low performance</a:t>
            </a:r>
          </a:p>
        </p:txBody>
      </p:sp>
      <p:sp>
        <p:nvSpPr>
          <p:cNvPr id="100010" name="S01.Stage2.Panel"/>
          <p:cNvSpPr/>
          <p:nvPr/>
        </p:nvSpPr>
        <p:spPr>
          <a:xfrm>
            <a:off x="320040" y="2999232"/>
            <a:ext cx="11558016" cy="1600200"/>
          </a:xfrm>
          <a:prstGeom prst="roundRect">
            <a:avLst>
              <a:gd name="adj" fmla="val 10000"/>
            </a:avLst>
          </a:prstGeom>
          <a:solidFill>
            <a:srgbClr val="F1F5F8"/>
          </a:solidFill>
          <a:ln>
            <a:noFill/>
          </a:ln>
        </p:spPr>
        <p:txBody>
          <a:bodyPr lIns="0" tIns="0" rIns="0" bIns="0">
            <a:noAutofit/>
          </a:bodyPr>
          <a:lstStyle/>
          <a:p>
            <a:endParaRPr lang="en-US" sz="1800">
              <a:solidFill>
                <a:srgbClr val="20354A"/>
              </a:solidFill>
              <a:latin typeface="Arial"/>
              <a:ea typeface="Arial"/>
            </a:endParaRPr>
          </a:p>
        </p:txBody>
      </p:sp>
      <p:sp>
        <p:nvSpPr>
          <p:cNvPr id="100011" name="S01.Stage2.Divider"/>
          <p:cNvSpPr/>
          <p:nvPr/>
        </p:nvSpPr>
        <p:spPr>
          <a:xfrm>
            <a:off x="4585716" y="3154680"/>
            <a:ext cx="8230" cy="128930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12" name="S01.Stage2.Heading"/>
          <p:cNvSpPr txBox="1"/>
          <p:nvPr/>
        </p:nvSpPr>
        <p:spPr>
          <a:xfrm>
            <a:off x="5047488" y="3182112"/>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FPGA Prototyping</a:t>
            </a:r>
          </a:p>
        </p:txBody>
      </p:sp>
      <p:sp>
        <p:nvSpPr>
          <p:cNvPr id="100013" name="S01.Stage2.Bullet1"/>
          <p:cNvSpPr/>
          <p:nvPr/>
        </p:nvSpPr>
        <p:spPr>
          <a:xfrm>
            <a:off x="5166360" y="366217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4" name="S01.Stage2.Text1"/>
          <p:cNvSpPr txBox="1"/>
          <p:nvPr/>
        </p:nvSpPr>
        <p:spPr>
          <a:xfrm>
            <a:off x="5468112" y="358444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MHz-level execution</a:t>
            </a:r>
          </a:p>
        </p:txBody>
      </p:sp>
      <p:sp>
        <p:nvSpPr>
          <p:cNvPr id="100015" name="S01.Stage2.Bullet2"/>
          <p:cNvSpPr/>
          <p:nvPr/>
        </p:nvSpPr>
        <p:spPr>
          <a:xfrm>
            <a:off x="5166360" y="3954780"/>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6" name="S01.Stage2.Text2"/>
          <p:cNvSpPr txBox="1"/>
          <p:nvPr/>
        </p:nvSpPr>
        <p:spPr>
          <a:xfrm>
            <a:off x="5468112" y="3877056"/>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Long software workloads</a:t>
            </a:r>
          </a:p>
        </p:txBody>
      </p:sp>
      <p:sp>
        <p:nvSpPr>
          <p:cNvPr id="100017" name="S01.Stage2.Bullet3"/>
          <p:cNvSpPr/>
          <p:nvPr/>
        </p:nvSpPr>
        <p:spPr>
          <a:xfrm>
            <a:off x="5166360" y="4247388"/>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18" name="S01.Stage2.Text3"/>
          <p:cNvSpPr txBox="1"/>
          <p:nvPr/>
        </p:nvSpPr>
        <p:spPr>
          <a:xfrm>
            <a:off x="5468112" y="4169664"/>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Limited by single-FPGA capacity</a:t>
            </a:r>
          </a:p>
        </p:txBody>
      </p:sp>
      <p:sp>
        <p:nvSpPr>
          <p:cNvPr id="100019" name="S01.Stage3.Panel"/>
          <p:cNvSpPr/>
          <p:nvPr/>
        </p:nvSpPr>
        <p:spPr>
          <a:xfrm>
            <a:off x="320040" y="5020056"/>
            <a:ext cx="11558016" cy="1554480"/>
          </a:xfrm>
          <a:prstGeom prst="roundRect">
            <a:avLst>
              <a:gd name="adj" fmla="val 10000"/>
            </a:avLst>
          </a:prstGeom>
          <a:solidFill>
            <a:srgbClr val="FCF4E8"/>
          </a:solidFill>
          <a:ln>
            <a:noFill/>
          </a:ln>
        </p:spPr>
        <p:txBody>
          <a:bodyPr lIns="0" tIns="0" rIns="0" bIns="0">
            <a:noAutofit/>
          </a:bodyPr>
          <a:lstStyle/>
          <a:p>
            <a:endParaRPr lang="en-US" sz="1800">
              <a:solidFill>
                <a:srgbClr val="20354A"/>
              </a:solidFill>
              <a:latin typeface="Arial"/>
              <a:ea typeface="Arial"/>
            </a:endParaRPr>
          </a:p>
        </p:txBody>
      </p:sp>
      <p:sp>
        <p:nvSpPr>
          <p:cNvPr id="100020" name="S01.Stage3.Divider"/>
          <p:cNvSpPr/>
          <p:nvPr/>
        </p:nvSpPr>
        <p:spPr>
          <a:xfrm>
            <a:off x="4585716" y="5175504"/>
            <a:ext cx="8230" cy="1243584"/>
          </a:xfrm>
          <a:prstGeom prst="rect">
            <a:avLst/>
          </a:prstGeom>
          <a:solidFill>
            <a:srgbClr val="BDCBD4"/>
          </a:solidFill>
          <a:ln>
            <a:noFill/>
          </a:ln>
        </p:spPr>
        <p:txBody>
          <a:bodyPr lIns="0" tIns="0" rIns="0" bIns="0">
            <a:noAutofit/>
          </a:bodyPr>
          <a:lstStyle/>
          <a:p>
            <a:endParaRPr lang="en-US" sz="1800">
              <a:solidFill>
                <a:srgbClr val="20354A"/>
              </a:solidFill>
              <a:latin typeface="Arial"/>
              <a:ea typeface="Arial"/>
            </a:endParaRPr>
          </a:p>
        </p:txBody>
      </p:sp>
      <p:sp>
        <p:nvSpPr>
          <p:cNvPr id="100021" name="S01.Stage3.Heading"/>
          <p:cNvSpPr txBox="1"/>
          <p:nvPr/>
        </p:nvSpPr>
        <p:spPr>
          <a:xfrm>
            <a:off x="5047488" y="5202936"/>
            <a:ext cx="6492240" cy="365760"/>
          </a:xfrm>
          <a:prstGeom prst="rect">
            <a:avLst/>
          </a:prstGeom>
          <a:noFill/>
          <a:ln>
            <a:noFill/>
          </a:ln>
        </p:spPr>
        <p:txBody>
          <a:bodyPr lIns="0" tIns="0" rIns="0" bIns="0">
            <a:noAutofit/>
          </a:bodyPr>
          <a:lstStyle/>
          <a:p>
            <a:r>
              <a:rPr lang="en-US" sz="2200" b="1">
                <a:solidFill>
                  <a:srgbClr val="183B56"/>
                </a:solidFill>
                <a:latin typeface="Arial"/>
                <a:ea typeface="Arial"/>
              </a:rPr>
              <a:t>Multi-FPGA Prototyping</a:t>
            </a:r>
          </a:p>
        </p:txBody>
      </p:sp>
      <p:sp>
        <p:nvSpPr>
          <p:cNvPr id="100022" name="S01.Stage3.Bullet1"/>
          <p:cNvSpPr/>
          <p:nvPr/>
        </p:nvSpPr>
        <p:spPr>
          <a:xfrm>
            <a:off x="5166360" y="5682996"/>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3" name="S01.Stage3.Text1"/>
          <p:cNvSpPr txBox="1"/>
          <p:nvPr/>
        </p:nvSpPr>
        <p:spPr>
          <a:xfrm>
            <a:off x="5468112" y="5605272"/>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Partition large designs</a:t>
            </a:r>
          </a:p>
        </p:txBody>
      </p:sp>
      <p:sp>
        <p:nvSpPr>
          <p:cNvPr id="100024" name="S01.Stage3.Bullet2"/>
          <p:cNvSpPr/>
          <p:nvPr/>
        </p:nvSpPr>
        <p:spPr>
          <a:xfrm>
            <a:off x="5166360" y="5975604"/>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5" name="S01.Stage3.Text2"/>
          <p:cNvSpPr txBox="1"/>
          <p:nvPr/>
        </p:nvSpPr>
        <p:spPr>
          <a:xfrm>
            <a:off x="5468112" y="5897880"/>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Extend capacity</a:t>
            </a:r>
          </a:p>
        </p:txBody>
      </p:sp>
      <p:sp>
        <p:nvSpPr>
          <p:cNvPr id="100026" name="S01.Stage3.Bullet3"/>
          <p:cNvSpPr/>
          <p:nvPr/>
        </p:nvSpPr>
        <p:spPr>
          <a:xfrm>
            <a:off x="5166360" y="6268212"/>
            <a:ext cx="96012" cy="96012"/>
          </a:xfrm>
          <a:prstGeom prst="ellipse">
            <a:avLst/>
          </a:prstGeom>
          <a:solidFill>
            <a:srgbClr val="008C95"/>
          </a:solidFill>
          <a:ln>
            <a:noFill/>
          </a:ln>
        </p:spPr>
        <p:txBody>
          <a:bodyPr lIns="0" tIns="0" rIns="0" bIns="0">
            <a:noAutofit/>
          </a:bodyPr>
          <a:lstStyle/>
          <a:p>
            <a:endParaRPr lang="en-US" sz="1800">
              <a:solidFill>
                <a:srgbClr val="20354A"/>
              </a:solidFill>
              <a:latin typeface="Arial"/>
              <a:ea typeface="Arial"/>
            </a:endParaRPr>
          </a:p>
        </p:txBody>
      </p:sp>
      <p:sp>
        <p:nvSpPr>
          <p:cNvPr id="100027" name="S01.Stage3.Text3"/>
          <p:cNvSpPr txBox="1"/>
          <p:nvPr/>
        </p:nvSpPr>
        <p:spPr>
          <a:xfrm>
            <a:off x="5468112" y="6190488"/>
            <a:ext cx="6126480" cy="292608"/>
          </a:xfrm>
          <a:prstGeom prst="rect">
            <a:avLst/>
          </a:prstGeom>
          <a:noFill/>
          <a:ln>
            <a:noFill/>
          </a:ln>
        </p:spPr>
        <p:txBody>
          <a:bodyPr lIns="0" tIns="0" rIns="0" bIns="0">
            <a:noAutofit/>
          </a:bodyPr>
          <a:lstStyle/>
          <a:p>
            <a:r>
              <a:rPr lang="en-US" sz="1800">
                <a:solidFill>
                  <a:srgbClr val="20354A"/>
                </a:solidFill>
                <a:latin typeface="Arial"/>
                <a:ea typeface="Arial"/>
              </a:rPr>
              <a:t>Enable large-scale SoC execution</a:t>
            </a:r>
          </a:p>
        </p:txBody>
      </p:sp>
      <p:sp>
        <p:nvSpPr>
          <p:cNvPr id="100028" name="S01.Progress1"/>
          <p:cNvSpPr/>
          <p:nvPr/>
        </p:nvSpPr>
        <p:spPr>
          <a:xfrm>
            <a:off x="5824728" y="2574036"/>
            <a:ext cx="557784" cy="416052"/>
          </a:xfrm>
          <a:prstGeom prst="downArrow">
            <a:avLst>
              <a:gd name="adj1" fmla="val 48000"/>
              <a:gd name="adj2" fmla="val 55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29" name="S01.Progress2"/>
          <p:cNvSpPr/>
          <p:nvPr/>
        </p:nvSpPr>
        <p:spPr>
          <a:xfrm>
            <a:off x="5824728" y="4604004"/>
            <a:ext cx="557784" cy="406908"/>
          </a:xfrm>
          <a:prstGeom prst="downArrow">
            <a:avLst>
              <a:gd name="adj1" fmla="val 48000"/>
              <a:gd name="adj2" fmla="val 55000"/>
            </a:avLst>
          </a:prstGeom>
          <a:solidFill>
            <a:srgbClr val="91A5B5"/>
          </a:solidFill>
          <a:ln>
            <a:noFill/>
          </a:ln>
        </p:spPr>
        <p:txBody>
          <a:bodyPr lIns="0" tIns="0" rIns="0" bIns="0">
            <a:noAutofit/>
          </a:bodyPr>
          <a:lstStyle/>
          <a:p>
            <a:endParaRPr lang="en-US" sz="1800">
              <a:solidFill>
                <a:srgbClr val="20354A"/>
              </a:solidFill>
              <a:latin typeface="Arial"/>
              <a:ea typeface="Arial"/>
            </a:endParaRPr>
          </a:p>
        </p:txBody>
      </p:sp>
      <p:pic>
        <p:nvPicPr>
          <p:cNvPr id="100030" name="S01.Monitor" descr="Waveform monitor"/>
          <p:cNvPicPr>
            <a:picLocks noChangeAspect="1"/>
          </p:cNvPicPr>
          <p:nvPr/>
        </p:nvPicPr>
        <p:blipFill>
          <a:blip xmlns:r="http://schemas.openxmlformats.org/officeDocument/2006/relationships" r:embed="R65d3e6a315c44c49"/>
          <a:srcRect l="12280" t="25518" r="12200" b="19936"/>
          <a:stretch>
            <a:fillRect/>
          </a:stretch>
        </p:blipFill>
        <p:spPr>
          <a:xfrm>
            <a:off x="1737360" y="1175004"/>
            <a:ext cx="1682496" cy="1215235"/>
          </a:xfrm>
          <a:prstGeom prst="rect">
            <a:avLst/>
          </a:prstGeom>
        </p:spPr>
      </p:pic>
      <p:pic>
        <p:nvPicPr>
          <p:cNvPr id="100031" name="S01.SingleFPGA" descr="FPGA chip"/>
          <p:cNvPicPr>
            <a:picLocks noChangeAspect="1"/>
          </p:cNvPicPr>
          <p:nvPr/>
        </p:nvPicPr>
        <p:blipFill>
          <a:blip xmlns:r="http://schemas.openxmlformats.org/officeDocument/2006/relationships" r:embed="Rc3daf020571c4aa5"/>
          <a:srcRect l="21371" t="23684" r="21291" b="20972"/>
          <a:stretch>
            <a:fillRect/>
          </a:stretch>
        </p:blipFill>
        <p:spPr>
          <a:xfrm>
            <a:off x="1965960" y="3209544"/>
            <a:ext cx="1225296" cy="1182692"/>
          </a:xfrm>
          <a:prstGeom prst="rect">
            <a:avLst/>
          </a:prstGeom>
        </p:spPr>
      </p:pic>
      <p:pic>
        <p:nvPicPr>
          <p:cNvPr id="100032" name="S01.MultiFPGA.Left" descr="FPGA chip"/>
          <p:cNvPicPr>
            <a:picLocks noChangeAspect="1"/>
          </p:cNvPicPr>
          <p:nvPr/>
        </p:nvPicPr>
        <p:blipFill>
          <a:blip xmlns:r="http://schemas.openxmlformats.org/officeDocument/2006/relationships" r:embed="R17646a6781ab4f24"/>
          <a:srcRect l="21371" t="23684" r="21291" b="20972"/>
          <a:stretch>
            <a:fillRect/>
          </a:stretch>
        </p:blipFill>
        <p:spPr>
          <a:xfrm>
            <a:off x="1024128" y="5321808"/>
            <a:ext cx="1024128" cy="988519"/>
          </a:xfrm>
          <a:prstGeom prst="rect">
            <a:avLst/>
          </a:prstGeom>
        </p:spPr>
      </p:pic>
      <p:pic>
        <p:nvPicPr>
          <p:cNvPr id="100033" name="S01.MultiFPGA.Right" descr="FPGA chip"/>
          <p:cNvPicPr>
            <a:picLocks noChangeAspect="1"/>
          </p:cNvPicPr>
          <p:nvPr/>
        </p:nvPicPr>
        <p:blipFill>
          <a:blip xmlns:r="http://schemas.openxmlformats.org/officeDocument/2006/relationships" r:embed="R9548d3dd9b064b29"/>
          <a:srcRect l="21371" t="23684" r="21291" b="20972"/>
          <a:stretch>
            <a:fillRect/>
          </a:stretch>
        </p:blipFill>
        <p:spPr>
          <a:xfrm>
            <a:off x="3035808" y="5321808"/>
            <a:ext cx="1024128" cy="988519"/>
          </a:xfrm>
          <a:prstGeom prst="rect">
            <a:avLst/>
          </a:prstGeom>
        </p:spPr>
      </p:pic>
      <p:sp>
        <p:nvSpPr>
          <p:cNvPr id="100034" name="S01.MultiFPGA.Link"/>
          <p:cNvSpPr/>
          <p:nvPr/>
        </p:nvSpPr>
        <p:spPr>
          <a:xfrm>
            <a:off x="2093976" y="5655564"/>
            <a:ext cx="896112" cy="310896"/>
          </a:xfrm>
          <a:prstGeom prst="leftRightArrow">
            <a:avLst>
              <a:gd name="adj1" fmla="val 44000"/>
              <a:gd name="adj2" fmla="val 28000"/>
            </a:avLst>
          </a:prstGeom>
          <a:solidFill>
            <a:srgbClr val="DF973E"/>
          </a:solidFill>
          <a:ln>
            <a:noFill/>
          </a:ln>
        </p:spPr>
        <p:txBody>
          <a:bodyPr lIns="0" tIns="0" rIns="0" bIns="0">
            <a:noAutofit/>
          </a:bodyPr>
          <a:lstStyle/>
          <a:p>
            <a:endParaRPr lang="en-US" sz="1800">
              <a:solidFill>
                <a:srgbClr val="20354A"/>
              </a:solidFill>
              <a:latin typeface="Arial"/>
              <a:ea typeface="Arial"/>
            </a:endParaRPr>
          </a:p>
        </p:txBody>
      </p:sp>
      <p:sp>
        <p:nvSpPr>
          <p:cNvPr id="100035" name="S01.PageNumber"/>
          <p:cNvSpPr txBox="1"/>
          <p:nvPr/>
        </p:nvSpPr>
        <p:spPr>
          <a:xfrm>
            <a:off x="11631168" y="6629400"/>
            <a:ext cx="228600" cy="182880"/>
          </a:xfrm>
          <a:prstGeom prst="rect">
            <a:avLst/>
          </a:prstGeom>
          <a:noFill/>
          <a:ln>
            <a:noFill/>
          </a:ln>
        </p:spPr>
        <p:txBody>
          <a:bodyPr lIns="0" tIns="0" rIns="0" bIns="0">
            <a:noAutofit/>
          </a:bodyPr>
          <a:lstStyle/>
          <a:p>
            <a:pPr algn="r"/>
            <a:r>
              <a:rPr lang="en-US" sz="1000">
                <a:solidFill>
                  <a:srgbClr val="607184"/>
                </a:solidFill>
                <a:latin typeface="Arial"/>
                <a:ea typeface="Arial"/>
              </a:rPr>
              <a:t>1</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183B56"/>
      </a:accent1>
      <a:accent2>
        <a:srgbClr val="008C95"/>
      </a:accent2>
      <a:accent3>
        <a:srgbClr val="DF973E"/>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majorFont>
      <a:minorFont>
        <a:latin typeface="Arial"/>
        <a:ea typeface=""/>
        <a:cs typeface=""/>
      </a:minorFont>
    </a:fontScheme>
    <a:fmtScheme name="Office">
      <a:fillStyleLst>
        <a:solidFill>
          <a:schemeClr val="phClr"/>
        </a:solidFill>
        <a:solidFill>
          <a:schemeClr val="phClr"/>
        </a:solidFill>
        <a:solidFill>
          <a:schemeClr val="phClr"/>
        </a:solidFill>
      </a:fillStyleLst>
      <a:lnStyleLst>
        <a:ln w="6350" cap="flat">
          <a:solidFill>
            <a:schemeClr val="phClr"/>
          </a:solidFill>
        </a:ln>
        <a:ln w="12700" cap="flat">
          <a:solidFill>
            <a:schemeClr val="phClr"/>
          </a:solidFill>
        </a:ln>
        <a:ln w="19050" cap="flat">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ap:Properties xmlns:ap="http://schemas.openxmlformats.org/officeDocument/2006/extended-properties">
  <ap:Application>OfficeCLI/1.0.156</ap:Application>
</ap:Properties>
</file>

<file path=docProps/core.xml><?xml version="1.0" encoding="utf-8"?>
<coreProperties xmlns:dc="http://purl.org/dc/elements/1.1/" xmlns:dcterms="http://purl.org/dc/terms/" xmlns:xsi="http://www.w3.org/2001/XMLSchema-instance" xmlns="http://schemas.openxmlformats.org/package/2006/metadata/core-properties">
  <dc:creator>OfficeCLI</dc:creator>
  <dcterms:created xsi:type="dcterms:W3CDTF">2026-10-29T08:00:55.0000000Z</dcterms:created>
  <lastModifiedBy>OfficeCLI</lastModifiedBy>
  <dcterms:modified xsi:type="dcterms:W3CDTF">2026-10-29T08:00:55.8841854Z</dcterms:modified>
</coreProperties>
</file>

<file path=docProps/custom.xml><?xml version="1.0" encoding="utf-8"?>
<op:Properties xmlns:op="http://schemas.openxmlformats.org/officeDocument/2006/custom-properties">
  <op:property fmtid="{D5CDD505-2E9C-101B-9397-08002B2CF9AE}" pid="2" name="OfficeCLI.Version">
    <vt:lpwstr xmlns:vt="http://schemas.openxmlformats.org/officeDocument/2006/docPropsVTypes">1.0.156</vt:lpwstr>
  </op:property>
  <op:property fmtid="{D5CDD505-2E9C-101B-9397-08002B2CF9AE}" pid="3" name="OfficeCLI.LastModified">
    <vt:lpwstr xmlns:vt="http://schemas.openxmlformats.org/officeDocument/2006/docPropsVTypes">2026-10-29T08:00:58Z</vt:lpwstr>
  </op:property>
</op:Properties>
</file>