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9c3e3a397694d49" /><Relationship Type="http://schemas.openxmlformats.org/package/2006/relationships/metadata/core-properties" Target="/docProps/core.xml" Id="Rde7907c79b484c7f" /><Relationship Type="http://schemas.openxmlformats.org/officeDocument/2006/relationships/extended-properties" Target="/docProps/app.xml" Id="R6564de44a28140bb" /><Relationship Type="http://schemas.openxmlformats.org/officeDocument/2006/relationships/custom-properties" Target="/docProps/custom.xml" Id="R9766631ba2dc4ec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1fac4928d6b24a4a"/>
  </p:notesMasterIdLst>
  <p:sldIdLst>
    <p:sldId id="256" r:id="R3e9a999a88f54372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3e9a999a88f54372" /><Relationship Type="http://schemas.openxmlformats.org/officeDocument/2006/relationships/notesMaster" Target="/ppt/notesMasters/notesMaster1.xml" Id="R1fac4928d6b24a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c43182a3e4e47ee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daab48d28984c14" /><Relationship Type="http://schemas.openxmlformats.org/officeDocument/2006/relationships/slide" Target="/ppt/slides/slide1.xml" Id="R0cdf0d32d52b43f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REMUS builds on DUOHUAFEN's LI-TDM for cycle-accurate execution. The first-stage receive and last-stage send are omitted to reduce redundant communication; this is a protocol optimization, not a measured percentage speedup. Keep these implementation details in the narration. For global pause, the Host collects all receive-barrier acknowledgements before sampling stable counters. Barrier acknowledgement alone is not a valid global pause. In the illustrative example, B is at 41 and A at 42. The common target is 43; configure two steps for B and one for A while barriers remain held, then release B before A. LI-TDM dependencies still apply. Finally check stopped/pause status and final counters on all partitions. Equal logical cycles do not imply simultaneous physical stops or prove all-state equivalence. Required propagation must finish. The diagram's shared arrows are a simplified visual summary of Host operations on each partition, not FPGA-to-FPGA forwarding of Host commands. The cycle numbers are illustrative, not experimental data. Source: src/midterm/progress/cycle_control.tex. The right illustration is intentionally a raster crop per user request; the title, left text and page number are editable. The three requested supplementary callouts from the design reference are omitted.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fb9b279f434ec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7fe9f08939409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3d96740581402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4089c5ad40496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d17cf04ebf41ce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f757c4e7f03845dc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22d9f3125c4c5c" /><Relationship Type="http://schemas.openxmlformats.org/officeDocument/2006/relationships/image" Target="/ppt/media/image.png" Id="Rea51772dd4ee4e21" /><Relationship Type="http://schemas.openxmlformats.org/officeDocument/2006/relationships/notesSlide" Target="/ppt/notesSlides/notesSlide1.xml" Id="R9ff216a9629f45b4" 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06.Title"/>
          <p:cNvSpPr/>
          <p:nvPr>
            <p:ph type="title"/>
          </p:nvPr>
        </p:nvSpPr>
        <p:spPr>
          <a:xfrm xmlns:a="http://schemas.openxmlformats.org/drawingml/2006/main">
            <a:off x="320040" y="128016"/>
            <a:ext cx="11558016" cy="493776"/>
          </a:xfrm>
          <a:noFill/>
          <a:ln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83B56"/>
                </a:solidFill>
                <a:latin typeface="Arial"/>
                <a:ea typeface="Arial"/>
              </a:rPr>
              <a:t>6. Cycle-Accurate Execution and Global Pause</a:t>
            </a:r>
          </a:p>
        </p:txBody>
      </p:sp>
      <p:sp>
        <p:nvSpPr>
          <p:cNvPr id="100000" name="S06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06.Execution.Heading"/>
          <p:cNvSpPr txBox="1"/>
          <p:nvPr/>
        </p:nvSpPr>
        <p:spPr>
          <a:xfrm>
            <a:off x="320040" y="1143000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Cycle-Accurate Execution</a:t>
            </a:r>
          </a:p>
        </p:txBody>
      </p:sp>
      <p:sp>
        <p:nvSpPr>
          <p:cNvPr id="100002" name="S06.Execution.Bullet1"/>
          <p:cNvSpPr/>
          <p:nvPr/>
        </p:nvSpPr>
        <p:spPr>
          <a:xfrm>
            <a:off x="411480" y="1956816"/>
            <a:ext cx="82296" cy="822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3" name="S06.Execution.Text1"/>
          <p:cNvSpPr txBox="1"/>
          <p:nvPr/>
        </p:nvSpPr>
        <p:spPr>
          <a:xfrm>
            <a:off x="621792" y="1856232"/>
            <a:ext cx="3273552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LI-TDM-based execution</a:t>
            </a:r>
          </a:p>
        </p:txBody>
      </p:sp>
      <p:sp>
        <p:nvSpPr>
          <p:cNvPr id="100004" name="S06.Execution.Bullet2"/>
          <p:cNvSpPr/>
          <p:nvPr/>
        </p:nvSpPr>
        <p:spPr>
          <a:xfrm>
            <a:off x="411480" y="2432304"/>
            <a:ext cx="82296" cy="822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5" name="S06.Execution.Text2"/>
          <p:cNvSpPr txBox="1"/>
          <p:nvPr/>
        </p:nvSpPr>
        <p:spPr>
          <a:xfrm>
            <a:off x="621792" y="2331720"/>
            <a:ext cx="3273552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Optimized communication flow</a:t>
            </a:r>
          </a:p>
        </p:txBody>
      </p:sp>
      <p:sp>
        <p:nvSpPr>
          <p:cNvPr id="100006" name="S06.Execution.Attribution"/>
          <p:cNvSpPr txBox="1"/>
          <p:nvPr/>
        </p:nvSpPr>
        <p:spPr>
          <a:xfrm>
            <a:off x="621792" y="2862072"/>
            <a:ext cx="3273552" cy="34747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400">
                <a:solidFill>
                  <a:srgbClr val="607184"/>
                </a:solidFill>
                <a:latin typeface="Arial"/>
                <a:ea typeface="Arial"/>
              </a:rPr>
              <a:t>Based on DUOHUAFEN</a:t>
            </a:r>
          </a:p>
        </p:txBody>
      </p:sp>
      <p:sp>
        <p:nvSpPr>
          <p:cNvPr id="100007" name="S06.Pause.Heading"/>
          <p:cNvSpPr txBox="1"/>
          <p:nvPr/>
        </p:nvSpPr>
        <p:spPr>
          <a:xfrm>
            <a:off x="320040" y="3767328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Cycle-Consistent Pause</a:t>
            </a:r>
          </a:p>
        </p:txBody>
      </p:sp>
      <p:sp>
        <p:nvSpPr>
          <p:cNvPr id="100008" name="S06.Pause.Number1"/>
          <p:cNvSpPr/>
          <p:nvPr/>
        </p:nvSpPr>
        <p:spPr>
          <a:xfrm>
            <a:off x="393192" y="4498848"/>
            <a:ext cx="292608" cy="29260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00009" name="S06.Pause.Text1"/>
          <p:cNvSpPr txBox="1"/>
          <p:nvPr/>
        </p:nvSpPr>
        <p:spPr>
          <a:xfrm>
            <a:off x="832104" y="4489704"/>
            <a:ext cx="3044952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Stabilize progress</a:t>
            </a:r>
          </a:p>
        </p:txBody>
      </p:sp>
      <p:sp>
        <p:nvSpPr>
          <p:cNvPr id="100010" name="S06.Pause.Number2"/>
          <p:cNvSpPr/>
          <p:nvPr/>
        </p:nvSpPr>
        <p:spPr>
          <a:xfrm>
            <a:off x="393192" y="5010912"/>
            <a:ext cx="292608" cy="29260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00011" name="S06.Pause.Text2"/>
          <p:cNvSpPr txBox="1"/>
          <p:nvPr/>
        </p:nvSpPr>
        <p:spPr>
          <a:xfrm>
            <a:off x="832104" y="5001768"/>
            <a:ext cx="3044952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Set a common target</a:t>
            </a:r>
          </a:p>
        </p:txBody>
      </p:sp>
      <p:sp>
        <p:nvSpPr>
          <p:cNvPr id="100012" name="S06.Pause.Number3"/>
          <p:cNvSpPr/>
          <p:nvPr/>
        </p:nvSpPr>
        <p:spPr>
          <a:xfrm>
            <a:off x="393192" y="5522976"/>
            <a:ext cx="292608" cy="29260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00013" name="S06.Pause.Text3"/>
          <p:cNvSpPr txBox="1"/>
          <p:nvPr/>
        </p:nvSpPr>
        <p:spPr>
          <a:xfrm>
            <a:off x="832104" y="5513832"/>
            <a:ext cx="3044952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Advance and verify</a:t>
            </a:r>
          </a:p>
        </p:txBody>
      </p:sp>
      <p:pic>
        <p:nvPicPr>
          <p:cNvPr id="100014" name="S06.Pause.Illustration" descr="Illustrative global-pause coordination: receive barriers stabilize FPGA B at cycle 41 and FPGA A at 42; Host configures target 43, releases B before A, and verifies both stopped at cycle 43."/>
          <p:cNvPicPr>
            <a:picLocks noChangeAspect="1"/>
          </p:cNvPicPr>
          <p:nvPr/>
        </p:nvPicPr>
        <p:blipFill>
          <a:blip xmlns:r="http://schemas.openxmlformats.org/officeDocument/2006/relationships" r:embed="Rea51772dd4ee4e21"/>
          <a:srcRect l="35526" t="12752" r="1076" b="9670"/>
          <a:stretch>
            <a:fillRect/>
          </a:stretch>
        </p:blipFill>
        <p:spPr>
          <a:xfrm>
            <a:off x="4114800" y="1024128"/>
            <a:ext cx="7754112" cy="5340096"/>
          </a:xfrm>
          <a:prstGeom prst="rect">
            <a:avLst/>
          </a:prstGeom>
        </p:spPr>
      </p:pic>
      <p:sp>
        <p:nvSpPr>
          <p:cNvPr id="100015" name="S06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607184"/>
                </a:solidFill>
                <a:latin typeface="Arial"/>
                <a:ea typeface="Arial"/>
              </a:rPr>
              <a:t>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OfficeCLI/1.0.156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2026-10-28T09:49:58.0000000Z</dcterms:created>
  <lastModifiedBy>OfficeCLI</lastModifiedBy>
  <dcterms:modified xsi:type="dcterms:W3CDTF">2026-10-28T09:49:59.1577914Z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1.0.156</vt:lpwstr>
  </op:property>
  <op:property fmtid="{D5CDD505-2E9C-101B-9397-08002B2CF9AE}" pid="3" name="OfficeCLI.LastModified">
    <vt:lpwstr xmlns:vt="http://schemas.openxmlformats.org/officeDocument/2006/docPropsVTypes">2026-10-28T09:50:01Z</vt:lpwstr>
  </op:property>
</op:Properties>
</file>