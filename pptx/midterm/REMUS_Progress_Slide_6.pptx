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4b4d45d612945f5" /><Relationship Type="http://schemas.openxmlformats.org/package/2006/relationships/metadata/core-properties" Target="/docProps/core.xml" Id="R00727b0251b341a8" /><Relationship Type="http://schemas.openxmlformats.org/officeDocument/2006/relationships/extended-properties" Target="/docProps/app.xml" Id="Rd3a2982110ab4ed3" /><Relationship Type="http://schemas.openxmlformats.org/officeDocument/2006/relationships/custom-properties" Target="/docProps/custom.xml" Id="Rd64eef1293b74ea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f26bd88ac384b1f"/>
  </p:notesMasterIdLst>
  <p:sldIdLst>
    <p:sldId id="256" r:id="R70c63acfe049485b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0c63acfe049485b" /><Relationship Type="http://schemas.openxmlformats.org/officeDocument/2006/relationships/notesMaster" Target="/ppt/notesMasters/notesMaster1.xml" Id="R0f26bd88ac384b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58332f380045d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181015a1cf482a" /><Relationship Type="http://schemas.openxmlformats.org/officeDocument/2006/relationships/slide" Target="/ppt/slides/slide1.xml" Id="R2700eb5abfae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REMUS builds on DUOHUAFEN's LI-TDM for cycle-accurate execution. The first-stage receive and last-stage send are omitted to reduce redundant communication; this is a protocol optimization, not a measured percentage speedup. Keep these implementation details in the narration. For global pause, the Host collects all receive-barrier acknowledgements before sampling stable counters. Barrier acknowledgement alone is not a valid global pause. In the illustrative example, B is at 41 and A at 42. The common target is 43; configure two steps for B and one for A while barriers remain held, then release B before A. LI-TDM dependencies still apply. Finally check stopped/pause status and final counters on all partitions. Equal logical cycles do not imply simultaneous physical stops or prove all-state equivalence. Required propagation must finish. The diagram's shared arrows are a simplified visual summary of Host operations on each partition, not FPGA-to-FPGA forwarding of Host commands. The cycle numbers are illustrative, not experimental data. Source: src/midterm/progress/cycle_control.tex. The right illustration is intentionally a raster crop per user request; the title, left text and page number are editable. The three requested supplementary callouts from the design reference are omitted. Reference [1]: G. Zhu. Cross-Node Deployment of Digital Logic Design for FPGA Cloud. Master's thesis, ShanghaiTech University, 2024.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939331a394b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87f36980844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f18cb7d514b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9ad7bd4fc45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fbe8ff8f348c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9ebfaf32fc241b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168861a4c4c01" /><Relationship Type="http://schemas.openxmlformats.org/officeDocument/2006/relationships/image" Target="/ppt/media/image.png" Id="Rc6f3db6c3e55461b" /><Relationship Type="http://schemas.openxmlformats.org/officeDocument/2006/relationships/notesSlide" Target="/ppt/notesSlides/notesSlide1.xml" Id="R802757095b7148e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xmlns:a="http://schemas.openxmlformats.org/drawingml/2006/main" xmlns:p="http://schemas.openxmlformats.org/presentationml/2006/main" xmlns:r="http://schemas.openxmlformats.org/officeDocument/2006/relationships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6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>
            <a:pPr algn="l">
              <a:lnSpc>
                <a:spcPct val="90000"/>
              </a:lnSpc>
              <a:defRPr sz="3000" b="1">
                <a:solidFill>
                  <a:srgbClr val="183B56"/>
                </a:solidFill>
                <a:latin typeface="Arial"/>
                <a:ea typeface="Arial"/>
              </a:defRPr>
            </a:pPr>
            <a:r>
              <a:rPr sz="3000" b="1">
                <a:solidFill>
                  <a:srgbClr val="183B56"/>
                </a:solidFill>
                <a:latin typeface="Arial"/>
              </a:rPr>
              <a:t>Pregress1:  Cycle-Accurate Execution and Global Pause</a:t>
            </a:r>
          </a:p>
        </p:txBody>
      </p:sp>
      <p:sp>
        <p:nvSpPr>
          <p:cNvPr id="100000" name="S06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1" name="S06.Execution.Heading"/>
          <p:cNvSpPr txBox="1"/>
          <p:nvPr/>
        </p:nvSpPr>
        <p:spPr>
          <a:xfrm>
            <a:off x="320040" y="11430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Cycle-Accurate Execution</a:t>
            </a:r>
          </a:p>
        </p:txBody>
      </p:sp>
      <p:sp>
        <p:nvSpPr>
          <p:cNvPr id="100003" name="S06.Execution.Text1"/>
          <p:cNvSpPr txBox="1"/>
          <p:nvPr/>
        </p:nvSpPr>
        <p:spPr>
          <a:xfrm>
            <a:off x="424844" y="1856232"/>
            <a:ext cx="3642111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85750" indent="-285750" algn="l">
              <a:buFont xmlns:a="http://schemas.openxmlformats.org/drawingml/2006/main" typeface="Arial" panose="020B0604020202020204" pitchFamily="34" charset="0"/>
              <a:buChar xmlns:a="http://schemas.openxmlformats.org/drawingml/2006/main" char="•"/>
              <a:defRPr sz="1800" b="0">
                <a:solidFill>
                  <a:srgbClr val="20354A"/>
                </a:solidFill>
                <a:latin typeface="Arial"/>
                <a:ea typeface="Arial"/>
              </a:defRPr>
            </a:pPr>
            <a:r>
              <a:rPr lang="en-US">
                <a:solidFill>
                  <a:srgbClr val="20354A"/>
                </a:solidFill>
                <a:latin typeface="Arial"/>
              </a:rPr>
              <a:t>Execution b</a:t>
            </a:r>
            <a:r>
              <a:rPr lang="en-US" sz="1800">
                <a:solidFill>
                  <a:srgbClr val="20354A"/>
                </a:solidFill>
                <a:latin typeface="Arial"/>
              </a:rPr>
              <a:t>ased on DUOHUAFEN LI-TDM</a:t>
            </a:r>
            <a:r>
              <a:rPr lang="en-US" baseline="30000">
                <a:solidFill>
                  <a:srgbClr val="20354A"/>
                </a:solidFill>
                <a:latin typeface="Arial"/>
              </a:rPr>
              <a:t>[1]</a:t>
            </a:r>
          </a:p>
        </p:txBody>
      </p:sp>
      <p:sp>
        <p:nvSpPr>
          <p:cNvPr id="100005" name="S06.Execution.Text2"/>
          <p:cNvSpPr txBox="1"/>
          <p:nvPr/>
        </p:nvSpPr>
        <p:spPr>
          <a:xfrm>
            <a:off x="406556" y="2589160"/>
            <a:ext cx="3552795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85750" indent="-285750" algn="l">
              <a:buFont xmlns:a="http://schemas.openxmlformats.org/drawingml/2006/main" typeface="Arial" panose="020B0604020202020204" pitchFamily="34" charset="0"/>
              <a:buChar xmlns:a="http://schemas.openxmlformats.org/drawingml/2006/main" char="•"/>
              <a:defRPr sz="1800" b="0">
                <a:solidFill>
                  <a:srgbClr val="20354A"/>
                </a:solidFill>
                <a:latin typeface="Arial"/>
                <a:ea typeface="Arial"/>
              </a:defRPr>
            </a:pPr>
            <a:r>
              <a:rPr sz="1800">
                <a:solidFill>
                  <a:srgbClr val="20354A"/>
                </a:solidFill>
                <a:latin typeface="Arial"/>
              </a:rPr>
              <a:t>Optimized communication flow</a:t>
            </a:r>
          </a:p>
        </p:txBody>
      </p:sp>
      <p:sp>
        <p:nvSpPr>
          <p:cNvPr id="100007" name="S06.Pause.Heading"/>
          <p:cNvSpPr txBox="1"/>
          <p:nvPr/>
        </p:nvSpPr>
        <p:spPr>
          <a:xfrm>
            <a:off x="320040" y="4028585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Cycle-Consistent Pause</a:t>
            </a:r>
          </a:p>
        </p:txBody>
      </p:sp>
      <p:sp>
        <p:nvSpPr>
          <p:cNvPr id="100008" name="S06.Pause.Number1"/>
          <p:cNvSpPr/>
          <p:nvPr/>
        </p:nvSpPr>
        <p:spPr>
          <a:xfrm>
            <a:off x="393192" y="4760105"/>
            <a:ext cx="292608" cy="29260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0009" name="S06.Pause.Text1"/>
          <p:cNvSpPr txBox="1"/>
          <p:nvPr/>
        </p:nvSpPr>
        <p:spPr>
          <a:xfrm>
            <a:off x="832104" y="4750961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20354A"/>
                </a:solidFill>
                <a:latin typeface="Arial"/>
                <a:ea typeface="Arial"/>
              </a:rPr>
              <a:t>Stabilize progress</a:t>
            </a:r>
          </a:p>
        </p:txBody>
      </p:sp>
      <p:sp>
        <p:nvSpPr>
          <p:cNvPr id="100010" name="S06.Pause.Number2"/>
          <p:cNvSpPr/>
          <p:nvPr/>
        </p:nvSpPr>
        <p:spPr>
          <a:xfrm>
            <a:off x="393192" y="5272169"/>
            <a:ext cx="292608" cy="29260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011" name="S06.Pause.Text2"/>
          <p:cNvSpPr txBox="1"/>
          <p:nvPr/>
        </p:nvSpPr>
        <p:spPr>
          <a:xfrm>
            <a:off x="832104" y="5263025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20354A"/>
                </a:solidFill>
                <a:latin typeface="Arial"/>
                <a:ea typeface="Arial"/>
              </a:rPr>
              <a:t>Set a common target</a:t>
            </a:r>
          </a:p>
        </p:txBody>
      </p:sp>
      <p:sp>
        <p:nvSpPr>
          <p:cNvPr id="100012" name="S06.Pause.Number3"/>
          <p:cNvSpPr/>
          <p:nvPr/>
        </p:nvSpPr>
        <p:spPr>
          <a:xfrm>
            <a:off x="393192" y="5784233"/>
            <a:ext cx="292608" cy="29260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13" name="S06.Pause.Text3"/>
          <p:cNvSpPr txBox="1"/>
          <p:nvPr/>
        </p:nvSpPr>
        <p:spPr>
          <a:xfrm>
            <a:off x="832104" y="5775089"/>
            <a:ext cx="3044952" cy="4389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20354A"/>
                </a:solidFill>
                <a:latin typeface="Arial"/>
                <a:ea typeface="Arial"/>
              </a:rPr>
              <a:t>Advance and verify</a:t>
            </a:r>
          </a:p>
        </p:txBody>
      </p:sp>
      <p:pic>
        <p:nvPicPr>
          <p:cNvPr id="100014" name="S06.Pause.Illustration" descr="Illustrative global-pause coordination: receive barriers stabilize FPGA B at cycle 41 and FPGA A at 42; Host configures target 43, releases B before A, and verifies both stopped at cycle 43."/>
          <p:cNvPicPr>
            <a:picLocks noChangeAspect="1"/>
          </p:cNvPicPr>
          <p:nvPr/>
        </p:nvPicPr>
        <p:blipFill>
          <a:blip xmlns:r="http://schemas.openxmlformats.org/officeDocument/2006/relationships" r:embed="Rc6f3db6c3e55461b"/>
          <a:srcRect l="35526" t="12752" r="1076" b="13846"/>
          <a:stretch>
            <a:fillRect/>
          </a:stretch>
        </p:blipFill>
        <p:spPr>
          <a:xfrm>
            <a:off x="4123944" y="1186107"/>
            <a:ext cx="7754112" cy="5052713"/>
          </a:xfrm>
          <a:prstGeom prst="rect">
            <a:avLst/>
          </a:prstGeom>
        </p:spPr>
      </p:pic>
      <p:sp>
        <p:nvSpPr>
          <p:cNvPr id="100015" name="S06.PageNumber"/>
          <p:cNvSpPr txBox="1"/>
          <p:nvPr/>
        </p:nvSpPr>
        <p:spPr>
          <a:xfrm>
            <a:off x="11631168" y="6629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/>
            <a:r>
              <a:rPr lang="en-US" sz="1000">
                <a:solidFill>
                  <a:srgbClr val="607184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100016" name="S06.Execution.Reduction"/>
          <p:cNvSpPr txBox="1"/>
          <p:nvPr/>
        </p:nvSpPr>
        <p:spPr>
          <a:xfrm>
            <a:off x="406556" y="3163824"/>
            <a:ext cx="3552795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285750" indent="-285750">
              <a:buFont xmlns:a="http://schemas.openxmlformats.org/drawingml/2006/main" typeface="Arial" panose="020B0604020202020204" pitchFamily="34" charset="0"/>
              <a:buChar xmlns:a="http://schemas.openxmlformats.org/drawingml/2006/main" char="•"/>
              <a:defRPr>
                <a:solidFill>
                  <a:srgbClr val="20354A"/>
                </a:solidFill>
              </a:defRPr>
            </a:pPr>
            <a:r>
              <a:rPr lang="en-US">
                <a:solidFill>
                  <a:srgbClr val="20354A"/>
                </a:solidFill>
              </a:rPr>
              <a:t>Reduce once</a:t>
            </a:r>
            <a:r>
              <a:rPr lang="en-US">
                <a:solidFill>
                  <a:srgbClr val="20354A"/>
                </a:solidFill>
              </a:rPr>
              <a:t xml:space="preserve"> </a:t>
            </a:r>
            <a:r>
              <a:rPr lang="en-US">
                <a:solidFill>
                  <a:srgbClr val="20354A"/>
                </a:solidFill>
              </a:rPr>
              <a:t>data exchange  per cycle</a:t>
            </a:r>
          </a:p>
        </p:txBody>
      </p:sp>
      <p:sp>
        <p:nvSpPr>
          <p:cNvPr id="100017" name="S06.Reference1"/>
          <p:cNvSpPr txBox="1"/>
          <p:nvPr/>
        </p:nvSpPr>
        <p:spPr>
          <a:xfrm>
            <a:off x="365760" y="6455664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000">
                <a:solidFill>
                  <a:srgbClr val="607184"/>
                </a:solidFill>
                <a:latin typeface="Arial"/>
                <a:ea typeface="Arial"/>
              </a:rPr>
              <a:t>[1] G. Zhu. Cross-Node Deployment of Digital Logic Design for FPGA Cloud. Master's thesis, ShanghaiTech University, 2024.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2026-10-29T08:01:11.0000000Z</dcterms:created>
  <lastModifiedBy>OfficeCLI</lastModifiedBy>
  <dcterms:modified xsi:type="dcterms:W3CDTF">2026-10-29T08:01:12.2240156Z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2026-10-29T08:01:15Z</vt:lpwstr>
  </op:property>
</op:Properties>
</file>