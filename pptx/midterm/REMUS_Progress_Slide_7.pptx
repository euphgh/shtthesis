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Types>
</file>

<file path=_rels/.rels>&#65279;<?xml version="1.0" encoding="utf-8"?><Relationships xmlns="http://schemas.openxmlformats.org/package/2006/relationships"><Relationship Type="http://schemas.openxmlformats.org/officeDocument/2006/relationships/officeDocument" Target="/ppt/presentation.xml" Id="R4faf376f56ae4d36" /><Relationship Type="http://schemas.openxmlformats.org/package/2006/relationships/metadata/core-properties" Target="/docProps/core.xml" Id="R4c5f8a201492492a" /><Relationship Type="http://schemas.openxmlformats.org/officeDocument/2006/relationships/extended-properties" Target="/docProps/app.xml" Id="R06baa347a4364c9c" /><Relationship Type="http://schemas.openxmlformats.org/officeDocument/2006/relationships/custom-properties" Target="/docProps/custom.xml" Id="R6ec3d04e5ccf40e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62912b865ce24d71"/>
  </p:notesMasterIdLst>
  <p:sldIdLst>
    <p:sldId id="256" r:id="R482a666acd344f90"/>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482a666acd344f90" /><Relationship Type="http://schemas.openxmlformats.org/officeDocument/2006/relationships/notesMaster" Target="/ppt/notesMasters/notesMaster1.xml" Id="R62912b865ce24d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89a3fb0b0af4494"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9c8a5596609c47a3" /><Relationship Type="http://schemas.openxmlformats.org/officeDocument/2006/relationships/slide" Target="/ppt/slides/slide1.xml" Id="R55409d8ef8ac4a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previous slide establishes a common DUT cycle. REMUS reuses REMU's local Scan Dump and organizes per-partition scan files as a Global Snapshot. Memory and input management retain the existing REMU mechanisms. FPGA Restore writes each partition's scan data back to the corresponding FPGA with the matching design and scan layout, restoring local registers and SRAM plus the memory-model data before execution resumes. Software restoration instead decodes local scan positions through state mapping and loads the corresponding RTL objects. Recorded inputs are replayed by logical cycle, enabling waveform observation. The user-approved conclusion summarizes reported tested functionality; it is not an all-state or all-cycle equivalence assertion. The displayed image specifically compares a TWO-PARTITION COSIM checkpoint at cycle 42080 with Icarus Verilog software RTL replay from checkpoint 2048. Six selected signals match at relative cycle 40032. Inputs remain unchanged after 2048 in this example. It is not a physical-board restore screenshot. The author separately confirmed board-vs-Cosim checkpoint consistency and FPGA restoration/replay results; original board comparison records are still being archived. Do not present this software example as direct evidence of physical FPGA restore or merge different observation sets into a full equivalence claim. Sources: src/midterm/progress/state_replay.tex; experiments/picorv32-cosim-replay.md; experiments/board-execution.md. Design: figure/presentation-reference/midterm-state-replay-07-v2.png. All slide text is editable; the experiment screenshot is an unchanged raster. Reference [1]: Y. Chen et al. REMU: Enabling Cost-Effective Checkpointing and Deterministic Replay in FPGA-based Emulation. ICCD, 2023, pp. 21–29. DOI: 10.1109/ICCD58817.2023.00014.</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3cdcb423be45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97ae4bca5946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b05c4e2cc54e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3fb09ac5f248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267fd408aa45ad"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a1227ca8c5614eac"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b47a585ce09b49c2" /><Relationship Type="http://schemas.openxmlformats.org/officeDocument/2006/relationships/image" Target="/ppt/media/image.png" Id="R8d9fedf5f1c7412b" /><Relationship Type="http://schemas.openxmlformats.org/officeDocument/2006/relationships/notesSlide" Target="/ppt/notesSlides/notesSlide1.xml" Id="R26130c97a3bd4360" /></Relationships>
</file>

<file path=ppt/slides/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7.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000" b="1">
                <a:solidFill>
                  <a:srgbClr val="183B56"/>
                </a:solidFill>
                <a:latin typeface="Arial"/>
                <a:ea typeface="Arial"/>
              </a:defRPr>
            </a:pPr>
            <a:r>
              <a:rPr lang="en-US" sz="3000" b="1">
                <a:solidFill>
                  <a:srgbClr val="183B56"/>
                </a:solidFill>
              </a:rPr>
              <a:t xml:space="preserve">Progress2: Distributed </a:t>
            </a:r>
            <a:r>
              <a:rPr lang="en-US" sz="3000" b="1">
                <a:solidFill>
                  <a:srgbClr val="183B56"/>
                </a:solidFill>
                <a:latin typeface="Arial"/>
              </a:rPr>
              <a:t>State Capture, Restore and Replay</a:t>
            </a:r>
          </a:p>
        </p:txBody>
      </p:sp>
      <p:sp>
        <p:nvSpPr>
          <p:cNvPr id="100000" name="S07.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07.Snapshot.Number"/>
          <p:cNvSpPr txBox="1"/>
          <p:nvPr/>
        </p:nvSpPr>
        <p:spPr>
          <a:xfrm>
            <a:off x="365760" y="128016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01</a:t>
            </a:r>
          </a:p>
        </p:txBody>
      </p:sp>
      <p:sp>
        <p:nvSpPr>
          <p:cNvPr id="100002" name="S07.Snapshot.Heading"/>
          <p:cNvSpPr txBox="1"/>
          <p:nvPr/>
        </p:nvSpPr>
        <p:spPr>
          <a:xfrm>
            <a:off x="960120" y="128016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Global Snapshot</a:t>
            </a:r>
          </a:p>
        </p:txBody>
      </p:sp>
      <p:sp>
        <p:nvSpPr>
          <p:cNvPr id="100003" name="S07.Snapshot.Text1"/>
          <p:cNvSpPr txBox="1"/>
          <p:nvPr/>
        </p:nvSpPr>
        <p:spPr>
          <a:xfrm>
            <a:off x="365759" y="1856232"/>
            <a:ext cx="5291121"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lang="en-US">
                <a:solidFill>
                  <a:srgbClr val="20354A"/>
                </a:solidFill>
              </a:rPr>
              <a:t>Reuse REMU's Scan Dump mechanism</a:t>
            </a:r>
            <a:r>
              <a:rPr lang="en-US" baseline="30000">
                <a:solidFill>
                  <a:srgbClr val="20354A"/>
                </a:solidFill>
              </a:rPr>
              <a:t>[1]</a:t>
            </a:r>
          </a:p>
          <a:p>
            <a:endParaRPr lang="en-US" sz="1800"/>
          </a:p>
        </p:txBody>
      </p:sp>
      <p:sp>
        <p:nvSpPr>
          <p:cNvPr id="100004" name="S07.Snapshot.Text2"/>
          <p:cNvSpPr txBox="1"/>
          <p:nvPr/>
        </p:nvSpPr>
        <p:spPr>
          <a:xfrm>
            <a:off x="365760" y="2423160"/>
            <a:ext cx="5074920"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lang="en-US" sz="1800">
                <a:solidFill>
                  <a:srgbClr val="20354A"/>
                </a:solidFill>
                <a:latin typeface="Arial"/>
              </a:rPr>
              <a:t>Collect</a:t>
            </a:r>
            <a:r>
              <a:rPr lang="en-US" sz="1800">
                <a:solidFill>
                  <a:srgbClr val="20354A"/>
                </a:solidFill>
                <a:latin typeface="Arial"/>
              </a:rPr>
              <a:t xml:space="preserve"> </a:t>
            </a:r>
            <a:r>
              <a:rPr lang="en-US" sz="1800">
                <a:solidFill>
                  <a:srgbClr val="20354A"/>
                </a:solidFill>
                <a:latin typeface="Arial"/>
              </a:rPr>
              <a:t>and merge each partition’s states</a:t>
            </a:r>
          </a:p>
        </p:txBody>
      </p:sp>
      <p:sp>
        <p:nvSpPr>
          <p:cNvPr id="100005" name="S07.Restore.Number"/>
          <p:cNvSpPr txBox="1"/>
          <p:nvPr/>
        </p:nvSpPr>
        <p:spPr>
          <a:xfrm>
            <a:off x="365760" y="306324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02</a:t>
            </a:r>
          </a:p>
        </p:txBody>
      </p:sp>
      <p:sp>
        <p:nvSpPr>
          <p:cNvPr id="100006" name="S07.Restore.Heading"/>
          <p:cNvSpPr txBox="1"/>
          <p:nvPr/>
        </p:nvSpPr>
        <p:spPr>
          <a:xfrm>
            <a:off x="960120" y="306324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FPGA Restore</a:t>
            </a:r>
          </a:p>
        </p:txBody>
      </p:sp>
      <p:sp>
        <p:nvSpPr>
          <p:cNvPr id="100007" name="S07.Restore.Text1"/>
          <p:cNvSpPr txBox="1"/>
          <p:nvPr/>
        </p:nvSpPr>
        <p:spPr>
          <a:xfrm>
            <a:off x="365760" y="3639312"/>
            <a:ext cx="5074920"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lang="en-US" sz="1800">
                <a:solidFill>
                  <a:srgbClr val="20354A"/>
                </a:solidFill>
                <a:latin typeface="Arial"/>
              </a:rPr>
              <a:t xml:space="preserve">Write back scan data </a:t>
            </a:r>
            <a:r>
              <a:rPr lang="en-US" sz="1800" b="1">
                <a:solidFill>
                  <a:srgbClr val="183B56"/>
                </a:solidFill>
                <a:latin typeface="Arial"/>
              </a:rPr>
              <a:t>by partition</a:t>
            </a:r>
          </a:p>
        </p:txBody>
      </p:sp>
      <p:sp>
        <p:nvSpPr>
          <p:cNvPr id="100008" name="S07.Restore.Text2"/>
          <p:cNvSpPr txBox="1"/>
          <p:nvPr/>
        </p:nvSpPr>
        <p:spPr>
          <a:xfrm>
            <a:off x="365760" y="4206240"/>
            <a:ext cx="5074920"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sz="1800">
                <a:solidFill>
                  <a:srgbClr val="20354A"/>
                </a:solidFill>
                <a:latin typeface="Arial"/>
              </a:rPr>
              <a:t>Restore local registers, SRAM and memory</a:t>
            </a:r>
          </a:p>
        </p:txBody>
      </p:sp>
      <p:sp>
        <p:nvSpPr>
          <p:cNvPr id="100009" name="S07.Replay.Number"/>
          <p:cNvSpPr txBox="1"/>
          <p:nvPr/>
        </p:nvSpPr>
        <p:spPr>
          <a:xfrm>
            <a:off x="365760" y="4846320"/>
            <a:ext cx="457200" cy="475488"/>
          </a:xfrm>
          <a:prstGeom prst="rect">
            <a:avLst/>
          </a:prstGeom>
          <a:noFill/>
          <a:ln>
            <a:noFill/>
          </a:ln>
        </p:spPr>
        <p:txBody>
          <a:bodyPr lIns="0" tIns="0" rIns="0" bIns="0">
            <a:noAutofit/>
          </a:bodyPr>
          <a:lstStyle/>
          <a:p>
            <a:r>
              <a:rPr lang="en-US" sz="2400" b="1">
                <a:solidFill>
                  <a:srgbClr val="008C95"/>
                </a:solidFill>
                <a:latin typeface="Arial"/>
                <a:ea typeface="Arial"/>
              </a:rPr>
              <a:t>03</a:t>
            </a:r>
          </a:p>
        </p:txBody>
      </p:sp>
      <p:sp>
        <p:nvSpPr>
          <p:cNvPr id="100010" name="S07.Replay.Heading"/>
          <p:cNvSpPr txBox="1"/>
          <p:nvPr/>
        </p:nvSpPr>
        <p:spPr>
          <a:xfrm>
            <a:off x="960120" y="4846320"/>
            <a:ext cx="4526280" cy="475488"/>
          </a:xfrm>
          <a:prstGeom prst="rect">
            <a:avLst/>
          </a:prstGeom>
          <a:noFill/>
          <a:ln>
            <a:noFill/>
          </a:ln>
        </p:spPr>
        <p:txBody>
          <a:bodyPr lIns="0" tIns="0" rIns="0" bIns="0">
            <a:noAutofit/>
          </a:bodyPr>
          <a:lstStyle/>
          <a:p>
            <a:r>
              <a:rPr lang="en-US" sz="2400" b="1">
                <a:solidFill>
                  <a:srgbClr val="183B56"/>
                </a:solidFill>
                <a:latin typeface="Arial"/>
                <a:ea typeface="Arial"/>
              </a:rPr>
              <a:t>Software RTL Replay</a:t>
            </a:r>
          </a:p>
        </p:txBody>
      </p:sp>
      <p:sp>
        <p:nvSpPr>
          <p:cNvPr id="100011" name="S07.Replay.Text1"/>
          <p:cNvSpPr txBox="1"/>
          <p:nvPr/>
        </p:nvSpPr>
        <p:spPr>
          <a:xfrm>
            <a:off x="365760" y="5422392"/>
            <a:ext cx="5074920"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lang="en-US" sz="1800">
                <a:solidFill>
                  <a:srgbClr val="20354A"/>
                </a:solidFill>
                <a:latin typeface="Arial"/>
              </a:rPr>
              <a:t xml:space="preserve">Decode partition data through </a:t>
            </a:r>
            <a:r>
              <a:rPr lang="en-US" sz="1800" b="1">
                <a:solidFill>
                  <a:srgbClr val="183B56"/>
                </a:solidFill>
                <a:latin typeface="Arial"/>
              </a:rPr>
              <a:t>state mapping</a:t>
            </a:r>
          </a:p>
        </p:txBody>
      </p:sp>
      <p:sp>
        <p:nvSpPr>
          <p:cNvPr id="100012" name="S07.Replay.Text2"/>
          <p:cNvSpPr txBox="1"/>
          <p:nvPr/>
        </p:nvSpPr>
        <p:spPr>
          <a:xfrm>
            <a:off x="365760" y="5989320"/>
            <a:ext cx="5074920" cy="548640"/>
          </a:xfrm>
          <a:prstGeom prst="rect">
            <a:avLst/>
          </a:prstGeom>
          <a:noFill/>
          <a:ln>
            <a:noFill/>
          </a:ln>
        </p:spPr>
        <p:txBody>
          <a:bodyPr lIns="0" tIns="0" rIns="0" bIns="0">
            <a:noAutofit/>
          </a:bodyPr>
          <a:lstStyle/>
          <a:p>
            <a:pPr algn="l">
              <a:defRPr sz="1800" b="0">
                <a:solidFill>
                  <a:srgbClr val="20354A"/>
                </a:solidFill>
                <a:latin typeface="Arial"/>
                <a:ea typeface="Arial"/>
              </a:defRPr>
            </a:pPr>
            <a:r>
              <a:rPr sz="1800">
                <a:solidFill>
                  <a:srgbClr val="20354A"/>
                </a:solidFill>
                <a:latin typeface="Arial"/>
              </a:rPr>
              <a:t>Load RTL states and replay recorded inputs</a:t>
            </a:r>
          </a:p>
        </p:txBody>
      </p:sp>
      <p:pic>
        <p:nvPicPr>
          <p:cNvPr id="100014" name="S07.Evidence.Waveform" descr="PicoRV32 two-partition Cosim checkpoint values at DUT cycle 42080 above the software RTL replay waveform, restored from cycle 2048. Six selected signal values match at the comparison point."/>
          <p:cNvPicPr>
            <a:picLocks noChangeAspect="1"/>
          </p:cNvPicPr>
          <p:nvPr/>
        </p:nvPicPr>
        <p:blipFill>
          <a:blip xmlns:r="http://schemas.openxmlformats.org/officeDocument/2006/relationships" r:embed="R8d9fedf5f1c7412b"/>
          <a:stretch>
            <a:fillRect/>
          </a:stretch>
        </p:blipFill>
        <p:spPr>
          <a:xfrm>
            <a:off x="5806440" y="1965960"/>
            <a:ext cx="6071616" cy="2485791"/>
          </a:xfrm>
          <a:prstGeom prst="rect">
            <a:avLst/>
          </a:prstGeom>
        </p:spPr>
      </p:pic>
      <p:sp>
        <p:nvSpPr>
          <p:cNvPr id="100015" name="S07.Evidence.Conclusion"/>
          <p:cNvSpPr txBox="1"/>
          <p:nvPr/>
        </p:nvSpPr>
        <p:spPr>
          <a:xfrm>
            <a:off x="5806440" y="4707783"/>
            <a:ext cx="6071616" cy="1005840"/>
          </a:xfrm>
          <a:prstGeom prst="rect">
            <a:avLst/>
          </a:prstGeom>
          <a:noFill/>
          <a:ln>
            <a:noFill/>
          </a:ln>
        </p:spPr>
        <p:txBody>
          <a:bodyPr lIns="0" tIns="0" rIns="0" bIns="0">
            <a:noAutofit/>
          </a:bodyPr>
          <a:lstStyle/>
          <a:p>
            <a:pPr algn="l">
              <a:defRPr sz="2000" b="0">
                <a:solidFill>
                  <a:srgbClr val="183B56"/>
                </a:solidFill>
                <a:latin typeface="Arial"/>
                <a:ea typeface="Arial"/>
              </a:defRPr>
            </a:pPr>
            <a:r>
              <a:rPr sz="2000">
                <a:solidFill>
                  <a:srgbClr val="183B56"/>
                </a:solidFill>
                <a:latin typeface="Arial"/>
              </a:rPr>
              <a:t>Waveform replay reproduces the same signal</a:t>
            </a:r>
          </a:p>
          <a:p>
            <a:r>
              <a:rPr lang="en-US" sz="2000">
                <a:solidFill>
                  <a:srgbClr val="183B56"/>
                </a:solidFill>
                <a:latin typeface="Arial"/>
              </a:rPr>
              <a:t>values as FPGA execution</a:t>
            </a:r>
          </a:p>
        </p:txBody>
      </p:sp>
      <p:sp>
        <p:nvSpPr>
          <p:cNvPr id="100016" name="S07.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607184"/>
                </a:solidFill>
                <a:latin typeface="Arial"/>
                <a:ea typeface="Arial"/>
              </a:rPr>
              <a:t>7</a:t>
            </a:r>
          </a:p>
        </p:txBody>
      </p:sp>
      <p:sp>
        <p:nvSpPr>
          <p:cNvPr id="100017" name="S07.Reference1"/>
          <p:cNvSpPr txBox="1"/>
          <p:nvPr/>
        </p:nvSpPr>
        <p:spPr>
          <a:xfrm>
            <a:off x="365760" y="6455664"/>
            <a:ext cx="11109960" cy="256032"/>
          </a:xfrm>
          <a:prstGeom prst="rect">
            <a:avLst/>
          </a:prstGeom>
          <a:noFill/>
          <a:ln>
            <a:noFill/>
          </a:ln>
        </p:spPr>
        <p:txBody>
          <a:bodyPr lIns="0" tIns="0" rIns="0" bIns="0">
            <a:noAutofit/>
          </a:bodyPr>
          <a:lstStyle/>
          <a:p>
            <a:r>
              <a:rPr lang="en-US" sz="1000">
                <a:solidFill>
                  <a:srgbClr val="607184"/>
                </a:solidFill>
                <a:latin typeface="Arial"/>
                <a:ea typeface="Arial"/>
              </a:rPr>
              <a:t>[1] Y. Chen et al. REMU: Enabling Cost-Effective Checkpointing and Deterministic Replay in FPGA-based Emulation. ICCD, 2023, pp. 21–29.</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OfficeCLI/1.0.156</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2026-10-29T08:01:13.0000000Z</dcterms:created>
  <lastModifiedBy>OfficeCLI</lastModifiedBy>
  <dcterms:modified xsi:type="dcterms:W3CDTF">2026-10-29T08:01:14.2494917Z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1.0.156</vt:lpwstr>
  </op:property>
  <op:property fmtid="{D5CDD505-2E9C-101B-9397-08002B2CF9AE}" pid="3" name="OfficeCLI.LastModified">
    <vt:lpwstr xmlns:vt="http://schemas.openxmlformats.org/officeDocument/2006/docPropsVTypes">2026-10-29T08:01:17Z</vt:lpwstr>
  </op:property>
</op:Properties>
</file>