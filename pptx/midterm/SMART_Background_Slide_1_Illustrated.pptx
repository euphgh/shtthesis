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B241E"/>
                </a:solidFill>
                <a:latin typeface="Arial"/>
              </a:rPr>
              <a:t>1. From RTL Simulation to Multi-FPGA Prototyping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13816"/>
            <a:ext cx="11365992" cy="24688"/>
          </a:xfrm>
          <a:prstGeom prst="rect">
            <a:avLst/>
          </a:prstGeom>
          <a:solidFill>
            <a:srgbClr val="DC8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115568"/>
            <a:ext cx="11365992" cy="1380744"/>
          </a:xfrm>
          <a:prstGeom prst="roundRect">
            <a:avLst>
              <a:gd name="adj" fmla="val 17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tl_simulation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25" y="1193292"/>
            <a:ext cx="1405661" cy="122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2072" y="1289304"/>
            <a:ext cx="84307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BB241E"/>
                </a:solidFill>
                <a:latin typeface="Arial"/>
              </a:rPr>
              <a:t>RTL Simulation</a:t>
            </a:r>
          </a:p>
        </p:txBody>
      </p:sp>
      <p:sp>
        <p:nvSpPr>
          <p:cNvPr id="7" name="Oval 6"/>
          <p:cNvSpPr/>
          <p:nvPr/>
        </p:nvSpPr>
        <p:spPr>
          <a:xfrm>
            <a:off x="2880360" y="1810512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709928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Full visibility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2061972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961388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Flexible debugging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2313432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212848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Low performance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79592" y="2601468"/>
            <a:ext cx="356616" cy="233172"/>
          </a:xfrm>
          <a:prstGeom prst="downArrow">
            <a:avLst>
              <a:gd name="adj1" fmla="val 44000"/>
              <a:gd name="adj2" fmla="val 50000"/>
            </a:avLst>
          </a:prstGeom>
          <a:solidFill>
            <a:srgbClr val="A7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11365992" cy="1380744"/>
          </a:xfrm>
          <a:prstGeom prst="roundRect">
            <a:avLst>
              <a:gd name="adj" fmla="val 17000"/>
            </a:avLst>
          </a:prstGeom>
          <a:solidFill>
            <a:srgbClr val="F9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pga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38" y="2912364"/>
            <a:ext cx="1298834" cy="12252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62072" y="3008376"/>
            <a:ext cx="84307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BB241E"/>
                </a:solidFill>
                <a:latin typeface="Arial"/>
              </a:rPr>
              <a:t>FPGA Prototyping</a:t>
            </a:r>
          </a:p>
        </p:txBody>
      </p:sp>
      <p:sp>
        <p:nvSpPr>
          <p:cNvPr id="17" name="Oval 16"/>
          <p:cNvSpPr/>
          <p:nvPr/>
        </p:nvSpPr>
        <p:spPr>
          <a:xfrm>
            <a:off x="2880360" y="3529584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3429000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MHz-level execution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3781044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3680460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Long software workloads</a:t>
            </a:r>
          </a:p>
        </p:txBody>
      </p:sp>
      <p:sp>
        <p:nvSpPr>
          <p:cNvPr id="21" name="Oval 20"/>
          <p:cNvSpPr/>
          <p:nvPr/>
        </p:nvSpPr>
        <p:spPr>
          <a:xfrm>
            <a:off x="2880360" y="4032504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3931920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Limited by single-FPGA capacity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879592" y="4320540"/>
            <a:ext cx="356616" cy="233172"/>
          </a:xfrm>
          <a:prstGeom prst="downArrow">
            <a:avLst>
              <a:gd name="adj1" fmla="val 44000"/>
              <a:gd name="adj2" fmla="val 50000"/>
            </a:avLst>
          </a:prstGeom>
          <a:solidFill>
            <a:srgbClr val="A7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4553712"/>
            <a:ext cx="11365992" cy="1380744"/>
          </a:xfrm>
          <a:prstGeom prst="roundRect">
            <a:avLst>
              <a:gd name="adj" fmla="val 17000"/>
            </a:avLst>
          </a:prstGeom>
          <a:solidFill>
            <a:srgbClr val="F9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ual_fpga_interconn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3" y="4631436"/>
            <a:ext cx="1732024" cy="12252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62072" y="4727448"/>
            <a:ext cx="84307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BB241E"/>
                </a:solidFill>
                <a:latin typeface="Arial"/>
              </a:rPr>
              <a:t>Multi-FPGA Prototyping</a:t>
            </a:r>
          </a:p>
        </p:txBody>
      </p:sp>
      <p:sp>
        <p:nvSpPr>
          <p:cNvPr id="27" name="Oval 26"/>
          <p:cNvSpPr/>
          <p:nvPr/>
        </p:nvSpPr>
        <p:spPr>
          <a:xfrm>
            <a:off x="2880360" y="5248656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5148072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Partition large designs</a:t>
            </a:r>
          </a:p>
        </p:txBody>
      </p:sp>
      <p:sp>
        <p:nvSpPr>
          <p:cNvPr id="29" name="Oval 28"/>
          <p:cNvSpPr/>
          <p:nvPr/>
        </p:nvSpPr>
        <p:spPr>
          <a:xfrm>
            <a:off x="2880360" y="5500116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5399532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Extend capacity</a:t>
            </a:r>
          </a:p>
        </p:txBody>
      </p:sp>
      <p:sp>
        <p:nvSpPr>
          <p:cNvPr id="31" name="Oval 30"/>
          <p:cNvSpPr/>
          <p:nvPr/>
        </p:nvSpPr>
        <p:spPr>
          <a:xfrm>
            <a:off x="2880360" y="5751576"/>
            <a:ext cx="53035" cy="53035"/>
          </a:xfrm>
          <a:prstGeom prst="ellipse">
            <a:avLst/>
          </a:prstGeom>
          <a:solidFill>
            <a:srgbClr val="1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44952" y="5650992"/>
            <a:ext cx="832104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F2B39"/>
                </a:solidFill>
                <a:latin typeface="Arial"/>
              </a:rPr>
              <a:t>Enable large-scale SoC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83096"/>
            <a:ext cx="32004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F7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