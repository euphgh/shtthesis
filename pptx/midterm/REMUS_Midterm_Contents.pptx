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a7ac92bc5124132" /><Relationship Type="http://schemas.openxmlformats.org/package/2006/relationships/metadata/core-properties" Target="/docProps/core.xml" Id="R5329c838541d4d98" /><Relationship Type="http://schemas.openxmlformats.org/officeDocument/2006/relationships/extended-properties" Target="/docProps/app.xml" Id="Rb88c04a526184c23" /><Relationship Type="http://schemas.openxmlformats.org/officeDocument/2006/relationships/custom-properties" Target="/docProps/custom.xml" Id="R203513a9d80d4f3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e98a437e1104ba1"/>
  </p:notesMasterIdLst>
  <p:sldIdLst>
    <p:sldId id="256" r:id="R2f3bbd17dd6c486b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f3bbd17dd6c486b" /><Relationship Type="http://schemas.openxmlformats.org/officeDocument/2006/relationships/notesMaster" Target="/ppt/notesMasters/notesMaster1.xml" Id="R4e98a437e1104b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d8ca90acd6746c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84bff46962147a4" /><Relationship Type="http://schemas.openxmlformats.org/officeDocument/2006/relationships/slide" Target="/ppt/slides/slide1.xml" Id="R0ff8bb81c38a42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Place this page after the cover and before the background section. Introduce the defense in four parts. First, motivate replayable multi-FPGA emulation, identify the research gap and outline REMUS. Second, explain cycle-accurate execution and consistent pause, distributed state capture and replay, automated partitioning, and the scalable Runtime/Fabric design. Third, present the dual-FPGA direct-PCIe prototype and measured results. Finally, connect observed limitations to future work on resource balance, execution performance, runtime control and system expansion. The current content mapping is background 1-5, progress 6-9, prototype 10 and future work 11. These are content identifiers rather than final deck page numbers. Source: docs/midterm-presentation-outline.md. This contents page does not assert completion of all technical goals.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723684639846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3890584e2b4b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9720fcded346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31d72a043e41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583af543ca471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10d3c1c9e6704ee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a64023fbf4ee3" /><Relationship Type="http://schemas.openxmlformats.org/officeDocument/2006/relationships/notesSlide" Target="/ppt/notesSlides/notesSlide1.xml" Id="R329898b0c1b746fa" 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S00.Title"/>
          <p:cNvSpPr/>
          <p:nvPr>
            <p:ph type="title"/>
          </p:nvPr>
        </p:nvSpPr>
        <p:spPr>
          <a:xfrm xmlns:a="http://schemas.openxmlformats.org/drawingml/2006/main">
            <a:off x="320040" y="128016"/>
            <a:ext cx="11558016" cy="493776"/>
          </a:xfrm>
          <a:noFill/>
          <a:ln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90000"/>
              </a:lnSpc>
            </a:pPr>
            <a:r>
              <a:rPr lang="en-US" sz="3200" b="1">
                <a:solidFill>
                  <a:srgbClr val="183B56"/>
                </a:solidFill>
                <a:latin typeface="Arial"/>
                <a:ea typeface="Arial"/>
              </a:rPr>
              <a:t>Contents</a:t>
            </a:r>
          </a:p>
        </p:txBody>
      </p:sp>
      <p:sp>
        <p:nvSpPr>
          <p:cNvPr id="100000" name="S00.TitleRule"/>
          <p:cNvSpPr/>
          <p:nvPr/>
        </p:nvSpPr>
        <p:spPr>
          <a:xfrm>
            <a:off x="320040" y="713232"/>
            <a:ext cx="11558016" cy="25400"/>
          </a:xfrm>
          <a:prstGeom prst="rect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1" name="S00.NarrativePath"/>
          <p:cNvSpPr/>
          <p:nvPr/>
        </p:nvSpPr>
        <p:spPr>
          <a:xfrm>
            <a:off x="982980" y="1536192"/>
            <a:ext cx="22860" cy="3785616"/>
          </a:xfrm>
          <a:prstGeom prst="rect">
            <a:avLst/>
          </a:prstGeom>
          <a:solidFill>
            <a:srgbClr val="BDCBD4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endParaRPr lang="en-US" sz="1800">
              <a:solidFill>
                <a:srgbClr val="20354A"/>
              </a:solidFill>
              <a:latin typeface="Arial"/>
              <a:ea typeface="Arial"/>
            </a:endParaRPr>
          </a:p>
        </p:txBody>
      </p:sp>
      <p:sp>
        <p:nvSpPr>
          <p:cNvPr id="100002" name="S00.Section1.Number"/>
          <p:cNvSpPr/>
          <p:nvPr/>
        </p:nvSpPr>
        <p:spPr>
          <a:xfrm>
            <a:off x="704088" y="1316736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03" name="S00.Section1.Heading"/>
          <p:cNvSpPr txBox="1"/>
          <p:nvPr/>
        </p:nvSpPr>
        <p:spPr>
          <a:xfrm>
            <a:off x="1682496" y="1280160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Background &amp; Research Goal</a:t>
            </a:r>
          </a:p>
        </p:txBody>
      </p:sp>
      <p:sp>
        <p:nvSpPr>
          <p:cNvPr id="100004" name="S00.Section1.Description"/>
          <p:cNvSpPr txBox="1"/>
          <p:nvPr/>
        </p:nvSpPr>
        <p:spPr>
          <a:xfrm>
            <a:off x="1682496" y="1865376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Motivation, research gap and REMUS overview</a:t>
            </a:r>
          </a:p>
        </p:txBody>
      </p:sp>
      <p:sp>
        <p:nvSpPr>
          <p:cNvPr id="100005" name="S00.Section2.Number"/>
          <p:cNvSpPr/>
          <p:nvPr/>
        </p:nvSpPr>
        <p:spPr>
          <a:xfrm>
            <a:off x="704088" y="2578608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06" name="S00.Section2.Heading"/>
          <p:cNvSpPr txBox="1"/>
          <p:nvPr/>
        </p:nvSpPr>
        <p:spPr>
          <a:xfrm>
            <a:off x="1682496" y="2542032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Research Progress</a:t>
            </a:r>
          </a:p>
        </p:txBody>
      </p:sp>
      <p:sp>
        <p:nvSpPr>
          <p:cNvPr id="100007" name="S00.Section2.Description"/>
          <p:cNvSpPr txBox="1"/>
          <p:nvPr/>
        </p:nvSpPr>
        <p:spPr>
          <a:xfrm>
            <a:off x="1682496" y="3127248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Execution &amp; pause · State &amp; replay · Partitioning · Runtime</a:t>
            </a:r>
          </a:p>
        </p:txBody>
      </p:sp>
      <p:sp>
        <p:nvSpPr>
          <p:cNvPr id="100008" name="S00.Section3.Number"/>
          <p:cNvSpPr/>
          <p:nvPr/>
        </p:nvSpPr>
        <p:spPr>
          <a:xfrm>
            <a:off x="704088" y="3840480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09" name="S00.Section3.Heading"/>
          <p:cNvSpPr txBox="1"/>
          <p:nvPr/>
        </p:nvSpPr>
        <p:spPr>
          <a:xfrm>
            <a:off x="1682496" y="3803904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Prototype &amp; Evaluation</a:t>
            </a:r>
          </a:p>
        </p:txBody>
      </p:sp>
      <p:sp>
        <p:nvSpPr>
          <p:cNvPr id="100010" name="S00.Section3.Description"/>
          <p:cNvSpPr txBox="1"/>
          <p:nvPr/>
        </p:nvSpPr>
        <p:spPr>
          <a:xfrm>
            <a:off x="1682496" y="4389120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Dual-FPGA platform, workloads and experimental results</a:t>
            </a:r>
          </a:p>
        </p:txBody>
      </p:sp>
      <p:sp>
        <p:nvSpPr>
          <p:cNvPr id="100011" name="S00.Section4.Number"/>
          <p:cNvSpPr/>
          <p:nvPr/>
        </p:nvSpPr>
        <p:spPr>
          <a:xfrm>
            <a:off x="704088" y="5102352"/>
            <a:ext cx="585216" cy="585216"/>
          </a:xfrm>
          <a:prstGeom prst="ellipse">
            <a:avLst/>
          </a:prstGeom>
          <a:solidFill>
            <a:srgbClr val="008C95"/>
          </a:solidFill>
          <a:ln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100012" name="S00.Section4.Heading"/>
          <p:cNvSpPr txBox="1"/>
          <p:nvPr/>
        </p:nvSpPr>
        <p:spPr>
          <a:xfrm>
            <a:off x="1682496" y="5065776"/>
            <a:ext cx="9738360" cy="4754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2700" b="1">
                <a:solidFill>
                  <a:srgbClr val="183B56"/>
                </a:solidFill>
                <a:latin typeface="Arial"/>
                <a:ea typeface="Arial"/>
              </a:rPr>
              <a:t>Current Challenges &amp; Future Work</a:t>
            </a:r>
          </a:p>
        </p:txBody>
      </p:sp>
      <p:sp>
        <p:nvSpPr>
          <p:cNvPr id="100013" name="S00.Section4.Description"/>
          <p:cNvSpPr txBox="1"/>
          <p:nvPr/>
        </p:nvSpPr>
        <p:spPr>
          <a:xfrm>
            <a:off x="1682496" y="5650992"/>
            <a:ext cx="9738360" cy="4389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r>
              <a:rPr lang="en-US" sz="1900">
                <a:solidFill>
                  <a:srgbClr val="607184"/>
                </a:solidFill>
                <a:latin typeface="Arial"/>
                <a:ea typeface="Arial"/>
              </a:rPr>
              <a:t>Remaining limitations and the next research steps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83B56"/>
      </a:accent1>
      <a:accent2>
        <a:srgbClr val="008C95"/>
      </a:accent2>
      <a:accent3>
        <a:srgbClr val="DF973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OfficeCLI/1.0.156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OfficeCLI</dc:creator>
  <dcterms:created xsi:type="dcterms:W3CDTF">2026-10-29T08:00:55.0000000Z</dcterms:created>
  <lastModifiedBy>OfficeCLI</lastModifiedBy>
  <dcterms:modified xsi:type="dcterms:W3CDTF">2026-10-29T08:00:55.8841861Z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2026-10-29T08:00:58Z</vt:lpwstr>
  </op:property>
</op:Properties>
</file>