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6b36e9f161b4081" /><Relationship Type="http://schemas.openxmlformats.org/package/2006/relationships/metadata/core-properties" Target="/docProps/core.xml" Id="Rb826cf2ade5f4915" /><Relationship Type="http://schemas.openxmlformats.org/officeDocument/2006/relationships/extended-properties" Target="/docProps/app.xml" Id="R74ad1f4695d84bf4" /><Relationship Type="http://schemas.openxmlformats.org/officeDocument/2006/relationships/custom-properties" Target="/docProps/custom.xml" Id="R96ddec33164d477b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1f61dc5011b84f30"/>
  </p:notesMasterIdLst>
  <p:sldIdLst>
    <p:sldId id="256" r:id="Rf0d0dbb4431444da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f0d0dbb4431444da" /><Relationship Type="http://schemas.openxmlformats.org/officeDocument/2006/relationships/notesMaster" Target="/ppt/notesMasters/notesMaster1.xml" Id="R1f61dc5011b84f3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5ceee45fabc4a93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bcad50566b34688" /><Relationship Type="http://schemas.openxmlformats.org/officeDocument/2006/relationships/slide" Target="/ppt/slides/slide1.xml" Id="R8dfb596bac7345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Research motivation: combine multi-FPGA deployment with replayable emulation. The prototype column indicates typical focus; amber marks system-dependent debug capabilities, not universal absence. The middle column represents scan-based single-FPGA replayable emulation such as the REMU foundation described in docs/thesis-writing-guidelines.md and src/proposal/significance_and_related_work.tex. A full-state snapshot in that setting fits within one FPGA's capacity. REMUS is explicitly a Research Goal: its checks are target capabilities, not measured results or a completed-feature checklist. The diagram is conceptual and does not establish restoration backend or a tested FPGA count. No exhaustive prior-art or novelty claim is made by this qualitative comparison. Layout: figure/presentation-reference/midterm-background-04.png.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b9c9bd4ef0463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b994ad31f44a5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c0af9fad5c4d3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4553f427ac435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e763bbf6e84fd9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56875cf8983d457a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749a6586eb46c2" /><Relationship Type="http://schemas.openxmlformats.org/officeDocument/2006/relationships/image" Target="/ppt/media/image.png" Id="R2e1b491f04ca4d45" /><Relationship Type="http://schemas.openxmlformats.org/officeDocument/2006/relationships/image" Target="/ppt/media/image2.png" Id="Rc469a79aa2dc4e3e" /><Relationship Type="http://schemas.openxmlformats.org/officeDocument/2006/relationships/image" Target="/ppt/media/image3.png" Id="Rc7c7ca0e50a74076" /><Relationship Type="http://schemas.openxmlformats.org/officeDocument/2006/relationships/image" Target="/ppt/media/image4.png" Id="Rc173b3d7698c4342" /><Relationship Type="http://schemas.openxmlformats.org/officeDocument/2006/relationships/image" Target="/ppt/media/image5.png" Id="Ra64f2a7bc3424224" /><Relationship Type="http://schemas.openxmlformats.org/officeDocument/2006/relationships/image" Target="/ppt/media/image6.png" Id="R2525133ad447425c" /><Relationship Type="http://schemas.openxmlformats.org/officeDocument/2006/relationships/image" Target="/ppt/media/image7.png" Id="Ra3aaea55b5a64e1b" /><Relationship Type="http://schemas.openxmlformats.org/officeDocument/2006/relationships/image" Target="/ppt/media/image8.png" Id="Rd6291934e8654d4c" /><Relationship Type="http://schemas.openxmlformats.org/officeDocument/2006/relationships/notesSlide" Target="/ppt/notesSlides/notesSlide1.xml" Id="Rda99b697ae394805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xmlns:a="http://schemas.openxmlformats.org/drawingml/2006/main" xmlns:p="http://schemas.openxmlformats.org/presentationml/2006/main" xmlns:r="http://schemas.openxmlformats.org/officeDocument/2006/relationships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04.Title"/>
          <p:cNvSpPr/>
          <p:nvPr>
            <p:ph type="title"/>
          </p:nvPr>
        </p:nvSpPr>
        <p:spPr>
          <a:xfrm xmlns:a="http://schemas.openxmlformats.org/drawingml/2006/main">
            <a:off x="320040" y="128016"/>
            <a:ext cx="11558016" cy="493776"/>
          </a:xfrm>
          <a:noFill/>
          <a:ln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>
            <a:pPr algn="l">
              <a:lnSpc>
                <a:spcPct val="90000"/>
              </a:lnSpc>
              <a:defRPr sz="3200" b="1">
                <a:solidFill>
                  <a:srgbClr val="183B56"/>
                </a:solidFill>
                <a:latin typeface="Arial"/>
                <a:ea typeface="Arial"/>
              </a:defRPr>
            </a:pPr>
            <a:r>
              <a:rPr sz="3200" b="1">
                <a:solidFill>
                  <a:srgbClr val="183B56"/>
                </a:solidFill>
                <a:latin typeface="Arial"/>
              </a:rPr>
              <a:t>Research Gap and Goal</a:t>
            </a:r>
          </a:p>
        </p:txBody>
      </p:sp>
      <p:sp>
        <p:nvSpPr>
          <p:cNvPr id="100000" name="S04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04.Prototype.Panel"/>
          <p:cNvSpPr/>
          <p:nvPr/>
        </p:nvSpPr>
        <p:spPr>
          <a:xfrm>
            <a:off x="320040" y="969264"/>
            <a:ext cx="3712464" cy="4892040"/>
          </a:xfrm>
          <a:prstGeom prst="roundRect">
            <a:avLst>
              <a:gd name="adj" fmla="val 45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2" name="S04.Prototype.Heading"/>
          <p:cNvSpPr txBox="1"/>
          <p:nvPr/>
        </p:nvSpPr>
        <p:spPr>
          <a:xfrm>
            <a:off x="448056" y="1115568"/>
            <a:ext cx="3456432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2100" b="1">
                <a:solidFill>
                  <a:srgbClr val="183B56"/>
                </a:solidFill>
                <a:latin typeface="Arial"/>
                <a:ea typeface="Arial"/>
              </a:rPr>
              <a:t>Multi-FPGA</a:t>
            </a:r>
          </a:p>
          <a:p>
            <a:pPr algn="ctr"/>
            <a:r>
              <a:rPr lang="en-US" sz="2100" b="1">
                <a:solidFill>
                  <a:srgbClr val="183B56"/>
                </a:solidFill>
                <a:latin typeface="Arial"/>
                <a:ea typeface="Arial"/>
              </a:rPr>
              <a:t>Prototyping</a:t>
            </a:r>
          </a:p>
        </p:txBody>
      </p:sp>
      <p:sp>
        <p:nvSpPr>
          <p:cNvPr id="100003" name="S04.Prototype.Qualifier"/>
          <p:cNvSpPr txBox="1"/>
          <p:nvPr/>
        </p:nvSpPr>
        <p:spPr>
          <a:xfrm>
            <a:off x="484632" y="1865376"/>
            <a:ext cx="3383280" cy="2468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>
              <a:defRPr sz="1400" b="0">
                <a:solidFill>
                  <a:srgbClr val="607184"/>
                </a:solidFill>
                <a:latin typeface="Arial"/>
                <a:ea typeface="Arial"/>
              </a:defRPr>
            </a:pPr>
            <a:r>
              <a:rPr sz="1400">
                <a:solidFill>
                  <a:srgbClr val="607184"/>
                </a:solidFill>
                <a:latin typeface="Arial"/>
                <a:ea typeface="Arial"/>
              </a:rPr>
              <a:t>Related work: FireAxe, DUOHUAFEN</a:t>
            </a:r>
          </a:p>
        </p:txBody>
      </p:sp>
      <p:sp>
        <p:nvSpPr>
          <p:cNvPr id="100004" name="S04.Prototype.Divider"/>
          <p:cNvSpPr/>
          <p:nvPr/>
        </p:nvSpPr>
        <p:spPr>
          <a:xfrm>
            <a:off x="502920" y="3182112"/>
            <a:ext cx="3346704" cy="10973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5" name="S04.Prototype.Status1"/>
          <p:cNvSpPr/>
          <p:nvPr/>
        </p:nvSpPr>
        <p:spPr>
          <a:xfrm>
            <a:off x="548640" y="344940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6" name="S04.Prototype.CheckShort1"/>
          <p:cNvSpPr/>
          <p:nvPr/>
        </p:nvSpPr>
        <p:spPr>
          <a:xfrm rot="2700000">
            <a:off x="609905" y="358747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7" name="S04.Prototype.CheckLong1"/>
          <p:cNvSpPr/>
          <p:nvPr/>
        </p:nvSpPr>
        <p:spPr>
          <a:xfrm rot="18900000">
            <a:off x="647395" y="356552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8" name="S04.Prototype.Text1"/>
          <p:cNvSpPr txBox="1"/>
          <p:nvPr/>
        </p:nvSpPr>
        <p:spPr>
          <a:xfrm>
            <a:off x="960120" y="344299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Scalable deployment</a:t>
            </a:r>
          </a:p>
        </p:txBody>
      </p:sp>
      <p:sp>
        <p:nvSpPr>
          <p:cNvPr id="100009" name="S04.Prototype.Status2"/>
          <p:cNvSpPr/>
          <p:nvPr/>
        </p:nvSpPr>
        <p:spPr>
          <a:xfrm>
            <a:off x="548640" y="381516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0" name="S04.Prototype.CheckShort2"/>
          <p:cNvSpPr/>
          <p:nvPr/>
        </p:nvSpPr>
        <p:spPr>
          <a:xfrm rot="2700000">
            <a:off x="609905" y="395323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1" name="S04.Prototype.CheckLong2"/>
          <p:cNvSpPr/>
          <p:nvPr/>
        </p:nvSpPr>
        <p:spPr>
          <a:xfrm rot="18900000">
            <a:off x="647395" y="393128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2" name="S04.Prototype.Text2"/>
          <p:cNvSpPr txBox="1"/>
          <p:nvPr/>
        </p:nvSpPr>
        <p:spPr>
          <a:xfrm>
            <a:off x="960120" y="380875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Fast execution</a:t>
            </a:r>
          </a:p>
        </p:txBody>
      </p:sp>
      <p:sp>
        <p:nvSpPr>
          <p:cNvPr id="100013" name="S04.Prototype.Status3"/>
          <p:cNvSpPr/>
          <p:nvPr/>
        </p:nvSpPr>
        <p:spPr>
          <a:xfrm>
            <a:off x="548640" y="4180920"/>
            <a:ext cx="265176" cy="265176"/>
          </a:xfrm>
          <a:prstGeom prst="ellipse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4" name="S04.Prototype.Variable3"/>
          <p:cNvSpPr txBox="1"/>
          <p:nvPr/>
        </p:nvSpPr>
        <p:spPr>
          <a:xfrm>
            <a:off x="548640" y="4179091"/>
            <a:ext cx="265176" cy="26517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100015" name="S04.Prototype.Text3"/>
          <p:cNvSpPr txBox="1"/>
          <p:nvPr/>
        </p:nvSpPr>
        <p:spPr>
          <a:xfrm>
            <a:off x="960120" y="417451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Cycle-consistent pause</a:t>
            </a:r>
          </a:p>
        </p:txBody>
      </p:sp>
      <p:sp>
        <p:nvSpPr>
          <p:cNvPr id="100016" name="S04.Prototype.Status4"/>
          <p:cNvSpPr/>
          <p:nvPr/>
        </p:nvSpPr>
        <p:spPr>
          <a:xfrm>
            <a:off x="548640" y="4546680"/>
            <a:ext cx="265176" cy="265176"/>
          </a:xfrm>
          <a:prstGeom prst="ellipse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7" name="S04.Prototype.Variable4"/>
          <p:cNvSpPr txBox="1"/>
          <p:nvPr/>
        </p:nvSpPr>
        <p:spPr>
          <a:xfrm>
            <a:off x="548640" y="4544851"/>
            <a:ext cx="265176" cy="26517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100018" name="S04.Prototype.Text4"/>
          <p:cNvSpPr txBox="1"/>
          <p:nvPr/>
        </p:nvSpPr>
        <p:spPr>
          <a:xfrm>
            <a:off x="960120" y="454027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Global snapshot</a:t>
            </a:r>
          </a:p>
        </p:txBody>
      </p:sp>
      <p:sp>
        <p:nvSpPr>
          <p:cNvPr id="100019" name="S04.Prototype.Status5"/>
          <p:cNvSpPr/>
          <p:nvPr/>
        </p:nvSpPr>
        <p:spPr>
          <a:xfrm>
            <a:off x="548640" y="4912440"/>
            <a:ext cx="265176" cy="265176"/>
          </a:xfrm>
          <a:prstGeom prst="ellipse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0" name="S04.Prototype.Variable5"/>
          <p:cNvSpPr txBox="1"/>
          <p:nvPr/>
        </p:nvSpPr>
        <p:spPr>
          <a:xfrm>
            <a:off x="548640" y="4910611"/>
            <a:ext cx="265176" cy="26517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100021" name="S04.Prototype.Text5"/>
          <p:cNvSpPr txBox="1"/>
          <p:nvPr/>
        </p:nvSpPr>
        <p:spPr>
          <a:xfrm>
            <a:off x="960120" y="490603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Deterministic replay</a:t>
            </a:r>
          </a:p>
        </p:txBody>
      </p:sp>
      <p:sp>
        <p:nvSpPr>
          <p:cNvPr id="100022" name="S04.Prototype.Status6"/>
          <p:cNvSpPr/>
          <p:nvPr/>
        </p:nvSpPr>
        <p:spPr>
          <a:xfrm>
            <a:off x="548640" y="5278200"/>
            <a:ext cx="265176" cy="265176"/>
          </a:xfrm>
          <a:prstGeom prst="ellipse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3" name="S04.Prototype.Variable6"/>
          <p:cNvSpPr txBox="1"/>
          <p:nvPr/>
        </p:nvSpPr>
        <p:spPr>
          <a:xfrm>
            <a:off x="548640" y="5276371"/>
            <a:ext cx="265176" cy="26517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100024" name="S04.Prototype.Text6"/>
          <p:cNvSpPr txBox="1"/>
          <p:nvPr/>
        </p:nvSpPr>
        <p:spPr>
          <a:xfrm>
            <a:off x="960120" y="527179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Waveform reconstruction</a:t>
            </a:r>
          </a:p>
        </p:txBody>
      </p:sp>
      <p:sp>
        <p:nvSpPr>
          <p:cNvPr id="100026" name="S04.Single.Panel"/>
          <p:cNvSpPr/>
          <p:nvPr/>
        </p:nvSpPr>
        <p:spPr>
          <a:xfrm>
            <a:off x="4242816" y="969264"/>
            <a:ext cx="3712464" cy="4892040"/>
          </a:xfrm>
          <a:prstGeom prst="roundRect">
            <a:avLst>
              <a:gd name="adj" fmla="val 4500"/>
            </a:avLst>
          </a:prstGeom>
          <a:solidFill>
            <a:srgbClr val="F1F5F8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7" name="S04.Single.Heading"/>
          <p:cNvSpPr txBox="1"/>
          <p:nvPr/>
        </p:nvSpPr>
        <p:spPr>
          <a:xfrm>
            <a:off x="4370832" y="1115568"/>
            <a:ext cx="3456432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2100" b="1">
                <a:solidFill>
                  <a:srgbClr val="183B56"/>
                </a:solidFill>
                <a:latin typeface="Arial"/>
                <a:ea typeface="Arial"/>
              </a:rPr>
              <a:t>Single-FPGA</a:t>
            </a:r>
          </a:p>
          <a:p>
            <a:pPr algn="ctr"/>
            <a:r>
              <a:rPr lang="en-US" sz="2100" b="1">
                <a:solidFill>
                  <a:srgbClr val="183B56"/>
                </a:solidFill>
                <a:latin typeface="Arial"/>
                <a:ea typeface="Arial"/>
              </a:rPr>
              <a:t>Replayable Emulation</a:t>
            </a:r>
          </a:p>
        </p:txBody>
      </p:sp>
      <p:sp>
        <p:nvSpPr>
          <p:cNvPr id="100028" name="S04.Single.Qualifier"/>
          <p:cNvSpPr txBox="1"/>
          <p:nvPr/>
        </p:nvSpPr>
        <p:spPr>
          <a:xfrm>
            <a:off x="4407408" y="1865376"/>
            <a:ext cx="3383280" cy="2468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>
              <a:defRPr sz="1400" b="0">
                <a:solidFill>
                  <a:srgbClr val="607184"/>
                </a:solidFill>
                <a:latin typeface="Arial"/>
                <a:ea typeface="Arial"/>
              </a:defRPr>
            </a:pPr>
            <a:r>
              <a:rPr sz="1400">
                <a:solidFill>
                  <a:srgbClr val="607184"/>
                </a:solidFill>
                <a:latin typeface="Arial"/>
                <a:ea typeface="Arial"/>
              </a:rPr>
              <a:t>Related work: REMU</a:t>
            </a:r>
          </a:p>
        </p:txBody>
      </p:sp>
      <p:sp>
        <p:nvSpPr>
          <p:cNvPr id="100029" name="S04.Single.Divider"/>
          <p:cNvSpPr/>
          <p:nvPr/>
        </p:nvSpPr>
        <p:spPr>
          <a:xfrm>
            <a:off x="4425696" y="3182112"/>
            <a:ext cx="3346704" cy="10973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0" name="S04.Single.Status1"/>
          <p:cNvSpPr/>
          <p:nvPr/>
        </p:nvSpPr>
        <p:spPr>
          <a:xfrm>
            <a:off x="4471416" y="3449400"/>
            <a:ext cx="265176" cy="265176"/>
          </a:xfrm>
          <a:prstGeom prst="ellipse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1" name="S04.Single.Minus1"/>
          <p:cNvSpPr/>
          <p:nvPr/>
        </p:nvSpPr>
        <p:spPr>
          <a:xfrm>
            <a:off x="4530852" y="3562786"/>
            <a:ext cx="146304" cy="3840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2" name="S04.Single.Text1"/>
          <p:cNvSpPr txBox="1"/>
          <p:nvPr/>
        </p:nvSpPr>
        <p:spPr>
          <a:xfrm>
            <a:off x="4882896" y="344299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Limited by one FPGA</a:t>
            </a:r>
          </a:p>
        </p:txBody>
      </p:sp>
      <p:sp>
        <p:nvSpPr>
          <p:cNvPr id="100033" name="S04.Single.Status2"/>
          <p:cNvSpPr/>
          <p:nvPr/>
        </p:nvSpPr>
        <p:spPr>
          <a:xfrm>
            <a:off x="4471416" y="381516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4" name="S04.Single.CheckShort2"/>
          <p:cNvSpPr/>
          <p:nvPr/>
        </p:nvSpPr>
        <p:spPr>
          <a:xfrm rot="2700000">
            <a:off x="4532681" y="395323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5" name="S04.Single.CheckLong2"/>
          <p:cNvSpPr/>
          <p:nvPr/>
        </p:nvSpPr>
        <p:spPr>
          <a:xfrm rot="18900000">
            <a:off x="4570171" y="393128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6" name="S04.Single.Text2"/>
          <p:cNvSpPr txBox="1"/>
          <p:nvPr/>
        </p:nvSpPr>
        <p:spPr>
          <a:xfrm>
            <a:off x="4882896" y="380875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Fast execution</a:t>
            </a:r>
          </a:p>
        </p:txBody>
      </p:sp>
      <p:sp>
        <p:nvSpPr>
          <p:cNvPr id="100037" name="S04.Single.Status3"/>
          <p:cNvSpPr/>
          <p:nvPr/>
        </p:nvSpPr>
        <p:spPr>
          <a:xfrm>
            <a:off x="4471416" y="418092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8" name="S04.Single.CheckShort3"/>
          <p:cNvSpPr/>
          <p:nvPr/>
        </p:nvSpPr>
        <p:spPr>
          <a:xfrm rot="2700000">
            <a:off x="4532681" y="431899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9" name="S04.Single.CheckLong3"/>
          <p:cNvSpPr/>
          <p:nvPr/>
        </p:nvSpPr>
        <p:spPr>
          <a:xfrm rot="18900000">
            <a:off x="4570171" y="429704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0" name="S04.Single.Text3"/>
          <p:cNvSpPr txBox="1"/>
          <p:nvPr/>
        </p:nvSpPr>
        <p:spPr>
          <a:xfrm>
            <a:off x="4882896" y="417451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Cycle-controlled pause</a:t>
            </a:r>
          </a:p>
        </p:txBody>
      </p:sp>
      <p:sp>
        <p:nvSpPr>
          <p:cNvPr id="100041" name="S04.Single.Status4"/>
          <p:cNvSpPr/>
          <p:nvPr/>
        </p:nvSpPr>
        <p:spPr>
          <a:xfrm>
            <a:off x="4471416" y="454668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2" name="S04.Single.CheckShort4"/>
          <p:cNvSpPr/>
          <p:nvPr/>
        </p:nvSpPr>
        <p:spPr>
          <a:xfrm rot="2700000">
            <a:off x="4532681" y="468475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3" name="S04.Single.CheckLong4"/>
          <p:cNvSpPr/>
          <p:nvPr/>
        </p:nvSpPr>
        <p:spPr>
          <a:xfrm rot="18900000">
            <a:off x="4570171" y="466280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4" name="S04.Single.Text4"/>
          <p:cNvSpPr txBox="1"/>
          <p:nvPr/>
        </p:nvSpPr>
        <p:spPr>
          <a:xfrm>
            <a:off x="4882896" y="454027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Full-state snapshot</a:t>
            </a:r>
          </a:p>
        </p:txBody>
      </p:sp>
      <p:sp>
        <p:nvSpPr>
          <p:cNvPr id="100045" name="S04.Single.Status5"/>
          <p:cNvSpPr/>
          <p:nvPr/>
        </p:nvSpPr>
        <p:spPr>
          <a:xfrm>
            <a:off x="4471416" y="491244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6" name="S04.Single.CheckShort5"/>
          <p:cNvSpPr/>
          <p:nvPr/>
        </p:nvSpPr>
        <p:spPr>
          <a:xfrm rot="2700000">
            <a:off x="4532681" y="505051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7" name="S04.Single.CheckLong5"/>
          <p:cNvSpPr/>
          <p:nvPr/>
        </p:nvSpPr>
        <p:spPr>
          <a:xfrm rot="18900000">
            <a:off x="4570171" y="502856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8" name="S04.Single.Text5"/>
          <p:cNvSpPr txBox="1"/>
          <p:nvPr/>
        </p:nvSpPr>
        <p:spPr>
          <a:xfrm>
            <a:off x="4882896" y="490603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Deterministic replay</a:t>
            </a:r>
          </a:p>
        </p:txBody>
      </p:sp>
      <p:sp>
        <p:nvSpPr>
          <p:cNvPr id="100049" name="S04.Single.Status6"/>
          <p:cNvSpPr/>
          <p:nvPr/>
        </p:nvSpPr>
        <p:spPr>
          <a:xfrm>
            <a:off x="4471416" y="527820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0" name="S04.Single.CheckShort6"/>
          <p:cNvSpPr/>
          <p:nvPr/>
        </p:nvSpPr>
        <p:spPr>
          <a:xfrm rot="2700000">
            <a:off x="4532681" y="541627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1" name="S04.Single.CheckLong6"/>
          <p:cNvSpPr/>
          <p:nvPr/>
        </p:nvSpPr>
        <p:spPr>
          <a:xfrm rot="18900000">
            <a:off x="4570171" y="539432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2" name="S04.Single.Text6"/>
          <p:cNvSpPr txBox="1"/>
          <p:nvPr/>
        </p:nvSpPr>
        <p:spPr>
          <a:xfrm>
            <a:off x="4882896" y="527179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Waveform reconstruction</a:t>
            </a:r>
          </a:p>
        </p:txBody>
      </p:sp>
      <p:sp>
        <p:nvSpPr>
          <p:cNvPr id="100054" name="S04.REMUS.Panel"/>
          <p:cNvSpPr/>
          <p:nvPr/>
        </p:nvSpPr>
        <p:spPr>
          <a:xfrm>
            <a:off x="8165592" y="969264"/>
            <a:ext cx="3712464" cy="4892040"/>
          </a:xfrm>
          <a:prstGeom prst="roundRect">
            <a:avLst>
              <a:gd name="adj" fmla="val 4500"/>
            </a:avLst>
          </a:prstGeom>
          <a:solidFill>
            <a:srgbClr val="FCF4E8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5" name="S04.REMUS.Heading"/>
          <p:cNvSpPr txBox="1"/>
          <p:nvPr/>
        </p:nvSpPr>
        <p:spPr>
          <a:xfrm>
            <a:off x="8293608" y="1280160"/>
            <a:ext cx="3456432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2100" b="1">
                <a:solidFill>
                  <a:srgbClr val="183B56"/>
                </a:solidFill>
                <a:latin typeface="Arial"/>
                <a:ea typeface="Arial"/>
              </a:rPr>
              <a:t>This Work: REMUS</a:t>
            </a:r>
          </a:p>
        </p:txBody>
      </p:sp>
      <p:sp>
        <p:nvSpPr>
          <p:cNvPr id="100056" name="S04.REMUS.Qualifier"/>
          <p:cNvSpPr txBox="1"/>
          <p:nvPr/>
        </p:nvSpPr>
        <p:spPr>
          <a:xfrm>
            <a:off x="8330184" y="1865376"/>
            <a:ext cx="3383280" cy="2468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 b="1">
                <a:solidFill>
                  <a:srgbClr val="008C95"/>
                </a:solidFill>
                <a:latin typeface="Arial"/>
                <a:ea typeface="Arial"/>
              </a:rPr>
              <a:t>Research Goal</a:t>
            </a:r>
          </a:p>
        </p:txBody>
      </p:sp>
      <p:sp>
        <p:nvSpPr>
          <p:cNvPr id="100057" name="S04.REMUS.Divider"/>
          <p:cNvSpPr/>
          <p:nvPr/>
        </p:nvSpPr>
        <p:spPr>
          <a:xfrm>
            <a:off x="8348472" y="3182112"/>
            <a:ext cx="3346704" cy="10973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8" name="S04.REMUS.Status1"/>
          <p:cNvSpPr/>
          <p:nvPr/>
        </p:nvSpPr>
        <p:spPr>
          <a:xfrm>
            <a:off x="8394192" y="344940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9" name="S04.REMUS.CheckShort1"/>
          <p:cNvSpPr/>
          <p:nvPr/>
        </p:nvSpPr>
        <p:spPr>
          <a:xfrm rot="2700000">
            <a:off x="8455457" y="358747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0" name="S04.REMUS.CheckLong1"/>
          <p:cNvSpPr/>
          <p:nvPr/>
        </p:nvSpPr>
        <p:spPr>
          <a:xfrm rot="18900000">
            <a:off x="8492947" y="356552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1" name="S04.REMUS.Text1"/>
          <p:cNvSpPr txBox="1"/>
          <p:nvPr/>
        </p:nvSpPr>
        <p:spPr>
          <a:xfrm>
            <a:off x="8805672" y="344299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Scalable deployment</a:t>
            </a:r>
          </a:p>
        </p:txBody>
      </p:sp>
      <p:sp>
        <p:nvSpPr>
          <p:cNvPr id="100062" name="S04.REMUS.Status2"/>
          <p:cNvSpPr/>
          <p:nvPr/>
        </p:nvSpPr>
        <p:spPr>
          <a:xfrm>
            <a:off x="8394192" y="381516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3" name="S04.REMUS.CheckShort2"/>
          <p:cNvSpPr/>
          <p:nvPr/>
        </p:nvSpPr>
        <p:spPr>
          <a:xfrm rot="2700000">
            <a:off x="8455457" y="395323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4" name="S04.REMUS.CheckLong2"/>
          <p:cNvSpPr/>
          <p:nvPr/>
        </p:nvSpPr>
        <p:spPr>
          <a:xfrm rot="18900000">
            <a:off x="8492947" y="393128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5" name="S04.REMUS.Text2"/>
          <p:cNvSpPr txBox="1"/>
          <p:nvPr/>
        </p:nvSpPr>
        <p:spPr>
          <a:xfrm>
            <a:off x="8805672" y="380875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Fast execution</a:t>
            </a:r>
          </a:p>
        </p:txBody>
      </p:sp>
      <p:sp>
        <p:nvSpPr>
          <p:cNvPr id="100066" name="S04.REMUS.Status3"/>
          <p:cNvSpPr/>
          <p:nvPr/>
        </p:nvSpPr>
        <p:spPr>
          <a:xfrm>
            <a:off x="8394192" y="418092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7" name="S04.REMUS.CheckShort3"/>
          <p:cNvSpPr/>
          <p:nvPr/>
        </p:nvSpPr>
        <p:spPr>
          <a:xfrm rot="2700000">
            <a:off x="8455457" y="431899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8" name="S04.REMUS.CheckLong3"/>
          <p:cNvSpPr/>
          <p:nvPr/>
        </p:nvSpPr>
        <p:spPr>
          <a:xfrm rot="18900000">
            <a:off x="8492947" y="429704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9" name="S04.REMUS.Text3"/>
          <p:cNvSpPr txBox="1"/>
          <p:nvPr/>
        </p:nvSpPr>
        <p:spPr>
          <a:xfrm>
            <a:off x="8805672" y="417451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Cycle-consistent pause</a:t>
            </a:r>
          </a:p>
        </p:txBody>
      </p:sp>
      <p:sp>
        <p:nvSpPr>
          <p:cNvPr id="100070" name="S04.REMUS.Status4"/>
          <p:cNvSpPr/>
          <p:nvPr/>
        </p:nvSpPr>
        <p:spPr>
          <a:xfrm>
            <a:off x="8394192" y="454668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1" name="S04.REMUS.CheckShort4"/>
          <p:cNvSpPr/>
          <p:nvPr/>
        </p:nvSpPr>
        <p:spPr>
          <a:xfrm rot="2700000">
            <a:off x="8455457" y="468475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2" name="S04.REMUS.CheckLong4"/>
          <p:cNvSpPr/>
          <p:nvPr/>
        </p:nvSpPr>
        <p:spPr>
          <a:xfrm rot="18900000">
            <a:off x="8492947" y="466280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3" name="S04.REMUS.Text4"/>
          <p:cNvSpPr txBox="1"/>
          <p:nvPr/>
        </p:nvSpPr>
        <p:spPr>
          <a:xfrm>
            <a:off x="8805672" y="454027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Global snapshot</a:t>
            </a:r>
          </a:p>
        </p:txBody>
      </p:sp>
      <p:sp>
        <p:nvSpPr>
          <p:cNvPr id="100074" name="S04.REMUS.Status5"/>
          <p:cNvSpPr/>
          <p:nvPr/>
        </p:nvSpPr>
        <p:spPr>
          <a:xfrm>
            <a:off x="8394192" y="491244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5" name="S04.REMUS.CheckShort5"/>
          <p:cNvSpPr/>
          <p:nvPr/>
        </p:nvSpPr>
        <p:spPr>
          <a:xfrm rot="2700000">
            <a:off x="8455457" y="505051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6" name="S04.REMUS.CheckLong5"/>
          <p:cNvSpPr/>
          <p:nvPr/>
        </p:nvSpPr>
        <p:spPr>
          <a:xfrm rot="18900000">
            <a:off x="8492947" y="502856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7" name="S04.REMUS.Text5"/>
          <p:cNvSpPr txBox="1"/>
          <p:nvPr/>
        </p:nvSpPr>
        <p:spPr>
          <a:xfrm>
            <a:off x="8805672" y="490603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Deterministic replay</a:t>
            </a:r>
          </a:p>
        </p:txBody>
      </p:sp>
      <p:sp>
        <p:nvSpPr>
          <p:cNvPr id="100078" name="S04.REMUS.Status6"/>
          <p:cNvSpPr/>
          <p:nvPr/>
        </p:nvSpPr>
        <p:spPr>
          <a:xfrm>
            <a:off x="8394192" y="527820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9" name="S04.REMUS.CheckShort6"/>
          <p:cNvSpPr/>
          <p:nvPr/>
        </p:nvSpPr>
        <p:spPr>
          <a:xfrm rot="2700000">
            <a:off x="8455457" y="541627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80" name="S04.REMUS.CheckLong6"/>
          <p:cNvSpPr/>
          <p:nvPr/>
        </p:nvSpPr>
        <p:spPr>
          <a:xfrm rot="18900000">
            <a:off x="8492947" y="539432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81" name="S04.REMUS.Text6"/>
          <p:cNvSpPr txBox="1"/>
          <p:nvPr/>
        </p:nvSpPr>
        <p:spPr>
          <a:xfrm>
            <a:off x="8805672" y="527179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Waveform reconstruction</a:t>
            </a:r>
          </a:p>
        </p:txBody>
      </p:sp>
      <p:pic>
        <p:nvPicPr>
          <p:cNvPr id="100083" name="S04.Prototype.Left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2e1b491f04ca4d45"/>
          <a:srcRect l="21371" t="23684" r="21291" b="20972"/>
          <a:stretch>
            <a:fillRect/>
          </a:stretch>
        </p:blipFill>
        <p:spPr>
          <a:xfrm>
            <a:off x="832104" y="2231136"/>
            <a:ext cx="832104" cy="803171"/>
          </a:xfrm>
          <a:prstGeom prst="rect">
            <a:avLst/>
          </a:prstGeom>
        </p:spPr>
      </p:pic>
      <p:pic>
        <p:nvPicPr>
          <p:cNvPr id="100084" name="S04.Prototype.Right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c469a79aa2dc4e3e"/>
          <a:srcRect l="21371" t="23684" r="21291" b="20972"/>
          <a:stretch>
            <a:fillRect/>
          </a:stretch>
        </p:blipFill>
        <p:spPr>
          <a:xfrm>
            <a:off x="2688336" y="2231136"/>
            <a:ext cx="832104" cy="803171"/>
          </a:xfrm>
          <a:prstGeom prst="rect">
            <a:avLst/>
          </a:prstGeom>
        </p:spPr>
      </p:pic>
      <p:sp>
        <p:nvSpPr>
          <p:cNvPr id="100085" name="S04.Prototype.Link"/>
          <p:cNvSpPr/>
          <p:nvPr/>
        </p:nvSpPr>
        <p:spPr>
          <a:xfrm>
            <a:off x="1746504" y="2514600"/>
            <a:ext cx="859536" cy="246888"/>
          </a:xfrm>
          <a:prstGeom prst="leftRightArrow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pic>
        <p:nvPicPr>
          <p:cNvPr id="100086" name="S04.Single.FPGA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c7c7ca0e50a74076"/>
          <a:srcRect l="21371" t="23684" r="21291" b="20972"/>
          <a:stretch>
            <a:fillRect/>
          </a:stretch>
        </p:blipFill>
        <p:spPr>
          <a:xfrm>
            <a:off x="4736592" y="2231136"/>
            <a:ext cx="832104" cy="803171"/>
          </a:xfrm>
          <a:prstGeom prst="rect">
            <a:avLst/>
          </a:prstGeom>
        </p:spPr>
      </p:pic>
      <p:sp>
        <p:nvSpPr>
          <p:cNvPr id="100087" name="S04.Single.Host"/>
          <p:cNvSpPr/>
          <p:nvPr/>
        </p:nvSpPr>
        <p:spPr>
          <a:xfrm>
            <a:off x="6163056" y="2331720"/>
            <a:ext cx="1069848" cy="59436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 w="31750">
            <a:solidFill>
              <a:srgbClr val="183B56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88" name="S04.Single.HostStand"/>
          <p:cNvSpPr/>
          <p:nvPr/>
        </p:nvSpPr>
        <p:spPr>
          <a:xfrm>
            <a:off x="6643116" y="2935224"/>
            <a:ext cx="109728" cy="109728"/>
          </a:xfrm>
          <a:prstGeom prst="rect">
            <a:avLst/>
          </a:prstGeom>
          <a:solidFill>
            <a:srgbClr val="183B56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89" name="S04.Single.HostFoot"/>
          <p:cNvSpPr/>
          <p:nvPr/>
        </p:nvSpPr>
        <p:spPr>
          <a:xfrm>
            <a:off x="6460236" y="3044952"/>
            <a:ext cx="475488" cy="41148"/>
          </a:xfrm>
          <a:prstGeom prst="rect">
            <a:avLst/>
          </a:prstGeom>
          <a:solidFill>
            <a:srgbClr val="183B56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pic>
        <p:nvPicPr>
          <p:cNvPr id="100090" name="S04.Single.Snapshot" descr="Global snapshot"/>
          <p:cNvPicPr>
            <a:picLocks noChangeAspect="1"/>
          </p:cNvPicPr>
          <p:nvPr/>
        </p:nvPicPr>
        <p:blipFill>
          <a:blip xmlns:r="http://schemas.openxmlformats.org/officeDocument/2006/relationships" r:embed="Rc173b3d7698c4342"/>
          <a:srcRect l="16746" t="16427" r="16746" b="11961"/>
          <a:stretch>
            <a:fillRect/>
          </a:stretch>
        </p:blipFill>
        <p:spPr>
          <a:xfrm>
            <a:off x="6496812" y="2404872"/>
            <a:ext cx="402336" cy="433211"/>
          </a:xfrm>
          <a:prstGeom prst="rect">
            <a:avLst/>
          </a:prstGeom>
        </p:spPr>
      </p:pic>
      <p:cxnSp>
        <p:nvCxnSpPr>
          <p:cNvPr id="100091" name="S04.Single.StateTransfer"/>
          <p:cNvCxnSpPr>
            <a:stCxn id="100086" idx="0"/>
            <a:endCxn id="100087" idx="0"/>
          </p:cNvCxnSpPr>
          <p:nvPr/>
        </p:nvCxnSpPr>
        <p:spPr>
          <a:xfrm flipV="1">
            <a:off x="5568696" y="2628900"/>
            <a:ext cx="594360" cy="3821"/>
          </a:xfrm>
          <a:prstGeom prst="straightConnector1">
            <a:avLst/>
          </a:prstGeom>
          <a:ln w="25400">
            <a:solidFill>
              <a:srgbClr val="183B56"/>
            </a:solidFill>
            <a:headEnd type="triangle"/>
            <a:tailEnd type="triangle"/>
          </a:ln>
        </p:spPr>
      </p:cxnSp>
      <p:pic>
        <p:nvPicPr>
          <p:cNvPr id="100092" name="S04.REMUS.Left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a64f2a7bc3424224"/>
          <a:srcRect l="21371" t="23684" r="21291" b="20972"/>
          <a:stretch>
            <a:fillRect/>
          </a:stretch>
        </p:blipFill>
        <p:spPr>
          <a:xfrm>
            <a:off x="8394192" y="2331720"/>
            <a:ext cx="640080" cy="617824"/>
          </a:xfrm>
          <a:prstGeom prst="rect">
            <a:avLst/>
          </a:prstGeom>
        </p:spPr>
      </p:pic>
      <p:pic>
        <p:nvPicPr>
          <p:cNvPr id="100093" name="S04.REMUS.Right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2525133ad447425c"/>
          <a:srcRect l="21371" t="23684" r="21291" b="20972"/>
          <a:stretch>
            <a:fillRect/>
          </a:stretch>
        </p:blipFill>
        <p:spPr>
          <a:xfrm>
            <a:off x="9454896" y="2331720"/>
            <a:ext cx="640080" cy="617824"/>
          </a:xfrm>
          <a:prstGeom prst="rect">
            <a:avLst/>
          </a:prstGeom>
        </p:spPr>
      </p:pic>
      <p:sp>
        <p:nvSpPr>
          <p:cNvPr id="100094" name="S04.REMUS.Link"/>
          <p:cNvSpPr/>
          <p:nvPr/>
        </p:nvSpPr>
        <p:spPr>
          <a:xfrm>
            <a:off x="9075420" y="2551176"/>
            <a:ext cx="338328" cy="182880"/>
          </a:xfrm>
          <a:prstGeom prst="leftRightArrow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pic>
        <p:nvPicPr>
          <p:cNvPr id="100095" name="S04.REMUS.Replay" descr="Restore and replay"/>
          <p:cNvPicPr>
            <a:picLocks noChangeAspect="1"/>
          </p:cNvPicPr>
          <p:nvPr/>
        </p:nvPicPr>
        <p:blipFill>
          <a:blip xmlns:r="http://schemas.openxmlformats.org/officeDocument/2006/relationships" r:embed="Ra3aaea55b5a64e1b"/>
          <a:srcRect l="13476" t="12679" r="12200" b="13237"/>
          <a:stretch>
            <a:fillRect/>
          </a:stretch>
        </p:blipFill>
        <p:spPr>
          <a:xfrm>
            <a:off x="10296144" y="2386584"/>
            <a:ext cx="521208" cy="519530"/>
          </a:xfrm>
          <a:prstGeom prst="rect">
            <a:avLst/>
          </a:prstGeom>
        </p:spPr>
      </p:pic>
      <p:pic>
        <p:nvPicPr>
          <p:cNvPr id="100096" name="S04.REMUS.Snapshot" descr="Global snapshot"/>
          <p:cNvPicPr>
            <a:picLocks noChangeAspect="1"/>
          </p:cNvPicPr>
          <p:nvPr/>
        </p:nvPicPr>
        <p:blipFill>
          <a:blip xmlns:r="http://schemas.openxmlformats.org/officeDocument/2006/relationships" r:embed="Rd6291934e8654d4c"/>
          <a:srcRect l="16746" t="16427" r="16746" b="11961"/>
          <a:stretch>
            <a:fillRect/>
          </a:stretch>
        </p:blipFill>
        <p:spPr>
          <a:xfrm>
            <a:off x="11055096" y="2368296"/>
            <a:ext cx="502920" cy="541513"/>
          </a:xfrm>
          <a:prstGeom prst="rect">
            <a:avLst/>
          </a:prstGeom>
        </p:spPr>
      </p:pic>
      <p:sp>
        <p:nvSpPr>
          <p:cNvPr id="100097" name="S04.Goal.Panel"/>
          <p:cNvSpPr/>
          <p:nvPr/>
        </p:nvSpPr>
        <p:spPr>
          <a:xfrm>
            <a:off x="316992" y="6054242"/>
            <a:ext cx="11558016" cy="576072"/>
          </a:xfrm>
          <a:prstGeom prst="roundRect">
            <a:avLst>
              <a:gd name="adj" fmla="val 150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105" name="S04.Goal.Text"/>
          <p:cNvSpPr txBox="1"/>
          <p:nvPr/>
        </p:nvSpPr>
        <p:spPr>
          <a:xfrm>
            <a:off x="1100392" y="6201560"/>
            <a:ext cx="10800876" cy="39319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800" b="0">
                <a:solidFill>
                  <a:srgbClr val="183B56"/>
                </a:solidFill>
                <a:latin typeface="Arial"/>
                <a:ea typeface="Arial"/>
              </a:defRPr>
            </a:pPr>
            <a:r>
              <a:rPr lang="en-US" sz="1800">
                <a:solidFill>
                  <a:srgbClr val="183B56"/>
                </a:solidFill>
                <a:latin typeface="Arial"/>
              </a:rPr>
              <a:t xml:space="preserve">Goal: combine multi-FPGA scalability with </a:t>
            </a:r>
            <a:r>
              <a:rPr lang="en-US" sz="1800">
                <a:solidFill>
                  <a:srgbClr val="183B56"/>
                </a:solidFill>
                <a:latin typeface="Arial"/>
              </a:rPr>
              <a:t>replayable</a:t>
            </a:r>
            <a:r>
              <a:rPr lang="en-US" sz="1800">
                <a:solidFill>
                  <a:srgbClr val="183B56"/>
                </a:solidFill>
                <a:latin typeface="Arial"/>
              </a:rPr>
              <a:t xml:space="preserve"> emulation for large-scale SoC debugging</a:t>
            </a:r>
          </a:p>
        </p:txBody>
      </p:sp>
      <p:sp>
        <p:nvSpPr>
          <p:cNvPr id="100106" name="S04.PageNumber"/>
          <p:cNvSpPr txBox="1"/>
          <p:nvPr/>
        </p:nvSpPr>
        <p:spPr>
          <a:xfrm>
            <a:off x="11631168" y="662940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607184"/>
                </a:solidFill>
                <a:latin typeface="Arial"/>
                <a:ea typeface="Arial"/>
              </a:rPr>
              <a:t>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OfficeCLI/1.0.156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OfficeCLI</dc:creator>
  <dcterms:created xsi:type="dcterms:W3CDTF">2026-10-29T08:01:02.0000000Z</dcterms:created>
  <lastModifiedBy>OfficeCLI</lastModifiedBy>
  <dcterms:modified xsi:type="dcterms:W3CDTF">2026-10-29T08:01:03.1442636Z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1.0.156</vt:lpwstr>
  </op:property>
  <op:property fmtid="{D5CDD505-2E9C-101B-9397-08002B2CF9AE}" pid="3" name="OfficeCLI.LastModified">
    <vt:lpwstr xmlns:vt="http://schemas.openxmlformats.org/officeDocument/2006/docPropsVTypes">2026-10-29T08:01:07Z</vt:lpwstr>
  </op:property>
</op:Properties>
</file>