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a762e1312e340f3" /><Relationship Type="http://schemas.openxmlformats.org/package/2006/relationships/metadata/core-properties" Target="/docProps/core.xml" Id="R890564366bbb4d4d" /><Relationship Type="http://schemas.openxmlformats.org/officeDocument/2006/relationships/extended-properties" Target="/docProps/app.xml" Id="R44c85093375042df" /><Relationship Type="http://schemas.openxmlformats.org/officeDocument/2006/relationships/custom-properties" Target="/docProps/custom.xml" Id="R011c287063c447e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b933fa234e1499d"/>
  </p:notesMasterIdLst>
  <p:sldIdLst>
    <p:sldId id="256" r:id="R30b60fad03324589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0b60fad03324589" /><Relationship Type="http://schemas.openxmlformats.org/officeDocument/2006/relationships/notesMaster" Target="/ppt/notesMasters/notesMaster1.xml" Id="Rcb933fa234e149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e0d2b8dec145b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4cd934b48fb44e4" /><Relationship Type="http://schemas.openxmlformats.org/officeDocument/2006/relationships/slide" Target="/ppt/slides/slide1.xml" Id="Raabac304f5cb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Research motivation: combine multi-FPGA deployment with replayable emulation. The prototype column indicates typical focus; amber marks system-dependent debug capabilities, not universal absence. The middle column represents scan-based single-FPGA replayable emulation such as the REMU foundation described in docs/thesis-writing-guidelines.md and src/proposal/significance_and_related_work.tex. A full-state snapshot in that setting fits within one FPGA's capacity. REMUS is explicitly a Research Goal: its checks are target capabilities, not measured results or a completed-feature checklist. The diagram is conceptual and does not establish restoration backend or a tested FPGA count. No exhaustive prior-art or novelty claim is made by this qualitative comparison. Layout: figure/presentation-reference/midterm-background-04.png.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0c1a1c2d94f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64159324b45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bd0e63a1246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a0ff0a27b44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ae48a20be4e5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81c1f7057d240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47053f88444a7" /><Relationship Type="http://schemas.openxmlformats.org/officeDocument/2006/relationships/image" Target="/ppt/media/image.png" Id="R08226750bf5e47db" /><Relationship Type="http://schemas.openxmlformats.org/officeDocument/2006/relationships/image" Target="/ppt/media/image2.png" Id="R93796b2a57774adb" /><Relationship Type="http://schemas.openxmlformats.org/officeDocument/2006/relationships/image" Target="/ppt/media/image3.png" Id="R9089391c6d9940e4" /><Relationship Type="http://schemas.openxmlformats.org/officeDocument/2006/relationships/image" Target="/ppt/media/image4.png" Id="Rddba46406b7a4c63" /><Relationship Type="http://schemas.openxmlformats.org/officeDocument/2006/relationships/image" Target="/ppt/media/image5.png" Id="Rccc30015c29b4f12" /><Relationship Type="http://schemas.openxmlformats.org/officeDocument/2006/relationships/image" Target="/ppt/media/image6.png" Id="R3087888df6c94e56" /><Relationship Type="http://schemas.openxmlformats.org/officeDocument/2006/relationships/image" Target="/ppt/media/image7.png" Id="Rc1bcec8b0ec84c3a" /><Relationship Type="http://schemas.openxmlformats.org/officeDocument/2006/relationships/image" Target="/ppt/media/image8.png" Id="Rbc8b3cfe85344baa" /><Relationship Type="http://schemas.openxmlformats.org/officeDocument/2006/relationships/notesSlide" Target="/ppt/notesSlides/notesSlide1.xml" Id="R927f6eead0624b8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4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83B56"/>
                </a:solidFill>
                <a:latin typeface="Arial"/>
                <a:ea typeface="Arial"/>
              </a:rPr>
              <a:t>4. Research Gap and Goal</a:t>
            </a:r>
          </a:p>
        </p:txBody>
      </p:sp>
      <p:sp>
        <p:nvSpPr>
          <p:cNvPr id="100000" name="S04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1" name="S04.Prototype.Panel"/>
          <p:cNvSpPr/>
          <p:nvPr/>
        </p:nvSpPr>
        <p:spPr>
          <a:xfrm>
            <a:off x="320040" y="969264"/>
            <a:ext cx="3712464" cy="4892040"/>
          </a:xfrm>
          <a:prstGeom prst="roundRect">
            <a:avLst>
              <a:gd name="adj" fmla="val 4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2" name="S04.Prototype.Heading"/>
          <p:cNvSpPr txBox="1"/>
          <p:nvPr/>
        </p:nvSpPr>
        <p:spPr>
          <a:xfrm>
            <a:off x="448056" y="1115568"/>
            <a:ext cx="3456432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Multi-FPGA</a:t>
            </a:r>
          </a:p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Prototyping</a:t>
            </a:r>
          </a:p>
        </p:txBody>
      </p:sp>
      <p:sp>
        <p:nvSpPr>
          <p:cNvPr id="100003" name="S04.Prototype.Qualifier"/>
          <p:cNvSpPr txBox="1"/>
          <p:nvPr/>
        </p:nvSpPr>
        <p:spPr>
          <a:xfrm>
            <a:off x="484632" y="186537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 b="0">
                <a:solidFill>
                  <a:srgbClr val="607184"/>
                </a:solidFill>
                <a:latin typeface="Arial"/>
                <a:ea typeface="Arial"/>
              </a:rPr>
              <a:t>Primary focus: capacity &amp; speed</a:t>
            </a:r>
          </a:p>
        </p:txBody>
      </p:sp>
      <p:sp>
        <p:nvSpPr>
          <p:cNvPr id="100004" name="S04.Prototype.Divider"/>
          <p:cNvSpPr/>
          <p:nvPr/>
        </p:nvSpPr>
        <p:spPr>
          <a:xfrm>
            <a:off x="502920" y="3182112"/>
            <a:ext cx="3346704" cy="10973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5" name="S04.Prototype.Status1"/>
          <p:cNvSpPr/>
          <p:nvPr/>
        </p:nvSpPr>
        <p:spPr>
          <a:xfrm>
            <a:off x="548640" y="336499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6" name="S04.Prototype.CheckShort1"/>
          <p:cNvSpPr/>
          <p:nvPr/>
        </p:nvSpPr>
        <p:spPr>
          <a:xfrm rot="2700000">
            <a:off x="609905" y="350306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7" name="S04.Prototype.CheckLong1"/>
          <p:cNvSpPr/>
          <p:nvPr/>
        </p:nvSpPr>
        <p:spPr>
          <a:xfrm rot="18900000">
            <a:off x="647395" y="348112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8" name="S04.Prototype.Text1"/>
          <p:cNvSpPr txBox="1"/>
          <p:nvPr/>
        </p:nvSpPr>
        <p:spPr>
          <a:xfrm>
            <a:off x="960120" y="335859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Scalable deployment</a:t>
            </a:r>
          </a:p>
        </p:txBody>
      </p:sp>
      <p:sp>
        <p:nvSpPr>
          <p:cNvPr id="100009" name="S04.Prototype.Status2"/>
          <p:cNvSpPr/>
          <p:nvPr/>
        </p:nvSpPr>
        <p:spPr>
          <a:xfrm>
            <a:off x="548640" y="373075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0" name="S04.Prototype.CheckShort2"/>
          <p:cNvSpPr/>
          <p:nvPr/>
        </p:nvSpPr>
        <p:spPr>
          <a:xfrm rot="2700000">
            <a:off x="609905" y="386882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1" name="S04.Prototype.CheckLong2"/>
          <p:cNvSpPr/>
          <p:nvPr/>
        </p:nvSpPr>
        <p:spPr>
          <a:xfrm rot="18900000">
            <a:off x="647395" y="384688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2" name="S04.Prototype.Text2"/>
          <p:cNvSpPr txBox="1"/>
          <p:nvPr/>
        </p:nvSpPr>
        <p:spPr>
          <a:xfrm>
            <a:off x="960120" y="372435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Fast execution</a:t>
            </a:r>
          </a:p>
        </p:txBody>
      </p:sp>
      <p:sp>
        <p:nvSpPr>
          <p:cNvPr id="100013" name="S04.Prototype.Status3"/>
          <p:cNvSpPr/>
          <p:nvPr/>
        </p:nvSpPr>
        <p:spPr>
          <a:xfrm>
            <a:off x="548640" y="4096512"/>
            <a:ext cx="265176" cy="265176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4" name="S04.Prototype.Variable3"/>
          <p:cNvSpPr txBox="1"/>
          <p:nvPr/>
        </p:nvSpPr>
        <p:spPr>
          <a:xfrm>
            <a:off x="548640" y="4094683"/>
            <a:ext cx="265176" cy="26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015" name="S04.Prototype.Text3"/>
          <p:cNvSpPr txBox="1"/>
          <p:nvPr/>
        </p:nvSpPr>
        <p:spPr>
          <a:xfrm>
            <a:off x="960120" y="40901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Cycle-consistent pause</a:t>
            </a:r>
          </a:p>
        </p:txBody>
      </p:sp>
      <p:sp>
        <p:nvSpPr>
          <p:cNvPr id="100016" name="S04.Prototype.Status4"/>
          <p:cNvSpPr/>
          <p:nvPr/>
        </p:nvSpPr>
        <p:spPr>
          <a:xfrm>
            <a:off x="548640" y="4462272"/>
            <a:ext cx="265176" cy="265176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7" name="S04.Prototype.Variable4"/>
          <p:cNvSpPr txBox="1"/>
          <p:nvPr/>
        </p:nvSpPr>
        <p:spPr>
          <a:xfrm>
            <a:off x="548640" y="4460443"/>
            <a:ext cx="265176" cy="26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018" name="S04.Prototype.Text4"/>
          <p:cNvSpPr txBox="1"/>
          <p:nvPr/>
        </p:nvSpPr>
        <p:spPr>
          <a:xfrm>
            <a:off x="960120" y="445587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Global snapshot</a:t>
            </a:r>
          </a:p>
        </p:txBody>
      </p:sp>
      <p:sp>
        <p:nvSpPr>
          <p:cNvPr id="100019" name="S04.Prototype.Status5"/>
          <p:cNvSpPr/>
          <p:nvPr/>
        </p:nvSpPr>
        <p:spPr>
          <a:xfrm>
            <a:off x="548640" y="4828032"/>
            <a:ext cx="265176" cy="265176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0" name="S04.Prototype.Variable5"/>
          <p:cNvSpPr txBox="1"/>
          <p:nvPr/>
        </p:nvSpPr>
        <p:spPr>
          <a:xfrm>
            <a:off x="548640" y="4826203"/>
            <a:ext cx="265176" cy="26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021" name="S04.Prototype.Text5"/>
          <p:cNvSpPr txBox="1"/>
          <p:nvPr/>
        </p:nvSpPr>
        <p:spPr>
          <a:xfrm>
            <a:off x="960120" y="482163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Deterministic replay</a:t>
            </a:r>
          </a:p>
        </p:txBody>
      </p:sp>
      <p:sp>
        <p:nvSpPr>
          <p:cNvPr id="100022" name="S04.Prototype.Status6"/>
          <p:cNvSpPr/>
          <p:nvPr/>
        </p:nvSpPr>
        <p:spPr>
          <a:xfrm>
            <a:off x="548640" y="5193792"/>
            <a:ext cx="265176" cy="265176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3" name="S04.Prototype.Variable6"/>
          <p:cNvSpPr txBox="1"/>
          <p:nvPr/>
        </p:nvSpPr>
        <p:spPr>
          <a:xfrm>
            <a:off x="548640" y="5191963"/>
            <a:ext cx="265176" cy="265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024" name="S04.Prototype.Text6"/>
          <p:cNvSpPr txBox="1"/>
          <p:nvPr/>
        </p:nvSpPr>
        <p:spPr>
          <a:xfrm>
            <a:off x="960120" y="518739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Waveform reconstruction</a:t>
            </a:r>
          </a:p>
        </p:txBody>
      </p:sp>
      <p:sp>
        <p:nvSpPr>
          <p:cNvPr id="100025" name="S04.Prototype.Scope"/>
          <p:cNvSpPr txBox="1"/>
          <p:nvPr/>
        </p:nvSpPr>
        <p:spPr>
          <a:xfrm>
            <a:off x="484632" y="55778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200">
                <a:solidFill>
                  <a:srgbClr val="607184"/>
                </a:solidFill>
                <a:latin typeface="Arial"/>
                <a:ea typeface="Arial"/>
              </a:rPr>
              <a:t>Debug support varies by system</a:t>
            </a:r>
          </a:p>
        </p:txBody>
      </p:sp>
      <p:sp>
        <p:nvSpPr>
          <p:cNvPr id="100026" name="S04.Single.Panel"/>
          <p:cNvSpPr/>
          <p:nvPr/>
        </p:nvSpPr>
        <p:spPr>
          <a:xfrm>
            <a:off x="4242816" y="969264"/>
            <a:ext cx="3712464" cy="4892040"/>
          </a:xfrm>
          <a:prstGeom prst="roundRect">
            <a:avLst>
              <a:gd name="adj" fmla="val 4500"/>
            </a:avLst>
          </a:prstGeom>
          <a:solidFill>
            <a:srgbClr val="F1F5F8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7" name="S04.Single.Heading"/>
          <p:cNvSpPr txBox="1"/>
          <p:nvPr/>
        </p:nvSpPr>
        <p:spPr>
          <a:xfrm>
            <a:off x="4370832" y="1115568"/>
            <a:ext cx="3456432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Single-FPGA</a:t>
            </a:r>
          </a:p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Replayable Emulation</a:t>
            </a:r>
          </a:p>
        </p:txBody>
      </p:sp>
      <p:sp>
        <p:nvSpPr>
          <p:cNvPr id="100028" name="S04.Single.Qualifier"/>
          <p:cNvSpPr txBox="1"/>
          <p:nvPr/>
        </p:nvSpPr>
        <p:spPr>
          <a:xfrm>
            <a:off x="4407408" y="186537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 b="0">
                <a:solidFill>
                  <a:srgbClr val="607184"/>
                </a:solidFill>
                <a:latin typeface="Arial"/>
                <a:ea typeface="Arial"/>
              </a:rPr>
              <a:t>Scan-based state &amp; replay</a:t>
            </a:r>
          </a:p>
        </p:txBody>
      </p:sp>
      <p:sp>
        <p:nvSpPr>
          <p:cNvPr id="100029" name="S04.Single.Divider"/>
          <p:cNvSpPr/>
          <p:nvPr/>
        </p:nvSpPr>
        <p:spPr>
          <a:xfrm>
            <a:off x="4425696" y="3182112"/>
            <a:ext cx="3346704" cy="10973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0" name="S04.Single.Status1"/>
          <p:cNvSpPr/>
          <p:nvPr/>
        </p:nvSpPr>
        <p:spPr>
          <a:xfrm>
            <a:off x="4471416" y="3364992"/>
            <a:ext cx="265176" cy="265176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1" name="S04.Single.Minus1"/>
          <p:cNvSpPr/>
          <p:nvPr/>
        </p:nvSpPr>
        <p:spPr>
          <a:xfrm>
            <a:off x="4530852" y="3478378"/>
            <a:ext cx="146304" cy="384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2" name="S04.Single.Text1"/>
          <p:cNvSpPr txBox="1"/>
          <p:nvPr/>
        </p:nvSpPr>
        <p:spPr>
          <a:xfrm>
            <a:off x="4882896" y="335859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Limited by one FPGA</a:t>
            </a:r>
          </a:p>
        </p:txBody>
      </p:sp>
      <p:sp>
        <p:nvSpPr>
          <p:cNvPr id="100033" name="S04.Single.Status2"/>
          <p:cNvSpPr/>
          <p:nvPr/>
        </p:nvSpPr>
        <p:spPr>
          <a:xfrm>
            <a:off x="4471416" y="373075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4" name="S04.Single.CheckShort2"/>
          <p:cNvSpPr/>
          <p:nvPr/>
        </p:nvSpPr>
        <p:spPr>
          <a:xfrm rot="2700000">
            <a:off x="4532681" y="386882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5" name="S04.Single.CheckLong2"/>
          <p:cNvSpPr/>
          <p:nvPr/>
        </p:nvSpPr>
        <p:spPr>
          <a:xfrm rot="18900000">
            <a:off x="4570171" y="384688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6" name="S04.Single.Text2"/>
          <p:cNvSpPr txBox="1"/>
          <p:nvPr/>
        </p:nvSpPr>
        <p:spPr>
          <a:xfrm>
            <a:off x="4882896" y="372435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Fast execution</a:t>
            </a:r>
          </a:p>
        </p:txBody>
      </p:sp>
      <p:sp>
        <p:nvSpPr>
          <p:cNvPr id="100037" name="S04.Single.Status3"/>
          <p:cNvSpPr/>
          <p:nvPr/>
        </p:nvSpPr>
        <p:spPr>
          <a:xfrm>
            <a:off x="4471416" y="409651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8" name="S04.Single.CheckShort3"/>
          <p:cNvSpPr/>
          <p:nvPr/>
        </p:nvSpPr>
        <p:spPr>
          <a:xfrm rot="2700000">
            <a:off x="4532681" y="423458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9" name="S04.Single.CheckLong3"/>
          <p:cNvSpPr/>
          <p:nvPr/>
        </p:nvSpPr>
        <p:spPr>
          <a:xfrm rot="18900000">
            <a:off x="4570171" y="421264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0" name="S04.Single.Text3"/>
          <p:cNvSpPr txBox="1"/>
          <p:nvPr/>
        </p:nvSpPr>
        <p:spPr>
          <a:xfrm>
            <a:off x="4882896" y="40901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Cycle-controlled pause</a:t>
            </a:r>
          </a:p>
        </p:txBody>
      </p:sp>
      <p:sp>
        <p:nvSpPr>
          <p:cNvPr id="100041" name="S04.Single.Status4"/>
          <p:cNvSpPr/>
          <p:nvPr/>
        </p:nvSpPr>
        <p:spPr>
          <a:xfrm>
            <a:off x="4471416" y="446227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2" name="S04.Single.CheckShort4"/>
          <p:cNvSpPr/>
          <p:nvPr/>
        </p:nvSpPr>
        <p:spPr>
          <a:xfrm rot="2700000">
            <a:off x="4532681" y="460034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3" name="S04.Single.CheckLong4"/>
          <p:cNvSpPr/>
          <p:nvPr/>
        </p:nvSpPr>
        <p:spPr>
          <a:xfrm rot="18900000">
            <a:off x="4570171" y="457840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4" name="S04.Single.Text4"/>
          <p:cNvSpPr txBox="1"/>
          <p:nvPr/>
        </p:nvSpPr>
        <p:spPr>
          <a:xfrm>
            <a:off x="4882896" y="445587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Full-state snapshot</a:t>
            </a:r>
          </a:p>
        </p:txBody>
      </p:sp>
      <p:sp>
        <p:nvSpPr>
          <p:cNvPr id="100045" name="S04.Single.Status5"/>
          <p:cNvSpPr/>
          <p:nvPr/>
        </p:nvSpPr>
        <p:spPr>
          <a:xfrm>
            <a:off x="4471416" y="482803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6" name="S04.Single.CheckShort5"/>
          <p:cNvSpPr/>
          <p:nvPr/>
        </p:nvSpPr>
        <p:spPr>
          <a:xfrm rot="2700000">
            <a:off x="4532681" y="496610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7" name="S04.Single.CheckLong5"/>
          <p:cNvSpPr/>
          <p:nvPr/>
        </p:nvSpPr>
        <p:spPr>
          <a:xfrm rot="18900000">
            <a:off x="4570171" y="494416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8" name="S04.Single.Text5"/>
          <p:cNvSpPr txBox="1"/>
          <p:nvPr/>
        </p:nvSpPr>
        <p:spPr>
          <a:xfrm>
            <a:off x="4882896" y="482163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Deterministic replay</a:t>
            </a:r>
          </a:p>
        </p:txBody>
      </p:sp>
      <p:sp>
        <p:nvSpPr>
          <p:cNvPr id="100049" name="S04.Single.Status6"/>
          <p:cNvSpPr/>
          <p:nvPr/>
        </p:nvSpPr>
        <p:spPr>
          <a:xfrm>
            <a:off x="4471416" y="519379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0" name="S04.Single.CheckShort6"/>
          <p:cNvSpPr/>
          <p:nvPr/>
        </p:nvSpPr>
        <p:spPr>
          <a:xfrm rot="2700000">
            <a:off x="4532681" y="533186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1" name="S04.Single.CheckLong6"/>
          <p:cNvSpPr/>
          <p:nvPr/>
        </p:nvSpPr>
        <p:spPr>
          <a:xfrm rot="18900000">
            <a:off x="4570171" y="530992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2" name="S04.Single.Text6"/>
          <p:cNvSpPr txBox="1"/>
          <p:nvPr/>
        </p:nvSpPr>
        <p:spPr>
          <a:xfrm>
            <a:off x="4882896" y="518739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Waveform reconstruction</a:t>
            </a:r>
          </a:p>
        </p:txBody>
      </p:sp>
      <p:sp>
        <p:nvSpPr>
          <p:cNvPr id="100053" name="S04.Single.Scope"/>
          <p:cNvSpPr txBox="1"/>
          <p:nvPr/>
        </p:nvSpPr>
        <p:spPr>
          <a:xfrm>
            <a:off x="4407408" y="55778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200">
                <a:solidFill>
                  <a:srgbClr val="607184"/>
                </a:solidFill>
                <a:latin typeface="Arial"/>
                <a:ea typeface="Arial"/>
              </a:rPr>
              <a:t>Replay within single-FPGA capacity</a:t>
            </a:r>
          </a:p>
        </p:txBody>
      </p:sp>
      <p:sp>
        <p:nvSpPr>
          <p:cNvPr id="100054" name="S04.REMUS.Panel"/>
          <p:cNvSpPr/>
          <p:nvPr/>
        </p:nvSpPr>
        <p:spPr>
          <a:xfrm>
            <a:off x="8165592" y="969264"/>
            <a:ext cx="3712464" cy="4892040"/>
          </a:xfrm>
          <a:prstGeom prst="roundRect">
            <a:avLst>
              <a:gd name="adj" fmla="val 4500"/>
            </a:avLst>
          </a:prstGeom>
          <a:solidFill>
            <a:srgbClr val="FCF4E8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5" name="S04.REMUS.Heading"/>
          <p:cNvSpPr txBox="1"/>
          <p:nvPr/>
        </p:nvSpPr>
        <p:spPr>
          <a:xfrm>
            <a:off x="8293608" y="1280160"/>
            <a:ext cx="3456432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2100" b="1">
                <a:solidFill>
                  <a:srgbClr val="183B56"/>
                </a:solidFill>
                <a:latin typeface="Arial"/>
                <a:ea typeface="Arial"/>
              </a:rPr>
              <a:t>This Work: REMUS</a:t>
            </a:r>
          </a:p>
        </p:txBody>
      </p:sp>
      <p:sp>
        <p:nvSpPr>
          <p:cNvPr id="100056" name="S04.REMUS.Qualifier"/>
          <p:cNvSpPr txBox="1"/>
          <p:nvPr/>
        </p:nvSpPr>
        <p:spPr>
          <a:xfrm>
            <a:off x="8330184" y="186537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 b="1">
                <a:solidFill>
                  <a:srgbClr val="008C95"/>
                </a:solidFill>
                <a:latin typeface="Arial"/>
                <a:ea typeface="Arial"/>
              </a:rPr>
              <a:t>Research Goal</a:t>
            </a:r>
          </a:p>
        </p:txBody>
      </p:sp>
      <p:sp>
        <p:nvSpPr>
          <p:cNvPr id="100057" name="S04.REMUS.Divider"/>
          <p:cNvSpPr/>
          <p:nvPr/>
        </p:nvSpPr>
        <p:spPr>
          <a:xfrm>
            <a:off x="8348472" y="3182112"/>
            <a:ext cx="3346704" cy="10973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8" name="S04.REMUS.Status1"/>
          <p:cNvSpPr/>
          <p:nvPr/>
        </p:nvSpPr>
        <p:spPr>
          <a:xfrm>
            <a:off x="8394192" y="336499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59" name="S04.REMUS.CheckShort1"/>
          <p:cNvSpPr/>
          <p:nvPr/>
        </p:nvSpPr>
        <p:spPr>
          <a:xfrm rot="2700000">
            <a:off x="8455457" y="350306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0" name="S04.REMUS.CheckLong1"/>
          <p:cNvSpPr/>
          <p:nvPr/>
        </p:nvSpPr>
        <p:spPr>
          <a:xfrm rot="18900000">
            <a:off x="8492947" y="348112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1" name="S04.REMUS.Text1"/>
          <p:cNvSpPr txBox="1"/>
          <p:nvPr/>
        </p:nvSpPr>
        <p:spPr>
          <a:xfrm>
            <a:off x="8805672" y="335859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Scalable deployment</a:t>
            </a:r>
          </a:p>
        </p:txBody>
      </p:sp>
      <p:sp>
        <p:nvSpPr>
          <p:cNvPr id="100062" name="S04.REMUS.Status2"/>
          <p:cNvSpPr/>
          <p:nvPr/>
        </p:nvSpPr>
        <p:spPr>
          <a:xfrm>
            <a:off x="8394192" y="373075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3" name="S04.REMUS.CheckShort2"/>
          <p:cNvSpPr/>
          <p:nvPr/>
        </p:nvSpPr>
        <p:spPr>
          <a:xfrm rot="2700000">
            <a:off x="8455457" y="386882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4" name="S04.REMUS.CheckLong2"/>
          <p:cNvSpPr/>
          <p:nvPr/>
        </p:nvSpPr>
        <p:spPr>
          <a:xfrm rot="18900000">
            <a:off x="8492947" y="384688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5" name="S04.REMUS.Text2"/>
          <p:cNvSpPr txBox="1"/>
          <p:nvPr/>
        </p:nvSpPr>
        <p:spPr>
          <a:xfrm>
            <a:off x="8805672" y="372435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Fast execution</a:t>
            </a:r>
          </a:p>
        </p:txBody>
      </p:sp>
      <p:sp>
        <p:nvSpPr>
          <p:cNvPr id="100066" name="S04.REMUS.Status3"/>
          <p:cNvSpPr/>
          <p:nvPr/>
        </p:nvSpPr>
        <p:spPr>
          <a:xfrm>
            <a:off x="8394192" y="409651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7" name="S04.REMUS.CheckShort3"/>
          <p:cNvSpPr/>
          <p:nvPr/>
        </p:nvSpPr>
        <p:spPr>
          <a:xfrm rot="2700000">
            <a:off x="8455457" y="423458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8" name="S04.REMUS.CheckLong3"/>
          <p:cNvSpPr/>
          <p:nvPr/>
        </p:nvSpPr>
        <p:spPr>
          <a:xfrm rot="18900000">
            <a:off x="8492947" y="421264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69" name="S04.REMUS.Text3"/>
          <p:cNvSpPr txBox="1"/>
          <p:nvPr/>
        </p:nvSpPr>
        <p:spPr>
          <a:xfrm>
            <a:off x="8805672" y="409011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Cycle-consistent pause</a:t>
            </a:r>
          </a:p>
        </p:txBody>
      </p:sp>
      <p:sp>
        <p:nvSpPr>
          <p:cNvPr id="100070" name="S04.REMUS.Status4"/>
          <p:cNvSpPr/>
          <p:nvPr/>
        </p:nvSpPr>
        <p:spPr>
          <a:xfrm>
            <a:off x="8394192" y="446227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1" name="S04.REMUS.CheckShort4"/>
          <p:cNvSpPr/>
          <p:nvPr/>
        </p:nvSpPr>
        <p:spPr>
          <a:xfrm rot="2700000">
            <a:off x="8455457" y="460034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2" name="S04.REMUS.CheckLong4"/>
          <p:cNvSpPr/>
          <p:nvPr/>
        </p:nvSpPr>
        <p:spPr>
          <a:xfrm rot="18900000">
            <a:off x="8492947" y="457840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3" name="S04.REMUS.Text4"/>
          <p:cNvSpPr txBox="1"/>
          <p:nvPr/>
        </p:nvSpPr>
        <p:spPr>
          <a:xfrm>
            <a:off x="8805672" y="445587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Global snapshot</a:t>
            </a:r>
          </a:p>
        </p:txBody>
      </p:sp>
      <p:sp>
        <p:nvSpPr>
          <p:cNvPr id="100074" name="S04.REMUS.Status5"/>
          <p:cNvSpPr/>
          <p:nvPr/>
        </p:nvSpPr>
        <p:spPr>
          <a:xfrm>
            <a:off x="8394192" y="482803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5" name="S04.REMUS.CheckShort5"/>
          <p:cNvSpPr/>
          <p:nvPr/>
        </p:nvSpPr>
        <p:spPr>
          <a:xfrm rot="2700000">
            <a:off x="8455457" y="496610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6" name="S04.REMUS.CheckLong5"/>
          <p:cNvSpPr/>
          <p:nvPr/>
        </p:nvSpPr>
        <p:spPr>
          <a:xfrm rot="18900000">
            <a:off x="8492947" y="494416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7" name="S04.REMUS.Text5"/>
          <p:cNvSpPr txBox="1"/>
          <p:nvPr/>
        </p:nvSpPr>
        <p:spPr>
          <a:xfrm>
            <a:off x="8805672" y="482163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Deterministic replay</a:t>
            </a:r>
          </a:p>
        </p:txBody>
      </p:sp>
      <p:sp>
        <p:nvSpPr>
          <p:cNvPr id="100078" name="S04.REMUS.Status6"/>
          <p:cNvSpPr/>
          <p:nvPr/>
        </p:nvSpPr>
        <p:spPr>
          <a:xfrm>
            <a:off x="8394192" y="5193792"/>
            <a:ext cx="265176" cy="265176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79" name="S04.REMUS.CheckShort6"/>
          <p:cNvSpPr/>
          <p:nvPr/>
        </p:nvSpPr>
        <p:spPr>
          <a:xfrm rot="2700000">
            <a:off x="8455457" y="5331866"/>
            <a:ext cx="84125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80" name="S04.REMUS.CheckLong6"/>
          <p:cNvSpPr/>
          <p:nvPr/>
        </p:nvSpPr>
        <p:spPr>
          <a:xfrm rot="18900000">
            <a:off x="8492947" y="5309921"/>
            <a:ext cx="125273" cy="338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81" name="S04.REMUS.Text6"/>
          <p:cNvSpPr txBox="1"/>
          <p:nvPr/>
        </p:nvSpPr>
        <p:spPr>
          <a:xfrm>
            <a:off x="8805672" y="5187391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Waveform reconstruction</a:t>
            </a:r>
          </a:p>
        </p:txBody>
      </p:sp>
      <p:sp>
        <p:nvSpPr>
          <p:cNvPr id="100082" name="S04.REMUS.Scope"/>
          <p:cNvSpPr txBox="1"/>
          <p:nvPr/>
        </p:nvSpPr>
        <p:spPr>
          <a:xfrm>
            <a:off x="8330184" y="55778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200">
                <a:solidFill>
                  <a:srgbClr val="607184"/>
                </a:solidFill>
                <a:latin typeface="Arial"/>
                <a:ea typeface="Arial"/>
              </a:rPr>
              <a:t>Target capabilities; validation follows</a:t>
            </a:r>
          </a:p>
        </p:txBody>
      </p:sp>
      <p:pic>
        <p:nvPicPr>
          <p:cNvPr id="100083" name="S04.Prototype.Lef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08226750bf5e47db"/>
          <a:srcRect l="21371" t="23684" r="21291" b="20972"/>
          <a:stretch>
            <a:fillRect/>
          </a:stretch>
        </p:blipFill>
        <p:spPr>
          <a:xfrm>
            <a:off x="832104" y="2231136"/>
            <a:ext cx="832104" cy="803171"/>
          </a:xfrm>
          <a:prstGeom prst="rect">
            <a:avLst/>
          </a:prstGeom>
        </p:spPr>
      </p:pic>
      <p:pic>
        <p:nvPicPr>
          <p:cNvPr id="100084" name="S04.Prototype.Righ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93796b2a57774adb"/>
          <a:srcRect l="21371" t="23684" r="21291" b="20972"/>
          <a:stretch>
            <a:fillRect/>
          </a:stretch>
        </p:blipFill>
        <p:spPr>
          <a:xfrm>
            <a:off x="2688336" y="2231136"/>
            <a:ext cx="832104" cy="803171"/>
          </a:xfrm>
          <a:prstGeom prst="rect">
            <a:avLst/>
          </a:prstGeom>
        </p:spPr>
      </p:pic>
      <p:sp>
        <p:nvSpPr>
          <p:cNvPr id="100085" name="S04.Prototype.Link"/>
          <p:cNvSpPr/>
          <p:nvPr/>
        </p:nvSpPr>
        <p:spPr>
          <a:xfrm>
            <a:off x="1746504" y="2514600"/>
            <a:ext cx="859536" cy="246888"/>
          </a:xfrm>
          <a:prstGeom prst="left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pic>
        <p:nvPicPr>
          <p:cNvPr id="100086" name="S04.Single.FPGA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9089391c6d9940e4"/>
          <a:srcRect l="21371" t="23684" r="21291" b="20972"/>
          <a:stretch>
            <a:fillRect/>
          </a:stretch>
        </p:blipFill>
        <p:spPr>
          <a:xfrm>
            <a:off x="4736592" y="2231136"/>
            <a:ext cx="832104" cy="803171"/>
          </a:xfrm>
          <a:prstGeom prst="rect">
            <a:avLst/>
          </a:prstGeom>
        </p:spPr>
      </p:pic>
      <p:sp>
        <p:nvSpPr>
          <p:cNvPr id="100087" name="S04.Single.Host"/>
          <p:cNvSpPr/>
          <p:nvPr/>
        </p:nvSpPr>
        <p:spPr>
          <a:xfrm>
            <a:off x="6163056" y="2331720"/>
            <a:ext cx="1069848" cy="59436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3175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88" name="S04.Single.HostStand"/>
          <p:cNvSpPr/>
          <p:nvPr/>
        </p:nvSpPr>
        <p:spPr>
          <a:xfrm>
            <a:off x="6643116" y="2935224"/>
            <a:ext cx="109728" cy="109728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89" name="S04.Single.HostFoot"/>
          <p:cNvSpPr/>
          <p:nvPr/>
        </p:nvSpPr>
        <p:spPr>
          <a:xfrm>
            <a:off x="6460236" y="3044952"/>
            <a:ext cx="475488" cy="41148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pic>
        <p:nvPicPr>
          <p:cNvPr id="100090" name="S04.Single.Snapshot" descr="Global snapshot"/>
          <p:cNvPicPr>
            <a:picLocks noChangeAspect="1"/>
          </p:cNvPicPr>
          <p:nvPr/>
        </p:nvPicPr>
        <p:blipFill>
          <a:blip xmlns:r="http://schemas.openxmlformats.org/officeDocument/2006/relationships" r:embed="Rddba46406b7a4c63"/>
          <a:srcRect l="16746" t="16427" r="16746" b="11961"/>
          <a:stretch>
            <a:fillRect/>
          </a:stretch>
        </p:blipFill>
        <p:spPr>
          <a:xfrm>
            <a:off x="6496812" y="2404872"/>
            <a:ext cx="402336" cy="433211"/>
          </a:xfrm>
          <a:prstGeom prst="rect">
            <a:avLst/>
          </a:prstGeom>
        </p:spPr>
      </p:pic>
      <p:cxnSp>
        <p:nvCxnSpPr>
          <p:cNvPr id="100091" name="S04.Single.StateTransfer"/>
          <p:cNvCxnSpPr>
            <a:stCxn id="100086" idx="0"/>
            <a:endCxn id="100087" idx="0"/>
          </p:cNvCxnSpPr>
          <p:nvPr/>
        </p:nvCxnSpPr>
        <p:spPr>
          <a:xfrm flipV="1">
            <a:off x="5568696" y="2628900"/>
            <a:ext cx="594360" cy="3821"/>
          </a:xfrm>
          <a:prstGeom prst="straightConnector1">
            <a:avLst/>
          </a:prstGeom>
          <a:ln w="25400">
            <a:solidFill>
              <a:srgbClr val="183B56"/>
            </a:solidFill>
            <a:headEnd type="triangle"/>
            <a:tailEnd type="triangle"/>
          </a:ln>
        </p:spPr>
      </p:cxnSp>
      <p:pic>
        <p:nvPicPr>
          <p:cNvPr id="100092" name="S04.REMUS.Lef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ccc30015c29b4f12"/>
          <a:srcRect l="21371" t="23684" r="21291" b="20972"/>
          <a:stretch>
            <a:fillRect/>
          </a:stretch>
        </p:blipFill>
        <p:spPr>
          <a:xfrm>
            <a:off x="8394192" y="2331720"/>
            <a:ext cx="640080" cy="617824"/>
          </a:xfrm>
          <a:prstGeom prst="rect">
            <a:avLst/>
          </a:prstGeom>
        </p:spPr>
      </p:pic>
      <p:pic>
        <p:nvPicPr>
          <p:cNvPr id="100093" name="S04.REMUS.Righ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3087888df6c94e56"/>
          <a:srcRect l="21371" t="23684" r="21291" b="20972"/>
          <a:stretch>
            <a:fillRect/>
          </a:stretch>
        </p:blipFill>
        <p:spPr>
          <a:xfrm>
            <a:off x="9454896" y="2331720"/>
            <a:ext cx="640080" cy="617824"/>
          </a:xfrm>
          <a:prstGeom prst="rect">
            <a:avLst/>
          </a:prstGeom>
        </p:spPr>
      </p:pic>
      <p:sp>
        <p:nvSpPr>
          <p:cNvPr id="100094" name="S04.REMUS.Link"/>
          <p:cNvSpPr/>
          <p:nvPr/>
        </p:nvSpPr>
        <p:spPr>
          <a:xfrm>
            <a:off x="9075420" y="2551176"/>
            <a:ext cx="338328" cy="182880"/>
          </a:xfrm>
          <a:prstGeom prst="left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pic>
        <p:nvPicPr>
          <p:cNvPr id="100095" name="S04.REMUS.Replay" descr="Restore and replay"/>
          <p:cNvPicPr>
            <a:picLocks noChangeAspect="1"/>
          </p:cNvPicPr>
          <p:nvPr/>
        </p:nvPicPr>
        <p:blipFill>
          <a:blip xmlns:r="http://schemas.openxmlformats.org/officeDocument/2006/relationships" r:embed="Rc1bcec8b0ec84c3a"/>
          <a:srcRect l="13476" t="12679" r="12200" b="13237"/>
          <a:stretch>
            <a:fillRect/>
          </a:stretch>
        </p:blipFill>
        <p:spPr>
          <a:xfrm>
            <a:off x="10296144" y="2386584"/>
            <a:ext cx="521208" cy="519530"/>
          </a:xfrm>
          <a:prstGeom prst="rect">
            <a:avLst/>
          </a:prstGeom>
        </p:spPr>
      </p:pic>
      <p:pic>
        <p:nvPicPr>
          <p:cNvPr id="100096" name="S04.REMUS.Snapshot" descr="Global snapshot"/>
          <p:cNvPicPr>
            <a:picLocks noChangeAspect="1"/>
          </p:cNvPicPr>
          <p:nvPr/>
        </p:nvPicPr>
        <p:blipFill>
          <a:blip xmlns:r="http://schemas.openxmlformats.org/officeDocument/2006/relationships" r:embed="Rbc8b3cfe85344baa"/>
          <a:srcRect l="16746" t="16427" r="16746" b="11961"/>
          <a:stretch>
            <a:fillRect/>
          </a:stretch>
        </p:blipFill>
        <p:spPr>
          <a:xfrm>
            <a:off x="11055096" y="2368296"/>
            <a:ext cx="502920" cy="541513"/>
          </a:xfrm>
          <a:prstGeom prst="rect">
            <a:avLst/>
          </a:prstGeom>
        </p:spPr>
      </p:pic>
      <p:sp>
        <p:nvSpPr>
          <p:cNvPr id="100097" name="S04.Goal.Panel"/>
          <p:cNvSpPr/>
          <p:nvPr/>
        </p:nvSpPr>
        <p:spPr>
          <a:xfrm>
            <a:off x="320040" y="6016752"/>
            <a:ext cx="11558016" cy="576072"/>
          </a:xfrm>
          <a:prstGeom prst="roundRect">
            <a:avLst>
              <a:gd name="adj" fmla="val 150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98" name="S04.Goal.Target0"/>
          <p:cNvSpPr/>
          <p:nvPr/>
        </p:nvSpPr>
        <p:spPr>
          <a:xfrm>
            <a:off x="900684" y="6089904"/>
            <a:ext cx="429768" cy="429768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99" name="S04.Goal.Target1"/>
          <p:cNvSpPr/>
          <p:nvPr/>
        </p:nvSpPr>
        <p:spPr>
          <a:xfrm>
            <a:off x="955548" y="614476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100" name="S04.Goal.Target2"/>
          <p:cNvSpPr/>
          <p:nvPr/>
        </p:nvSpPr>
        <p:spPr>
          <a:xfrm>
            <a:off x="1001268" y="6190488"/>
            <a:ext cx="228600" cy="228600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101" name="S04.Goal.Target3"/>
          <p:cNvSpPr/>
          <p:nvPr/>
        </p:nvSpPr>
        <p:spPr>
          <a:xfrm>
            <a:off x="1056132" y="6245352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102" name="S04.Goal.Target4"/>
          <p:cNvSpPr/>
          <p:nvPr/>
        </p:nvSpPr>
        <p:spPr>
          <a:xfrm>
            <a:off x="1085850" y="6275070"/>
            <a:ext cx="59436" cy="59436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103" name="S04.Goal.Arrow"/>
          <p:cNvSpPr/>
          <p:nvPr/>
        </p:nvSpPr>
        <p:spPr>
          <a:xfrm rot="18900000">
            <a:off x="1138428" y="6089904"/>
            <a:ext cx="265176" cy="91440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104" name="S04.Goal.Divider"/>
          <p:cNvSpPr/>
          <p:nvPr/>
        </p:nvSpPr>
        <p:spPr>
          <a:xfrm>
            <a:off x="1801368" y="6117336"/>
            <a:ext cx="8230" cy="365760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105" name="S04.Goal.Text"/>
          <p:cNvSpPr txBox="1"/>
          <p:nvPr/>
        </p:nvSpPr>
        <p:spPr>
          <a:xfrm>
            <a:off x="2066544" y="6062472"/>
            <a:ext cx="9500616" cy="502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83B56"/>
                </a:solidFill>
                <a:latin typeface="Arial"/>
                <a:ea typeface="Arial"/>
              </a:rPr>
              <a:t>Goal: combine multi-FPGA scalability with replayable emulation</a:t>
            </a:r>
          </a:p>
          <a:p>
            <a:r>
              <a:rPr lang="en-US" sz="1800">
                <a:solidFill>
                  <a:srgbClr val="183B56"/>
                </a:solidFill>
                <a:latin typeface="Arial"/>
                <a:ea typeface="Arial"/>
              </a:rPr>
              <a:t>for large-scale SoC debugging.</a:t>
            </a:r>
          </a:p>
        </p:txBody>
      </p:sp>
      <p:sp>
        <p:nvSpPr>
          <p:cNvPr id="100106" name="S04.PageNumber"/>
          <p:cNvSpPr txBox="1"/>
          <p:nvPr/>
        </p:nvSpPr>
        <p:spPr>
          <a:xfrm>
            <a:off x="11631168" y="6629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/>
            <a:r>
              <a:rPr lang="en-US" sz="1000">
                <a:solidFill>
                  <a:srgbClr val="607184"/>
                </a:solidFill>
                <a:latin typeface="Arial"/>
                <a:ea typeface="Arial"/>
              </a:rPr>
              <a:t>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2026-10-13T13:01:15.0000000Z</dcterms:created>
  <lastModifiedBy>OfficeCLI</lastModifiedBy>
  <dcterms:modified xsi:type="dcterms:W3CDTF">2026-10-13T13:01:15.9931283Z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2026-10-13T13:01:18Z</vt:lpwstr>
  </op:property>
</op:Properties>
</file>