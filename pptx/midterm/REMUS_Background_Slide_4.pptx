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c889c0902864060" /><Relationship Type="http://schemas.openxmlformats.org/package/2006/relationships/metadata/core-properties" Target="/docProps/core.xml" Id="R95c90f38a2c74119" /><Relationship Type="http://schemas.openxmlformats.org/officeDocument/2006/relationships/extended-properties" Target="/docProps/app.xml" Id="R1f94a94e66ad4985" /><Relationship Type="http://schemas.openxmlformats.org/officeDocument/2006/relationships/custom-properties" Target="/docProps/custom.xml" Id="R0f454b8fd10045f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65ee3db0f344837"/>
  </p:notesMasterIdLst>
  <p:sldIdLst>
    <p:sldId id="256" r:id="Rf37371ec718b4afe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f37371ec718b4afe" /><Relationship Type="http://schemas.openxmlformats.org/officeDocument/2006/relationships/notesMaster" Target="/ppt/notesMasters/notesMaster1.xml" Id="R765ee3db0f3448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64f00360a4d440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11dbb0435a74a62" /><Relationship Type="http://schemas.openxmlformats.org/officeDocument/2006/relationships/slide" Target="/ppt/slides/slide1.xml" Id="Rd23300aef3fa40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Research motivation: combine multi-FPGA deployment with replayable emulation. The prototype column indicates typical focus; amber marks system-dependent debug capabilities, not universal absence. The middle column represents scan-based single-FPGA replayable emulation such as the REMU foundation described in docs/thesis-writing-guidelines.md and src/proposal/significance_and_related_work.tex. A full-state snapshot in that setting fits within one FPGA's capacity. REMUS is explicitly a Research Goal: its checks are target capabilities, not measured results or a completed-feature checklist. The diagram is conceptual and does not establish restoration backend or a tested FPGA count. No exhaustive prior-art or novelty claim is made by this qualitative comparison. Layout: figure/presentation-reference/midterm-background-04.png.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1a3297f894b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50b93e38b43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f52224d13c48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b95d632af45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4a65720d62400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9eaa0688e7f4cf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7396af69e4afc" /><Relationship Type="http://schemas.openxmlformats.org/officeDocument/2006/relationships/image" Target="/ppt/media/image.png" Id="R395230128ad04eab" /><Relationship Type="http://schemas.openxmlformats.org/officeDocument/2006/relationships/image" Target="/ppt/media/image2.png" Id="Ra2656da78e874075" /><Relationship Type="http://schemas.openxmlformats.org/officeDocument/2006/relationships/image" Target="/ppt/media/image3.png" Id="R8c69ea75327a44c4" /><Relationship Type="http://schemas.openxmlformats.org/officeDocument/2006/relationships/image" Target="/ppt/media/image4.png" Id="R74b18ed20f584cd6" /><Relationship Type="http://schemas.openxmlformats.org/officeDocument/2006/relationships/image" Target="/ppt/media/image5.png" Id="R3b16c1d1cb164279" /><Relationship Type="http://schemas.openxmlformats.org/officeDocument/2006/relationships/image" Target="/ppt/media/image6.png" Id="Rf785973a27744205" /><Relationship Type="http://schemas.openxmlformats.org/officeDocument/2006/relationships/image" Target="/ppt/media/image7.png" Id="Ra20150b21a034340" /><Relationship Type="http://schemas.openxmlformats.org/officeDocument/2006/relationships/image" Target="/ppt/media/image8.png" Id="Rf8b2932b2f324a04" /><Relationship Type="http://schemas.openxmlformats.org/officeDocument/2006/relationships/notesSlide" Target="/ppt/notesSlides/notesSlide1.xml" Id="R147c605a53884dad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4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200" b="1">
                <a:solidFill>
                  <a:srgbClr val="C00000"/>
                </a:solidFill>
                <a:latin typeface="Arial"/>
                <a:ea typeface="Arial"/>
              </a:defRPr>
            </a:pPr>
            <a:r>
              <a:rPr sz="3200" b="1">
                <a:solidFill>
                  <a:srgbClr val="C00000"/>
                </a:solidFill>
                <a:latin typeface="Arial"/>
              </a:rPr>
              <a:t>Research Gap and Goal</a:t>
            </a:r>
          </a:p>
        </p:txBody>
      </p:sp>
      <p:sp>
        <p:nvSpPr>
          <p:cNvPr id="100000" name="S04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04.Prototype.Panel"/>
          <p:cNvSpPr/>
          <p:nvPr/>
        </p:nvSpPr>
        <p:spPr>
          <a:xfrm>
            <a:off x="320040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2" name="S04.Prototype.Heading"/>
          <p:cNvSpPr txBox="1"/>
          <p:nvPr/>
        </p:nvSpPr>
        <p:spPr>
          <a:xfrm>
            <a:off x="448056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333333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2100" b="1">
                <a:solidFill>
                  <a:srgbClr val="333333"/>
                </a:solidFill>
                <a:latin typeface="Arial"/>
                <a:ea typeface="Arial"/>
              </a:rPr>
              <a:t>Prototyping</a:t>
            </a:r>
          </a:p>
        </p:txBody>
      </p:sp>
      <p:sp>
        <p:nvSpPr>
          <p:cNvPr id="100003" name="S04.Prototype.Qualifier"/>
          <p:cNvSpPr txBox="1"/>
          <p:nvPr/>
        </p:nvSpPr>
        <p:spPr>
          <a:xfrm>
            <a:off x="484632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898989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898989"/>
                </a:solidFill>
                <a:latin typeface="Arial"/>
                <a:ea typeface="Arial"/>
              </a:rPr>
              <a:t>Related work: FireAxe, DUOHUAFEN</a:t>
            </a:r>
          </a:p>
        </p:txBody>
      </p:sp>
      <p:sp>
        <p:nvSpPr>
          <p:cNvPr id="100004" name="S04.Prototype.Divider"/>
          <p:cNvSpPr/>
          <p:nvPr/>
        </p:nvSpPr>
        <p:spPr>
          <a:xfrm>
            <a:off x="502920" y="3182112"/>
            <a:ext cx="3346704" cy="10973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5" name="S04.Prototype.Status1"/>
          <p:cNvSpPr/>
          <p:nvPr/>
        </p:nvSpPr>
        <p:spPr>
          <a:xfrm>
            <a:off x="548640" y="344940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6" name="S04.Prototype.CheckShort1"/>
          <p:cNvSpPr/>
          <p:nvPr/>
        </p:nvSpPr>
        <p:spPr>
          <a:xfrm rot="2700000">
            <a:off x="609905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7" name="S04.Prototype.CheckLong1"/>
          <p:cNvSpPr/>
          <p:nvPr/>
        </p:nvSpPr>
        <p:spPr>
          <a:xfrm rot="18900000">
            <a:off x="647395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8" name="S04.Prototype.Text1"/>
          <p:cNvSpPr txBox="1"/>
          <p:nvPr/>
        </p:nvSpPr>
        <p:spPr>
          <a:xfrm>
            <a:off x="960120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09" name="S04.Prototype.Status2"/>
          <p:cNvSpPr/>
          <p:nvPr/>
        </p:nvSpPr>
        <p:spPr>
          <a:xfrm>
            <a:off x="548640" y="381516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0" name="S04.Prototype.CheckShort2"/>
          <p:cNvSpPr/>
          <p:nvPr/>
        </p:nvSpPr>
        <p:spPr>
          <a:xfrm rot="2700000">
            <a:off x="609905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1" name="S04.Prototype.CheckLong2"/>
          <p:cNvSpPr/>
          <p:nvPr/>
        </p:nvSpPr>
        <p:spPr>
          <a:xfrm rot="18900000">
            <a:off x="647395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2" name="S04.Prototype.Text2"/>
          <p:cNvSpPr txBox="1"/>
          <p:nvPr/>
        </p:nvSpPr>
        <p:spPr>
          <a:xfrm>
            <a:off x="960120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13" name="S04.Prototype.Status3"/>
          <p:cNvSpPr/>
          <p:nvPr/>
        </p:nvSpPr>
        <p:spPr>
          <a:xfrm>
            <a:off x="548640" y="4180920"/>
            <a:ext cx="265176" cy="26517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4" name="S04.Prototype.Variable3"/>
          <p:cNvSpPr txBox="1"/>
          <p:nvPr/>
        </p:nvSpPr>
        <p:spPr>
          <a:xfrm>
            <a:off x="548640" y="417909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5" name="S04.Prototype.Text3"/>
          <p:cNvSpPr txBox="1"/>
          <p:nvPr/>
        </p:nvSpPr>
        <p:spPr>
          <a:xfrm>
            <a:off x="960120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16" name="S04.Prototype.Status4"/>
          <p:cNvSpPr/>
          <p:nvPr/>
        </p:nvSpPr>
        <p:spPr>
          <a:xfrm>
            <a:off x="548640" y="4546680"/>
            <a:ext cx="265176" cy="26517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7" name="S04.Prototype.Variable4"/>
          <p:cNvSpPr txBox="1"/>
          <p:nvPr/>
        </p:nvSpPr>
        <p:spPr>
          <a:xfrm>
            <a:off x="548640" y="454485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8" name="S04.Prototype.Text4"/>
          <p:cNvSpPr txBox="1"/>
          <p:nvPr/>
        </p:nvSpPr>
        <p:spPr>
          <a:xfrm>
            <a:off x="960120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19" name="S04.Prototype.Status5"/>
          <p:cNvSpPr/>
          <p:nvPr/>
        </p:nvSpPr>
        <p:spPr>
          <a:xfrm>
            <a:off x="548640" y="4912440"/>
            <a:ext cx="265176" cy="26517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0" name="S04.Prototype.Variable5"/>
          <p:cNvSpPr txBox="1"/>
          <p:nvPr/>
        </p:nvSpPr>
        <p:spPr>
          <a:xfrm>
            <a:off x="548640" y="491061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1" name="S04.Prototype.Text5"/>
          <p:cNvSpPr txBox="1"/>
          <p:nvPr/>
        </p:nvSpPr>
        <p:spPr>
          <a:xfrm>
            <a:off x="960120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22" name="S04.Prototype.Status6"/>
          <p:cNvSpPr/>
          <p:nvPr/>
        </p:nvSpPr>
        <p:spPr>
          <a:xfrm>
            <a:off x="548640" y="5278200"/>
            <a:ext cx="265176" cy="26517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3" name="S04.Prototype.Variable6"/>
          <p:cNvSpPr txBox="1"/>
          <p:nvPr/>
        </p:nvSpPr>
        <p:spPr>
          <a:xfrm>
            <a:off x="548640" y="527637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4" name="S04.Prototype.Text6"/>
          <p:cNvSpPr txBox="1"/>
          <p:nvPr/>
        </p:nvSpPr>
        <p:spPr>
          <a:xfrm>
            <a:off x="960120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26" name="S04.Single.Panel"/>
          <p:cNvSpPr/>
          <p:nvPr/>
        </p:nvSpPr>
        <p:spPr>
          <a:xfrm>
            <a:off x="4242816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5F5F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7" name="S04.Single.Heading"/>
          <p:cNvSpPr txBox="1"/>
          <p:nvPr/>
        </p:nvSpPr>
        <p:spPr>
          <a:xfrm>
            <a:off x="4370832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333333"/>
                </a:solidFill>
                <a:latin typeface="Arial"/>
                <a:ea typeface="Arial"/>
              </a:rPr>
              <a:t>Single-FPGA</a:t>
            </a:r>
          </a:p>
          <a:p>
            <a:pPr algn="ctr"/>
            <a:r>
              <a:rPr lang="en-US" sz="2100" b="1">
                <a:solidFill>
                  <a:srgbClr val="333333"/>
                </a:solidFill>
                <a:latin typeface="Arial"/>
                <a:ea typeface="Arial"/>
              </a:rPr>
              <a:t>Replayable Emulation</a:t>
            </a:r>
          </a:p>
        </p:txBody>
      </p:sp>
      <p:sp>
        <p:nvSpPr>
          <p:cNvPr id="100028" name="S04.Single.Qualifier"/>
          <p:cNvSpPr txBox="1"/>
          <p:nvPr/>
        </p:nvSpPr>
        <p:spPr>
          <a:xfrm>
            <a:off x="4407408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898989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898989"/>
                </a:solidFill>
                <a:latin typeface="Arial"/>
                <a:ea typeface="Arial"/>
              </a:rPr>
              <a:t>Related work: REMU</a:t>
            </a:r>
          </a:p>
        </p:txBody>
      </p:sp>
      <p:sp>
        <p:nvSpPr>
          <p:cNvPr id="100029" name="S04.Single.Divider"/>
          <p:cNvSpPr/>
          <p:nvPr/>
        </p:nvSpPr>
        <p:spPr>
          <a:xfrm>
            <a:off x="4425696" y="3182112"/>
            <a:ext cx="3346704" cy="10973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0" name="S04.Single.Status1"/>
          <p:cNvSpPr/>
          <p:nvPr/>
        </p:nvSpPr>
        <p:spPr>
          <a:xfrm>
            <a:off x="4471416" y="3449400"/>
            <a:ext cx="265176" cy="26517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1" name="S04.Single.Minus1"/>
          <p:cNvSpPr/>
          <p:nvPr/>
        </p:nvSpPr>
        <p:spPr>
          <a:xfrm>
            <a:off x="4530852" y="3562786"/>
            <a:ext cx="146304" cy="384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2" name="S04.Single.Text1"/>
          <p:cNvSpPr txBox="1"/>
          <p:nvPr/>
        </p:nvSpPr>
        <p:spPr>
          <a:xfrm>
            <a:off x="4882896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Limited by one FPGA</a:t>
            </a:r>
          </a:p>
        </p:txBody>
      </p:sp>
      <p:sp>
        <p:nvSpPr>
          <p:cNvPr id="100033" name="S04.Single.Status2"/>
          <p:cNvSpPr/>
          <p:nvPr/>
        </p:nvSpPr>
        <p:spPr>
          <a:xfrm>
            <a:off x="4471416" y="381516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4" name="S04.Single.CheckShort2"/>
          <p:cNvSpPr/>
          <p:nvPr/>
        </p:nvSpPr>
        <p:spPr>
          <a:xfrm rot="2700000">
            <a:off x="4532681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5" name="S04.Single.CheckLong2"/>
          <p:cNvSpPr/>
          <p:nvPr/>
        </p:nvSpPr>
        <p:spPr>
          <a:xfrm rot="18900000">
            <a:off x="4570171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6" name="S04.Single.Text2"/>
          <p:cNvSpPr txBox="1"/>
          <p:nvPr/>
        </p:nvSpPr>
        <p:spPr>
          <a:xfrm>
            <a:off x="4882896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37" name="S04.Single.Status3"/>
          <p:cNvSpPr/>
          <p:nvPr/>
        </p:nvSpPr>
        <p:spPr>
          <a:xfrm>
            <a:off x="4471416" y="418092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8" name="S04.Single.CheckShort3"/>
          <p:cNvSpPr/>
          <p:nvPr/>
        </p:nvSpPr>
        <p:spPr>
          <a:xfrm rot="2700000">
            <a:off x="4532681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9" name="S04.Single.CheckLong3"/>
          <p:cNvSpPr/>
          <p:nvPr/>
        </p:nvSpPr>
        <p:spPr>
          <a:xfrm rot="18900000">
            <a:off x="4570171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0" name="S04.Single.Text3"/>
          <p:cNvSpPr txBox="1"/>
          <p:nvPr/>
        </p:nvSpPr>
        <p:spPr>
          <a:xfrm>
            <a:off x="4882896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Cycle-controlled pause</a:t>
            </a:r>
          </a:p>
        </p:txBody>
      </p:sp>
      <p:sp>
        <p:nvSpPr>
          <p:cNvPr id="100041" name="S04.Single.Status4"/>
          <p:cNvSpPr/>
          <p:nvPr/>
        </p:nvSpPr>
        <p:spPr>
          <a:xfrm>
            <a:off x="4471416" y="454668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2" name="S04.Single.CheckShort4"/>
          <p:cNvSpPr/>
          <p:nvPr/>
        </p:nvSpPr>
        <p:spPr>
          <a:xfrm rot="2700000">
            <a:off x="4532681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3" name="S04.Single.CheckLong4"/>
          <p:cNvSpPr/>
          <p:nvPr/>
        </p:nvSpPr>
        <p:spPr>
          <a:xfrm rot="18900000">
            <a:off x="4570171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4" name="S04.Single.Text4"/>
          <p:cNvSpPr txBox="1"/>
          <p:nvPr/>
        </p:nvSpPr>
        <p:spPr>
          <a:xfrm>
            <a:off x="4882896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Full-state snapshot</a:t>
            </a:r>
          </a:p>
        </p:txBody>
      </p:sp>
      <p:sp>
        <p:nvSpPr>
          <p:cNvPr id="100045" name="S04.Single.Status5"/>
          <p:cNvSpPr/>
          <p:nvPr/>
        </p:nvSpPr>
        <p:spPr>
          <a:xfrm>
            <a:off x="4471416" y="491244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6" name="S04.Single.CheckShort5"/>
          <p:cNvSpPr/>
          <p:nvPr/>
        </p:nvSpPr>
        <p:spPr>
          <a:xfrm rot="2700000">
            <a:off x="4532681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7" name="S04.Single.CheckLong5"/>
          <p:cNvSpPr/>
          <p:nvPr/>
        </p:nvSpPr>
        <p:spPr>
          <a:xfrm rot="18900000">
            <a:off x="4570171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8" name="S04.Single.Text5"/>
          <p:cNvSpPr txBox="1"/>
          <p:nvPr/>
        </p:nvSpPr>
        <p:spPr>
          <a:xfrm>
            <a:off x="4882896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9" name="S04.Single.Status6"/>
          <p:cNvSpPr/>
          <p:nvPr/>
        </p:nvSpPr>
        <p:spPr>
          <a:xfrm>
            <a:off x="4471416" y="527820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0" name="S04.Single.CheckShort6"/>
          <p:cNvSpPr/>
          <p:nvPr/>
        </p:nvSpPr>
        <p:spPr>
          <a:xfrm rot="2700000">
            <a:off x="4532681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1" name="S04.Single.CheckLong6"/>
          <p:cNvSpPr/>
          <p:nvPr/>
        </p:nvSpPr>
        <p:spPr>
          <a:xfrm rot="18900000">
            <a:off x="4570171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2" name="S04.Single.Text6"/>
          <p:cNvSpPr txBox="1"/>
          <p:nvPr/>
        </p:nvSpPr>
        <p:spPr>
          <a:xfrm>
            <a:off x="4882896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54" name="S04.REMUS.Panel"/>
          <p:cNvSpPr/>
          <p:nvPr/>
        </p:nvSpPr>
        <p:spPr>
          <a:xfrm>
            <a:off x="8165592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FF3E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5" name="S04.REMUS.Heading"/>
          <p:cNvSpPr txBox="1"/>
          <p:nvPr/>
        </p:nvSpPr>
        <p:spPr>
          <a:xfrm>
            <a:off x="8293608" y="1280160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333333"/>
                </a:solidFill>
                <a:latin typeface="Arial"/>
                <a:ea typeface="Arial"/>
              </a:rPr>
              <a:t>This Work: REMUS</a:t>
            </a:r>
          </a:p>
        </p:txBody>
      </p:sp>
      <p:sp>
        <p:nvSpPr>
          <p:cNvPr id="100056" name="S04.REMUS.Qualifier"/>
          <p:cNvSpPr txBox="1"/>
          <p:nvPr/>
        </p:nvSpPr>
        <p:spPr>
          <a:xfrm>
            <a:off x="8330184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1">
                <a:solidFill>
                  <a:srgbClr val="70AD47"/>
                </a:solidFill>
                <a:latin typeface="Arial"/>
                <a:ea typeface="Arial"/>
              </a:rPr>
              <a:t>Research Goal</a:t>
            </a:r>
          </a:p>
        </p:txBody>
      </p:sp>
      <p:sp>
        <p:nvSpPr>
          <p:cNvPr id="100057" name="S04.REMUS.Divider"/>
          <p:cNvSpPr/>
          <p:nvPr/>
        </p:nvSpPr>
        <p:spPr>
          <a:xfrm>
            <a:off x="8348472" y="3182112"/>
            <a:ext cx="3346704" cy="10973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8" name="S04.REMUS.Status1"/>
          <p:cNvSpPr/>
          <p:nvPr/>
        </p:nvSpPr>
        <p:spPr>
          <a:xfrm>
            <a:off x="8394192" y="344940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9" name="S04.REMUS.CheckShort1"/>
          <p:cNvSpPr/>
          <p:nvPr/>
        </p:nvSpPr>
        <p:spPr>
          <a:xfrm rot="2700000">
            <a:off x="8455457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0" name="S04.REMUS.CheckLong1"/>
          <p:cNvSpPr/>
          <p:nvPr/>
        </p:nvSpPr>
        <p:spPr>
          <a:xfrm rot="18900000">
            <a:off x="8492947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1" name="S04.REMUS.Text1"/>
          <p:cNvSpPr txBox="1"/>
          <p:nvPr/>
        </p:nvSpPr>
        <p:spPr>
          <a:xfrm>
            <a:off x="8805672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62" name="S04.REMUS.Status2"/>
          <p:cNvSpPr/>
          <p:nvPr/>
        </p:nvSpPr>
        <p:spPr>
          <a:xfrm>
            <a:off x="8394192" y="381516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3" name="S04.REMUS.CheckShort2"/>
          <p:cNvSpPr/>
          <p:nvPr/>
        </p:nvSpPr>
        <p:spPr>
          <a:xfrm rot="2700000">
            <a:off x="8455457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4" name="S04.REMUS.CheckLong2"/>
          <p:cNvSpPr/>
          <p:nvPr/>
        </p:nvSpPr>
        <p:spPr>
          <a:xfrm rot="18900000">
            <a:off x="8492947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5" name="S04.REMUS.Text2"/>
          <p:cNvSpPr txBox="1"/>
          <p:nvPr/>
        </p:nvSpPr>
        <p:spPr>
          <a:xfrm>
            <a:off x="8805672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66" name="S04.REMUS.Status3"/>
          <p:cNvSpPr/>
          <p:nvPr/>
        </p:nvSpPr>
        <p:spPr>
          <a:xfrm>
            <a:off x="8394192" y="418092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7" name="S04.REMUS.CheckShort3"/>
          <p:cNvSpPr/>
          <p:nvPr/>
        </p:nvSpPr>
        <p:spPr>
          <a:xfrm rot="2700000">
            <a:off x="8455457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8" name="S04.REMUS.CheckLong3"/>
          <p:cNvSpPr/>
          <p:nvPr/>
        </p:nvSpPr>
        <p:spPr>
          <a:xfrm rot="18900000">
            <a:off x="8492947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9" name="S04.REMUS.Text3"/>
          <p:cNvSpPr txBox="1"/>
          <p:nvPr/>
        </p:nvSpPr>
        <p:spPr>
          <a:xfrm>
            <a:off x="8805672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70" name="S04.REMUS.Status4"/>
          <p:cNvSpPr/>
          <p:nvPr/>
        </p:nvSpPr>
        <p:spPr>
          <a:xfrm>
            <a:off x="8394192" y="454668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1" name="S04.REMUS.CheckShort4"/>
          <p:cNvSpPr/>
          <p:nvPr/>
        </p:nvSpPr>
        <p:spPr>
          <a:xfrm rot="2700000">
            <a:off x="8455457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2" name="S04.REMUS.CheckLong4"/>
          <p:cNvSpPr/>
          <p:nvPr/>
        </p:nvSpPr>
        <p:spPr>
          <a:xfrm rot="18900000">
            <a:off x="8492947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3" name="S04.REMUS.Text4"/>
          <p:cNvSpPr txBox="1"/>
          <p:nvPr/>
        </p:nvSpPr>
        <p:spPr>
          <a:xfrm>
            <a:off x="8805672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4" name="S04.REMUS.Status5"/>
          <p:cNvSpPr/>
          <p:nvPr/>
        </p:nvSpPr>
        <p:spPr>
          <a:xfrm>
            <a:off x="8394192" y="491244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5" name="S04.REMUS.CheckShort5"/>
          <p:cNvSpPr/>
          <p:nvPr/>
        </p:nvSpPr>
        <p:spPr>
          <a:xfrm rot="2700000">
            <a:off x="8455457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6" name="S04.REMUS.CheckLong5"/>
          <p:cNvSpPr/>
          <p:nvPr/>
        </p:nvSpPr>
        <p:spPr>
          <a:xfrm rot="18900000">
            <a:off x="8492947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7" name="S04.REMUS.Text5"/>
          <p:cNvSpPr txBox="1"/>
          <p:nvPr/>
        </p:nvSpPr>
        <p:spPr>
          <a:xfrm>
            <a:off x="8805672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78" name="S04.REMUS.Status6"/>
          <p:cNvSpPr/>
          <p:nvPr/>
        </p:nvSpPr>
        <p:spPr>
          <a:xfrm>
            <a:off x="8394192" y="5278200"/>
            <a:ext cx="265176" cy="265176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9" name="S04.REMUS.CheckShort6"/>
          <p:cNvSpPr/>
          <p:nvPr/>
        </p:nvSpPr>
        <p:spPr>
          <a:xfrm rot="2700000">
            <a:off x="8455457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80" name="S04.REMUS.CheckLong6"/>
          <p:cNvSpPr/>
          <p:nvPr/>
        </p:nvSpPr>
        <p:spPr>
          <a:xfrm rot="18900000">
            <a:off x="8492947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81" name="S04.REMUS.Text6"/>
          <p:cNvSpPr txBox="1"/>
          <p:nvPr/>
        </p:nvSpPr>
        <p:spPr>
          <a:xfrm>
            <a:off x="8805672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83" name="S04.Prototyp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395230128ad04eab"/>
          <a:srcRect l="21371" t="23684" r="21291" b="20972"/>
          <a:stretch>
            <a:fillRect/>
          </a:stretch>
        </p:blipFill>
        <p:spPr>
          <a:xfrm>
            <a:off x="832104" y="2231136"/>
            <a:ext cx="832104" cy="803171"/>
          </a:xfrm>
          <a:prstGeom prst="rect">
            <a:avLst/>
          </a:prstGeom>
        </p:spPr>
      </p:pic>
      <p:pic>
        <p:nvPicPr>
          <p:cNvPr id="100084" name="S04.Prototyp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a2656da78e874075"/>
          <a:srcRect l="21371" t="23684" r="21291" b="20972"/>
          <a:stretch>
            <a:fillRect/>
          </a:stretch>
        </p:blipFill>
        <p:spPr>
          <a:xfrm>
            <a:off x="2688336" y="2231136"/>
            <a:ext cx="832104" cy="803171"/>
          </a:xfrm>
          <a:prstGeom prst="rect">
            <a:avLst/>
          </a:prstGeom>
        </p:spPr>
      </p:pic>
      <p:sp>
        <p:nvSpPr>
          <p:cNvPr id="100085" name="S04.Prototype.Link"/>
          <p:cNvSpPr/>
          <p:nvPr/>
        </p:nvSpPr>
        <p:spPr>
          <a:xfrm>
            <a:off x="1746504" y="2514600"/>
            <a:ext cx="859536" cy="246888"/>
          </a:xfrm>
          <a:prstGeom prst="left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pic>
        <p:nvPicPr>
          <p:cNvPr id="100086" name="S04.Single.FPGA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8c69ea75327a44c4"/>
          <a:srcRect l="21371" t="23684" r="21291" b="20972"/>
          <a:stretch>
            <a:fillRect/>
          </a:stretch>
        </p:blipFill>
        <p:spPr>
          <a:xfrm>
            <a:off x="4736592" y="2231136"/>
            <a:ext cx="832104" cy="803171"/>
          </a:xfrm>
          <a:prstGeom prst="rect">
            <a:avLst/>
          </a:prstGeom>
        </p:spPr>
      </p:pic>
      <p:sp>
        <p:nvSpPr>
          <p:cNvPr id="100087" name="S04.Single.Host"/>
          <p:cNvSpPr/>
          <p:nvPr/>
        </p:nvSpPr>
        <p:spPr>
          <a:xfrm>
            <a:off x="6163056" y="2331720"/>
            <a:ext cx="1069848" cy="59436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3175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88" name="S04.Single.HostStand"/>
          <p:cNvSpPr/>
          <p:nvPr/>
        </p:nvSpPr>
        <p:spPr>
          <a:xfrm>
            <a:off x="6643116" y="2935224"/>
            <a:ext cx="109728" cy="10972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89" name="S04.Single.HostFoot"/>
          <p:cNvSpPr/>
          <p:nvPr/>
        </p:nvSpPr>
        <p:spPr>
          <a:xfrm>
            <a:off x="6460236" y="3044952"/>
            <a:ext cx="475488" cy="411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pic>
        <p:nvPicPr>
          <p:cNvPr id="100090" name="S04.Singl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74b18ed20f584cd6"/>
          <a:srcRect l="16746" t="16427" r="16746" b="11961"/>
          <a:stretch>
            <a:fillRect/>
          </a:stretch>
        </p:blipFill>
        <p:spPr>
          <a:xfrm>
            <a:off x="6496812" y="2404872"/>
            <a:ext cx="402336" cy="433211"/>
          </a:xfrm>
          <a:prstGeom prst="rect">
            <a:avLst/>
          </a:prstGeom>
        </p:spPr>
      </p:pic>
      <p:cxnSp>
        <p:nvCxnSpPr>
          <p:cNvPr id="100091" name="S04.Single.StateTransfer"/>
          <p:cNvCxnSpPr>
            <a:stCxn id="100086" idx="0"/>
            <a:endCxn id="100087" idx="0"/>
          </p:cNvCxnSpPr>
          <p:nvPr/>
        </p:nvCxnSpPr>
        <p:spPr>
          <a:xfrm flipV="1">
            <a:off x="5568696" y="2628900"/>
            <a:ext cx="594360" cy="3821"/>
          </a:xfrm>
          <a:prstGeom prst="straightConnector1">
            <a:avLst/>
          </a:prstGeom>
          <a:ln w="25400">
            <a:solidFill>
              <a:srgbClr val="333333"/>
            </a:solidFill>
            <a:headEnd type="triangle"/>
            <a:tailEnd type="triangle"/>
          </a:ln>
        </p:spPr>
      </p:cxnSp>
      <p:pic>
        <p:nvPicPr>
          <p:cNvPr id="100092" name="S04.REMUS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3b16c1d1cb164279"/>
          <a:srcRect l="21371" t="23684" r="21291" b="20972"/>
          <a:stretch>
            <a:fillRect/>
          </a:stretch>
        </p:blipFill>
        <p:spPr>
          <a:xfrm>
            <a:off x="8394192" y="2331720"/>
            <a:ext cx="640080" cy="617824"/>
          </a:xfrm>
          <a:prstGeom prst="rect">
            <a:avLst/>
          </a:prstGeom>
        </p:spPr>
      </p:pic>
      <p:pic>
        <p:nvPicPr>
          <p:cNvPr id="100093" name="S04.REMUS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f785973a27744205"/>
          <a:srcRect l="21371" t="23684" r="21291" b="20972"/>
          <a:stretch>
            <a:fillRect/>
          </a:stretch>
        </p:blipFill>
        <p:spPr>
          <a:xfrm>
            <a:off x="9454896" y="2331720"/>
            <a:ext cx="640080" cy="617824"/>
          </a:xfrm>
          <a:prstGeom prst="rect">
            <a:avLst/>
          </a:prstGeom>
        </p:spPr>
      </p:pic>
      <p:sp>
        <p:nvSpPr>
          <p:cNvPr id="100094" name="S04.REMUS.Link"/>
          <p:cNvSpPr/>
          <p:nvPr/>
        </p:nvSpPr>
        <p:spPr>
          <a:xfrm>
            <a:off x="9075420" y="2551176"/>
            <a:ext cx="338328" cy="182880"/>
          </a:xfrm>
          <a:prstGeom prst="left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pic>
        <p:nvPicPr>
          <p:cNvPr id="100095" name="S04.REMUS.Replay" descr="Restore and replay"/>
          <p:cNvPicPr>
            <a:picLocks noChangeAspect="1"/>
          </p:cNvPicPr>
          <p:nvPr/>
        </p:nvPicPr>
        <p:blipFill>
          <a:blip xmlns:r="http://schemas.openxmlformats.org/officeDocument/2006/relationships" r:embed="Ra20150b21a034340"/>
          <a:srcRect l="13476" t="12679" r="12200" b="13237"/>
          <a:stretch>
            <a:fillRect/>
          </a:stretch>
        </p:blipFill>
        <p:spPr>
          <a:xfrm>
            <a:off x="10296144" y="2386584"/>
            <a:ext cx="521208" cy="519530"/>
          </a:xfrm>
          <a:prstGeom prst="rect">
            <a:avLst/>
          </a:prstGeom>
        </p:spPr>
      </p:pic>
      <p:pic>
        <p:nvPicPr>
          <p:cNvPr id="100096" name="S04.REMUS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f8b2932b2f324a04"/>
          <a:srcRect l="16746" t="16427" r="16746" b="11961"/>
          <a:stretch>
            <a:fillRect/>
          </a:stretch>
        </p:blipFill>
        <p:spPr>
          <a:xfrm>
            <a:off x="11055096" y="2368296"/>
            <a:ext cx="502920" cy="541513"/>
          </a:xfrm>
          <a:prstGeom prst="rect">
            <a:avLst/>
          </a:prstGeom>
        </p:spPr>
      </p:pic>
      <p:sp>
        <p:nvSpPr>
          <p:cNvPr id="100097" name="S04.Goal.Panel"/>
          <p:cNvSpPr/>
          <p:nvPr/>
        </p:nvSpPr>
        <p:spPr>
          <a:xfrm>
            <a:off x="316992" y="6054242"/>
            <a:ext cx="11558016" cy="576072"/>
          </a:xfrm>
          <a:prstGeom prst="roundRect">
            <a:avLst>
              <a:gd name="adj" fmla="val 150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105" name="S04.Goal.Text"/>
          <p:cNvSpPr txBox="1"/>
          <p:nvPr/>
        </p:nvSpPr>
        <p:spPr>
          <a:xfrm>
            <a:off x="1100392" y="6201560"/>
            <a:ext cx="10800876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Arial"/>
                <a:ea typeface="Arial"/>
              </a:defRPr>
            </a:pPr>
            <a:r>
              <a:rPr lang="en-US" sz="1800">
                <a:solidFill>
                  <a:srgbClr val="333333"/>
                </a:solidFill>
                <a:latin typeface="Arial"/>
              </a:rPr>
              <a:t xml:space="preserve">Goal: combine multi-FPGA scalability with </a:t>
            </a:r>
            <a:r>
              <a:rPr lang="en-US" sz="1800">
                <a:solidFill>
                  <a:srgbClr val="333333"/>
                </a:solidFill>
                <a:latin typeface="Arial"/>
              </a:rPr>
              <a:t>replayable</a:t>
            </a:r>
            <a:r>
              <a:rPr lang="en-US" sz="1800">
                <a:solidFill>
                  <a:srgbClr val="333333"/>
                </a:solidFill>
                <a:latin typeface="Arial"/>
              </a:rPr>
              <a:t xml:space="preserve"> emulation for large-scale SoC debugging</a:t>
            </a:r>
          </a:p>
        </p:txBody>
      </p:sp>
      <p:sp>
        <p:nvSpPr>
          <p:cNvPr id="100106" name="S04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2026-10-29T09:27:24.0000000Z</dcterms:created>
  <lastModifiedBy>OfficeCLI</lastModifiedBy>
  <dcterms:modified xsi:type="dcterms:W3CDTF">2026-10-29T09:27:25.1238240Z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2026-10-29T09:27:29Z</vt:lpwstr>
  </op:property>
</op:Properties>
</file>