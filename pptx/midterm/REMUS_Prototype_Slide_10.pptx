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jpg" ContentType="image/jpeg"/>
  <Default Extension="png" ContentType="image/png"/>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Types>
</file>

<file path=_rels/.rels>&#65279;<?xml version="1.0" encoding="utf-8"?><Relationships xmlns="http://schemas.openxmlformats.org/package/2006/relationships"><Relationship Type="http://schemas.openxmlformats.org/officeDocument/2006/relationships/officeDocument" Target="/ppt/presentation.xml" Id="R15c57d24ca1b42a8" /><Relationship Type="http://schemas.openxmlformats.org/package/2006/relationships/metadata/core-properties" Target="/docProps/core.xml" Id="R8d10a5aa72ed42e7" /><Relationship Type="http://schemas.openxmlformats.org/officeDocument/2006/relationships/extended-properties" Target="/docProps/app.xml" Id="Rc7df06139838497b" /><Relationship Type="http://schemas.openxmlformats.org/officeDocument/2006/relationships/custom-properties" Target="/docProps/custom.xml" Id="R84b82c51f20d4f14"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9c45bd68214a4b10"/>
  </p:notesMasterIdLst>
  <p:sldIdLst>
    <p:sldId id="256" r:id="R0d779bddd4de4144"/>
  </p:sldIdLst>
  <p:sldSz cx="12192000" cy="6858000" type="screen16x9"/>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0d779bddd4de4144" /><Relationship Type="http://schemas.openxmlformats.org/officeDocument/2006/relationships/notesMaster" Target="/ppt/notesMasters/notesMaster1.xml" Id="R9c45bd68214a4b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ed9bf548b5be4d29"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c2a0090138574596" /><Relationship Type="http://schemas.openxmlformats.org/officeDocument/2006/relationships/slide" Target="/ppt/slides/slide1.xml" Id="R1e7c61392b8e41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is the real dual-FPGA PCIe-direct prototype, not a completed Fabric board deployment. Two NM37 boards use VU37P devices with separate PCIe Host access and QSFP/Aurora board communication. The real photo is figure/remus-2fpga-hw.jpg; its oscilloscope is cropped away. PicoRV32 and Rocket run hand-written bare-metal workloads; Nanhu and single-core KMH run OpenSBI/Linux, as confirmed by the author in src/midterm/progress/prototype.tex. The terminal specifically belongs to KMH, not all four DUTs. The crop shows shell commands, cpuinfo and uname for Linux 6.12.0+. Image timestamps are not Host elapsed time. Performance comes from experiments/board-performance.md and raw/perf.txt. PicoRV32's longer runs are 0.326741 and 0.327423 MHz; combined cycles/time gives about 0.326834 MHz, rounded here to 0.327. KMH's 0.322073 MHz is a 1095817-cycle, 3.40238-second window BEFORE checkpoint save, not the full Linux boot or post-CLI rate. These are logical progress over Host time, not FPGA physical clocks. Pause records include 23 PicoRV32 observations from 0.803824 to 0.925013 ms and one KMH observation of 1.04744 ms, rounded to approximately 0.8–1.1 ms. They are Host-visible synchronized-pause times, not pure hardware barrier latency, independent repeat trials or a success-rate measurement. Detailed checkpoint timings and resources are intentionally omitted. Sources: src/midterm/progress/prototype.tex; experiments/board-execution.md; experiments/board-performance.md. Original photos are embedded unchanged and cropped only through PPT properties; all slide text/cells are editable.</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f847f1720e444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c19cb987c73466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d631f51d61e4ea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0097c24012c41f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6e439fbc93441a3"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5f81f1a510bb40d1"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0790b5b6409d46e3" /><Relationship Type="http://schemas.openxmlformats.org/officeDocument/2006/relationships/image" Target="/ppt/media/image.jpg" Id="R7526e4c6aa2b49a1" /><Relationship Type="http://schemas.openxmlformats.org/officeDocument/2006/relationships/image" Target="/ppt/media/image.png" Id="Rbee2d3e9065349d4" /><Relationship Type="http://schemas.openxmlformats.org/officeDocument/2006/relationships/notesSlide" Target="/ppt/notesSlides/notesSlide1.xml" Id="Rff61d6f7ae7548ff" /></Relationships>
</file>

<file path=ppt/slides/slide1.xml><?xml version="1.0" encoding="utf-8"?>
<p:sld xmlns:a="http://schemas.openxmlformats.org/drawingml/2006/main" xmlns:r="http://schemas.openxmlformats.org/officeDocument/2006/relationships" xmlns:p="http://schemas.openxmlformats.org/presentationml/2006/main">
  <p:cSld xmlns:a="http://schemas.openxmlformats.org/drawingml/2006/main" xmlns:p="http://schemas.openxmlformats.org/presentationml/2006/main" xmlns:r="http://schemas.openxmlformats.org/officeDocument/2006/relationships">
    <p:bg>
      <p:bgPr>
        <a:solidFill xmlns:a="http://schemas.openxmlformats.org/drawingml/2006/main">
          <a:srgbClr val="FFFFFF"/>
        </a:solidFill>
      </p:bgPr>
    </p:bg>
    <p:spTree>
      <p:nvGrpSpPr>
        <p:cNvPr id="1" name=""/>
        <p:cNvGrpSpPr/>
        <p:nvPr/>
      </p:nvGrpSpPr>
      <p:grpSpPr/>
      <p:sp>
        <p:nvSpPr>
          <p:cNvPr id="2" name="S10.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a:pPr algn="l">
              <a:lnSpc>
                <a:spcPct val="90000"/>
              </a:lnSpc>
              <a:defRPr sz="1800" b="1">
                <a:solidFill>
                  <a:srgbClr val="183B56"/>
                </a:solidFill>
                <a:latin typeface="Arial"/>
                <a:ea typeface="Arial"/>
              </a:defRPr>
            </a:pPr>
            <a:r>
              <a:rPr lang="en-US" sz="3200" b="1">
                <a:solidFill>
                  <a:srgbClr val="183B56"/>
                </a:solidFill>
              </a:rPr>
              <a:t xml:space="preserve">Evaluation: </a:t>
            </a:r>
            <a:r>
              <a:rPr lang="en-US" sz="3000" b="1">
                <a:solidFill>
                  <a:srgbClr val="183B56"/>
                </a:solidFill>
                <a:latin typeface="Arial"/>
              </a:rPr>
              <a:t>Dual-FPGA Emulation System</a:t>
            </a:r>
          </a:p>
        </p:txBody>
      </p:sp>
      <p:sp>
        <p:nvSpPr>
          <p:cNvPr id="100000" name="S10.TitleRule"/>
          <p:cNvSpPr/>
          <p:nvPr/>
        </p:nvSpPr>
        <p:spPr>
          <a:xfrm>
            <a:off x="320040" y="713232"/>
            <a:ext cx="11558016" cy="25400"/>
          </a:xfrm>
          <a:prstGeom prst="rect">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01" name="S10.Platform.Heading"/>
          <p:cNvSpPr txBox="1"/>
          <p:nvPr/>
        </p:nvSpPr>
        <p:spPr>
          <a:xfrm>
            <a:off x="320040" y="950976"/>
            <a:ext cx="4251960" cy="420624"/>
          </a:xfrm>
          <a:prstGeom prst="rect">
            <a:avLst/>
          </a:prstGeom>
          <a:noFill/>
          <a:ln>
            <a:noFill/>
          </a:ln>
        </p:spPr>
        <p:txBody>
          <a:bodyPr lIns="0" tIns="0" rIns="0" bIns="0">
            <a:noAutofit/>
          </a:bodyPr>
          <a:lstStyle/>
          <a:p>
            <a:r>
              <a:rPr lang="en-US" sz="2200" b="1">
                <a:solidFill>
                  <a:srgbClr val="183B56"/>
                </a:solidFill>
                <a:latin typeface="Arial"/>
                <a:ea typeface="Arial"/>
              </a:rPr>
              <a:t>Experimental Platform</a:t>
            </a:r>
          </a:p>
        </p:txBody>
      </p:sp>
      <p:sp>
        <p:nvSpPr>
          <p:cNvPr id="100002" name="S10.Workloads.Heading"/>
          <p:cNvSpPr txBox="1"/>
          <p:nvPr/>
        </p:nvSpPr>
        <p:spPr>
          <a:xfrm>
            <a:off x="4983480" y="950976"/>
            <a:ext cx="6894576" cy="420624"/>
          </a:xfrm>
          <a:prstGeom prst="rect">
            <a:avLst/>
          </a:prstGeom>
          <a:noFill/>
          <a:ln>
            <a:noFill/>
          </a:ln>
        </p:spPr>
        <p:txBody>
          <a:bodyPr lIns="0" tIns="0" rIns="0" bIns="0">
            <a:noAutofit/>
          </a:bodyPr>
          <a:lstStyle/>
          <a:p>
            <a:r>
              <a:rPr lang="en-US" sz="2200" b="1">
                <a:solidFill>
                  <a:srgbClr val="183B56"/>
                </a:solidFill>
                <a:latin typeface="Arial"/>
                <a:ea typeface="Arial"/>
              </a:rPr>
              <a:t>DUTs and Workloads</a:t>
            </a:r>
          </a:p>
        </p:txBody>
      </p:sp>
      <p:pic>
        <p:nvPicPr>
          <p:cNvPr id="100003" name="S10.Platform.Photo" descr="Two NM37 VU37P FPGA boards inside the shared PCIe Host; real dual-FPGA setup with board-to-board optical connections."/>
          <p:cNvPicPr>
            <a:picLocks noChangeAspect="1"/>
          </p:cNvPicPr>
          <p:nvPr/>
        </p:nvPicPr>
        <p:blipFill>
          <a:blip xmlns:r="http://schemas.openxmlformats.org/officeDocument/2006/relationships" r:embed="R7526e4c6aa2b49a1"/>
          <a:srcRect l="5473" t="35169" r="4612" b="17350"/>
          <a:stretch>
            <a:fillRect/>
          </a:stretch>
        </p:blipFill>
        <p:spPr>
          <a:xfrm>
            <a:off x="320040" y="1481328"/>
            <a:ext cx="4251960" cy="2994858"/>
          </a:xfrm>
          <a:prstGeom prst="rect">
            <a:avLst/>
          </a:prstGeom>
        </p:spPr>
      </p:pic>
      <p:sp>
        <p:nvSpPr>
          <p:cNvPr id="100005" name="S10.Platform.Text1"/>
          <p:cNvSpPr txBox="1"/>
          <p:nvPr/>
        </p:nvSpPr>
        <p:spPr>
          <a:xfrm>
            <a:off x="320040" y="4663440"/>
            <a:ext cx="4251960" cy="320040"/>
          </a:xfrm>
          <a:prstGeom prst="rect">
            <a:avLst/>
          </a:prstGeom>
          <a:noFill/>
          <a:ln>
            <a:noFill/>
          </a:ln>
        </p:spPr>
        <p:txBody>
          <a:bodyPr lIns="0" tIns="0" rIns="0" bIns="0">
            <a:noAutofit/>
          </a:bodyPr>
          <a:lstStyle/>
          <a:p>
            <a:pPr marL="285750" indent="-285750" algn="l">
              <a:buFont xmlns:a="http://schemas.openxmlformats.org/drawingml/2006/main" typeface="Arial" panose="020B0604020202020204" pitchFamily="34" charset="0"/>
              <a:buChar xmlns:a="http://schemas.openxmlformats.org/drawingml/2006/main" char="•"/>
              <a:defRPr sz="1700" b="0">
                <a:solidFill>
                  <a:srgbClr val="20354A"/>
                </a:solidFill>
                <a:latin typeface="Arial"/>
                <a:ea typeface="Arial"/>
              </a:defRPr>
            </a:pPr>
            <a:r>
              <a:rPr sz="1700">
                <a:solidFill>
                  <a:srgbClr val="20354A"/>
                </a:solidFill>
                <a:latin typeface="Arial"/>
              </a:rPr>
              <a:t>Two NM37 boards with VU37P FPGAs</a:t>
            </a:r>
          </a:p>
        </p:txBody>
      </p:sp>
      <p:sp>
        <p:nvSpPr>
          <p:cNvPr id="100006" name="S10.Platform.Text2"/>
          <p:cNvSpPr txBox="1"/>
          <p:nvPr/>
        </p:nvSpPr>
        <p:spPr>
          <a:xfrm>
            <a:off x="320040" y="4992624"/>
            <a:ext cx="4251960" cy="320040"/>
          </a:xfrm>
          <a:prstGeom prst="rect">
            <a:avLst/>
          </a:prstGeom>
          <a:noFill/>
          <a:ln>
            <a:noFill/>
          </a:ln>
        </p:spPr>
        <p:txBody>
          <a:bodyPr lIns="0" tIns="0" rIns="0" bIns="0">
            <a:noAutofit/>
          </a:bodyPr>
          <a:lstStyle/>
          <a:p>
            <a:pPr marL="285750" indent="-285750" algn="l">
              <a:buFont xmlns:a="http://schemas.openxmlformats.org/drawingml/2006/main" typeface="Arial" panose="020B0604020202020204" pitchFamily="34" charset="0"/>
              <a:buChar xmlns:a="http://schemas.openxmlformats.org/drawingml/2006/main" char="•"/>
              <a:defRPr sz="1700" b="0">
                <a:solidFill>
                  <a:srgbClr val="20354A"/>
                </a:solidFill>
                <a:latin typeface="Arial"/>
                <a:ea typeface="Arial"/>
              </a:defRPr>
            </a:pPr>
            <a:r>
              <a:rPr sz="1700">
                <a:solidFill>
                  <a:srgbClr val="20354A"/>
                </a:solidFill>
                <a:latin typeface="Arial"/>
              </a:rPr>
              <a:t>PCIe access from a shared Host</a:t>
            </a:r>
          </a:p>
        </p:txBody>
      </p:sp>
      <p:sp>
        <p:nvSpPr>
          <p:cNvPr id="100007" name="S10.Platform.Text3"/>
          <p:cNvSpPr txBox="1"/>
          <p:nvPr/>
        </p:nvSpPr>
        <p:spPr>
          <a:xfrm>
            <a:off x="320040" y="5321808"/>
            <a:ext cx="4251960" cy="320040"/>
          </a:xfrm>
          <a:prstGeom prst="rect">
            <a:avLst/>
          </a:prstGeom>
          <a:noFill/>
          <a:ln>
            <a:noFill/>
          </a:ln>
        </p:spPr>
        <p:txBody>
          <a:bodyPr lIns="0" tIns="0" rIns="0" bIns="0">
            <a:noAutofit/>
          </a:bodyPr>
          <a:lstStyle/>
          <a:p>
            <a:pPr marL="285750" indent="-285750" algn="l">
              <a:buFont xmlns:a="http://schemas.openxmlformats.org/drawingml/2006/main" typeface="Arial" panose="020B0604020202020204" pitchFamily="34" charset="0"/>
              <a:buChar xmlns:a="http://schemas.openxmlformats.org/drawingml/2006/main" char="•"/>
              <a:defRPr sz="1700" b="0">
                <a:solidFill>
                  <a:srgbClr val="20354A"/>
                </a:solidFill>
                <a:latin typeface="Arial"/>
                <a:ea typeface="Arial"/>
              </a:defRPr>
            </a:pPr>
            <a:r>
              <a:rPr sz="1700">
                <a:solidFill>
                  <a:srgbClr val="20354A"/>
                </a:solidFill>
                <a:latin typeface="Arial"/>
              </a:rPr>
              <a:t>QSFP/Aurora links between FPGAs</a:t>
            </a:r>
          </a:p>
        </p:txBody>
      </p:sp>
      <p:sp>
        <p:nvSpPr>
          <p:cNvPr id="100008" name="S10.Workloads.HeaderPanel"/>
          <p:cNvSpPr/>
          <p:nvPr/>
        </p:nvSpPr>
        <p:spPr>
          <a:xfrm>
            <a:off x="4983480" y="1481328"/>
            <a:ext cx="6894576" cy="320040"/>
          </a:xfrm>
          <a:prstGeom prst="rect">
            <a:avLst/>
          </a:prstGeom>
          <a:solidFill>
            <a:srgbClr val="EAF4F3"/>
          </a:solidFill>
          <a:ln>
            <a:noFill/>
          </a:ln>
        </p:spPr>
        <p:txBody>
          <a:bodyPr lIns="0" tIns="0" rIns="0" bIns="0">
            <a:noAutofit/>
          </a:bodyPr>
          <a:lstStyle/>
          <a:p>
            <a:endParaRPr lang="en-US" sz="1800">
              <a:solidFill>
                <a:srgbClr val="20354A"/>
              </a:solidFill>
              <a:latin typeface="Arial"/>
              <a:ea typeface="Arial"/>
            </a:endParaRPr>
          </a:p>
        </p:txBody>
      </p:sp>
      <p:sp>
        <p:nvSpPr>
          <p:cNvPr id="100009" name="S10.Workloads.DUTs.Header"/>
          <p:cNvSpPr txBox="1"/>
          <p:nvPr/>
        </p:nvSpPr>
        <p:spPr>
          <a:xfrm>
            <a:off x="5120640" y="1517904"/>
            <a:ext cx="2880360" cy="256032"/>
          </a:xfrm>
          <a:prstGeom prst="rect">
            <a:avLst/>
          </a:prstGeom>
          <a:noFill/>
          <a:ln>
            <a:noFill/>
          </a:ln>
        </p:spPr>
        <p:txBody>
          <a:bodyPr lIns="0" tIns="0" rIns="0" bIns="0">
            <a:noAutofit/>
          </a:bodyPr>
          <a:lstStyle/>
          <a:p>
            <a:r>
              <a:rPr lang="en-US" sz="1400" b="1">
                <a:solidFill>
                  <a:srgbClr val="008C95"/>
                </a:solidFill>
                <a:latin typeface="Arial"/>
                <a:ea typeface="Arial"/>
              </a:rPr>
              <a:t>DUTs</a:t>
            </a:r>
          </a:p>
        </p:txBody>
      </p:sp>
      <p:sp>
        <p:nvSpPr>
          <p:cNvPr id="100010" name="S10.Workloads.Programs.Header"/>
          <p:cNvSpPr txBox="1"/>
          <p:nvPr/>
        </p:nvSpPr>
        <p:spPr>
          <a:xfrm>
            <a:off x="8275320" y="1517904"/>
            <a:ext cx="3465576" cy="256032"/>
          </a:xfrm>
          <a:prstGeom prst="rect">
            <a:avLst/>
          </a:prstGeom>
          <a:noFill/>
          <a:ln>
            <a:noFill/>
          </a:ln>
        </p:spPr>
        <p:txBody>
          <a:bodyPr lIns="0" tIns="0" rIns="0" bIns="0">
            <a:noAutofit/>
          </a:bodyPr>
          <a:lstStyle/>
          <a:p>
            <a:r>
              <a:rPr lang="en-US" sz="1400" b="1">
                <a:solidFill>
                  <a:srgbClr val="008C95"/>
                </a:solidFill>
                <a:latin typeface="Arial"/>
                <a:ea typeface="Arial"/>
              </a:rPr>
              <a:t>Workloads</a:t>
            </a:r>
          </a:p>
        </p:txBody>
      </p:sp>
      <p:sp>
        <p:nvSpPr>
          <p:cNvPr id="100011" name="S10.Workloads.DUT1"/>
          <p:cNvSpPr txBox="1"/>
          <p:nvPr/>
        </p:nvSpPr>
        <p:spPr>
          <a:xfrm>
            <a:off x="5120640" y="1847088"/>
            <a:ext cx="2880360" cy="329184"/>
          </a:xfrm>
          <a:prstGeom prst="rect">
            <a:avLst/>
          </a:prstGeom>
          <a:noFill/>
          <a:ln>
            <a:noFill/>
          </a:ln>
        </p:spPr>
        <p:txBody>
          <a:bodyPr lIns="0" tIns="0" rIns="0" bIns="0">
            <a:noAutofit/>
          </a:bodyPr>
          <a:lstStyle/>
          <a:p>
            <a:r>
              <a:rPr lang="en-US" sz="1700" b="1">
                <a:solidFill>
                  <a:srgbClr val="183B56"/>
                </a:solidFill>
                <a:latin typeface="Arial"/>
                <a:ea typeface="Arial"/>
              </a:rPr>
              <a:t>PicoRV32 · Rocket</a:t>
            </a:r>
          </a:p>
        </p:txBody>
      </p:sp>
      <p:sp>
        <p:nvSpPr>
          <p:cNvPr id="100012" name="S10.Workloads.Program1"/>
          <p:cNvSpPr txBox="1"/>
          <p:nvPr/>
        </p:nvSpPr>
        <p:spPr>
          <a:xfrm>
            <a:off x="8275320" y="1847088"/>
            <a:ext cx="3465576" cy="329184"/>
          </a:xfrm>
          <a:prstGeom prst="rect">
            <a:avLst/>
          </a:prstGeom>
          <a:noFill/>
          <a:ln>
            <a:noFill/>
          </a:ln>
        </p:spPr>
        <p:txBody>
          <a:bodyPr lIns="0" tIns="0" rIns="0" bIns="0">
            <a:noAutofit/>
          </a:bodyPr>
          <a:lstStyle/>
          <a:p>
            <a:r>
              <a:rPr lang="en-US" sz="1700">
                <a:solidFill>
                  <a:srgbClr val="20354A"/>
                </a:solidFill>
                <a:latin typeface="Arial"/>
                <a:ea typeface="Arial"/>
              </a:rPr>
              <a:t>Bare-metal programs</a:t>
            </a:r>
          </a:p>
        </p:txBody>
      </p:sp>
      <p:sp>
        <p:nvSpPr>
          <p:cNvPr id="100013" name="S10.Workloads.Rule1"/>
          <p:cNvSpPr/>
          <p:nvPr/>
        </p:nvSpPr>
        <p:spPr>
          <a:xfrm>
            <a:off x="4983480" y="2212848"/>
            <a:ext cx="6894576" cy="7315"/>
          </a:xfrm>
          <a:prstGeom prst="rect">
            <a:avLst/>
          </a:prstGeom>
          <a:solidFill>
            <a:srgbClr val="D8E3E9"/>
          </a:solidFill>
          <a:ln>
            <a:noFill/>
          </a:ln>
        </p:spPr>
        <p:txBody>
          <a:bodyPr lIns="0" tIns="0" rIns="0" bIns="0">
            <a:noAutofit/>
          </a:bodyPr>
          <a:lstStyle/>
          <a:p>
            <a:endParaRPr lang="en-US" sz="1800">
              <a:solidFill>
                <a:srgbClr val="20354A"/>
              </a:solidFill>
              <a:latin typeface="Arial"/>
              <a:ea typeface="Arial"/>
            </a:endParaRPr>
          </a:p>
        </p:txBody>
      </p:sp>
      <p:sp>
        <p:nvSpPr>
          <p:cNvPr id="100014" name="S10.Workloads.DUT2"/>
          <p:cNvSpPr txBox="1"/>
          <p:nvPr/>
        </p:nvSpPr>
        <p:spPr>
          <a:xfrm>
            <a:off x="5120640" y="2240280"/>
            <a:ext cx="2880360" cy="329184"/>
          </a:xfrm>
          <a:prstGeom prst="rect">
            <a:avLst/>
          </a:prstGeom>
          <a:noFill/>
          <a:ln>
            <a:noFill/>
          </a:ln>
        </p:spPr>
        <p:txBody>
          <a:bodyPr lIns="0" tIns="0" rIns="0" bIns="0">
            <a:noAutofit/>
          </a:bodyPr>
          <a:lstStyle/>
          <a:p>
            <a:r>
              <a:rPr lang="en-US" sz="1700" b="1">
                <a:solidFill>
                  <a:srgbClr val="183B56"/>
                </a:solidFill>
                <a:latin typeface="Arial"/>
                <a:ea typeface="Arial"/>
              </a:rPr>
              <a:t>Nanhu · KMH</a:t>
            </a:r>
          </a:p>
        </p:txBody>
      </p:sp>
      <p:sp>
        <p:nvSpPr>
          <p:cNvPr id="100015" name="S10.Workloads.Program2"/>
          <p:cNvSpPr txBox="1"/>
          <p:nvPr/>
        </p:nvSpPr>
        <p:spPr>
          <a:xfrm>
            <a:off x="8275320" y="2240280"/>
            <a:ext cx="3465576" cy="329184"/>
          </a:xfrm>
          <a:prstGeom prst="rect">
            <a:avLst/>
          </a:prstGeom>
          <a:noFill/>
          <a:ln>
            <a:noFill/>
          </a:ln>
        </p:spPr>
        <p:txBody>
          <a:bodyPr lIns="0" tIns="0" rIns="0" bIns="0">
            <a:noAutofit/>
          </a:bodyPr>
          <a:lstStyle/>
          <a:p>
            <a:r>
              <a:rPr lang="en-US" sz="1700">
                <a:solidFill>
                  <a:srgbClr val="20354A"/>
                </a:solidFill>
                <a:latin typeface="Arial"/>
                <a:ea typeface="Arial"/>
              </a:rPr>
              <a:t>OpenSBI and Linux</a:t>
            </a:r>
          </a:p>
        </p:txBody>
      </p:sp>
      <p:sp>
        <p:nvSpPr>
          <p:cNvPr id="100016" name="S10.Workloads.Rule2"/>
          <p:cNvSpPr/>
          <p:nvPr/>
        </p:nvSpPr>
        <p:spPr>
          <a:xfrm>
            <a:off x="4983480" y="2606040"/>
            <a:ext cx="6894576" cy="7315"/>
          </a:xfrm>
          <a:prstGeom prst="rect">
            <a:avLst/>
          </a:prstGeom>
          <a:solidFill>
            <a:srgbClr val="D8E3E9"/>
          </a:solidFill>
          <a:ln>
            <a:noFill/>
          </a:ln>
        </p:spPr>
        <p:txBody>
          <a:bodyPr lIns="0" tIns="0" rIns="0" bIns="0">
            <a:noAutofit/>
          </a:bodyPr>
          <a:lstStyle/>
          <a:p>
            <a:endParaRPr lang="en-US" sz="1800">
              <a:solidFill>
                <a:srgbClr val="20354A"/>
              </a:solidFill>
              <a:latin typeface="Arial"/>
              <a:ea typeface="Arial"/>
            </a:endParaRPr>
          </a:p>
        </p:txBody>
      </p:sp>
      <p:pic>
        <p:nvPicPr>
          <p:cNvPr id="100017" name="S10.Linux.Console" descr="KMH physical dual-FPGA Linux shell: cat /proc/cpuinfo, processor and hart 0, ICT xiangshan, uname -a and Linux 6.12.0+ riscv64."/>
          <p:cNvPicPr>
            <a:picLocks noChangeAspect="1"/>
          </p:cNvPicPr>
          <p:nvPr/>
        </p:nvPicPr>
        <p:blipFill>
          <a:blip xmlns:r="http://schemas.openxmlformats.org/officeDocument/2006/relationships" r:embed="Rbee2d3e9065349d4"/>
          <a:srcRect l="0" t="61168" r="0" b="2161"/>
          <a:stretch>
            <a:fillRect/>
          </a:stretch>
        </p:blipFill>
        <p:spPr>
          <a:xfrm>
            <a:off x="4983480" y="2779776"/>
            <a:ext cx="6894576" cy="2304902"/>
          </a:xfrm>
          <a:prstGeom prst="rect">
            <a:avLst/>
          </a:prstGeom>
        </p:spPr>
      </p:pic>
      <p:sp>
        <p:nvSpPr>
          <p:cNvPr id="100018" name="S10.Linux.Caption"/>
          <p:cNvSpPr txBox="1"/>
          <p:nvPr/>
        </p:nvSpPr>
        <p:spPr>
          <a:xfrm>
            <a:off x="4983480" y="5294376"/>
            <a:ext cx="6894576" cy="512064"/>
          </a:xfrm>
          <a:prstGeom prst="rect">
            <a:avLst/>
          </a:prstGeom>
          <a:noFill/>
          <a:ln>
            <a:noFill/>
          </a:ln>
        </p:spPr>
        <p:txBody>
          <a:bodyPr lIns="0" tIns="0" rIns="0" bIns="0">
            <a:noAutofit/>
          </a:bodyPr>
          <a:lstStyle/>
          <a:p>
            <a:r>
              <a:rPr lang="en-US" sz="1800">
                <a:solidFill>
                  <a:srgbClr val="183B56"/>
                </a:solidFill>
                <a:latin typeface="Arial"/>
                <a:ea typeface="Arial"/>
              </a:rPr>
              <a:t>KMH boots Linux and supports interactive shell commands.</a:t>
            </a:r>
          </a:p>
        </p:txBody>
      </p:sp>
      <p:sp>
        <p:nvSpPr>
          <p:cNvPr id="100019" name="S10.Metrics.Panel"/>
          <p:cNvSpPr/>
          <p:nvPr/>
        </p:nvSpPr>
        <p:spPr>
          <a:xfrm>
            <a:off x="320040" y="5879592"/>
            <a:ext cx="11558016" cy="603504"/>
          </a:xfrm>
          <a:prstGeom prst="rect">
            <a:avLst/>
          </a:prstGeom>
          <a:solidFill>
            <a:srgbClr val="EAF4F3"/>
          </a:solidFill>
          <a:ln>
            <a:noFill/>
          </a:ln>
        </p:spPr>
        <p:txBody>
          <a:bodyPr lIns="0" tIns="0" rIns="0" bIns="0">
            <a:noAutofit/>
          </a:bodyPr>
          <a:lstStyle/>
          <a:p>
            <a:endParaRPr lang="en-US" sz="1800">
              <a:solidFill>
                <a:srgbClr val="20354A"/>
              </a:solidFill>
              <a:latin typeface="Arial"/>
              <a:ea typeface="Arial"/>
            </a:endParaRPr>
          </a:p>
        </p:txBody>
      </p:sp>
      <p:sp>
        <p:nvSpPr>
          <p:cNvPr id="100020" name="S10.Metrics.Label0"/>
          <p:cNvSpPr txBox="1"/>
          <p:nvPr/>
        </p:nvSpPr>
        <p:spPr>
          <a:xfrm>
            <a:off x="484632" y="5925312"/>
            <a:ext cx="3520440" cy="201168"/>
          </a:xfrm>
          <a:prstGeom prst="rect">
            <a:avLst/>
          </a:prstGeom>
          <a:noFill/>
          <a:ln>
            <a:noFill/>
          </a:ln>
        </p:spPr>
        <p:txBody>
          <a:bodyPr lIns="0" tIns="0" rIns="0" bIns="0">
            <a:noAutofit/>
          </a:bodyPr>
          <a:lstStyle/>
          <a:p>
            <a:r>
              <a:rPr lang="en-US" sz="1200">
                <a:solidFill>
                  <a:srgbClr val="183B56"/>
                </a:solidFill>
                <a:latin typeface="Arial"/>
                <a:ea typeface="Arial"/>
              </a:rPr>
              <a:t>PicoRV32 · Effective Rate</a:t>
            </a:r>
          </a:p>
        </p:txBody>
      </p:sp>
      <p:sp>
        <p:nvSpPr>
          <p:cNvPr id="100021" name="S10.Metrics.Value0"/>
          <p:cNvSpPr txBox="1"/>
          <p:nvPr/>
        </p:nvSpPr>
        <p:spPr>
          <a:xfrm>
            <a:off x="484632" y="6144768"/>
            <a:ext cx="3520440" cy="338328"/>
          </a:xfrm>
          <a:prstGeom prst="rect">
            <a:avLst/>
          </a:prstGeom>
          <a:noFill/>
          <a:ln>
            <a:noFill/>
          </a:ln>
        </p:spPr>
        <p:txBody>
          <a:bodyPr lIns="0" tIns="0" rIns="0" bIns="0">
            <a:noAutofit/>
          </a:bodyPr>
          <a:lstStyle/>
          <a:p>
            <a:r>
              <a:rPr lang="en-US" sz="2200" b="1">
                <a:solidFill>
                  <a:srgbClr val="008C95"/>
                </a:solidFill>
                <a:latin typeface="Arial"/>
                <a:ea typeface="Arial"/>
              </a:rPr>
              <a:t>≈0.327 MHz</a:t>
            </a:r>
          </a:p>
        </p:txBody>
      </p:sp>
      <p:sp>
        <p:nvSpPr>
          <p:cNvPr id="100022" name="S10.Metrics.Divider1"/>
          <p:cNvSpPr/>
          <p:nvPr/>
        </p:nvSpPr>
        <p:spPr>
          <a:xfrm>
            <a:off x="4172712" y="5952744"/>
            <a:ext cx="8230" cy="457200"/>
          </a:xfrm>
          <a:prstGeom prst="rect">
            <a:avLst/>
          </a:prstGeom>
          <a:solidFill>
            <a:srgbClr val="BDCBD4"/>
          </a:solidFill>
          <a:ln>
            <a:noFill/>
          </a:ln>
        </p:spPr>
        <p:txBody>
          <a:bodyPr lIns="0" tIns="0" rIns="0" bIns="0">
            <a:noAutofit/>
          </a:bodyPr>
          <a:lstStyle/>
          <a:p>
            <a:endParaRPr lang="en-US" sz="1800">
              <a:solidFill>
                <a:srgbClr val="20354A"/>
              </a:solidFill>
              <a:latin typeface="Arial"/>
              <a:ea typeface="Arial"/>
            </a:endParaRPr>
          </a:p>
        </p:txBody>
      </p:sp>
      <p:sp>
        <p:nvSpPr>
          <p:cNvPr id="100023" name="S10.Metrics.Label1"/>
          <p:cNvSpPr txBox="1"/>
          <p:nvPr/>
        </p:nvSpPr>
        <p:spPr>
          <a:xfrm>
            <a:off x="4337304" y="5925312"/>
            <a:ext cx="3520440" cy="201168"/>
          </a:xfrm>
          <a:prstGeom prst="rect">
            <a:avLst/>
          </a:prstGeom>
          <a:noFill/>
          <a:ln>
            <a:noFill/>
          </a:ln>
        </p:spPr>
        <p:txBody>
          <a:bodyPr lIns="0" tIns="0" rIns="0" bIns="0">
            <a:noAutofit/>
          </a:bodyPr>
          <a:lstStyle/>
          <a:p>
            <a:r>
              <a:rPr lang="en-US" sz="1200">
                <a:solidFill>
                  <a:srgbClr val="183B56"/>
                </a:solidFill>
                <a:latin typeface="Arial"/>
                <a:ea typeface="Arial"/>
              </a:rPr>
              <a:t>KMH · Effective Rate</a:t>
            </a:r>
          </a:p>
        </p:txBody>
      </p:sp>
      <p:sp>
        <p:nvSpPr>
          <p:cNvPr id="100024" name="S10.Metrics.Value1"/>
          <p:cNvSpPr txBox="1"/>
          <p:nvPr/>
        </p:nvSpPr>
        <p:spPr>
          <a:xfrm>
            <a:off x="4337304" y="6144768"/>
            <a:ext cx="3520440" cy="338328"/>
          </a:xfrm>
          <a:prstGeom prst="rect">
            <a:avLst/>
          </a:prstGeom>
          <a:noFill/>
          <a:ln>
            <a:noFill/>
          </a:ln>
        </p:spPr>
        <p:txBody>
          <a:bodyPr lIns="0" tIns="0" rIns="0" bIns="0">
            <a:noAutofit/>
          </a:bodyPr>
          <a:lstStyle/>
          <a:p>
            <a:r>
              <a:rPr lang="en-US" sz="2200" b="1">
                <a:solidFill>
                  <a:srgbClr val="008C95"/>
                </a:solidFill>
                <a:latin typeface="Arial"/>
                <a:ea typeface="Arial"/>
              </a:rPr>
              <a:t>≈0.322 MHz</a:t>
            </a:r>
          </a:p>
        </p:txBody>
      </p:sp>
      <p:sp>
        <p:nvSpPr>
          <p:cNvPr id="100025" name="S10.Metrics.Divider2"/>
          <p:cNvSpPr/>
          <p:nvPr/>
        </p:nvSpPr>
        <p:spPr>
          <a:xfrm>
            <a:off x="8025384" y="5952744"/>
            <a:ext cx="8230" cy="457200"/>
          </a:xfrm>
          <a:prstGeom prst="rect">
            <a:avLst/>
          </a:prstGeom>
          <a:solidFill>
            <a:srgbClr val="BDCBD4"/>
          </a:solidFill>
          <a:ln>
            <a:noFill/>
          </a:ln>
        </p:spPr>
        <p:txBody>
          <a:bodyPr lIns="0" tIns="0" rIns="0" bIns="0">
            <a:noAutofit/>
          </a:bodyPr>
          <a:lstStyle/>
          <a:p>
            <a:endParaRPr lang="en-US" sz="1800">
              <a:solidFill>
                <a:srgbClr val="20354A"/>
              </a:solidFill>
              <a:latin typeface="Arial"/>
              <a:ea typeface="Arial"/>
            </a:endParaRPr>
          </a:p>
        </p:txBody>
      </p:sp>
      <p:sp>
        <p:nvSpPr>
          <p:cNvPr id="100026" name="S10.Metrics.Label2"/>
          <p:cNvSpPr txBox="1"/>
          <p:nvPr/>
        </p:nvSpPr>
        <p:spPr>
          <a:xfrm>
            <a:off x="8189976" y="5925312"/>
            <a:ext cx="3520440" cy="201168"/>
          </a:xfrm>
          <a:prstGeom prst="rect">
            <a:avLst/>
          </a:prstGeom>
          <a:noFill/>
          <a:ln>
            <a:noFill/>
          </a:ln>
        </p:spPr>
        <p:txBody>
          <a:bodyPr lIns="0" tIns="0" rIns="0" bIns="0">
            <a:noAutofit/>
          </a:bodyPr>
          <a:lstStyle/>
          <a:p>
            <a:r>
              <a:rPr lang="en-US" sz="1200">
                <a:solidFill>
                  <a:srgbClr val="183B56"/>
                </a:solidFill>
                <a:latin typeface="Arial"/>
                <a:ea typeface="Arial"/>
              </a:rPr>
              <a:t>Global Pause · Host-Observed</a:t>
            </a:r>
          </a:p>
        </p:txBody>
      </p:sp>
      <p:sp>
        <p:nvSpPr>
          <p:cNvPr id="100027" name="S10.Metrics.Value2"/>
          <p:cNvSpPr txBox="1"/>
          <p:nvPr/>
        </p:nvSpPr>
        <p:spPr>
          <a:xfrm>
            <a:off x="8189976" y="6144768"/>
            <a:ext cx="3520440" cy="338328"/>
          </a:xfrm>
          <a:prstGeom prst="rect">
            <a:avLst/>
          </a:prstGeom>
          <a:noFill/>
          <a:ln>
            <a:noFill/>
          </a:ln>
        </p:spPr>
        <p:txBody>
          <a:bodyPr lIns="0" tIns="0" rIns="0" bIns="0">
            <a:noAutofit/>
          </a:bodyPr>
          <a:lstStyle/>
          <a:p>
            <a:pPr algn="l">
              <a:defRPr sz="2200" b="1">
                <a:solidFill>
                  <a:srgbClr val="DF973E"/>
                </a:solidFill>
                <a:latin typeface="Arial"/>
                <a:ea typeface="Arial"/>
              </a:defRPr>
            </a:pPr>
            <a:r>
              <a:rPr lang="en-US" sz="2200" b="1">
                <a:solidFill>
                  <a:srgbClr val="DF973E"/>
                </a:solidFill>
                <a:latin typeface="Arial"/>
              </a:rPr>
              <a:t xml:space="preserve">≈0.8~1.1 </a:t>
            </a:r>
            <a:r>
              <a:rPr lang="en-US" sz="2200" b="1">
                <a:solidFill>
                  <a:srgbClr val="DF973E"/>
                </a:solidFill>
                <a:latin typeface="Arial"/>
              </a:rPr>
              <a:t>ms</a:t>
            </a:r>
          </a:p>
        </p:txBody>
      </p:sp>
      <p:sp>
        <p:nvSpPr>
          <p:cNvPr id="100029" name="S10.PageNumber"/>
          <p:cNvSpPr txBox="1"/>
          <p:nvPr/>
        </p:nvSpPr>
        <p:spPr>
          <a:xfrm>
            <a:off x="11548872" y="6629400"/>
            <a:ext cx="310896" cy="182880"/>
          </a:xfrm>
          <a:prstGeom prst="rect">
            <a:avLst/>
          </a:prstGeom>
          <a:noFill/>
          <a:ln>
            <a:noFill/>
          </a:ln>
        </p:spPr>
        <p:txBody>
          <a:bodyPr lIns="0" tIns="0" rIns="0" bIns="0">
            <a:noAutofit/>
          </a:bodyPr>
          <a:lstStyle/>
          <a:p>
            <a:pPr algn="r"/>
            <a:r>
              <a:rPr lang="en-US" sz="1000">
                <a:solidFill>
                  <a:srgbClr val="607184"/>
                </a:solidFill>
                <a:latin typeface="Arial"/>
                <a:ea typeface="Arial"/>
              </a:rPr>
              <a:t>10</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OfficeCLI/1.0.156</ap:Application>
</ap:Properties>
</file>

<file path=docProps/core.xml><?xml version="1.0" encoding="utf-8"?>
<coreProperties xmlns:dc="http://purl.org/dc/elements/1.1/" xmlns:dcterms="http://purl.org/dc/terms/" xmlns:xsi="http://www.w3.org/2001/XMLSchema-instance" xmlns="http://schemas.openxmlformats.org/package/2006/metadata/core-properties">
  <dc:creator>OfficeCLI</dc:creator>
  <dcterms:created xsi:type="dcterms:W3CDTF">2026-10-29T08:01:21.0000000Z</dcterms:created>
  <lastModifiedBy>OfficeCLI</lastModifiedBy>
  <dcterms:modified xsi:type="dcterms:W3CDTF">2026-10-29T08:01:21.8786369Z</dcterms:modified>
</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1.0.156</vt:lpwstr>
  </op:property>
  <op:property fmtid="{D5CDD505-2E9C-101B-9397-08002B2CF9AE}" pid="3" name="OfficeCLI.LastModified">
    <vt:lpwstr xmlns:vt="http://schemas.openxmlformats.org/officeDocument/2006/docPropsVTypes">2026-10-29T08:01:25Z</vt:lpwstr>
  </op:property>
</op:Properties>
</file>