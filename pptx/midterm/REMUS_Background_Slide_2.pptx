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3504c8faa634467" /><Relationship Type="http://schemas.openxmlformats.org/package/2006/relationships/metadata/core-properties" Target="/docProps/core.xml" Id="Rbabfaa69e8ed4856" /><Relationship Type="http://schemas.openxmlformats.org/officeDocument/2006/relationships/extended-properties" Target="/docProps/app.xml" Id="Rd982d6b1c6884ca2" /><Relationship Type="http://schemas.openxmlformats.org/officeDocument/2006/relationships/custom-properties" Target="/docProps/custom.xml" Id="Rbfdfb37ea2f4499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7f63efef99044e8c"/>
  </p:notesMasterIdLst>
  <p:sldIdLst>
    <p:sldId id="256" r:id="R378ebfff37664e31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378ebfff37664e31" /><Relationship Type="http://schemas.openxmlformats.org/officeDocument/2006/relationships/notesMaster" Target="/ppt/notesMasters/notesMaster1.xml" Id="R7f63efef99044e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5b0a3bf2f804b43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d156b0345414755" /><Relationship Type="http://schemas.openxmlformats.org/officeDocument/2006/relationships/slide" Target="/ppt/slides/slide1.xml" Id="Rf2ea8692cd0345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Contrast typical prototyping strengths and common debug limitations with the target capabilities of replayable multi-FPGA emulation. This is a research motivation slide, not a completed-feature checklist or an empirical comparison of every prototyping system. The right panel and workflow express goals; REMUS implementation and validation status are reported later. Dump represents collection and aggregation of distributed state into a global snapshot. Restore and replay are conceptual stages; execution backends and correctness conditions are explained on the technical slides. The return loop represents another debugging iteration. Layout reference: figure/presentation-reference/midterm-background-02.png.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041dbc09cc4a1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c946bfa985415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2b0ffd568d495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97763a0401422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9fd2373d6d44f5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3f288a13395044db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e37cd1e3d74495" /><Relationship Type="http://schemas.openxmlformats.org/officeDocument/2006/relationships/image" Target="/ppt/media/image.png" Id="R3796f3a5591c4668" /><Relationship Type="http://schemas.openxmlformats.org/officeDocument/2006/relationships/image" Target="/ppt/media/image2.png" Id="R8c9a2897f6d8492c" /><Relationship Type="http://schemas.openxmlformats.org/officeDocument/2006/relationships/image" Target="/ppt/media/image3.png" Id="R7e57c6f3e4d24eba" /><Relationship Type="http://schemas.openxmlformats.org/officeDocument/2006/relationships/image" Target="/ppt/media/image4.png" Id="R06b9cb7189594a8c" /><Relationship Type="http://schemas.openxmlformats.org/officeDocument/2006/relationships/image" Target="/ppt/media/image5.png" Id="Rae391927d5594dca" /><Relationship Type="http://schemas.openxmlformats.org/officeDocument/2006/relationships/notesSlide" Target="/ppt/notesSlides/notesSlide1.xml" Id="R1199b2afbc3e44e0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xmlns:a="http://schemas.openxmlformats.org/drawingml/2006/main" xmlns:p="http://schemas.openxmlformats.org/presentationml/2006/main" xmlns:r="http://schemas.openxmlformats.org/officeDocument/2006/relationships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02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>
            <a:pPr algn="l">
              <a:lnSpc>
                <a:spcPct val="90000"/>
              </a:lnSpc>
              <a:defRPr sz="3000" b="1">
                <a:solidFill>
                  <a:srgbClr val="183B56"/>
                </a:solidFill>
                <a:latin typeface="Arial"/>
                <a:ea typeface="Arial"/>
              </a:defRPr>
            </a:pPr>
            <a:r>
              <a:rPr sz="3000" b="1">
                <a:solidFill>
                  <a:srgbClr val="183B56"/>
                </a:solidFill>
                <a:latin typeface="Arial"/>
              </a:rPr>
              <a:t>Motivation: Multi-FPGA Prototyping Is Fast, but Hard to Debug</a:t>
            </a:r>
          </a:p>
        </p:txBody>
      </p:sp>
      <p:sp>
        <p:nvSpPr>
          <p:cNvPr id="100000" name="S02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2.Prototype.Panel"/>
          <p:cNvSpPr/>
          <p:nvPr/>
        </p:nvSpPr>
        <p:spPr>
          <a:xfrm>
            <a:off x="320040" y="969264"/>
            <a:ext cx="5687568" cy="5605272"/>
          </a:xfrm>
          <a:prstGeom prst="roundRect">
            <a:avLst>
              <a:gd name="adj" fmla="val 3000"/>
            </a:avLst>
          </a:prstGeom>
          <a:solidFill>
            <a:srgbClr val="FCF4E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2" name="S02.Prototype.Heading"/>
          <p:cNvSpPr txBox="1"/>
          <p:nvPr/>
        </p:nvSpPr>
        <p:spPr>
          <a:xfrm>
            <a:off x="502920" y="1207008"/>
            <a:ext cx="5321808" cy="3840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Multi-FPGA Prototyping</a:t>
            </a:r>
          </a:p>
        </p:txBody>
      </p:sp>
      <p:sp>
        <p:nvSpPr>
          <p:cNvPr id="100004" name="S02.Prototype.Divider"/>
          <p:cNvSpPr/>
          <p:nvPr/>
        </p:nvSpPr>
        <p:spPr>
          <a:xfrm>
            <a:off x="530352" y="4453128"/>
            <a:ext cx="5266944" cy="10973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02.Replay.Panel"/>
          <p:cNvSpPr/>
          <p:nvPr/>
        </p:nvSpPr>
        <p:spPr>
          <a:xfrm>
            <a:off x="6190488" y="969264"/>
            <a:ext cx="5687568" cy="5605272"/>
          </a:xfrm>
          <a:prstGeom prst="roundRect">
            <a:avLst>
              <a:gd name="adj" fmla="val 30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6" name="S02.Replay.Heading"/>
          <p:cNvSpPr txBox="1"/>
          <p:nvPr/>
        </p:nvSpPr>
        <p:spPr>
          <a:xfrm>
            <a:off x="6373368" y="1207008"/>
            <a:ext cx="5321808" cy="3840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>
              <a:defRPr sz="2200" b="1">
                <a:solidFill>
                  <a:srgbClr val="183B56"/>
                </a:solidFill>
                <a:latin typeface="Arial"/>
                <a:ea typeface="Arial"/>
              </a:defRPr>
            </a:pPr>
            <a:r>
              <a:rPr lang="en-US" sz="2200" b="1">
                <a:solidFill>
                  <a:srgbClr val="183B56"/>
                </a:solidFill>
                <a:latin typeface="Arial"/>
              </a:rPr>
              <a:t>Replayable</a:t>
            </a:r>
            <a:r>
              <a:rPr lang="en-US" sz="2200" b="1">
                <a:solidFill>
                  <a:srgbClr val="183B56"/>
                </a:solidFill>
                <a:latin typeface="Arial"/>
              </a:rPr>
              <a:t xml:space="preserve"> Multi-FPGA Emulation</a:t>
            </a:r>
          </a:p>
        </p:txBody>
      </p:sp>
      <p:sp>
        <p:nvSpPr>
          <p:cNvPr id="100008" name="S02.Replay.Divider"/>
          <p:cNvSpPr/>
          <p:nvPr/>
        </p:nvSpPr>
        <p:spPr>
          <a:xfrm>
            <a:off x="6400800" y="4453128"/>
            <a:ext cx="5266944" cy="10973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9" name="S02.Prototype.Item1.Badge"/>
          <p:cNvSpPr/>
          <p:nvPr/>
        </p:nvSpPr>
        <p:spPr>
          <a:xfrm>
            <a:off x="795528" y="1887885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0" name="S02.Prototype.Item1.CheckShort"/>
          <p:cNvSpPr/>
          <p:nvPr/>
        </p:nvSpPr>
        <p:spPr>
          <a:xfrm rot="2700000">
            <a:off x="868680" y="2047905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1" name="S02.Prototype.Item1.CheckLong"/>
          <p:cNvSpPr/>
          <p:nvPr/>
        </p:nvSpPr>
        <p:spPr>
          <a:xfrm rot="18900000">
            <a:off x="909828" y="2022302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2" name="S02.Prototype.Text1"/>
          <p:cNvSpPr txBox="1"/>
          <p:nvPr/>
        </p:nvSpPr>
        <p:spPr>
          <a:xfrm>
            <a:off x="1280160" y="1890628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Large design capacity</a:t>
            </a:r>
          </a:p>
        </p:txBody>
      </p:sp>
      <p:sp>
        <p:nvSpPr>
          <p:cNvPr id="100013" name="S02.Prototype.Item2.Badge"/>
          <p:cNvSpPr/>
          <p:nvPr/>
        </p:nvSpPr>
        <p:spPr>
          <a:xfrm>
            <a:off x="795528" y="2345085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4" name="S02.Prototype.Item2.CheckShort"/>
          <p:cNvSpPr/>
          <p:nvPr/>
        </p:nvSpPr>
        <p:spPr>
          <a:xfrm rot="2700000">
            <a:off x="868680" y="2505105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5" name="S02.Prototype.Item2.CheckLong"/>
          <p:cNvSpPr/>
          <p:nvPr/>
        </p:nvSpPr>
        <p:spPr>
          <a:xfrm rot="18900000">
            <a:off x="909828" y="2479502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6" name="S02.Prototype.Text2"/>
          <p:cNvSpPr txBox="1"/>
          <p:nvPr/>
        </p:nvSpPr>
        <p:spPr>
          <a:xfrm>
            <a:off x="1280160" y="2347828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High execution speed</a:t>
            </a:r>
          </a:p>
        </p:txBody>
      </p:sp>
      <p:sp>
        <p:nvSpPr>
          <p:cNvPr id="100017" name="S02.Prototype.Item3.Badge"/>
          <p:cNvSpPr/>
          <p:nvPr/>
        </p:nvSpPr>
        <p:spPr>
          <a:xfrm>
            <a:off x="795528" y="2802285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8" name="S02.Prototype.Item3.CheckShort"/>
          <p:cNvSpPr/>
          <p:nvPr/>
        </p:nvSpPr>
        <p:spPr>
          <a:xfrm rot="2700000">
            <a:off x="868680" y="2962305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9" name="S02.Prototype.Item3.CheckLong"/>
          <p:cNvSpPr/>
          <p:nvPr/>
        </p:nvSpPr>
        <p:spPr>
          <a:xfrm rot="18900000">
            <a:off x="909828" y="2936702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0" name="S02.Prototype.Text3"/>
          <p:cNvSpPr txBox="1"/>
          <p:nvPr/>
        </p:nvSpPr>
        <p:spPr>
          <a:xfrm>
            <a:off x="1280160" y="2805028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Long software workloads</a:t>
            </a:r>
          </a:p>
        </p:txBody>
      </p:sp>
      <p:sp>
        <p:nvSpPr>
          <p:cNvPr id="100021" name="S02.Prototype.Item4.Badge"/>
          <p:cNvSpPr/>
          <p:nvPr/>
        </p:nvSpPr>
        <p:spPr>
          <a:xfrm>
            <a:off x="795528" y="3259485"/>
            <a:ext cx="310896" cy="31089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2" name="S02.Prototype.Item4.Minus"/>
          <p:cNvSpPr/>
          <p:nvPr/>
        </p:nvSpPr>
        <p:spPr>
          <a:xfrm>
            <a:off x="868680" y="3395731"/>
            <a:ext cx="16459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3" name="S02.Prototype.Text4"/>
          <p:cNvSpPr txBox="1"/>
          <p:nvPr/>
        </p:nvSpPr>
        <p:spPr>
          <a:xfrm>
            <a:off x="1280160" y="3262228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Limited visibility</a:t>
            </a:r>
          </a:p>
        </p:txBody>
      </p:sp>
      <p:sp>
        <p:nvSpPr>
          <p:cNvPr id="100024" name="S02.Prototype.Item5.Badge"/>
          <p:cNvSpPr/>
          <p:nvPr/>
        </p:nvSpPr>
        <p:spPr>
          <a:xfrm>
            <a:off x="795528" y="3716685"/>
            <a:ext cx="310896" cy="31089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5" name="S02.Prototype.Item5.Minus"/>
          <p:cNvSpPr/>
          <p:nvPr/>
        </p:nvSpPr>
        <p:spPr>
          <a:xfrm>
            <a:off x="868680" y="3852931"/>
            <a:ext cx="16459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6" name="S02.Prototype.Text5"/>
          <p:cNvSpPr txBox="1"/>
          <p:nvPr/>
        </p:nvSpPr>
        <p:spPr>
          <a:xfrm>
            <a:off x="1280160" y="3719428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Limited full-state replay</a:t>
            </a:r>
          </a:p>
        </p:txBody>
      </p:sp>
      <p:sp>
        <p:nvSpPr>
          <p:cNvPr id="100027" name="S02.Replay.Item1.Badge"/>
          <p:cNvSpPr/>
          <p:nvPr/>
        </p:nvSpPr>
        <p:spPr>
          <a:xfrm>
            <a:off x="6640656" y="1887881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8" name="S02.Replay.Item1.CheckShort"/>
          <p:cNvSpPr/>
          <p:nvPr/>
        </p:nvSpPr>
        <p:spPr>
          <a:xfrm rot="2700000">
            <a:off x="6713808" y="2047901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9" name="S02.Replay.Item1.CheckLong"/>
          <p:cNvSpPr/>
          <p:nvPr/>
        </p:nvSpPr>
        <p:spPr>
          <a:xfrm rot="18900000">
            <a:off x="6754956" y="2022298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0" name="S02.Replay.Text1"/>
          <p:cNvSpPr txBox="1"/>
          <p:nvPr/>
        </p:nvSpPr>
        <p:spPr>
          <a:xfrm>
            <a:off x="7125288" y="1890624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Run large RTL designs</a:t>
            </a:r>
          </a:p>
        </p:txBody>
      </p:sp>
      <p:sp>
        <p:nvSpPr>
          <p:cNvPr id="100031" name="S02.Replay.Item2.Badge"/>
          <p:cNvSpPr/>
          <p:nvPr/>
        </p:nvSpPr>
        <p:spPr>
          <a:xfrm>
            <a:off x="6640656" y="2281073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2" name="S02.Replay.Item2.CheckShort"/>
          <p:cNvSpPr/>
          <p:nvPr/>
        </p:nvSpPr>
        <p:spPr>
          <a:xfrm rot="2700000">
            <a:off x="6713808" y="2441093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3" name="S02.Replay.Item2.CheckLong"/>
          <p:cNvSpPr/>
          <p:nvPr/>
        </p:nvSpPr>
        <p:spPr>
          <a:xfrm rot="18900000">
            <a:off x="6754956" y="2415490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4" name="S02.Replay.Text2"/>
          <p:cNvSpPr txBox="1"/>
          <p:nvPr/>
        </p:nvSpPr>
        <p:spPr>
          <a:xfrm>
            <a:off x="7125288" y="2283816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Cycle-consistent global pause</a:t>
            </a:r>
          </a:p>
        </p:txBody>
      </p:sp>
      <p:sp>
        <p:nvSpPr>
          <p:cNvPr id="100035" name="S02.Replay.Item3.Badge"/>
          <p:cNvSpPr/>
          <p:nvPr/>
        </p:nvSpPr>
        <p:spPr>
          <a:xfrm>
            <a:off x="6640656" y="2674265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6" name="S02.Replay.Item3.CheckShort"/>
          <p:cNvSpPr/>
          <p:nvPr/>
        </p:nvSpPr>
        <p:spPr>
          <a:xfrm rot="2700000">
            <a:off x="6713808" y="2834285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7" name="S02.Replay.Item3.CheckLong"/>
          <p:cNvSpPr/>
          <p:nvPr/>
        </p:nvSpPr>
        <p:spPr>
          <a:xfrm rot="18900000">
            <a:off x="6754956" y="2808682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8" name="S02.Replay.Text3"/>
          <p:cNvSpPr txBox="1"/>
          <p:nvPr/>
        </p:nvSpPr>
        <p:spPr>
          <a:xfrm>
            <a:off x="7125288" y="2677008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Full-state extraction</a:t>
            </a:r>
          </a:p>
        </p:txBody>
      </p:sp>
      <p:sp>
        <p:nvSpPr>
          <p:cNvPr id="100039" name="S02.Replay.Item4.Badge"/>
          <p:cNvSpPr/>
          <p:nvPr/>
        </p:nvSpPr>
        <p:spPr>
          <a:xfrm>
            <a:off x="6640656" y="3067457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0" name="S02.Replay.Item4.CheckShort"/>
          <p:cNvSpPr/>
          <p:nvPr/>
        </p:nvSpPr>
        <p:spPr>
          <a:xfrm rot="2700000">
            <a:off x="6713808" y="3227477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1" name="S02.Replay.Item4.CheckLong"/>
          <p:cNvSpPr/>
          <p:nvPr/>
        </p:nvSpPr>
        <p:spPr>
          <a:xfrm rot="18900000">
            <a:off x="6754956" y="3201874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2" name="S02.Replay.Text4"/>
          <p:cNvSpPr txBox="1"/>
          <p:nvPr/>
        </p:nvSpPr>
        <p:spPr>
          <a:xfrm>
            <a:off x="7125288" y="3084268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State restore</a:t>
            </a:r>
          </a:p>
        </p:txBody>
      </p:sp>
      <p:sp>
        <p:nvSpPr>
          <p:cNvPr id="100043" name="S02.Replay.Item5.Badge"/>
          <p:cNvSpPr/>
          <p:nvPr/>
        </p:nvSpPr>
        <p:spPr>
          <a:xfrm>
            <a:off x="6640656" y="3460649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4" name="S02.Replay.Item5.CheckShort"/>
          <p:cNvSpPr/>
          <p:nvPr/>
        </p:nvSpPr>
        <p:spPr>
          <a:xfrm rot="2700000">
            <a:off x="6713808" y="3620669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5" name="S02.Replay.Item5.CheckLong"/>
          <p:cNvSpPr/>
          <p:nvPr/>
        </p:nvSpPr>
        <p:spPr>
          <a:xfrm rot="18900000">
            <a:off x="6754956" y="3595066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6" name="S02.Replay.Text5"/>
          <p:cNvSpPr txBox="1"/>
          <p:nvPr/>
        </p:nvSpPr>
        <p:spPr>
          <a:xfrm>
            <a:off x="7125288" y="3463392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Deterministic replay</a:t>
            </a:r>
          </a:p>
        </p:txBody>
      </p:sp>
      <p:sp>
        <p:nvSpPr>
          <p:cNvPr id="100047" name="S02.Replay.Item6.Badge"/>
          <p:cNvSpPr/>
          <p:nvPr/>
        </p:nvSpPr>
        <p:spPr>
          <a:xfrm>
            <a:off x="6640656" y="3853841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8" name="S02.Replay.Item6.CheckShort"/>
          <p:cNvSpPr/>
          <p:nvPr/>
        </p:nvSpPr>
        <p:spPr>
          <a:xfrm rot="2700000">
            <a:off x="6713808" y="4013861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9" name="S02.Replay.Item6.CheckLong"/>
          <p:cNvSpPr/>
          <p:nvPr/>
        </p:nvSpPr>
        <p:spPr>
          <a:xfrm rot="18900000">
            <a:off x="6754956" y="3988258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0" name="S02.Replay.Text6"/>
          <p:cNvSpPr txBox="1"/>
          <p:nvPr/>
        </p:nvSpPr>
        <p:spPr>
          <a:xfrm>
            <a:off x="7125288" y="3856584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Waveform reconstruction</a:t>
            </a:r>
          </a:p>
        </p:txBody>
      </p:sp>
      <p:pic>
        <p:nvPicPr>
          <p:cNvPr id="100051" name="S02.Prototype.FPGA1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3796f3a5591c4668"/>
          <a:srcRect l="21371" t="23684" r="21291" b="20972"/>
          <a:stretch>
            <a:fillRect/>
          </a:stretch>
        </p:blipFill>
        <p:spPr>
          <a:xfrm>
            <a:off x="996696" y="4901184"/>
            <a:ext cx="859536" cy="829650"/>
          </a:xfrm>
          <a:prstGeom prst="rect">
            <a:avLst/>
          </a:prstGeom>
        </p:spPr>
      </p:pic>
      <p:pic>
        <p:nvPicPr>
          <p:cNvPr id="100052" name="S02.Prototype.FPGA2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8c9a2897f6d8492c"/>
          <a:srcRect l="21371" t="23684" r="21291" b="20972"/>
          <a:stretch>
            <a:fillRect/>
          </a:stretch>
        </p:blipFill>
        <p:spPr>
          <a:xfrm>
            <a:off x="2734056" y="4901184"/>
            <a:ext cx="859536" cy="829650"/>
          </a:xfrm>
          <a:prstGeom prst="rect">
            <a:avLst/>
          </a:prstGeom>
        </p:spPr>
      </p:pic>
      <p:pic>
        <p:nvPicPr>
          <p:cNvPr id="100053" name="S02.Prototype.FPGA3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7e57c6f3e4d24eba"/>
          <a:srcRect l="21371" t="23684" r="21291" b="20972"/>
          <a:stretch>
            <a:fillRect/>
          </a:stretch>
        </p:blipFill>
        <p:spPr>
          <a:xfrm>
            <a:off x="4471416" y="4901184"/>
            <a:ext cx="859536" cy="829650"/>
          </a:xfrm>
          <a:prstGeom prst="rect">
            <a:avLst/>
          </a:prstGeom>
        </p:spPr>
      </p:pic>
      <p:sp>
        <p:nvSpPr>
          <p:cNvPr id="100054" name="S02.Prototype.Run"/>
          <p:cNvSpPr txBox="1"/>
          <p:nvPr/>
        </p:nvSpPr>
        <p:spPr>
          <a:xfrm>
            <a:off x="2432304" y="4599432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800" b="1">
                <a:solidFill>
                  <a:srgbClr val="183B56"/>
                </a:solidFill>
                <a:latin typeface="Arial"/>
                <a:ea typeface="Arial"/>
              </a:rPr>
              <a:t>Run</a:t>
            </a:r>
          </a:p>
        </p:txBody>
      </p:sp>
      <p:sp>
        <p:nvSpPr>
          <p:cNvPr id="100057" name="S02.Prototype.VisibilityArrow"/>
          <p:cNvSpPr/>
          <p:nvPr/>
        </p:nvSpPr>
        <p:spPr>
          <a:xfrm>
            <a:off x="3026664" y="5779008"/>
            <a:ext cx="274320" cy="274320"/>
          </a:xfrm>
          <a:prstGeom prst="downArrow">
            <a:avLst/>
          </a:prstGeom>
          <a:solidFill>
            <a:srgbClr val="91A5B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8" name="S02.Prototype.Visibility"/>
          <p:cNvSpPr/>
          <p:nvPr/>
        </p:nvSpPr>
        <p:spPr>
          <a:xfrm>
            <a:off x="1920240" y="6071616"/>
            <a:ext cx="2487168" cy="365760"/>
          </a:xfrm>
          <a:prstGeom prst="roundRect">
            <a:avLst>
              <a:gd name="adj" fmla="val 15000"/>
            </a:avLst>
          </a:prstGeom>
          <a:solidFill>
            <a:srgbClr val="E0E7E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800" b="1">
                <a:solidFill>
                  <a:srgbClr val="183B56"/>
                </a:solidFill>
                <a:latin typeface="Arial"/>
                <a:ea typeface="Arial"/>
              </a:rPr>
              <a:t>Limited visibility</a:t>
            </a:r>
          </a:p>
        </p:txBody>
      </p:sp>
      <p:sp>
        <p:nvSpPr>
          <p:cNvPr id="100059" name="S02.Workflow.Run"/>
          <p:cNvSpPr/>
          <p:nvPr/>
        </p:nvSpPr>
        <p:spPr>
          <a:xfrm>
            <a:off x="6382512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008C9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Run</a:t>
            </a:r>
          </a:p>
        </p:txBody>
      </p:sp>
      <p:sp>
        <p:nvSpPr>
          <p:cNvPr id="100060" name="S02.Workflow.Pause"/>
          <p:cNvSpPr/>
          <p:nvPr/>
        </p:nvSpPr>
        <p:spPr>
          <a:xfrm>
            <a:off x="7470648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0D8"/>
          </a:solidFill>
          <a:ln w="15240">
            <a:solidFill>
              <a:srgbClr val="DF973E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Pause</a:t>
            </a:r>
          </a:p>
        </p:txBody>
      </p:sp>
      <p:sp>
        <p:nvSpPr>
          <p:cNvPr id="100061" name="S02.Workflow.Dump"/>
          <p:cNvSpPr/>
          <p:nvPr/>
        </p:nvSpPr>
        <p:spPr>
          <a:xfrm>
            <a:off x="8558784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008C9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Dump</a:t>
            </a:r>
          </a:p>
        </p:txBody>
      </p:sp>
      <p:sp>
        <p:nvSpPr>
          <p:cNvPr id="100062" name="S02.Workflow.Restore"/>
          <p:cNvSpPr/>
          <p:nvPr/>
        </p:nvSpPr>
        <p:spPr>
          <a:xfrm>
            <a:off x="9646920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008C9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Restore</a:t>
            </a:r>
          </a:p>
        </p:txBody>
      </p:sp>
      <p:sp>
        <p:nvSpPr>
          <p:cNvPr id="100063" name="S02.Workflow.Replay"/>
          <p:cNvSpPr/>
          <p:nvPr/>
        </p:nvSpPr>
        <p:spPr>
          <a:xfrm>
            <a:off x="10735056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008C9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Replay</a:t>
            </a:r>
          </a:p>
        </p:txBody>
      </p:sp>
      <p:cxnSp>
        <p:nvCxnSpPr>
          <p:cNvPr id="100064" name="S02.Workflow.RunToPause"/>
          <p:cNvCxnSpPr>
            <a:stCxn id="100059" idx="0"/>
            <a:endCxn id="100060" idx="0"/>
          </p:cNvCxnSpPr>
          <p:nvPr/>
        </p:nvCxnSpPr>
        <p:spPr>
          <a:xfrm>
            <a:off x="7333488" y="5308092"/>
            <a:ext cx="137160" cy="0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65" name="S02.Workflow.PauseToDump"/>
          <p:cNvCxnSpPr>
            <a:stCxn id="100060" idx="0"/>
            <a:endCxn id="100061" idx="0"/>
          </p:cNvCxnSpPr>
          <p:nvPr/>
        </p:nvCxnSpPr>
        <p:spPr>
          <a:xfrm>
            <a:off x="8421624" y="5308092"/>
            <a:ext cx="137160" cy="0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66" name="S02.Workflow.DumpToRestore"/>
          <p:cNvCxnSpPr>
            <a:stCxn id="100061" idx="0"/>
            <a:endCxn id="100062" idx="0"/>
          </p:cNvCxnSpPr>
          <p:nvPr/>
        </p:nvCxnSpPr>
        <p:spPr>
          <a:xfrm>
            <a:off x="9509760" y="5308092"/>
            <a:ext cx="137160" cy="0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67" name="S02.Workflow.RestoreToReplay"/>
          <p:cNvCxnSpPr>
            <a:stCxn id="100062" idx="0"/>
            <a:endCxn id="100063" idx="0"/>
          </p:cNvCxnSpPr>
          <p:nvPr/>
        </p:nvCxnSpPr>
        <p:spPr>
          <a:xfrm>
            <a:off x="10597896" y="5308092"/>
            <a:ext cx="137160" cy="0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68" name="S02.Workflow.ReturnTop"/>
          <p:cNvCxnSpPr/>
          <p:nvPr/>
        </p:nvCxnSpPr>
        <p:spPr>
          <a:xfrm>
            <a:off x="6858000" y="4773168"/>
            <a:ext cx="4352544" cy="0"/>
          </a:xfrm>
          <a:prstGeom prst="straightConnector1">
            <a:avLst/>
          </a:prstGeom>
          <a:ln w="31750">
            <a:solidFill>
              <a:srgbClr val="DF973E"/>
            </a:solidFill>
          </a:ln>
        </p:spPr>
      </p:cxnSp>
      <p:cxnSp>
        <p:nvCxnSpPr>
          <p:cNvPr id="100069" name="S02.Workflow.ReturnRight"/>
          <p:cNvCxnSpPr/>
          <p:nvPr/>
        </p:nvCxnSpPr>
        <p:spPr>
          <a:xfrm>
            <a:off x="11210544" y="4773168"/>
            <a:ext cx="0" cy="301752"/>
          </a:xfrm>
          <a:prstGeom prst="straightConnector1">
            <a:avLst/>
          </a:prstGeom>
          <a:ln w="31750">
            <a:solidFill>
              <a:srgbClr val="DF973E"/>
            </a:solidFill>
          </a:ln>
        </p:spPr>
      </p:cxnSp>
      <p:cxnSp>
        <p:nvCxnSpPr>
          <p:cNvPr id="100070" name="S02.Workflow.ReturnLeft"/>
          <p:cNvCxnSpPr/>
          <p:nvPr/>
        </p:nvCxnSpPr>
        <p:spPr>
          <a:xfrm>
            <a:off x="6858000" y="4773168"/>
            <a:ext cx="0" cy="301752"/>
          </a:xfrm>
          <a:prstGeom prst="straightConnector1">
            <a:avLst/>
          </a:prstGeom>
          <a:ln w="31750">
            <a:solidFill>
              <a:srgbClr val="DF973E"/>
            </a:solidFill>
            <a:tailEnd type="triangle"/>
          </a:ln>
        </p:spPr>
      </p:cxnSp>
      <p:pic>
        <p:nvPicPr>
          <p:cNvPr id="100071" name="S02.Workflow.Snapshot" descr="Global snapshot"/>
          <p:cNvPicPr>
            <a:picLocks noChangeAspect="1"/>
          </p:cNvPicPr>
          <p:nvPr/>
        </p:nvPicPr>
        <p:blipFill>
          <a:blip xmlns:r="http://schemas.openxmlformats.org/officeDocument/2006/relationships" r:embed="R06b9cb7189594a8c"/>
          <a:srcRect l="16746" t="16427" r="16746" b="11961"/>
          <a:stretch>
            <a:fillRect/>
          </a:stretch>
        </p:blipFill>
        <p:spPr>
          <a:xfrm>
            <a:off x="8782812" y="5742432"/>
            <a:ext cx="502920" cy="541513"/>
          </a:xfrm>
          <a:prstGeom prst="rect">
            <a:avLst/>
          </a:prstGeom>
        </p:spPr>
      </p:pic>
      <p:pic>
        <p:nvPicPr>
          <p:cNvPr id="100072" name="S02.Workflow.Waveform" descr="Waveform monitor"/>
          <p:cNvPicPr>
            <a:picLocks noChangeAspect="1"/>
          </p:cNvPicPr>
          <p:nvPr/>
        </p:nvPicPr>
        <p:blipFill>
          <a:blip xmlns:r="http://schemas.openxmlformats.org/officeDocument/2006/relationships" r:embed="Rae391927d5594dca"/>
          <a:srcRect l="12280" t="25518" r="12200" b="19936"/>
          <a:stretch>
            <a:fillRect/>
          </a:stretch>
        </p:blipFill>
        <p:spPr>
          <a:xfrm>
            <a:off x="10844784" y="5751576"/>
            <a:ext cx="731520" cy="528363"/>
          </a:xfrm>
          <a:prstGeom prst="rect">
            <a:avLst/>
          </a:prstGeom>
        </p:spPr>
      </p:pic>
      <p:cxnSp>
        <p:nvCxnSpPr>
          <p:cNvPr id="100073" name="S02.Workflow.DumpOutput"/>
          <p:cNvCxnSpPr>
            <a:stCxn id="100061" idx="0"/>
            <a:endCxn id="100071" idx="0"/>
          </p:cNvCxnSpPr>
          <p:nvPr/>
        </p:nvCxnSpPr>
        <p:spPr>
          <a:xfrm>
            <a:off x="9034272" y="5541264"/>
            <a:ext cx="0" cy="201168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74" name="S02.Workflow.ReplayOutput"/>
          <p:cNvCxnSpPr>
            <a:stCxn id="100063" idx="0"/>
            <a:endCxn id="100072" idx="0"/>
          </p:cNvCxnSpPr>
          <p:nvPr/>
        </p:nvCxnSpPr>
        <p:spPr>
          <a:xfrm>
            <a:off x="11210544" y="5541264"/>
            <a:ext cx="0" cy="210312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sp>
        <p:nvSpPr>
          <p:cNvPr id="100075" name="S02.Workflow.SnapshotLabel"/>
          <p:cNvSpPr txBox="1"/>
          <p:nvPr/>
        </p:nvSpPr>
        <p:spPr>
          <a:xfrm>
            <a:off x="8119872" y="6336792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183B56"/>
                </a:solidFill>
                <a:latin typeface="Arial"/>
                <a:ea typeface="Arial"/>
              </a:rPr>
              <a:t>Global snapshot</a:t>
            </a:r>
          </a:p>
        </p:txBody>
      </p:sp>
      <p:sp>
        <p:nvSpPr>
          <p:cNvPr id="100076" name="S02.Workflow.WaveformLabel"/>
          <p:cNvSpPr txBox="1"/>
          <p:nvPr/>
        </p:nvSpPr>
        <p:spPr>
          <a:xfrm>
            <a:off x="10625328" y="6336792"/>
            <a:ext cx="1170432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183B56"/>
                </a:solidFill>
                <a:latin typeface="Arial"/>
                <a:ea typeface="Arial"/>
              </a:rPr>
              <a:t>Waveform</a:t>
            </a:r>
          </a:p>
        </p:txBody>
      </p:sp>
      <p:sp>
        <p:nvSpPr>
          <p:cNvPr id="100077" name="S02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078" name="S02.Prototype.DoubleArrow1"/>
          <p:cNvSpPr/>
          <p:nvPr/>
        </p:nvSpPr>
        <p:spPr>
          <a:xfrm>
            <a:off x="1892103" y="5152629"/>
            <a:ext cx="829549" cy="287803"/>
          </a:xfrm>
          <a:prstGeom prst="leftRightArrow">
            <a:avLst>
              <a:gd name="adj1" fmla="val 44000"/>
              <a:gd name="adj2" fmla="val 28000"/>
            </a:avLst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defRPr sz="1800">
                <a:solidFill>
                  <a:srgbClr val="20354A"/>
                </a:solidFill>
                <a:latin typeface="Arial"/>
                <a:ea typeface="Arial"/>
              </a:defRPr>
            </a:pPr>
            <a:endParaRPr sz="1800"/>
          </a:p>
        </p:txBody>
      </p:sp>
      <p:sp>
        <p:nvSpPr>
          <p:cNvPr id="100079" name="S02.Prototype.DoubleArrow2"/>
          <p:cNvSpPr/>
          <p:nvPr/>
        </p:nvSpPr>
        <p:spPr>
          <a:xfrm>
            <a:off x="3641867" y="5164190"/>
            <a:ext cx="829549" cy="287803"/>
          </a:xfrm>
          <a:prstGeom prst="leftRightArrow">
            <a:avLst>
              <a:gd name="adj1" fmla="val 44000"/>
              <a:gd name="adj2" fmla="val 28000"/>
            </a:avLst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defRPr sz="1800">
                <a:solidFill>
                  <a:srgbClr val="20354A"/>
                </a:solidFill>
                <a:latin typeface="Arial"/>
                <a:ea typeface="Arial"/>
              </a:defRPr>
            </a:pPr>
            <a:endParaRPr sz="1800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OfficeCLI/1.0.156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2026-10-29T08:00:55.0000000Z</dcterms:created>
  <lastModifiedBy>OfficeCLI</lastModifiedBy>
  <dcterms:modified xsi:type="dcterms:W3CDTF">2026-10-29T08:00:55.8841847Z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1.0.156</vt:lpwstr>
  </op:property>
  <op:property fmtid="{D5CDD505-2E9C-101B-9397-08002B2CF9AE}" pid="3" name="OfficeCLI.LastModified">
    <vt:lpwstr xmlns:vt="http://schemas.openxmlformats.org/officeDocument/2006/docPropsVTypes">2026-10-29T08:00:59Z</vt:lpwstr>
  </op:property>
</op:Properties>
</file>