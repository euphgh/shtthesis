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7e1b474869a49ea" /><Relationship Type="http://schemas.openxmlformats.org/package/2006/relationships/metadata/core-properties" Target="/docProps/core.xml" Id="R66ec7e9806324441" /><Relationship Type="http://schemas.openxmlformats.org/officeDocument/2006/relationships/extended-properties" Target="/docProps/app.xml" Id="R0bc4f4e3ed494f33" /><Relationship Type="http://schemas.openxmlformats.org/officeDocument/2006/relationships/custom-properties" Target="/docProps/custom.xml" Id="R6090c1e5e7874d8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7ba4aafce6941da"/>
  </p:notesMasterIdLst>
  <p:sldIdLst>
    <p:sldId id="256" r:id="R990d13f867e248e8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90d13f867e248e8" /><Relationship Type="http://schemas.openxmlformats.org/officeDocument/2006/relationships/notesMaster" Target="/ppt/notesMasters/notesMaster1.xml" Id="R37ba4aafce69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ba8239649d493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70AD47"/>
      </a:accent2>
      <a:accent3>
        <a:srgbClr val="ED7D3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5c691c4c8d478a" /><Relationship Type="http://schemas.openxmlformats.org/officeDocument/2006/relationships/slide" Target="/ppt/slides/slide1.xml" Id="R05a78ac3d4a0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Contrast typical prototyping strengths and common debug limitations with the target capabilities of replayable multi-FPGA emulation. This is a research motivation slide, not a completed-feature checklist or an empirical comparison of every prototyping system. The right panel and workflow express goals; REMUS implementation and validation status are reported later. Dump represents collection and aggregation of distributed state into a global snapshot. Restore and replay are conceptual stages; execution backends and correctness conditions are explained on the technical slides. The return loop represents another debugging iteration. Layout reference: figure/presentation-reference/midterm-background-02.png.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16b49128c46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a68d0fd2c4d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0d5f0007748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7f6c1ac894f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10f3cd8e2448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dfd91cb6c9344e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84296f52845a9" /><Relationship Type="http://schemas.openxmlformats.org/officeDocument/2006/relationships/image" Target="/ppt/media/image.png" Id="R2b5bcdc1cc204cdc" /><Relationship Type="http://schemas.openxmlformats.org/officeDocument/2006/relationships/image" Target="/ppt/media/image2.png" Id="R58991dd1a8734a0c" /><Relationship Type="http://schemas.openxmlformats.org/officeDocument/2006/relationships/image" Target="/ppt/media/image3.png" Id="R1b87f958a0e34152" /><Relationship Type="http://schemas.openxmlformats.org/officeDocument/2006/relationships/image" Target="/ppt/media/image4.png" Id="Rca8d711229c54dae" /><Relationship Type="http://schemas.openxmlformats.org/officeDocument/2006/relationships/image" Target="/ppt/media/image5.png" Id="Ra9805e5300c141aa" /><Relationship Type="http://schemas.openxmlformats.org/officeDocument/2006/relationships/notesSlide" Target="/ppt/notesSlides/notesSlide1.xml" Id="R60c2763edc2f4c9d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xmlns:a="http://schemas.openxmlformats.org/drawingml/2006/main" xmlns:p="http://schemas.openxmlformats.org/presentationml/2006/main" xmlns:r="http://schemas.openxmlformats.org/officeDocument/2006/relationships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2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>
            <a:pPr algn="l">
              <a:lnSpc>
                <a:spcPct val="90000"/>
              </a:lnSpc>
              <a:defRPr sz="3000" b="1">
                <a:solidFill>
                  <a:srgbClr val="C00000"/>
                </a:solidFill>
                <a:latin typeface="Arial"/>
                <a:ea typeface="Arial"/>
              </a:defRPr>
            </a:pPr>
            <a:r>
              <a:rPr sz="3000" b="1">
                <a:solidFill>
                  <a:srgbClr val="C00000"/>
                </a:solidFill>
                <a:latin typeface="Arial"/>
              </a:rPr>
              <a:t>Motivation: Multi-FPGA Prototyping Is Fast, but Hard to Debug</a:t>
            </a:r>
          </a:p>
        </p:txBody>
      </p:sp>
      <p:sp>
        <p:nvSpPr>
          <p:cNvPr id="100000" name="S02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C55A11"/>
              </a:solidFill>
              <a:latin typeface="Arial"/>
              <a:ea typeface="Arial"/>
            </a:endParaRPr>
          </a:p>
        </p:txBody>
      </p:sp>
      <p:sp>
        <p:nvSpPr>
          <p:cNvPr id="100001" name="S02.Prototype.Panel"/>
          <p:cNvSpPr/>
          <p:nvPr/>
        </p:nvSpPr>
        <p:spPr>
          <a:xfrm>
            <a:off x="320040" y="969264"/>
            <a:ext cx="5687568" cy="5605272"/>
          </a:xfrm>
          <a:prstGeom prst="roundRect">
            <a:avLst>
              <a:gd name="adj" fmla="val 3000"/>
            </a:avLst>
          </a:prstGeom>
          <a:solidFill>
            <a:srgbClr val="FFF3E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02" name="S02.Prototype.Heading"/>
          <p:cNvSpPr txBox="1"/>
          <p:nvPr/>
        </p:nvSpPr>
        <p:spPr>
          <a:xfrm>
            <a:off x="502920" y="120700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2200" b="1">
                <a:solidFill>
                  <a:srgbClr val="333333"/>
                </a:solidFill>
                <a:latin typeface="Arial"/>
                <a:ea typeface="Arial"/>
              </a:rPr>
              <a:t>Multi-FPGA Prototyping</a:t>
            </a:r>
          </a:p>
        </p:txBody>
      </p:sp>
      <p:sp>
        <p:nvSpPr>
          <p:cNvPr id="100004" name="S02.Prototype.Divider"/>
          <p:cNvSpPr/>
          <p:nvPr/>
        </p:nvSpPr>
        <p:spPr>
          <a:xfrm>
            <a:off x="530352" y="4453128"/>
            <a:ext cx="5266944" cy="10973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05" name="S02.Replay.Panel"/>
          <p:cNvSpPr/>
          <p:nvPr/>
        </p:nvSpPr>
        <p:spPr>
          <a:xfrm>
            <a:off x="6190488" y="969264"/>
            <a:ext cx="5687568" cy="5605272"/>
          </a:xfrm>
          <a:prstGeom prst="roundRect">
            <a:avLst>
              <a:gd name="adj" fmla="val 3000"/>
            </a:avLst>
          </a:prstGeom>
          <a:solidFill>
            <a:srgbClr val="F1F7EC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06" name="S02.Replay.Heading"/>
          <p:cNvSpPr txBox="1"/>
          <p:nvPr/>
        </p:nvSpPr>
        <p:spPr>
          <a:xfrm>
            <a:off x="6373368" y="120700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Arial"/>
                <a:ea typeface="Arial"/>
              </a:defRPr>
            </a:pPr>
            <a:r>
              <a:rPr lang="en-US" sz="2200" b="1">
                <a:solidFill>
                  <a:srgbClr val="333333"/>
                </a:solidFill>
                <a:latin typeface="Arial"/>
              </a:rPr>
              <a:t>Replayable</a:t>
            </a:r>
            <a:r>
              <a:rPr lang="en-US" sz="2200" b="1">
                <a:solidFill>
                  <a:srgbClr val="333333"/>
                </a:solidFill>
                <a:latin typeface="Arial"/>
              </a:rPr>
              <a:t xml:space="preserve"> Multi-FPGA Emulation</a:t>
            </a:r>
          </a:p>
        </p:txBody>
      </p:sp>
      <p:sp>
        <p:nvSpPr>
          <p:cNvPr id="100008" name="S02.Replay.Divider"/>
          <p:cNvSpPr/>
          <p:nvPr/>
        </p:nvSpPr>
        <p:spPr>
          <a:xfrm>
            <a:off x="6400800" y="4453128"/>
            <a:ext cx="5266944" cy="10973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09" name="S02.Prototype.Item1.Badge"/>
          <p:cNvSpPr/>
          <p:nvPr/>
        </p:nvSpPr>
        <p:spPr>
          <a:xfrm>
            <a:off x="795528" y="1887885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0" name="S02.Prototype.Item1.CheckShort"/>
          <p:cNvSpPr/>
          <p:nvPr/>
        </p:nvSpPr>
        <p:spPr>
          <a:xfrm rot="2700000">
            <a:off x="868680" y="2047905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1" name="S02.Prototype.Item1.CheckLong"/>
          <p:cNvSpPr/>
          <p:nvPr/>
        </p:nvSpPr>
        <p:spPr>
          <a:xfrm rot="18900000">
            <a:off x="909828" y="2022302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2" name="S02.Prototype.Text1"/>
          <p:cNvSpPr txBox="1"/>
          <p:nvPr/>
        </p:nvSpPr>
        <p:spPr>
          <a:xfrm>
            <a:off x="1280160" y="189062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Large design capacity</a:t>
            </a:r>
          </a:p>
        </p:txBody>
      </p:sp>
      <p:sp>
        <p:nvSpPr>
          <p:cNvPr id="100013" name="S02.Prototype.Item2.Badge"/>
          <p:cNvSpPr/>
          <p:nvPr/>
        </p:nvSpPr>
        <p:spPr>
          <a:xfrm>
            <a:off x="795528" y="2345085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4" name="S02.Prototype.Item2.CheckShort"/>
          <p:cNvSpPr/>
          <p:nvPr/>
        </p:nvSpPr>
        <p:spPr>
          <a:xfrm rot="2700000">
            <a:off x="868680" y="2505105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5" name="S02.Prototype.Item2.CheckLong"/>
          <p:cNvSpPr/>
          <p:nvPr/>
        </p:nvSpPr>
        <p:spPr>
          <a:xfrm rot="18900000">
            <a:off x="909828" y="2479502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6" name="S02.Prototype.Text2"/>
          <p:cNvSpPr txBox="1"/>
          <p:nvPr/>
        </p:nvSpPr>
        <p:spPr>
          <a:xfrm>
            <a:off x="1280160" y="234782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High execution speed</a:t>
            </a:r>
          </a:p>
        </p:txBody>
      </p:sp>
      <p:sp>
        <p:nvSpPr>
          <p:cNvPr id="100017" name="S02.Prototype.Item3.Badge"/>
          <p:cNvSpPr/>
          <p:nvPr/>
        </p:nvSpPr>
        <p:spPr>
          <a:xfrm>
            <a:off x="795528" y="2802285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8" name="S02.Prototype.Item3.CheckShort"/>
          <p:cNvSpPr/>
          <p:nvPr/>
        </p:nvSpPr>
        <p:spPr>
          <a:xfrm rot="2700000">
            <a:off x="868680" y="2962305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19" name="S02.Prototype.Item3.CheckLong"/>
          <p:cNvSpPr/>
          <p:nvPr/>
        </p:nvSpPr>
        <p:spPr>
          <a:xfrm rot="18900000">
            <a:off x="909828" y="2936702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0" name="S02.Prototype.Text3"/>
          <p:cNvSpPr txBox="1"/>
          <p:nvPr/>
        </p:nvSpPr>
        <p:spPr>
          <a:xfrm>
            <a:off x="1280160" y="280502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Long software workloads</a:t>
            </a:r>
          </a:p>
        </p:txBody>
      </p:sp>
      <p:sp>
        <p:nvSpPr>
          <p:cNvPr id="100021" name="S02.Prototype.Item4.Badge"/>
          <p:cNvSpPr/>
          <p:nvPr/>
        </p:nvSpPr>
        <p:spPr>
          <a:xfrm>
            <a:off x="795528" y="3259485"/>
            <a:ext cx="310896" cy="310896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2" name="S02.Prototype.Item4.Minus"/>
          <p:cNvSpPr/>
          <p:nvPr/>
        </p:nvSpPr>
        <p:spPr>
          <a:xfrm>
            <a:off x="868680" y="3395731"/>
            <a:ext cx="16459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3" name="S02.Prototype.Text4"/>
          <p:cNvSpPr txBox="1"/>
          <p:nvPr/>
        </p:nvSpPr>
        <p:spPr>
          <a:xfrm>
            <a:off x="1280160" y="326222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Limited visibility</a:t>
            </a:r>
          </a:p>
        </p:txBody>
      </p:sp>
      <p:sp>
        <p:nvSpPr>
          <p:cNvPr id="100024" name="S02.Prototype.Item5.Badge"/>
          <p:cNvSpPr/>
          <p:nvPr/>
        </p:nvSpPr>
        <p:spPr>
          <a:xfrm>
            <a:off x="795528" y="3716685"/>
            <a:ext cx="310896" cy="310896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5" name="S02.Prototype.Item5.Minus"/>
          <p:cNvSpPr/>
          <p:nvPr/>
        </p:nvSpPr>
        <p:spPr>
          <a:xfrm>
            <a:off x="868680" y="3852931"/>
            <a:ext cx="16459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6" name="S02.Prototype.Text5"/>
          <p:cNvSpPr txBox="1"/>
          <p:nvPr/>
        </p:nvSpPr>
        <p:spPr>
          <a:xfrm>
            <a:off x="1280160" y="371942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Limited full-state replay</a:t>
            </a:r>
          </a:p>
        </p:txBody>
      </p:sp>
      <p:sp>
        <p:nvSpPr>
          <p:cNvPr id="100027" name="S02.Replay.Item1.Badge"/>
          <p:cNvSpPr/>
          <p:nvPr/>
        </p:nvSpPr>
        <p:spPr>
          <a:xfrm>
            <a:off x="6640656" y="1887881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8" name="S02.Replay.Item1.CheckShort"/>
          <p:cNvSpPr/>
          <p:nvPr/>
        </p:nvSpPr>
        <p:spPr>
          <a:xfrm rot="2700000">
            <a:off x="6713808" y="2047901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29" name="S02.Replay.Item1.CheckLong"/>
          <p:cNvSpPr/>
          <p:nvPr/>
        </p:nvSpPr>
        <p:spPr>
          <a:xfrm rot="18900000">
            <a:off x="6754956" y="2022298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0" name="S02.Replay.Text1"/>
          <p:cNvSpPr txBox="1"/>
          <p:nvPr/>
        </p:nvSpPr>
        <p:spPr>
          <a:xfrm>
            <a:off x="7125288" y="189062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Run large RTL designs</a:t>
            </a:r>
          </a:p>
        </p:txBody>
      </p:sp>
      <p:sp>
        <p:nvSpPr>
          <p:cNvPr id="100031" name="S02.Replay.Item2.Badge"/>
          <p:cNvSpPr/>
          <p:nvPr/>
        </p:nvSpPr>
        <p:spPr>
          <a:xfrm>
            <a:off x="6640656" y="2281073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2" name="S02.Replay.Item2.CheckShort"/>
          <p:cNvSpPr/>
          <p:nvPr/>
        </p:nvSpPr>
        <p:spPr>
          <a:xfrm rot="2700000">
            <a:off x="6713808" y="2441093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3" name="S02.Replay.Item2.CheckLong"/>
          <p:cNvSpPr/>
          <p:nvPr/>
        </p:nvSpPr>
        <p:spPr>
          <a:xfrm rot="18900000">
            <a:off x="6754956" y="2415490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4" name="S02.Replay.Text2"/>
          <p:cNvSpPr txBox="1"/>
          <p:nvPr/>
        </p:nvSpPr>
        <p:spPr>
          <a:xfrm>
            <a:off x="7125288" y="2283816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Cycle-consistent global pause</a:t>
            </a:r>
          </a:p>
        </p:txBody>
      </p:sp>
      <p:sp>
        <p:nvSpPr>
          <p:cNvPr id="100035" name="S02.Replay.Item3.Badge"/>
          <p:cNvSpPr/>
          <p:nvPr/>
        </p:nvSpPr>
        <p:spPr>
          <a:xfrm>
            <a:off x="6640656" y="2674265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6" name="S02.Replay.Item3.CheckShort"/>
          <p:cNvSpPr/>
          <p:nvPr/>
        </p:nvSpPr>
        <p:spPr>
          <a:xfrm rot="2700000">
            <a:off x="6713808" y="2834285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7" name="S02.Replay.Item3.CheckLong"/>
          <p:cNvSpPr/>
          <p:nvPr/>
        </p:nvSpPr>
        <p:spPr>
          <a:xfrm rot="18900000">
            <a:off x="6754956" y="2808682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38" name="S02.Replay.Text3"/>
          <p:cNvSpPr txBox="1"/>
          <p:nvPr/>
        </p:nvSpPr>
        <p:spPr>
          <a:xfrm>
            <a:off x="7125288" y="267700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Full-state extraction</a:t>
            </a:r>
          </a:p>
        </p:txBody>
      </p:sp>
      <p:sp>
        <p:nvSpPr>
          <p:cNvPr id="100039" name="S02.Replay.Item4.Badge"/>
          <p:cNvSpPr/>
          <p:nvPr/>
        </p:nvSpPr>
        <p:spPr>
          <a:xfrm>
            <a:off x="6640656" y="3067457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0" name="S02.Replay.Item4.CheckShort"/>
          <p:cNvSpPr/>
          <p:nvPr/>
        </p:nvSpPr>
        <p:spPr>
          <a:xfrm rot="2700000">
            <a:off x="6713808" y="3227477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1" name="S02.Replay.Item4.CheckLong"/>
          <p:cNvSpPr/>
          <p:nvPr/>
        </p:nvSpPr>
        <p:spPr>
          <a:xfrm rot="18900000">
            <a:off x="6754956" y="3201874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2" name="S02.Replay.Text4"/>
          <p:cNvSpPr txBox="1"/>
          <p:nvPr/>
        </p:nvSpPr>
        <p:spPr>
          <a:xfrm>
            <a:off x="7125288" y="3084268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State restore</a:t>
            </a:r>
          </a:p>
        </p:txBody>
      </p:sp>
      <p:sp>
        <p:nvSpPr>
          <p:cNvPr id="100043" name="S02.Replay.Item5.Badge"/>
          <p:cNvSpPr/>
          <p:nvPr/>
        </p:nvSpPr>
        <p:spPr>
          <a:xfrm>
            <a:off x="6640656" y="3460649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4" name="S02.Replay.Item5.CheckShort"/>
          <p:cNvSpPr/>
          <p:nvPr/>
        </p:nvSpPr>
        <p:spPr>
          <a:xfrm rot="2700000">
            <a:off x="6713808" y="3620669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5" name="S02.Replay.Item5.CheckLong"/>
          <p:cNvSpPr/>
          <p:nvPr/>
        </p:nvSpPr>
        <p:spPr>
          <a:xfrm rot="18900000">
            <a:off x="6754956" y="3595066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6" name="S02.Replay.Text5"/>
          <p:cNvSpPr txBox="1"/>
          <p:nvPr/>
        </p:nvSpPr>
        <p:spPr>
          <a:xfrm>
            <a:off x="7125288" y="3463392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Deterministic replay</a:t>
            </a:r>
          </a:p>
        </p:txBody>
      </p:sp>
      <p:sp>
        <p:nvSpPr>
          <p:cNvPr id="100047" name="S02.Replay.Item6.Badge"/>
          <p:cNvSpPr/>
          <p:nvPr/>
        </p:nvSpPr>
        <p:spPr>
          <a:xfrm>
            <a:off x="6640656" y="3853841"/>
            <a:ext cx="310896" cy="310896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8" name="S02.Replay.Item6.CheckShort"/>
          <p:cNvSpPr/>
          <p:nvPr/>
        </p:nvSpPr>
        <p:spPr>
          <a:xfrm rot="2700000">
            <a:off x="6713808" y="4013861"/>
            <a:ext cx="96012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49" name="S02.Replay.Item6.CheckLong"/>
          <p:cNvSpPr/>
          <p:nvPr/>
        </p:nvSpPr>
        <p:spPr>
          <a:xfrm rot="18900000">
            <a:off x="6754956" y="3988258"/>
            <a:ext cx="146304" cy="39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50" name="S02.Replay.Text6"/>
          <p:cNvSpPr txBox="1"/>
          <p:nvPr/>
        </p:nvSpPr>
        <p:spPr>
          <a:xfrm>
            <a:off x="7125288" y="3856584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00">
                <a:solidFill>
                  <a:srgbClr val="1F1F1F"/>
                </a:solidFill>
                <a:latin typeface="Arial"/>
                <a:ea typeface="Arial"/>
              </a:rPr>
              <a:t>Waveform reconstruction</a:t>
            </a:r>
          </a:p>
        </p:txBody>
      </p:sp>
      <p:pic>
        <p:nvPicPr>
          <p:cNvPr id="100051" name="S02.Prototype.FPGA1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2b5bcdc1cc204cdc"/>
          <a:srcRect l="21371" t="23684" r="21291" b="20972"/>
          <a:stretch>
            <a:fillRect/>
          </a:stretch>
        </p:blipFill>
        <p:spPr>
          <a:xfrm>
            <a:off x="996696" y="4901184"/>
            <a:ext cx="859536" cy="829650"/>
          </a:xfrm>
          <a:prstGeom prst="rect">
            <a:avLst/>
          </a:prstGeom>
        </p:spPr>
      </p:pic>
      <p:pic>
        <p:nvPicPr>
          <p:cNvPr id="100052" name="S02.Prototype.FPGA2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58991dd1a8734a0c"/>
          <a:srcRect l="21371" t="23684" r="21291" b="20972"/>
          <a:stretch>
            <a:fillRect/>
          </a:stretch>
        </p:blipFill>
        <p:spPr>
          <a:xfrm>
            <a:off x="2734056" y="4901184"/>
            <a:ext cx="859536" cy="829650"/>
          </a:xfrm>
          <a:prstGeom prst="rect">
            <a:avLst/>
          </a:prstGeom>
        </p:spPr>
      </p:pic>
      <p:pic>
        <p:nvPicPr>
          <p:cNvPr id="100053" name="S02.Prototype.FPGA3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1b87f958a0e34152"/>
          <a:srcRect l="21371" t="23684" r="21291" b="20972"/>
          <a:stretch>
            <a:fillRect/>
          </a:stretch>
        </p:blipFill>
        <p:spPr>
          <a:xfrm>
            <a:off x="4471416" y="4901184"/>
            <a:ext cx="859536" cy="829650"/>
          </a:xfrm>
          <a:prstGeom prst="rect">
            <a:avLst/>
          </a:prstGeom>
        </p:spPr>
      </p:pic>
      <p:sp>
        <p:nvSpPr>
          <p:cNvPr id="100054" name="S02.Prototype.Run"/>
          <p:cNvSpPr txBox="1"/>
          <p:nvPr/>
        </p:nvSpPr>
        <p:spPr>
          <a:xfrm>
            <a:off x="2432304" y="45994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800" b="1">
                <a:solidFill>
                  <a:srgbClr val="333333"/>
                </a:solidFill>
                <a:latin typeface="Arial"/>
                <a:ea typeface="Arial"/>
              </a:rPr>
              <a:t>Run</a:t>
            </a:r>
          </a:p>
        </p:txBody>
      </p:sp>
      <p:sp>
        <p:nvSpPr>
          <p:cNvPr id="100057" name="S02.Prototype.VisibilityArrow"/>
          <p:cNvSpPr/>
          <p:nvPr/>
        </p:nvSpPr>
        <p:spPr>
          <a:xfrm>
            <a:off x="3026664" y="5779008"/>
            <a:ext cx="274320" cy="274320"/>
          </a:xfrm>
          <a:prstGeom prst="downArrow">
            <a:avLst/>
          </a:prstGeom>
          <a:solidFill>
            <a:srgbClr val="A0A0A0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1F1F1F"/>
              </a:solidFill>
              <a:latin typeface="Arial"/>
              <a:ea typeface="Arial"/>
            </a:endParaRPr>
          </a:p>
        </p:txBody>
      </p:sp>
      <p:sp>
        <p:nvSpPr>
          <p:cNvPr id="100058" name="S02.Prototype.Visibility"/>
          <p:cNvSpPr/>
          <p:nvPr/>
        </p:nvSpPr>
        <p:spPr>
          <a:xfrm>
            <a:off x="1920240" y="6071616"/>
            <a:ext cx="2487168" cy="365760"/>
          </a:xfrm>
          <a:prstGeom prst="roundRect">
            <a:avLst>
              <a:gd name="adj" fmla="val 15000"/>
            </a:avLst>
          </a:prstGeom>
          <a:solidFill>
            <a:srgbClr val="E5E5E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 b="1">
                <a:solidFill>
                  <a:srgbClr val="333333"/>
                </a:solidFill>
                <a:latin typeface="Arial"/>
                <a:ea typeface="Arial"/>
              </a:rPr>
              <a:t>Limited visibility</a:t>
            </a:r>
          </a:p>
        </p:txBody>
      </p:sp>
      <p:sp>
        <p:nvSpPr>
          <p:cNvPr id="100059" name="S02.Workflow.Run"/>
          <p:cNvSpPr/>
          <p:nvPr/>
        </p:nvSpPr>
        <p:spPr>
          <a:xfrm>
            <a:off x="6382512" y="5074920"/>
            <a:ext cx="950976" cy="4663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333333"/>
                </a:solidFill>
                <a:latin typeface="Arial"/>
                <a:ea typeface="Arial"/>
              </a:rPr>
              <a:t>Run</a:t>
            </a:r>
          </a:p>
        </p:txBody>
      </p:sp>
      <p:sp>
        <p:nvSpPr>
          <p:cNvPr id="100060" name="S02.Workflow.Pause"/>
          <p:cNvSpPr/>
          <p:nvPr/>
        </p:nvSpPr>
        <p:spPr>
          <a:xfrm>
            <a:off x="7470648" y="5074920"/>
            <a:ext cx="950976" cy="466344"/>
          </a:xfrm>
          <a:prstGeom prst="roundRect">
            <a:avLst>
              <a:gd name="adj" fmla="val 14000"/>
            </a:avLst>
          </a:prstGeom>
          <a:solidFill>
            <a:srgbClr val="FFF3EF"/>
          </a:solidFill>
          <a:ln w="15240">
            <a:solidFill>
              <a:srgbClr val="ED7D31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333333"/>
                </a:solidFill>
                <a:latin typeface="Arial"/>
                <a:ea typeface="Arial"/>
              </a:rPr>
              <a:t>Pause</a:t>
            </a:r>
          </a:p>
        </p:txBody>
      </p:sp>
      <p:sp>
        <p:nvSpPr>
          <p:cNvPr id="100061" name="S02.Workflow.Dump"/>
          <p:cNvSpPr/>
          <p:nvPr/>
        </p:nvSpPr>
        <p:spPr>
          <a:xfrm>
            <a:off x="8558784" y="5074920"/>
            <a:ext cx="950976" cy="4663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333333"/>
                </a:solidFill>
                <a:latin typeface="Arial"/>
                <a:ea typeface="Arial"/>
              </a:rPr>
              <a:t>Dump</a:t>
            </a:r>
          </a:p>
        </p:txBody>
      </p:sp>
      <p:sp>
        <p:nvSpPr>
          <p:cNvPr id="100062" name="S02.Workflow.Restore"/>
          <p:cNvSpPr/>
          <p:nvPr/>
        </p:nvSpPr>
        <p:spPr>
          <a:xfrm>
            <a:off x="9646920" y="5074920"/>
            <a:ext cx="950976" cy="4663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333333"/>
                </a:solidFill>
                <a:latin typeface="Arial"/>
                <a:ea typeface="Arial"/>
              </a:rPr>
              <a:t>Restore</a:t>
            </a:r>
          </a:p>
        </p:txBody>
      </p:sp>
      <p:sp>
        <p:nvSpPr>
          <p:cNvPr id="100063" name="S02.Workflow.Replay"/>
          <p:cNvSpPr/>
          <p:nvPr/>
        </p:nvSpPr>
        <p:spPr>
          <a:xfrm>
            <a:off x="10735056" y="5074920"/>
            <a:ext cx="950976" cy="4663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600" b="1">
                <a:solidFill>
                  <a:srgbClr val="333333"/>
                </a:solidFill>
                <a:latin typeface="Arial"/>
                <a:ea typeface="Arial"/>
              </a:rPr>
              <a:t>Replay</a:t>
            </a:r>
          </a:p>
        </p:txBody>
      </p:sp>
      <p:cxnSp>
        <p:nvCxnSpPr>
          <p:cNvPr id="100064" name="S02.Workflow.RunToPause"/>
          <p:cNvCxnSpPr>
            <a:stCxn id="100059" idx="0"/>
            <a:endCxn id="100060" idx="0"/>
          </p:cNvCxnSpPr>
          <p:nvPr/>
        </p:nvCxnSpPr>
        <p:spPr>
          <a:xfrm>
            <a:off x="7333488" y="5308092"/>
            <a:ext cx="137160" cy="0"/>
          </a:xfrm>
          <a:prstGeom prst="straightConnector1">
            <a:avLst/>
          </a:prstGeom>
          <a:ln w="22860">
            <a:solidFill>
              <a:srgbClr val="333333"/>
            </a:solidFill>
            <a:tailEnd type="triangle"/>
          </a:ln>
        </p:spPr>
      </p:cxnSp>
      <p:cxnSp>
        <p:nvCxnSpPr>
          <p:cNvPr id="100065" name="S02.Workflow.PauseToDump"/>
          <p:cNvCxnSpPr>
            <a:stCxn id="100060" idx="0"/>
            <a:endCxn id="100061" idx="0"/>
          </p:cNvCxnSpPr>
          <p:nvPr/>
        </p:nvCxnSpPr>
        <p:spPr>
          <a:xfrm>
            <a:off x="8421624" y="5308092"/>
            <a:ext cx="137160" cy="0"/>
          </a:xfrm>
          <a:prstGeom prst="straightConnector1">
            <a:avLst/>
          </a:prstGeom>
          <a:ln w="22860">
            <a:solidFill>
              <a:srgbClr val="333333"/>
            </a:solidFill>
            <a:tailEnd type="triangle"/>
          </a:ln>
        </p:spPr>
      </p:cxnSp>
      <p:cxnSp>
        <p:nvCxnSpPr>
          <p:cNvPr id="100066" name="S02.Workflow.DumpToRestore"/>
          <p:cNvCxnSpPr>
            <a:stCxn id="100061" idx="0"/>
            <a:endCxn id="100062" idx="0"/>
          </p:cNvCxnSpPr>
          <p:nvPr/>
        </p:nvCxnSpPr>
        <p:spPr>
          <a:xfrm>
            <a:off x="9509760" y="5308092"/>
            <a:ext cx="137160" cy="0"/>
          </a:xfrm>
          <a:prstGeom prst="straightConnector1">
            <a:avLst/>
          </a:prstGeom>
          <a:ln w="22860">
            <a:solidFill>
              <a:srgbClr val="333333"/>
            </a:solidFill>
            <a:tailEnd type="triangle"/>
          </a:ln>
        </p:spPr>
      </p:cxnSp>
      <p:cxnSp>
        <p:nvCxnSpPr>
          <p:cNvPr id="100067" name="S02.Workflow.RestoreToReplay"/>
          <p:cNvCxnSpPr>
            <a:stCxn id="100062" idx="0"/>
            <a:endCxn id="100063" idx="0"/>
          </p:cNvCxnSpPr>
          <p:nvPr/>
        </p:nvCxnSpPr>
        <p:spPr>
          <a:xfrm>
            <a:off x="10597896" y="5308092"/>
            <a:ext cx="137160" cy="0"/>
          </a:xfrm>
          <a:prstGeom prst="straightConnector1">
            <a:avLst/>
          </a:prstGeom>
          <a:ln w="22860">
            <a:solidFill>
              <a:srgbClr val="333333"/>
            </a:solidFill>
            <a:tailEnd type="triangle"/>
          </a:ln>
        </p:spPr>
      </p:cxnSp>
      <p:cxnSp>
        <p:nvCxnSpPr>
          <p:cNvPr id="100068" name="S02.Workflow.ReturnTop"/>
          <p:cNvCxnSpPr/>
          <p:nvPr/>
        </p:nvCxnSpPr>
        <p:spPr>
          <a:xfrm>
            <a:off x="6858000" y="4773168"/>
            <a:ext cx="4352544" cy="0"/>
          </a:xfrm>
          <a:prstGeom prst="straightConnector1">
            <a:avLst/>
          </a:prstGeom>
          <a:ln w="31750">
            <a:solidFill>
              <a:srgbClr val="ED7D31"/>
            </a:solidFill>
          </a:ln>
        </p:spPr>
      </p:cxnSp>
      <p:cxnSp>
        <p:nvCxnSpPr>
          <p:cNvPr id="100069" name="S02.Workflow.ReturnRight"/>
          <p:cNvCxnSpPr/>
          <p:nvPr/>
        </p:nvCxnSpPr>
        <p:spPr>
          <a:xfrm>
            <a:off x="11210544" y="4773168"/>
            <a:ext cx="0" cy="301752"/>
          </a:xfrm>
          <a:prstGeom prst="straightConnector1">
            <a:avLst/>
          </a:prstGeom>
          <a:ln w="31750">
            <a:solidFill>
              <a:srgbClr val="ED7D31"/>
            </a:solidFill>
          </a:ln>
        </p:spPr>
      </p:cxnSp>
      <p:cxnSp>
        <p:nvCxnSpPr>
          <p:cNvPr id="100070" name="S02.Workflow.ReturnLeft"/>
          <p:cNvCxnSpPr/>
          <p:nvPr/>
        </p:nvCxnSpPr>
        <p:spPr>
          <a:xfrm>
            <a:off x="6858000" y="4773168"/>
            <a:ext cx="0" cy="301752"/>
          </a:xfrm>
          <a:prstGeom prst="straightConnector1">
            <a:avLst/>
          </a:prstGeom>
          <a:ln w="31750">
            <a:solidFill>
              <a:srgbClr val="ED7D31"/>
            </a:solidFill>
            <a:tailEnd type="triangle"/>
          </a:ln>
        </p:spPr>
      </p:cxnSp>
      <p:pic>
        <p:nvPicPr>
          <p:cNvPr id="100071" name="S02.Workflow.Snapshot" descr="Global snapshot"/>
          <p:cNvPicPr>
            <a:picLocks noChangeAspect="1"/>
          </p:cNvPicPr>
          <p:nvPr/>
        </p:nvPicPr>
        <p:blipFill>
          <a:blip xmlns:r="http://schemas.openxmlformats.org/officeDocument/2006/relationships" r:embed="Rca8d711229c54dae"/>
          <a:srcRect l="16746" t="16427" r="16746" b="11961"/>
          <a:stretch>
            <a:fillRect/>
          </a:stretch>
        </p:blipFill>
        <p:spPr>
          <a:xfrm>
            <a:off x="8782812" y="5742432"/>
            <a:ext cx="502920" cy="541513"/>
          </a:xfrm>
          <a:prstGeom prst="rect">
            <a:avLst/>
          </a:prstGeom>
        </p:spPr>
      </p:pic>
      <p:pic>
        <p:nvPicPr>
          <p:cNvPr id="100072" name="S02.Workflow.Waveform" descr="Waveform monitor"/>
          <p:cNvPicPr>
            <a:picLocks noChangeAspect="1"/>
          </p:cNvPicPr>
          <p:nvPr/>
        </p:nvPicPr>
        <p:blipFill>
          <a:blip xmlns:r="http://schemas.openxmlformats.org/officeDocument/2006/relationships" r:embed="Ra9805e5300c141aa"/>
          <a:srcRect l="12280" t="25518" r="12200" b="19936"/>
          <a:stretch>
            <a:fillRect/>
          </a:stretch>
        </p:blipFill>
        <p:spPr>
          <a:xfrm>
            <a:off x="10844784" y="5751576"/>
            <a:ext cx="731520" cy="528363"/>
          </a:xfrm>
          <a:prstGeom prst="rect">
            <a:avLst/>
          </a:prstGeom>
        </p:spPr>
      </p:pic>
      <p:cxnSp>
        <p:nvCxnSpPr>
          <p:cNvPr id="100073" name="S02.Workflow.DumpOutput"/>
          <p:cNvCxnSpPr>
            <a:stCxn id="100061" idx="0"/>
            <a:endCxn id="100071" idx="0"/>
          </p:cNvCxnSpPr>
          <p:nvPr/>
        </p:nvCxnSpPr>
        <p:spPr>
          <a:xfrm>
            <a:off x="9034272" y="5541264"/>
            <a:ext cx="0" cy="201168"/>
          </a:xfrm>
          <a:prstGeom prst="straightConnector1">
            <a:avLst/>
          </a:prstGeom>
          <a:ln w="22860">
            <a:solidFill>
              <a:srgbClr val="333333"/>
            </a:solidFill>
            <a:tailEnd type="triangle"/>
          </a:ln>
        </p:spPr>
      </p:cxnSp>
      <p:cxnSp>
        <p:nvCxnSpPr>
          <p:cNvPr id="100074" name="S02.Workflow.ReplayOutput"/>
          <p:cNvCxnSpPr>
            <a:stCxn id="100063" idx="0"/>
            <a:endCxn id="100072" idx="0"/>
          </p:cNvCxnSpPr>
          <p:nvPr/>
        </p:nvCxnSpPr>
        <p:spPr>
          <a:xfrm>
            <a:off x="11210544" y="5541264"/>
            <a:ext cx="0" cy="210312"/>
          </a:xfrm>
          <a:prstGeom prst="straightConnector1">
            <a:avLst/>
          </a:prstGeom>
          <a:ln w="22860">
            <a:solidFill>
              <a:srgbClr val="333333"/>
            </a:solidFill>
            <a:tailEnd type="triangle"/>
          </a:ln>
        </p:spPr>
      </p:cxnSp>
      <p:sp>
        <p:nvSpPr>
          <p:cNvPr id="100075" name="S02.Workflow.SnapshotLabel"/>
          <p:cNvSpPr txBox="1"/>
          <p:nvPr/>
        </p:nvSpPr>
        <p:spPr>
          <a:xfrm>
            <a:off x="8119872" y="633679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Global snapshot</a:t>
            </a:r>
          </a:p>
        </p:txBody>
      </p:sp>
      <p:sp>
        <p:nvSpPr>
          <p:cNvPr id="100076" name="S02.Workflow.WaveformLabel"/>
          <p:cNvSpPr txBox="1"/>
          <p:nvPr/>
        </p:nvSpPr>
        <p:spPr>
          <a:xfrm>
            <a:off x="10625328" y="6336792"/>
            <a:ext cx="1170432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Waveform</a:t>
            </a:r>
          </a:p>
        </p:txBody>
      </p:sp>
      <p:sp>
        <p:nvSpPr>
          <p:cNvPr id="100077" name="S02.PageNumber"/>
          <p:cNvSpPr txBox="1"/>
          <p:nvPr/>
        </p:nvSpPr>
        <p:spPr>
          <a:xfrm>
            <a:off x="11631168" y="6629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/>
            <a:r>
              <a:rPr lang="en-US" sz="1000">
                <a:solidFill>
                  <a:srgbClr val="898989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00078" name="S02.Prototype.DoubleArrow1"/>
          <p:cNvSpPr/>
          <p:nvPr/>
        </p:nvSpPr>
        <p:spPr>
          <a:xfrm>
            <a:off x="1892103" y="5152629"/>
            <a:ext cx="829549" cy="287803"/>
          </a:xfrm>
          <a:prstGeom prst="leftRightArrow">
            <a:avLst>
              <a:gd name="adj1" fmla="val 44000"/>
              <a:gd name="adj2" fmla="val 28000"/>
            </a:avLst>
          </a:prstGeom>
          <a:solidFill>
            <a:srgbClr val="ED7D3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>
                <a:solidFill>
                  <a:srgbClr val="1F1F1F"/>
                </a:solidFill>
                <a:latin typeface="Arial"/>
                <a:ea typeface="Arial"/>
              </a:defRPr>
            </a:pPr>
            <a:endParaRPr sz="1800"/>
          </a:p>
        </p:txBody>
      </p:sp>
      <p:sp>
        <p:nvSpPr>
          <p:cNvPr id="100079" name="S02.Prototype.DoubleArrow2"/>
          <p:cNvSpPr/>
          <p:nvPr/>
        </p:nvSpPr>
        <p:spPr>
          <a:xfrm>
            <a:off x="3641867" y="5164190"/>
            <a:ext cx="829549" cy="287803"/>
          </a:xfrm>
          <a:prstGeom prst="leftRightArrow">
            <a:avLst>
              <a:gd name="adj1" fmla="val 44000"/>
              <a:gd name="adj2" fmla="val 28000"/>
            </a:avLst>
          </a:prstGeom>
          <a:solidFill>
            <a:srgbClr val="ED7D31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>
                <a:solidFill>
                  <a:srgbClr val="1F1F1F"/>
                </a:solidFill>
                <a:latin typeface="Arial"/>
                <a:ea typeface="Arial"/>
              </a:defRPr>
            </a:pPr>
            <a:endParaRPr sz="1800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70AD47"/>
      </a:accent2>
      <a:accent3>
        <a:srgbClr val="ED7D31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OfficeCLI/1.0.159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2026-10-29T09:27:06.0000000Z</dcterms:created>
  <lastModifiedBy>OfficeCLI</lastModifiedBy>
  <dcterms:modified xsi:type="dcterms:W3CDTF">2026-10-29T09:27:06.4610370Z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1.0.159</vt:lpwstr>
  </op:property>
  <op:property fmtid="{D5CDD505-2E9C-101B-9397-08002B2CF9AE}" pid="3" name="OfficeCLI.LastModified">
    <vt:lpwstr xmlns:vt="http://schemas.openxmlformats.org/officeDocument/2006/docPropsVTypes">2026-10-29T09:27:09Z</vt:lpwstr>
  </op:property>
</op:Properties>
</file>