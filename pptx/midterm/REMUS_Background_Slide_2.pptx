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f398238f77443da" /><Relationship Type="http://schemas.openxmlformats.org/package/2006/relationships/metadata/core-properties" Target="/docProps/core.xml" Id="Ra7f59d1fd44f4bcb" /><Relationship Type="http://schemas.openxmlformats.org/officeDocument/2006/relationships/extended-properties" Target="/docProps/app.xml" Id="R7ad4b202f0b848f6" /><Relationship Type="http://schemas.openxmlformats.org/officeDocument/2006/relationships/custom-properties" Target="/docProps/custom.xml" Id="R04fce75b0d3748b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4210462b44e44c16"/>
  </p:notesMasterIdLst>
  <p:sldIdLst>
    <p:sldId id="256" r:id="R6e6ed311d6214e69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6e6ed311d6214e69" /><Relationship Type="http://schemas.openxmlformats.org/officeDocument/2006/relationships/notesMaster" Target="/ppt/notesMasters/notesMaster1.xml" Id="R4210462b44e44c1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96a54a9328984f42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7590d2aef2f4b15" /><Relationship Type="http://schemas.openxmlformats.org/officeDocument/2006/relationships/slide" Target="/ppt/slides/slide1.xml" Id="R5640c8308abe42f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Contrast typical prototyping strengths and common debug limitations with the target capabilities of replayable multi-FPGA emulation. This is a research motivation slide, not a completed-feature checklist or an empirical comparison of every prototyping system. The right panel and workflow express goals; REMUS implementation and validation status are reported later. Dump represents collection and aggregation of distributed state into a global snapshot. Restore and replay are conceptual stages; execution backends and correctness conditions are explained on the technical slides. The return loop represents another debugging iteration. Layout reference: figure/presentation-reference/midterm-background-02.png.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88d4b5c850430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cadb43412342c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c5b7aa5639412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79cc0802b3488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01cac4a4514432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d33e56ac54364b41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4ff19ff3074a74" /><Relationship Type="http://schemas.openxmlformats.org/officeDocument/2006/relationships/image" Target="/ppt/media/image.png" Id="R1728d0081fc841c4" /><Relationship Type="http://schemas.openxmlformats.org/officeDocument/2006/relationships/image" Target="/ppt/media/image2.png" Id="R42ee548f53d9400a" /><Relationship Type="http://schemas.openxmlformats.org/officeDocument/2006/relationships/image" Target="/ppt/media/image3.png" Id="Rf7a27cac0c4d4595" /><Relationship Type="http://schemas.openxmlformats.org/officeDocument/2006/relationships/image" Target="/ppt/media/image4.png" Id="R024046477cb2474d" /><Relationship Type="http://schemas.openxmlformats.org/officeDocument/2006/relationships/image" Target="/ppt/media/image5.png" Id="R5066dde221b344b0" /><Relationship Type="http://schemas.openxmlformats.org/officeDocument/2006/relationships/notesSlide" Target="/ppt/notesSlides/notesSlide1.xml" Id="Rd1b28d3f6ce247d7" 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02.Title"/>
          <p:cNvSpPr/>
          <p:nvPr>
            <p:ph type="title"/>
          </p:nvPr>
        </p:nvSpPr>
        <p:spPr>
          <a:xfrm xmlns:a="http://schemas.openxmlformats.org/drawingml/2006/main">
            <a:off x="320040" y="128016"/>
            <a:ext cx="11558016" cy="493776"/>
          </a:xfrm>
          <a:noFill/>
          <a:ln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83B56"/>
                </a:solidFill>
                <a:latin typeface="Arial"/>
                <a:ea typeface="Arial"/>
              </a:rPr>
              <a:t>2. Multi-FPGA Prototyping Is Fast, but Hard to Debug</a:t>
            </a:r>
          </a:p>
        </p:txBody>
      </p:sp>
      <p:sp>
        <p:nvSpPr>
          <p:cNvPr id="100000" name="S02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02.Prototype.Panel"/>
          <p:cNvSpPr/>
          <p:nvPr/>
        </p:nvSpPr>
        <p:spPr>
          <a:xfrm>
            <a:off x="320040" y="969264"/>
            <a:ext cx="5687568" cy="5605272"/>
          </a:xfrm>
          <a:prstGeom prst="roundRect">
            <a:avLst>
              <a:gd name="adj" fmla="val 3000"/>
            </a:avLst>
          </a:prstGeom>
          <a:solidFill>
            <a:srgbClr val="FCF4E8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2" name="S02.Prototype.Heading"/>
          <p:cNvSpPr txBox="1"/>
          <p:nvPr/>
        </p:nvSpPr>
        <p:spPr>
          <a:xfrm>
            <a:off x="502920" y="1207008"/>
            <a:ext cx="5321808" cy="38404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Multi-FPGA Prototyping</a:t>
            </a:r>
          </a:p>
        </p:txBody>
      </p:sp>
      <p:sp>
        <p:nvSpPr>
          <p:cNvPr id="100003" name="S02.Prototype.Qualifier"/>
          <p:cNvSpPr txBox="1"/>
          <p:nvPr/>
        </p:nvSpPr>
        <p:spPr>
          <a:xfrm>
            <a:off x="548640" y="1664208"/>
            <a:ext cx="5230368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500">
                <a:solidFill>
                  <a:srgbClr val="607184"/>
                </a:solidFill>
                <a:latin typeface="Arial"/>
                <a:ea typeface="Arial"/>
              </a:rPr>
              <a:t>Typical strengths &amp; limitations</a:t>
            </a:r>
          </a:p>
        </p:txBody>
      </p:sp>
      <p:sp>
        <p:nvSpPr>
          <p:cNvPr id="100004" name="S02.Prototype.Divider"/>
          <p:cNvSpPr/>
          <p:nvPr/>
        </p:nvSpPr>
        <p:spPr>
          <a:xfrm>
            <a:off x="530352" y="4453128"/>
            <a:ext cx="5266944" cy="10973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5" name="S02.Replay.Panel"/>
          <p:cNvSpPr/>
          <p:nvPr/>
        </p:nvSpPr>
        <p:spPr>
          <a:xfrm>
            <a:off x="6190488" y="969264"/>
            <a:ext cx="5687568" cy="5605272"/>
          </a:xfrm>
          <a:prstGeom prst="roundRect">
            <a:avLst>
              <a:gd name="adj" fmla="val 30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6" name="S02.Replay.Heading"/>
          <p:cNvSpPr txBox="1"/>
          <p:nvPr/>
        </p:nvSpPr>
        <p:spPr>
          <a:xfrm>
            <a:off x="6373368" y="1207008"/>
            <a:ext cx="5321808" cy="38404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Replayable Multi-FPGA Emulation</a:t>
            </a:r>
          </a:p>
        </p:txBody>
      </p:sp>
      <p:sp>
        <p:nvSpPr>
          <p:cNvPr id="100007" name="S02.Replay.Qualifier"/>
          <p:cNvSpPr txBox="1"/>
          <p:nvPr/>
        </p:nvSpPr>
        <p:spPr>
          <a:xfrm>
            <a:off x="6419088" y="1664208"/>
            <a:ext cx="5230368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500">
                <a:solidFill>
                  <a:srgbClr val="607184"/>
                </a:solidFill>
                <a:latin typeface="Arial"/>
                <a:ea typeface="Arial"/>
              </a:rPr>
              <a:t>Target capabilities</a:t>
            </a:r>
          </a:p>
        </p:txBody>
      </p:sp>
      <p:sp>
        <p:nvSpPr>
          <p:cNvPr id="100008" name="S02.Replay.Divider"/>
          <p:cNvSpPr/>
          <p:nvPr/>
        </p:nvSpPr>
        <p:spPr>
          <a:xfrm>
            <a:off x="6400800" y="4453128"/>
            <a:ext cx="5266944" cy="10973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9" name="S02.Prototype.Item1.Badge"/>
          <p:cNvSpPr/>
          <p:nvPr/>
        </p:nvSpPr>
        <p:spPr>
          <a:xfrm>
            <a:off x="795528" y="2084832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0" name="S02.Prototype.Item1.CheckShort"/>
          <p:cNvSpPr/>
          <p:nvPr/>
        </p:nvSpPr>
        <p:spPr>
          <a:xfrm rot="2700000">
            <a:off x="868680" y="2244852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1" name="S02.Prototype.Item1.CheckLong"/>
          <p:cNvSpPr/>
          <p:nvPr/>
        </p:nvSpPr>
        <p:spPr>
          <a:xfrm rot="18900000">
            <a:off x="909828" y="2219249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2" name="S02.Prototype.Text1"/>
          <p:cNvSpPr txBox="1"/>
          <p:nvPr/>
        </p:nvSpPr>
        <p:spPr>
          <a:xfrm>
            <a:off x="1280160" y="2087575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Large design capacity</a:t>
            </a:r>
          </a:p>
        </p:txBody>
      </p:sp>
      <p:sp>
        <p:nvSpPr>
          <p:cNvPr id="100013" name="S02.Prototype.Item2.Badge"/>
          <p:cNvSpPr/>
          <p:nvPr/>
        </p:nvSpPr>
        <p:spPr>
          <a:xfrm>
            <a:off x="795528" y="2542032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4" name="S02.Prototype.Item2.CheckShort"/>
          <p:cNvSpPr/>
          <p:nvPr/>
        </p:nvSpPr>
        <p:spPr>
          <a:xfrm rot="2700000">
            <a:off x="868680" y="2702052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5" name="S02.Prototype.Item2.CheckLong"/>
          <p:cNvSpPr/>
          <p:nvPr/>
        </p:nvSpPr>
        <p:spPr>
          <a:xfrm rot="18900000">
            <a:off x="909828" y="2676449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6" name="S02.Prototype.Text2"/>
          <p:cNvSpPr txBox="1"/>
          <p:nvPr/>
        </p:nvSpPr>
        <p:spPr>
          <a:xfrm>
            <a:off x="1280160" y="2544775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High execution speed</a:t>
            </a:r>
          </a:p>
        </p:txBody>
      </p:sp>
      <p:sp>
        <p:nvSpPr>
          <p:cNvPr id="100017" name="S02.Prototype.Item3.Badge"/>
          <p:cNvSpPr/>
          <p:nvPr/>
        </p:nvSpPr>
        <p:spPr>
          <a:xfrm>
            <a:off x="795528" y="2999232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8" name="S02.Prototype.Item3.CheckShort"/>
          <p:cNvSpPr/>
          <p:nvPr/>
        </p:nvSpPr>
        <p:spPr>
          <a:xfrm rot="2700000">
            <a:off x="868680" y="3159252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9" name="S02.Prototype.Item3.CheckLong"/>
          <p:cNvSpPr/>
          <p:nvPr/>
        </p:nvSpPr>
        <p:spPr>
          <a:xfrm rot="18900000">
            <a:off x="909828" y="3133649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0" name="S02.Prototype.Text3"/>
          <p:cNvSpPr txBox="1"/>
          <p:nvPr/>
        </p:nvSpPr>
        <p:spPr>
          <a:xfrm>
            <a:off x="1280160" y="3001975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Long software workloads</a:t>
            </a:r>
          </a:p>
        </p:txBody>
      </p:sp>
      <p:sp>
        <p:nvSpPr>
          <p:cNvPr id="100021" name="S02.Prototype.Item4.Badge"/>
          <p:cNvSpPr/>
          <p:nvPr/>
        </p:nvSpPr>
        <p:spPr>
          <a:xfrm>
            <a:off x="795528" y="3456432"/>
            <a:ext cx="310896" cy="310896"/>
          </a:xfrm>
          <a:prstGeom prst="ellipse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2" name="S02.Prototype.Item4.Minus"/>
          <p:cNvSpPr/>
          <p:nvPr/>
        </p:nvSpPr>
        <p:spPr>
          <a:xfrm>
            <a:off x="868680" y="3592678"/>
            <a:ext cx="16459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3" name="S02.Prototype.Text4"/>
          <p:cNvSpPr txBox="1"/>
          <p:nvPr/>
        </p:nvSpPr>
        <p:spPr>
          <a:xfrm>
            <a:off x="1280160" y="3459175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Limited visibility</a:t>
            </a:r>
          </a:p>
        </p:txBody>
      </p:sp>
      <p:sp>
        <p:nvSpPr>
          <p:cNvPr id="100024" name="S02.Prototype.Item5.Badge"/>
          <p:cNvSpPr/>
          <p:nvPr/>
        </p:nvSpPr>
        <p:spPr>
          <a:xfrm>
            <a:off x="795528" y="3913632"/>
            <a:ext cx="310896" cy="310896"/>
          </a:xfrm>
          <a:prstGeom prst="ellipse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5" name="S02.Prototype.Item5.Minus"/>
          <p:cNvSpPr/>
          <p:nvPr/>
        </p:nvSpPr>
        <p:spPr>
          <a:xfrm>
            <a:off x="868680" y="4049878"/>
            <a:ext cx="16459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6" name="S02.Prototype.Text5"/>
          <p:cNvSpPr txBox="1"/>
          <p:nvPr/>
        </p:nvSpPr>
        <p:spPr>
          <a:xfrm>
            <a:off x="1280160" y="3916375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Limited full-state replay</a:t>
            </a:r>
          </a:p>
        </p:txBody>
      </p:sp>
      <p:sp>
        <p:nvSpPr>
          <p:cNvPr id="100027" name="S02.Replay.Item1.Badge"/>
          <p:cNvSpPr/>
          <p:nvPr/>
        </p:nvSpPr>
        <p:spPr>
          <a:xfrm>
            <a:off x="6556248" y="2084832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8" name="S02.Replay.Item1.CheckShort"/>
          <p:cNvSpPr/>
          <p:nvPr/>
        </p:nvSpPr>
        <p:spPr>
          <a:xfrm rot="2700000">
            <a:off x="6629400" y="2244852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9" name="S02.Replay.Item1.CheckLong"/>
          <p:cNvSpPr/>
          <p:nvPr/>
        </p:nvSpPr>
        <p:spPr>
          <a:xfrm rot="18900000">
            <a:off x="6670548" y="2219249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0" name="S02.Replay.Text1"/>
          <p:cNvSpPr txBox="1"/>
          <p:nvPr/>
        </p:nvSpPr>
        <p:spPr>
          <a:xfrm>
            <a:off x="7040880" y="2087575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Run large RTL designs</a:t>
            </a:r>
          </a:p>
        </p:txBody>
      </p:sp>
      <p:sp>
        <p:nvSpPr>
          <p:cNvPr id="100031" name="S02.Replay.Item2.Badge"/>
          <p:cNvSpPr/>
          <p:nvPr/>
        </p:nvSpPr>
        <p:spPr>
          <a:xfrm>
            <a:off x="6556248" y="2478024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2" name="S02.Replay.Item2.CheckShort"/>
          <p:cNvSpPr/>
          <p:nvPr/>
        </p:nvSpPr>
        <p:spPr>
          <a:xfrm rot="2700000">
            <a:off x="6629400" y="2638044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3" name="S02.Replay.Item2.CheckLong"/>
          <p:cNvSpPr/>
          <p:nvPr/>
        </p:nvSpPr>
        <p:spPr>
          <a:xfrm rot="18900000">
            <a:off x="6670548" y="2612441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4" name="S02.Replay.Text2"/>
          <p:cNvSpPr txBox="1"/>
          <p:nvPr/>
        </p:nvSpPr>
        <p:spPr>
          <a:xfrm>
            <a:off x="7040880" y="2480767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Cycle-consistent global pause</a:t>
            </a:r>
          </a:p>
        </p:txBody>
      </p:sp>
      <p:sp>
        <p:nvSpPr>
          <p:cNvPr id="100035" name="S02.Replay.Item3.Badge"/>
          <p:cNvSpPr/>
          <p:nvPr/>
        </p:nvSpPr>
        <p:spPr>
          <a:xfrm>
            <a:off x="6556248" y="2871216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6" name="S02.Replay.Item3.CheckShort"/>
          <p:cNvSpPr/>
          <p:nvPr/>
        </p:nvSpPr>
        <p:spPr>
          <a:xfrm rot="2700000">
            <a:off x="6629400" y="3031236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7" name="S02.Replay.Item3.CheckLong"/>
          <p:cNvSpPr/>
          <p:nvPr/>
        </p:nvSpPr>
        <p:spPr>
          <a:xfrm rot="18900000">
            <a:off x="6670548" y="3005633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8" name="S02.Replay.Text3"/>
          <p:cNvSpPr txBox="1"/>
          <p:nvPr/>
        </p:nvSpPr>
        <p:spPr>
          <a:xfrm>
            <a:off x="7040880" y="2873959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Full-state extraction</a:t>
            </a:r>
          </a:p>
        </p:txBody>
      </p:sp>
      <p:sp>
        <p:nvSpPr>
          <p:cNvPr id="100039" name="S02.Replay.Item4.Badge"/>
          <p:cNvSpPr/>
          <p:nvPr/>
        </p:nvSpPr>
        <p:spPr>
          <a:xfrm>
            <a:off x="6556248" y="3264408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0" name="S02.Replay.Item4.CheckShort"/>
          <p:cNvSpPr/>
          <p:nvPr/>
        </p:nvSpPr>
        <p:spPr>
          <a:xfrm rot="2700000">
            <a:off x="6629400" y="3424428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1" name="S02.Replay.Item4.CheckLong"/>
          <p:cNvSpPr/>
          <p:nvPr/>
        </p:nvSpPr>
        <p:spPr>
          <a:xfrm rot="18900000">
            <a:off x="6670548" y="3398825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2" name="S02.Replay.Text4"/>
          <p:cNvSpPr txBox="1"/>
          <p:nvPr/>
        </p:nvSpPr>
        <p:spPr>
          <a:xfrm>
            <a:off x="7040880" y="3267151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State restore</a:t>
            </a:r>
          </a:p>
        </p:txBody>
      </p:sp>
      <p:sp>
        <p:nvSpPr>
          <p:cNvPr id="100043" name="S02.Replay.Item5.Badge"/>
          <p:cNvSpPr/>
          <p:nvPr/>
        </p:nvSpPr>
        <p:spPr>
          <a:xfrm>
            <a:off x="6556248" y="3657600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4" name="S02.Replay.Item5.CheckShort"/>
          <p:cNvSpPr/>
          <p:nvPr/>
        </p:nvSpPr>
        <p:spPr>
          <a:xfrm rot="2700000">
            <a:off x="6629400" y="3817620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5" name="S02.Replay.Item5.CheckLong"/>
          <p:cNvSpPr/>
          <p:nvPr/>
        </p:nvSpPr>
        <p:spPr>
          <a:xfrm rot="18900000">
            <a:off x="6670548" y="3792017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6" name="S02.Replay.Text5"/>
          <p:cNvSpPr txBox="1"/>
          <p:nvPr/>
        </p:nvSpPr>
        <p:spPr>
          <a:xfrm>
            <a:off x="7040880" y="3660343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Deterministic replay</a:t>
            </a:r>
          </a:p>
        </p:txBody>
      </p:sp>
      <p:sp>
        <p:nvSpPr>
          <p:cNvPr id="100047" name="S02.Replay.Item6.Badge"/>
          <p:cNvSpPr/>
          <p:nvPr/>
        </p:nvSpPr>
        <p:spPr>
          <a:xfrm>
            <a:off x="6556248" y="4050792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8" name="S02.Replay.Item6.CheckShort"/>
          <p:cNvSpPr/>
          <p:nvPr/>
        </p:nvSpPr>
        <p:spPr>
          <a:xfrm rot="2700000">
            <a:off x="6629400" y="4210812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9" name="S02.Replay.Item6.CheckLong"/>
          <p:cNvSpPr/>
          <p:nvPr/>
        </p:nvSpPr>
        <p:spPr>
          <a:xfrm rot="18900000">
            <a:off x="6670548" y="4185209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0" name="S02.Replay.Text6"/>
          <p:cNvSpPr txBox="1"/>
          <p:nvPr/>
        </p:nvSpPr>
        <p:spPr>
          <a:xfrm>
            <a:off x="7040880" y="4053535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Waveform reconstruction</a:t>
            </a:r>
          </a:p>
        </p:txBody>
      </p:sp>
      <p:pic>
        <p:nvPicPr>
          <p:cNvPr id="100051" name="S02.Prototype.FPGA1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1728d0081fc841c4"/>
          <a:srcRect l="21371" t="23684" r="21291" b="20972"/>
          <a:stretch>
            <a:fillRect/>
          </a:stretch>
        </p:blipFill>
        <p:spPr>
          <a:xfrm>
            <a:off x="996696" y="4901184"/>
            <a:ext cx="859536" cy="829650"/>
          </a:xfrm>
          <a:prstGeom prst="rect">
            <a:avLst/>
          </a:prstGeom>
        </p:spPr>
      </p:pic>
      <p:pic>
        <p:nvPicPr>
          <p:cNvPr id="100052" name="S02.Prototype.FPGA2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42ee548f53d9400a"/>
          <a:srcRect l="21371" t="23684" r="21291" b="20972"/>
          <a:stretch>
            <a:fillRect/>
          </a:stretch>
        </p:blipFill>
        <p:spPr>
          <a:xfrm>
            <a:off x="2734056" y="4901184"/>
            <a:ext cx="859536" cy="829650"/>
          </a:xfrm>
          <a:prstGeom prst="rect">
            <a:avLst/>
          </a:prstGeom>
        </p:spPr>
      </p:pic>
      <p:pic>
        <p:nvPicPr>
          <p:cNvPr id="100053" name="S02.Prototype.FPGA3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f7a27cac0c4d4595"/>
          <a:srcRect l="21371" t="23684" r="21291" b="20972"/>
          <a:stretch>
            <a:fillRect/>
          </a:stretch>
        </p:blipFill>
        <p:spPr>
          <a:xfrm>
            <a:off x="4471416" y="4901184"/>
            <a:ext cx="859536" cy="829650"/>
          </a:xfrm>
          <a:prstGeom prst="rect">
            <a:avLst/>
          </a:prstGeom>
        </p:spPr>
      </p:pic>
      <p:sp>
        <p:nvSpPr>
          <p:cNvPr id="100054" name="S02.Prototype.Run"/>
          <p:cNvSpPr txBox="1"/>
          <p:nvPr/>
        </p:nvSpPr>
        <p:spPr>
          <a:xfrm>
            <a:off x="2432304" y="4599432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800" b="1">
                <a:solidFill>
                  <a:srgbClr val="183B56"/>
                </a:solidFill>
                <a:latin typeface="Arial"/>
                <a:ea typeface="Arial"/>
              </a:rPr>
              <a:t>Run</a:t>
            </a:r>
          </a:p>
        </p:txBody>
      </p:sp>
      <p:sp>
        <p:nvSpPr>
          <p:cNvPr id="100055" name="S02.Prototype.Link1"/>
          <p:cNvSpPr/>
          <p:nvPr/>
        </p:nvSpPr>
        <p:spPr>
          <a:xfrm>
            <a:off x="1911096" y="5184648"/>
            <a:ext cx="768096" cy="237744"/>
          </a:xfrm>
          <a:prstGeom prst="rightArrow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6" name="S02.Prototype.Link2"/>
          <p:cNvSpPr/>
          <p:nvPr/>
        </p:nvSpPr>
        <p:spPr>
          <a:xfrm>
            <a:off x="3648456" y="5184648"/>
            <a:ext cx="768096" cy="237744"/>
          </a:xfrm>
          <a:prstGeom prst="rightArrow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7" name="S02.Prototype.VisibilityArrow"/>
          <p:cNvSpPr/>
          <p:nvPr/>
        </p:nvSpPr>
        <p:spPr>
          <a:xfrm>
            <a:off x="3026664" y="5779008"/>
            <a:ext cx="274320" cy="274320"/>
          </a:xfrm>
          <a:prstGeom prst="downArrow">
            <a:avLst/>
          </a:prstGeom>
          <a:solidFill>
            <a:srgbClr val="91A5B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8" name="S02.Prototype.Visibility"/>
          <p:cNvSpPr/>
          <p:nvPr/>
        </p:nvSpPr>
        <p:spPr>
          <a:xfrm>
            <a:off x="1920240" y="6071616"/>
            <a:ext cx="2487168" cy="365760"/>
          </a:xfrm>
          <a:prstGeom prst="roundRect">
            <a:avLst>
              <a:gd name="adj" fmla="val 15000"/>
            </a:avLst>
          </a:prstGeom>
          <a:solidFill>
            <a:srgbClr val="E0E7EC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800" b="1">
                <a:solidFill>
                  <a:srgbClr val="183B56"/>
                </a:solidFill>
                <a:latin typeface="Arial"/>
                <a:ea typeface="Arial"/>
              </a:rPr>
              <a:t>Limited visibility</a:t>
            </a:r>
          </a:p>
        </p:txBody>
      </p:sp>
      <p:sp>
        <p:nvSpPr>
          <p:cNvPr id="100059" name="S02.Workflow.Run"/>
          <p:cNvSpPr/>
          <p:nvPr/>
        </p:nvSpPr>
        <p:spPr>
          <a:xfrm>
            <a:off x="6382512" y="5074920"/>
            <a:ext cx="950976" cy="4663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008C95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Run</a:t>
            </a:r>
          </a:p>
        </p:txBody>
      </p:sp>
      <p:sp>
        <p:nvSpPr>
          <p:cNvPr id="100060" name="S02.Workflow.Pause"/>
          <p:cNvSpPr/>
          <p:nvPr/>
        </p:nvSpPr>
        <p:spPr>
          <a:xfrm>
            <a:off x="7470648" y="5074920"/>
            <a:ext cx="950976" cy="466344"/>
          </a:xfrm>
          <a:prstGeom prst="roundRect">
            <a:avLst>
              <a:gd name="adj" fmla="val 14000"/>
            </a:avLst>
          </a:prstGeom>
          <a:solidFill>
            <a:srgbClr val="FFF0D8"/>
          </a:solidFill>
          <a:ln w="15240">
            <a:solidFill>
              <a:srgbClr val="DF973E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Pause</a:t>
            </a:r>
          </a:p>
        </p:txBody>
      </p:sp>
      <p:sp>
        <p:nvSpPr>
          <p:cNvPr id="100061" name="S02.Workflow.Dump"/>
          <p:cNvSpPr/>
          <p:nvPr/>
        </p:nvSpPr>
        <p:spPr>
          <a:xfrm>
            <a:off x="8558784" y="5074920"/>
            <a:ext cx="950976" cy="4663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008C95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Dump</a:t>
            </a:r>
          </a:p>
        </p:txBody>
      </p:sp>
      <p:sp>
        <p:nvSpPr>
          <p:cNvPr id="100062" name="S02.Workflow.Restore"/>
          <p:cNvSpPr/>
          <p:nvPr/>
        </p:nvSpPr>
        <p:spPr>
          <a:xfrm>
            <a:off x="9646920" y="5074920"/>
            <a:ext cx="950976" cy="4663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008C95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Restore</a:t>
            </a:r>
          </a:p>
        </p:txBody>
      </p:sp>
      <p:sp>
        <p:nvSpPr>
          <p:cNvPr id="100063" name="S02.Workflow.Replay"/>
          <p:cNvSpPr/>
          <p:nvPr/>
        </p:nvSpPr>
        <p:spPr>
          <a:xfrm>
            <a:off x="10735056" y="5074920"/>
            <a:ext cx="950976" cy="4663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008C95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Replay</a:t>
            </a:r>
          </a:p>
        </p:txBody>
      </p:sp>
      <p:cxnSp>
        <p:nvCxnSpPr>
          <p:cNvPr id="100064" name="S02.Workflow.RunToPause"/>
          <p:cNvCxnSpPr>
            <a:stCxn id="100059" idx="0"/>
            <a:endCxn id="100060" idx="0"/>
          </p:cNvCxnSpPr>
          <p:nvPr/>
        </p:nvCxnSpPr>
        <p:spPr>
          <a:xfrm>
            <a:off x="7333488" y="5308092"/>
            <a:ext cx="137160" cy="0"/>
          </a:xfrm>
          <a:prstGeom prst="straightConnector1">
            <a:avLst/>
          </a:prstGeom>
          <a:ln w="22860">
            <a:solidFill>
              <a:srgbClr val="183B56"/>
            </a:solidFill>
            <a:tailEnd type="triangle"/>
          </a:ln>
        </p:spPr>
      </p:cxnSp>
      <p:cxnSp>
        <p:nvCxnSpPr>
          <p:cNvPr id="100065" name="S02.Workflow.PauseToDump"/>
          <p:cNvCxnSpPr>
            <a:stCxn id="100060" idx="0"/>
            <a:endCxn id="100061" idx="0"/>
          </p:cNvCxnSpPr>
          <p:nvPr/>
        </p:nvCxnSpPr>
        <p:spPr>
          <a:xfrm>
            <a:off x="8421624" y="5308092"/>
            <a:ext cx="137160" cy="0"/>
          </a:xfrm>
          <a:prstGeom prst="straightConnector1">
            <a:avLst/>
          </a:prstGeom>
          <a:ln w="22860">
            <a:solidFill>
              <a:srgbClr val="183B56"/>
            </a:solidFill>
            <a:tailEnd type="triangle"/>
          </a:ln>
        </p:spPr>
      </p:cxnSp>
      <p:cxnSp>
        <p:nvCxnSpPr>
          <p:cNvPr id="100066" name="S02.Workflow.DumpToRestore"/>
          <p:cNvCxnSpPr>
            <a:stCxn id="100061" idx="0"/>
            <a:endCxn id="100062" idx="0"/>
          </p:cNvCxnSpPr>
          <p:nvPr/>
        </p:nvCxnSpPr>
        <p:spPr>
          <a:xfrm>
            <a:off x="9509760" y="5308092"/>
            <a:ext cx="137160" cy="0"/>
          </a:xfrm>
          <a:prstGeom prst="straightConnector1">
            <a:avLst/>
          </a:prstGeom>
          <a:ln w="22860">
            <a:solidFill>
              <a:srgbClr val="183B56"/>
            </a:solidFill>
            <a:tailEnd type="triangle"/>
          </a:ln>
        </p:spPr>
      </p:cxnSp>
      <p:cxnSp>
        <p:nvCxnSpPr>
          <p:cNvPr id="100067" name="S02.Workflow.RestoreToReplay"/>
          <p:cNvCxnSpPr>
            <a:stCxn id="100062" idx="0"/>
            <a:endCxn id="100063" idx="0"/>
          </p:cNvCxnSpPr>
          <p:nvPr/>
        </p:nvCxnSpPr>
        <p:spPr>
          <a:xfrm>
            <a:off x="10597896" y="5308092"/>
            <a:ext cx="137160" cy="0"/>
          </a:xfrm>
          <a:prstGeom prst="straightConnector1">
            <a:avLst/>
          </a:prstGeom>
          <a:ln w="22860">
            <a:solidFill>
              <a:srgbClr val="183B56"/>
            </a:solidFill>
            <a:tailEnd type="triangle"/>
          </a:ln>
        </p:spPr>
      </p:cxnSp>
      <p:cxnSp>
        <p:nvCxnSpPr>
          <p:cNvPr id="100068" name="S02.Workflow.ReturnTop"/>
          <p:cNvCxnSpPr/>
          <p:nvPr/>
        </p:nvCxnSpPr>
        <p:spPr>
          <a:xfrm>
            <a:off x="6858000" y="4773168"/>
            <a:ext cx="4352544" cy="0"/>
          </a:xfrm>
          <a:prstGeom prst="straightConnector1">
            <a:avLst/>
          </a:prstGeom>
          <a:ln w="31750">
            <a:solidFill>
              <a:srgbClr val="DF973E"/>
            </a:solidFill>
          </a:ln>
        </p:spPr>
      </p:cxnSp>
      <p:cxnSp>
        <p:nvCxnSpPr>
          <p:cNvPr id="100069" name="S02.Workflow.ReturnRight"/>
          <p:cNvCxnSpPr/>
          <p:nvPr/>
        </p:nvCxnSpPr>
        <p:spPr>
          <a:xfrm>
            <a:off x="11210544" y="4773168"/>
            <a:ext cx="0" cy="301752"/>
          </a:xfrm>
          <a:prstGeom prst="straightConnector1">
            <a:avLst/>
          </a:prstGeom>
          <a:ln w="31750">
            <a:solidFill>
              <a:srgbClr val="DF973E"/>
            </a:solidFill>
          </a:ln>
        </p:spPr>
      </p:cxnSp>
      <p:cxnSp>
        <p:nvCxnSpPr>
          <p:cNvPr id="100070" name="S02.Workflow.ReturnLeft"/>
          <p:cNvCxnSpPr/>
          <p:nvPr/>
        </p:nvCxnSpPr>
        <p:spPr>
          <a:xfrm>
            <a:off x="6858000" y="4773168"/>
            <a:ext cx="0" cy="301752"/>
          </a:xfrm>
          <a:prstGeom prst="straightConnector1">
            <a:avLst/>
          </a:prstGeom>
          <a:ln w="31750">
            <a:solidFill>
              <a:srgbClr val="DF973E"/>
            </a:solidFill>
            <a:tailEnd type="triangle"/>
          </a:ln>
        </p:spPr>
      </p:cxnSp>
      <p:pic>
        <p:nvPicPr>
          <p:cNvPr id="100071" name="S02.Workflow.Snapshot" descr="Global snapshot"/>
          <p:cNvPicPr>
            <a:picLocks noChangeAspect="1"/>
          </p:cNvPicPr>
          <p:nvPr/>
        </p:nvPicPr>
        <p:blipFill>
          <a:blip xmlns:r="http://schemas.openxmlformats.org/officeDocument/2006/relationships" r:embed="R024046477cb2474d"/>
          <a:srcRect l="16746" t="16427" r="16746" b="11961"/>
          <a:stretch>
            <a:fillRect/>
          </a:stretch>
        </p:blipFill>
        <p:spPr>
          <a:xfrm>
            <a:off x="8782812" y="5742432"/>
            <a:ext cx="502920" cy="541513"/>
          </a:xfrm>
          <a:prstGeom prst="rect">
            <a:avLst/>
          </a:prstGeom>
        </p:spPr>
      </p:pic>
      <p:pic>
        <p:nvPicPr>
          <p:cNvPr id="100072" name="S02.Workflow.Waveform" descr="Waveform monitor"/>
          <p:cNvPicPr>
            <a:picLocks noChangeAspect="1"/>
          </p:cNvPicPr>
          <p:nvPr/>
        </p:nvPicPr>
        <p:blipFill>
          <a:blip xmlns:r="http://schemas.openxmlformats.org/officeDocument/2006/relationships" r:embed="R5066dde221b344b0"/>
          <a:srcRect l="12280" t="25518" r="12200" b="19936"/>
          <a:stretch>
            <a:fillRect/>
          </a:stretch>
        </p:blipFill>
        <p:spPr>
          <a:xfrm>
            <a:off x="10844784" y="5751576"/>
            <a:ext cx="731520" cy="528363"/>
          </a:xfrm>
          <a:prstGeom prst="rect">
            <a:avLst/>
          </a:prstGeom>
        </p:spPr>
      </p:pic>
      <p:cxnSp>
        <p:nvCxnSpPr>
          <p:cNvPr id="100073" name="S02.Workflow.DumpOutput"/>
          <p:cNvCxnSpPr>
            <a:stCxn id="100061" idx="0"/>
            <a:endCxn id="100071" idx="0"/>
          </p:cNvCxnSpPr>
          <p:nvPr/>
        </p:nvCxnSpPr>
        <p:spPr>
          <a:xfrm>
            <a:off x="9034272" y="5541264"/>
            <a:ext cx="0" cy="201168"/>
          </a:xfrm>
          <a:prstGeom prst="straightConnector1">
            <a:avLst/>
          </a:prstGeom>
          <a:ln w="22860">
            <a:solidFill>
              <a:srgbClr val="183B56"/>
            </a:solidFill>
            <a:tailEnd type="triangle"/>
          </a:ln>
        </p:spPr>
      </p:cxnSp>
      <p:cxnSp>
        <p:nvCxnSpPr>
          <p:cNvPr id="100074" name="S02.Workflow.ReplayOutput"/>
          <p:cNvCxnSpPr>
            <a:stCxn id="100063" idx="0"/>
            <a:endCxn id="100072" idx="0"/>
          </p:cNvCxnSpPr>
          <p:nvPr/>
        </p:nvCxnSpPr>
        <p:spPr>
          <a:xfrm>
            <a:off x="11210544" y="5541264"/>
            <a:ext cx="0" cy="210312"/>
          </a:xfrm>
          <a:prstGeom prst="straightConnector1">
            <a:avLst/>
          </a:prstGeom>
          <a:ln w="22860">
            <a:solidFill>
              <a:srgbClr val="183B56"/>
            </a:solidFill>
            <a:tailEnd type="triangle"/>
          </a:ln>
        </p:spPr>
      </p:cxnSp>
      <p:sp>
        <p:nvSpPr>
          <p:cNvPr id="100075" name="S02.Workflow.SnapshotLabel"/>
          <p:cNvSpPr txBox="1"/>
          <p:nvPr/>
        </p:nvSpPr>
        <p:spPr>
          <a:xfrm>
            <a:off x="8119872" y="6336792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>
                <a:solidFill>
                  <a:srgbClr val="183B56"/>
                </a:solidFill>
                <a:latin typeface="Arial"/>
                <a:ea typeface="Arial"/>
              </a:rPr>
              <a:t>Global snapshot</a:t>
            </a:r>
          </a:p>
        </p:txBody>
      </p:sp>
      <p:sp>
        <p:nvSpPr>
          <p:cNvPr id="100076" name="S02.Workflow.WaveformLabel"/>
          <p:cNvSpPr txBox="1"/>
          <p:nvPr/>
        </p:nvSpPr>
        <p:spPr>
          <a:xfrm>
            <a:off x="10625328" y="6336792"/>
            <a:ext cx="1170432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>
                <a:solidFill>
                  <a:srgbClr val="183B56"/>
                </a:solidFill>
                <a:latin typeface="Arial"/>
                <a:ea typeface="Arial"/>
              </a:rPr>
              <a:t>Waveform</a:t>
            </a:r>
          </a:p>
        </p:txBody>
      </p:sp>
      <p:sp>
        <p:nvSpPr>
          <p:cNvPr id="100077" name="S02.PageNumber"/>
          <p:cNvSpPr txBox="1"/>
          <p:nvPr/>
        </p:nvSpPr>
        <p:spPr>
          <a:xfrm>
            <a:off x="11631168" y="662940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607184"/>
                </a:solidFill>
                <a:latin typeface="Arial"/>
                <a:ea typeface="Arial"/>
              </a:rPr>
              <a:t>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OfficeCLI/1.0.156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OfficeCLI</dc:creator>
  <dcterms:created xsi:type="dcterms:W3CDTF">2026-10-12T12:50:42.0000000Z</dcterms:created>
  <lastModifiedBy>OfficeCLI</lastModifiedBy>
  <dcterms:modified xsi:type="dcterms:W3CDTF">2026-10-12T12:50:43.0989163Z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1.0.156</vt:lpwstr>
  </op:property>
  <op:property fmtid="{D5CDD505-2E9C-101B-9397-08002B2CF9AE}" pid="3" name="OfficeCLI.LastModified">
    <vt:lpwstr xmlns:vt="http://schemas.openxmlformats.org/officeDocument/2006/docPropsVTypes">2026-10-12T12:50:45Z</vt:lpwstr>
  </op:property>
</op:Properties>
</file>